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6.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6014" r:id="rId4"/>
  </p:sldMasterIdLst>
  <p:notesMasterIdLst>
    <p:notesMasterId r:id="rId38"/>
  </p:notesMasterIdLst>
  <p:handoutMasterIdLst>
    <p:handoutMasterId r:id="rId39"/>
  </p:handoutMasterIdLst>
  <p:sldIdLst>
    <p:sldId id="269" r:id="rId5"/>
    <p:sldId id="266" r:id="rId6"/>
    <p:sldId id="267" r:id="rId7"/>
    <p:sldId id="272" r:id="rId8"/>
    <p:sldId id="280" r:id="rId9"/>
    <p:sldId id="279" r:id="rId10"/>
    <p:sldId id="299" r:id="rId11"/>
    <p:sldId id="300" r:id="rId12"/>
    <p:sldId id="301" r:id="rId13"/>
    <p:sldId id="302" r:id="rId14"/>
    <p:sldId id="303" r:id="rId15"/>
    <p:sldId id="274" r:id="rId16"/>
    <p:sldId id="298" r:id="rId17"/>
    <p:sldId id="290" r:id="rId18"/>
    <p:sldId id="296" r:id="rId19"/>
    <p:sldId id="295" r:id="rId20"/>
    <p:sldId id="305" r:id="rId21"/>
    <p:sldId id="294" r:id="rId22"/>
    <p:sldId id="292" r:id="rId23"/>
    <p:sldId id="293" r:id="rId24"/>
    <p:sldId id="297" r:id="rId25"/>
    <p:sldId id="289" r:id="rId26"/>
    <p:sldId id="283" r:id="rId27"/>
    <p:sldId id="284" r:id="rId28"/>
    <p:sldId id="285" r:id="rId29"/>
    <p:sldId id="286" r:id="rId30"/>
    <p:sldId id="287" r:id="rId31"/>
    <p:sldId id="307" r:id="rId32"/>
    <p:sldId id="288" r:id="rId33"/>
    <p:sldId id="306" r:id="rId34"/>
    <p:sldId id="291" r:id="rId35"/>
    <p:sldId id="282" r:id="rId36"/>
    <p:sldId id="304" r:id="rId37"/>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64347931-4479-4308-813A-E5779D134AD7}">
          <p14:sldIdLst>
            <p14:sldId id="269"/>
            <p14:sldId id="266"/>
            <p14:sldId id="267"/>
            <p14:sldId id="272"/>
            <p14:sldId id="280"/>
            <p14:sldId id="279"/>
            <p14:sldId id="299"/>
            <p14:sldId id="300"/>
            <p14:sldId id="301"/>
            <p14:sldId id="302"/>
            <p14:sldId id="303"/>
            <p14:sldId id="274"/>
            <p14:sldId id="298"/>
            <p14:sldId id="290"/>
            <p14:sldId id="296"/>
          </p14:sldIdLst>
        </p14:section>
        <p14:section name="Backup" id="{5F814928-9F9B-BC43-966C-6A68A2260E57}">
          <p14:sldIdLst>
            <p14:sldId id="295"/>
          </p14:sldIdLst>
        </p14:section>
        <p14:section name="Summary Section" id="{54C4FC6B-7B30-1D44-AB3E-53CF286831DD}">
          <p14:sldIdLst>
            <p14:sldId id="305"/>
          </p14:sldIdLst>
        </p14:section>
        <p14:section name="Deliverable Cross-Check w/ Evidence Links" id="{49814469-9D18-7B40-8572-30F39A1C0A94}">
          <p14:sldIdLst>
            <p14:sldId id="294"/>
          </p14:sldIdLst>
        </p14:section>
        <p14:section name="Approach: SDD" id="{3AF7D112-355C-E044-B824-4D1ECD9A60F8}">
          <p14:sldIdLst>
            <p14:sldId id="292"/>
            <p14:sldId id="293"/>
            <p14:sldId id="297"/>
          </p14:sldIdLst>
        </p14:section>
        <p14:section name="Technical Diagrams" id="{8D93FCD9-CF97-DF46-8D01-2FC6A0197F82}">
          <p14:sldIdLst>
            <p14:sldId id="289"/>
            <p14:sldId id="283"/>
            <p14:sldId id="284"/>
            <p14:sldId id="285"/>
            <p14:sldId id="286"/>
            <p14:sldId id="287"/>
            <p14:sldId id="307"/>
            <p14:sldId id="288"/>
            <p14:sldId id="306"/>
          </p14:sldIdLst>
        </p14:section>
        <p14:section name="Research" id="{E03E310A-724C-C04F-BC0F-2C05DBDD1220}">
          <p14:sldIdLst>
            <p14:sldId id="291"/>
            <p14:sldId id="282"/>
            <p14:sldId id="30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3417B06-CA9A-6B04-1F8A-6EBE196E9847}" name="Paige Cabianca" initials="PC" userId="S::PCabianca@audienz.com::27b579fd-5cc6-4813-aade-39395522f3ec" providerId="AD"/>
  <p188:author id="{11FA0B32-7E6A-ACEF-B08A-52032B3644FE}" name="Shivangi Upadhyay" initials="SU" userId="S::v-shupadhyay@microsoft.com::91abecf0-9c1e-4849-a938-538b00dbc24d" providerId="AD"/>
  <p188:author id="{F14BE356-2244-D1D3-BCE6-1AD59D616C4D}" name="Sommer Serie" initials="SS" userId="S::sommers@microsoft.com::acee1493-9eed-423c-9a90-67515cce0a36" providerId="AD"/>
  <p188:author id="{0CBA9C5D-7356-BAC8-BE6E-3CDC333BBE26}" name="Shivi  Upadhyay" initials="SU" userId="S::shivi@audienz.com::708d2862-6512-4e93-ae1a-6f44f6fee39b" providerId="AD"/>
  <p188:author id="{78C23171-34A0-4275-170D-F87C123C7177}" name="Eric Kjome" initials="EK" userId="S::Eric@audienz.com::8bc786d3-f8e8-40fd-ab09-3785ea9f8118" providerId="AD"/>
  <p188:author id="{36DE5974-3758-51B9-AF66-D3418123C89A}" name="Chris Holt" initials="CH" userId="S::chris@audienz.com::a1804d0e-8bfb-42cb-9ad0-b6e044b779a2" providerId="AD"/>
  <p188:author id="{AE64C5A7-9EC0-2997-8582-DB608637CAAD}" name="Paul Wise" initials="PW" userId="S::paulwise@microsoft.com::1e5259a3-d92e-48e7-9f96-43b612e23109" providerId="AD"/>
  <p188:author id="{E17E32BA-B717-F8E2-99AB-03184040F76C}" name="Paige Cabianca" initials="PC" userId="S::pcabianca@audienz.com::27b579fd-5cc6-4813-aade-39395522f3ec" providerId="AD"/>
  <p188:author id="{9DFCAED2-AAA7-D64C-9C6F-FC36BF7A8582}" name="India McGill" initials="IM" userId="S::indiam@microsoft.com::cf1fdfd3-8fa0-400e-a698-3a6e5da40047" providerId="AD"/>
  <p188:author id="{C6D9BCE3-6A3A-F16F-FB1D-152E8D000526}" name="Jessy Rodriguez" initials="" userId="S::jessyr@thechannelcompany.com::be58406e-57ea-4c17-b94d-e08afaed1cd3" providerId="AD"/>
  <p188:author id="{9BF2B4F3-FFF5-2602-20DB-AE1DDA3E3060}" name="Markus Nitschke" initials="MN" userId="S::mnitschk@microsoft.com::00e3a6c1-be90-4832-afc1-934d12cea8b9"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91F2C"/>
    <a:srgbClr val="0538BB"/>
    <a:srgbClr val="8449A9"/>
    <a:srgbClr val="0078D4"/>
    <a:srgbClr val="FAFAFA"/>
    <a:srgbClr val="1579FF"/>
    <a:srgbClr val="005FA9"/>
    <a:srgbClr val="C9EDC9"/>
    <a:srgbClr val="F2F2F2"/>
    <a:srgbClr val="504F4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23233F-C1DB-2D7B-79BF-46FE5B7C8EF9}" v="1" dt="2026-02-22T22:26:26.06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221"/>
    <p:restoredTop sz="84983"/>
  </p:normalViewPr>
  <p:slideViewPr>
    <p:cSldViewPr snapToGrid="0">
      <p:cViewPr varScale="1">
        <p:scale>
          <a:sx n="117" d="100"/>
          <a:sy n="117" d="100"/>
        </p:scale>
        <p:origin x="408" y="472"/>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commentAuthors" Target="commentAuthors.xml"/><Relationship Id="rId45"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46" Type="http://schemas.microsoft.com/office/2018/10/relationships/authors" Target="authors.xml"/><Relationship Id="rId20" Type="http://schemas.openxmlformats.org/officeDocument/2006/relationships/slide" Target="slides/slide16.xml"/><Relationship Id="rId41"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2B18E24-E1E1-2F49-AF6D-22F53D9FA0D4}" type="doc">
      <dgm:prSet loTypeId="urn:microsoft.com/office/officeart/2008/layout/IncreasingCircleProcess" loCatId="" qsTypeId="urn:microsoft.com/office/officeart/2005/8/quickstyle/simple1" qsCatId="simple" csTypeId="urn:microsoft.com/office/officeart/2005/8/colors/colorful1" csCatId="colorful" phldr="1"/>
      <dgm:spPr/>
      <dgm:t>
        <a:bodyPr/>
        <a:lstStyle/>
        <a:p>
          <a:endParaRPr lang="en-US"/>
        </a:p>
      </dgm:t>
    </dgm:pt>
    <dgm:pt modelId="{A2743114-01B3-BF43-A432-6A3032145CBA}">
      <dgm:prSet phldrT="[Text]"/>
      <dgm:spPr/>
      <dgm:t>
        <a:bodyPr/>
        <a:lstStyle/>
        <a:p>
          <a:pPr>
            <a:buNone/>
          </a:pPr>
          <a:r>
            <a:rPr lang="en-US" b="1" i="0" dirty="0"/>
            <a:t>Go/No Go &amp; </a:t>
          </a:r>
          <a:br>
            <a:rPr lang="en-US" b="1" i="0" dirty="0"/>
          </a:br>
          <a:r>
            <a:rPr lang="en-US" b="1" i="0" dirty="0"/>
            <a:t>Align Stakeholders</a:t>
          </a:r>
          <a:endParaRPr lang="en-US" dirty="0"/>
        </a:p>
      </dgm:t>
    </dgm:pt>
    <dgm:pt modelId="{DB405152-14FB-5D4E-8881-08A2D1254B00}" type="parTrans" cxnId="{D446B3C9-0879-F844-96ED-82EF8206BE57}">
      <dgm:prSet/>
      <dgm:spPr/>
      <dgm:t>
        <a:bodyPr/>
        <a:lstStyle/>
        <a:p>
          <a:endParaRPr lang="en-US"/>
        </a:p>
      </dgm:t>
    </dgm:pt>
    <dgm:pt modelId="{FC6A5657-99CD-8A4C-98D1-E39BABD328F0}" type="sibTrans" cxnId="{D446B3C9-0879-F844-96ED-82EF8206BE57}">
      <dgm:prSet/>
      <dgm:spPr/>
      <dgm:t>
        <a:bodyPr/>
        <a:lstStyle/>
        <a:p>
          <a:endParaRPr lang="en-US"/>
        </a:p>
      </dgm:t>
    </dgm:pt>
    <dgm:pt modelId="{102F82D6-3B40-5F4D-A3F0-7F30499F8686}">
      <dgm:prSet phldrT="[Text]"/>
      <dgm:spPr>
        <a:solidFill>
          <a:schemeClr val="bg1"/>
        </a:solidFill>
      </dgm:spPr>
      <dgm:t>
        <a:bodyPr/>
        <a:lstStyle/>
        <a:p>
          <a:pPr>
            <a:buFont typeface="Arial" panose="020B0604020202020204" pitchFamily="34" charset="0"/>
            <a:buChar char="•"/>
          </a:pPr>
          <a:r>
            <a:rPr lang="en-US" b="0" i="0" dirty="0"/>
            <a:t>Present business case demonstrating </a:t>
          </a:r>
          <a:r>
            <a:rPr lang="en-US" b="1" i="0" dirty="0"/>
            <a:t>510-1,460% ROI</a:t>
          </a:r>
          <a:endParaRPr lang="en-US" dirty="0"/>
        </a:p>
      </dgm:t>
    </dgm:pt>
    <dgm:pt modelId="{6500FE16-D656-B745-81BF-781390CFF5A3}" type="parTrans" cxnId="{BDB3490C-7B0A-4646-A4A5-422C898D3D60}">
      <dgm:prSet/>
      <dgm:spPr/>
      <dgm:t>
        <a:bodyPr/>
        <a:lstStyle/>
        <a:p>
          <a:endParaRPr lang="en-US"/>
        </a:p>
      </dgm:t>
    </dgm:pt>
    <dgm:pt modelId="{8062E086-DE67-5F4C-A374-6578537D2842}" type="sibTrans" cxnId="{BDB3490C-7B0A-4646-A4A5-422C898D3D60}">
      <dgm:prSet/>
      <dgm:spPr/>
      <dgm:t>
        <a:bodyPr/>
        <a:lstStyle/>
        <a:p>
          <a:endParaRPr lang="en-US"/>
        </a:p>
      </dgm:t>
    </dgm:pt>
    <dgm:pt modelId="{13FF209E-1DBD-9F48-B1E9-8AC908C0D225}">
      <dgm:prSet phldrT="[Text]"/>
      <dgm:spPr/>
      <dgm:t>
        <a:bodyPr/>
        <a:lstStyle/>
        <a:p>
          <a:pPr>
            <a:buNone/>
          </a:pPr>
          <a:r>
            <a:rPr lang="en-US" b="1" i="0" dirty="0"/>
            <a:t>Launch the </a:t>
          </a:r>
          <a:br>
            <a:rPr lang="en-US" b="1" i="0" dirty="0"/>
          </a:br>
          <a:r>
            <a:rPr lang="en-US" b="1" i="0" dirty="0"/>
            <a:t>90-Day Pilot</a:t>
          </a:r>
          <a:endParaRPr lang="en-US" dirty="0"/>
        </a:p>
      </dgm:t>
    </dgm:pt>
    <dgm:pt modelId="{CAFF60F9-9F47-C84F-96AA-2F91A411E0E3}" type="parTrans" cxnId="{97D2B9B4-85B1-4A41-B281-473F87BDA578}">
      <dgm:prSet/>
      <dgm:spPr/>
      <dgm:t>
        <a:bodyPr/>
        <a:lstStyle/>
        <a:p>
          <a:endParaRPr lang="en-US"/>
        </a:p>
      </dgm:t>
    </dgm:pt>
    <dgm:pt modelId="{CB200B96-D858-704C-87D5-540EED2F1F55}" type="sibTrans" cxnId="{97D2B9B4-85B1-4A41-B281-473F87BDA578}">
      <dgm:prSet/>
      <dgm:spPr/>
      <dgm:t>
        <a:bodyPr/>
        <a:lstStyle/>
        <a:p>
          <a:endParaRPr lang="en-US"/>
        </a:p>
      </dgm:t>
    </dgm:pt>
    <dgm:pt modelId="{1B16AA71-6074-0042-90BC-88F3102B8C62}">
      <dgm:prSet phldrT="[Text]"/>
      <dgm:spPr/>
      <dgm:t>
        <a:bodyPr/>
        <a:lstStyle/>
        <a:p>
          <a:pPr>
            <a:buFont typeface="Arial" panose="020B0604020202020204" pitchFamily="34" charset="0"/>
            <a:buChar char="•"/>
          </a:pPr>
          <a:r>
            <a:rPr lang="en-US" b="0" i="0"/>
            <a:t>Select pilot Security Team for initial SDK deployment</a:t>
          </a:r>
          <a:endParaRPr lang="en-US" dirty="0"/>
        </a:p>
      </dgm:t>
    </dgm:pt>
    <dgm:pt modelId="{07BD867D-755B-4749-85FA-C06CFA10AE06}" type="parTrans" cxnId="{578EEDD9-22C4-C245-95DD-CA1EE75BC606}">
      <dgm:prSet/>
      <dgm:spPr/>
      <dgm:t>
        <a:bodyPr/>
        <a:lstStyle/>
        <a:p>
          <a:endParaRPr lang="en-US"/>
        </a:p>
      </dgm:t>
    </dgm:pt>
    <dgm:pt modelId="{5AB8361B-E321-C149-8AB8-3B8AB9D3614C}" type="sibTrans" cxnId="{578EEDD9-22C4-C245-95DD-CA1EE75BC606}">
      <dgm:prSet/>
      <dgm:spPr/>
      <dgm:t>
        <a:bodyPr/>
        <a:lstStyle/>
        <a:p>
          <a:endParaRPr lang="en-US"/>
        </a:p>
      </dgm:t>
    </dgm:pt>
    <dgm:pt modelId="{2CF7C8FB-ADF4-174F-8E89-FD3B39845E94}">
      <dgm:prSet phldrT="[Text]"/>
      <dgm:spPr/>
      <dgm:t>
        <a:bodyPr/>
        <a:lstStyle/>
        <a:p>
          <a:pPr>
            <a:buNone/>
          </a:pPr>
          <a:r>
            <a:rPr lang="en-US" b="1" i="0" dirty="0"/>
            <a:t>Plan for </a:t>
          </a:r>
          <a:br>
            <a:rPr lang="en-US" b="1" i="0" dirty="0"/>
          </a:br>
          <a:r>
            <a:rPr lang="en-US" b="1" i="0" dirty="0"/>
            <a:t>Production</a:t>
          </a:r>
          <a:endParaRPr lang="en-US" dirty="0"/>
        </a:p>
      </dgm:t>
    </dgm:pt>
    <dgm:pt modelId="{D6ED1143-A254-6B49-8DD8-2CC9CF4A5A94}" type="parTrans" cxnId="{B7B0F91C-750A-4B4B-A9D4-28081B145E3B}">
      <dgm:prSet/>
      <dgm:spPr/>
      <dgm:t>
        <a:bodyPr/>
        <a:lstStyle/>
        <a:p>
          <a:endParaRPr lang="en-US"/>
        </a:p>
      </dgm:t>
    </dgm:pt>
    <dgm:pt modelId="{95984162-3555-4D40-A35E-A1653165299C}" type="sibTrans" cxnId="{B7B0F91C-750A-4B4B-A9D4-28081B145E3B}">
      <dgm:prSet/>
      <dgm:spPr/>
      <dgm:t>
        <a:bodyPr/>
        <a:lstStyle/>
        <a:p>
          <a:endParaRPr lang="en-US"/>
        </a:p>
      </dgm:t>
    </dgm:pt>
    <dgm:pt modelId="{38D7ECD8-F5E7-BE4A-A4D1-541E8E71E0C1}">
      <dgm:prSet phldrT="[Text]"/>
      <dgm:spPr/>
      <dgm:t>
        <a:bodyPr/>
        <a:lstStyle/>
        <a:p>
          <a:pPr>
            <a:buFont typeface="Arial" panose="020B0604020202020204" pitchFamily="34" charset="0"/>
            <a:buChar char="•"/>
          </a:pPr>
          <a:r>
            <a:rPr lang="en-US" b="0" i="0" dirty="0"/>
            <a:t>Validate production requirements and alert volumes with pilot learnings</a:t>
          </a:r>
          <a:endParaRPr lang="en-US" dirty="0"/>
        </a:p>
      </dgm:t>
    </dgm:pt>
    <dgm:pt modelId="{DF228118-F8D6-6F42-B0D5-534901BDC0BD}" type="parTrans" cxnId="{0E8F0DCC-E126-DD47-86A4-065160736C71}">
      <dgm:prSet/>
      <dgm:spPr/>
      <dgm:t>
        <a:bodyPr/>
        <a:lstStyle/>
        <a:p>
          <a:endParaRPr lang="en-US"/>
        </a:p>
      </dgm:t>
    </dgm:pt>
    <dgm:pt modelId="{8E844B8F-253E-EB4E-8A95-83AC24E59869}" type="sibTrans" cxnId="{0E8F0DCC-E126-DD47-86A4-065160736C71}">
      <dgm:prSet/>
      <dgm:spPr/>
      <dgm:t>
        <a:bodyPr/>
        <a:lstStyle/>
        <a:p>
          <a:endParaRPr lang="en-US"/>
        </a:p>
      </dgm:t>
    </dgm:pt>
    <dgm:pt modelId="{AA1C0167-DE2A-1440-9BBA-A17135B16D72}">
      <dgm:prSet/>
      <dgm:spPr>
        <a:solidFill>
          <a:schemeClr val="bg1"/>
        </a:solidFill>
      </dgm:spPr>
      <dgm:t>
        <a:bodyPr/>
        <a:lstStyle/>
        <a:p>
          <a:pPr>
            <a:buFont typeface="Arial" panose="020B0604020202020204" pitchFamily="34" charset="0"/>
            <a:buChar char="•"/>
          </a:pPr>
          <a:r>
            <a:rPr lang="en-US" b="0" i="0" dirty="0"/>
            <a:t>Demonstrate MVP capabilities with pre-built scenarios</a:t>
          </a:r>
        </a:p>
      </dgm:t>
    </dgm:pt>
    <dgm:pt modelId="{DAC12C1F-CC55-5D4B-9A98-F971B9871947}" type="parTrans" cxnId="{D0857D4C-312E-4D41-86A7-69958060DD4E}">
      <dgm:prSet/>
      <dgm:spPr/>
      <dgm:t>
        <a:bodyPr/>
        <a:lstStyle/>
        <a:p>
          <a:endParaRPr lang="en-US"/>
        </a:p>
      </dgm:t>
    </dgm:pt>
    <dgm:pt modelId="{6777C68E-BFC1-904E-9E85-E7D55482BF07}" type="sibTrans" cxnId="{D0857D4C-312E-4D41-86A7-69958060DD4E}">
      <dgm:prSet/>
      <dgm:spPr/>
      <dgm:t>
        <a:bodyPr/>
        <a:lstStyle/>
        <a:p>
          <a:endParaRPr lang="en-US"/>
        </a:p>
      </dgm:t>
    </dgm:pt>
    <dgm:pt modelId="{3A308E42-9387-6A44-A77B-5DE39D7FCA2A}">
      <dgm:prSet/>
      <dgm:spPr>
        <a:solidFill>
          <a:schemeClr val="bg1"/>
        </a:solidFill>
      </dgm:spPr>
      <dgm:t>
        <a:bodyPr/>
        <a:lstStyle/>
        <a:p>
          <a:pPr>
            <a:buFont typeface="Arial" panose="020B0604020202020204" pitchFamily="34" charset="0"/>
            <a:buChar char="•"/>
          </a:pPr>
          <a:r>
            <a:rPr lang="en-US" b="0" i="0" dirty="0"/>
            <a:t>Align on success metrics and 90-day pilot assessment criteria</a:t>
          </a:r>
        </a:p>
      </dgm:t>
    </dgm:pt>
    <dgm:pt modelId="{6805C544-713D-5C48-AC1F-1B9AD3F78BE5}" type="parTrans" cxnId="{EF46C7B8-3792-E848-8B47-1C9CB3B6B892}">
      <dgm:prSet/>
      <dgm:spPr/>
      <dgm:t>
        <a:bodyPr/>
        <a:lstStyle/>
        <a:p>
          <a:endParaRPr lang="en-US"/>
        </a:p>
      </dgm:t>
    </dgm:pt>
    <dgm:pt modelId="{A89F4B6A-A86D-604B-80EE-714287CF00D5}" type="sibTrans" cxnId="{EF46C7B8-3792-E848-8B47-1C9CB3B6B892}">
      <dgm:prSet/>
      <dgm:spPr/>
      <dgm:t>
        <a:bodyPr/>
        <a:lstStyle/>
        <a:p>
          <a:endParaRPr lang="en-US"/>
        </a:p>
      </dgm:t>
    </dgm:pt>
    <dgm:pt modelId="{94C4F42F-8A54-5149-8764-E7FE1A3A75B1}">
      <dgm:prSet/>
      <dgm:spPr>
        <a:solidFill>
          <a:schemeClr val="bg1"/>
        </a:solidFill>
      </dgm:spPr>
      <dgm:t>
        <a:bodyPr/>
        <a:lstStyle/>
        <a:p>
          <a:pPr>
            <a:buFont typeface="Arial" panose="020B0604020202020204" pitchFamily="34" charset="0"/>
            <a:buChar char="•"/>
          </a:pPr>
          <a:r>
            <a:rPr lang="en-US" b="1" i="0" dirty="0">
              <a:solidFill>
                <a:schemeClr val="accent5"/>
              </a:solidFill>
            </a:rPr>
            <a:t>Decision</a:t>
          </a:r>
          <a:r>
            <a:rPr lang="en-US" b="0" i="0" dirty="0">
              <a:solidFill>
                <a:schemeClr val="accent5"/>
              </a:solidFill>
            </a:rPr>
            <a:t>: Get approval to move forward with the pilot</a:t>
          </a:r>
        </a:p>
      </dgm:t>
    </dgm:pt>
    <dgm:pt modelId="{251487BC-A304-064D-A25D-BDA048317BD9}" type="parTrans" cxnId="{E5726ACC-E011-8D43-8EFD-02907548DD2E}">
      <dgm:prSet/>
      <dgm:spPr/>
      <dgm:t>
        <a:bodyPr/>
        <a:lstStyle/>
        <a:p>
          <a:endParaRPr lang="en-US"/>
        </a:p>
      </dgm:t>
    </dgm:pt>
    <dgm:pt modelId="{6AB019B4-1019-854B-AA07-85D193A7670B}" type="sibTrans" cxnId="{E5726ACC-E011-8D43-8EFD-02907548DD2E}">
      <dgm:prSet/>
      <dgm:spPr/>
      <dgm:t>
        <a:bodyPr/>
        <a:lstStyle/>
        <a:p>
          <a:endParaRPr lang="en-US"/>
        </a:p>
      </dgm:t>
    </dgm:pt>
    <dgm:pt modelId="{F5893D48-F64F-5243-927C-16201CCE6EB9}">
      <dgm:prSet/>
      <dgm:spPr/>
      <dgm:t>
        <a:bodyPr/>
        <a:lstStyle/>
        <a:p>
          <a:pPr>
            <a:buFont typeface="Arial" panose="020B0604020202020204" pitchFamily="34" charset="0"/>
            <a:buChar char="•"/>
          </a:pPr>
          <a:r>
            <a:rPr lang="en-US" b="1" i="0"/>
            <a:t>Weeks 1-4</a:t>
          </a:r>
          <a:r>
            <a:rPr lang="en-US" b="0" i="0"/>
            <a:t>: Training and hands-on learning with the SDK</a:t>
          </a:r>
        </a:p>
      </dgm:t>
    </dgm:pt>
    <dgm:pt modelId="{C99A4DE0-71E1-CD4A-9FA9-3F4689C9EF3A}" type="parTrans" cxnId="{9F24784C-889D-504F-8219-EB12A8CEFB9D}">
      <dgm:prSet/>
      <dgm:spPr/>
      <dgm:t>
        <a:bodyPr/>
        <a:lstStyle/>
        <a:p>
          <a:endParaRPr lang="en-US"/>
        </a:p>
      </dgm:t>
    </dgm:pt>
    <dgm:pt modelId="{AAB54CB6-E9EE-BD4C-B75F-DD6E83D46952}" type="sibTrans" cxnId="{9F24784C-889D-504F-8219-EB12A8CEFB9D}">
      <dgm:prSet/>
      <dgm:spPr/>
      <dgm:t>
        <a:bodyPr/>
        <a:lstStyle/>
        <a:p>
          <a:endParaRPr lang="en-US"/>
        </a:p>
      </dgm:t>
    </dgm:pt>
    <dgm:pt modelId="{255DD688-383C-8A4F-AD5B-0ED1EB89673D}">
      <dgm:prSet/>
      <dgm:spPr/>
      <dgm:t>
        <a:bodyPr/>
        <a:lstStyle/>
        <a:p>
          <a:pPr>
            <a:buFont typeface="Arial" panose="020B0604020202020204" pitchFamily="34" charset="0"/>
            <a:buChar char="•"/>
          </a:pPr>
          <a:r>
            <a:rPr lang="en-US" b="1" i="0" dirty="0"/>
            <a:t>Weeks 5-8</a:t>
          </a:r>
          <a:r>
            <a:rPr lang="en-US" b="0" i="0" dirty="0"/>
            <a:t>: Security Team builds and tests custom workflows</a:t>
          </a:r>
        </a:p>
      </dgm:t>
    </dgm:pt>
    <dgm:pt modelId="{40F6F604-FFCE-054C-9AFC-28BEB24C843D}" type="parTrans" cxnId="{5E0B475A-FD47-CD42-939D-FAFC5B96B03B}">
      <dgm:prSet/>
      <dgm:spPr/>
      <dgm:t>
        <a:bodyPr/>
        <a:lstStyle/>
        <a:p>
          <a:endParaRPr lang="en-US"/>
        </a:p>
      </dgm:t>
    </dgm:pt>
    <dgm:pt modelId="{D4BA2428-E07D-7449-9253-28C0B58E6302}" type="sibTrans" cxnId="{5E0B475A-FD47-CD42-939D-FAFC5B96B03B}">
      <dgm:prSet/>
      <dgm:spPr/>
      <dgm:t>
        <a:bodyPr/>
        <a:lstStyle/>
        <a:p>
          <a:endParaRPr lang="en-US"/>
        </a:p>
      </dgm:t>
    </dgm:pt>
    <dgm:pt modelId="{7DCBDC21-4AD5-1E40-A277-8CA78317461D}">
      <dgm:prSet/>
      <dgm:spPr/>
      <dgm:t>
        <a:bodyPr/>
        <a:lstStyle/>
        <a:p>
          <a:pPr>
            <a:buFont typeface="Arial" panose="020B0604020202020204" pitchFamily="34" charset="0"/>
            <a:buChar char="•"/>
          </a:pPr>
          <a:r>
            <a:rPr lang="en-US" b="1" i="0"/>
            <a:t>Weeks 9-12</a:t>
          </a:r>
          <a:r>
            <a:rPr lang="en-US" b="0" i="0"/>
            <a:t>: Collect feedback, measure success metrics, iterate on agent behavior</a:t>
          </a:r>
        </a:p>
      </dgm:t>
    </dgm:pt>
    <dgm:pt modelId="{18FCBE41-DFE5-D74C-A4CA-5E84EBFA4AB2}" type="parTrans" cxnId="{1DE57062-C7E3-6447-8263-89F7AE1C3CC2}">
      <dgm:prSet/>
      <dgm:spPr/>
      <dgm:t>
        <a:bodyPr/>
        <a:lstStyle/>
        <a:p>
          <a:endParaRPr lang="en-US"/>
        </a:p>
      </dgm:t>
    </dgm:pt>
    <dgm:pt modelId="{8685EAA1-81DE-F94C-9EBC-B03DBDA5BC92}" type="sibTrans" cxnId="{1DE57062-C7E3-6447-8263-89F7AE1C3CC2}">
      <dgm:prSet/>
      <dgm:spPr/>
      <dgm:t>
        <a:bodyPr/>
        <a:lstStyle/>
        <a:p>
          <a:endParaRPr lang="en-US"/>
        </a:p>
      </dgm:t>
    </dgm:pt>
    <dgm:pt modelId="{1F595006-766F-C74C-8F89-2B965A1283A5}">
      <dgm:prSet/>
      <dgm:spPr/>
      <dgm:t>
        <a:bodyPr/>
        <a:lstStyle/>
        <a:p>
          <a:pPr>
            <a:buFont typeface="Arial" panose="020B0604020202020204" pitchFamily="34" charset="0"/>
            <a:buChar char="•"/>
          </a:pPr>
          <a:r>
            <a:rPr lang="en-US" b="0" i="0"/>
            <a:t>Validate triage accuracy, MTTD improvements, and analyst productivity gains</a:t>
          </a:r>
        </a:p>
      </dgm:t>
    </dgm:pt>
    <dgm:pt modelId="{EDB49B0F-CCAB-8D43-9C4A-CF923D66A810}" type="parTrans" cxnId="{6A907C5A-DD2E-ED40-AD1D-C0158AC4C0E9}">
      <dgm:prSet/>
      <dgm:spPr/>
      <dgm:t>
        <a:bodyPr/>
        <a:lstStyle/>
        <a:p>
          <a:endParaRPr lang="en-US"/>
        </a:p>
      </dgm:t>
    </dgm:pt>
    <dgm:pt modelId="{F4D2489E-21AC-3D42-BCE3-CFDDE868956D}" type="sibTrans" cxnId="{6A907C5A-DD2E-ED40-AD1D-C0158AC4C0E9}">
      <dgm:prSet/>
      <dgm:spPr/>
      <dgm:t>
        <a:bodyPr/>
        <a:lstStyle/>
        <a:p>
          <a:endParaRPr lang="en-US"/>
        </a:p>
      </dgm:t>
    </dgm:pt>
    <dgm:pt modelId="{A582E0FD-BFFA-F94D-AE85-7BDCD33745BA}">
      <dgm:prSet/>
      <dgm:spPr/>
      <dgm:t>
        <a:bodyPr/>
        <a:lstStyle/>
        <a:p>
          <a:pPr>
            <a:buFont typeface="Arial" panose="020B0604020202020204" pitchFamily="34" charset="0"/>
            <a:buChar char="•"/>
          </a:pPr>
          <a:r>
            <a:rPr lang="en-US" b="0" i="0" dirty="0"/>
            <a:t>Integrate SDK with production security streams (Microsoft Sentinel, Defender XDR, Entra ID)</a:t>
          </a:r>
        </a:p>
      </dgm:t>
    </dgm:pt>
    <dgm:pt modelId="{856BC814-FFB4-C347-8ABB-4A23905DC749}" type="parTrans" cxnId="{61A039DA-D966-7E4B-8F28-BABE5FFE9103}">
      <dgm:prSet/>
      <dgm:spPr/>
      <dgm:t>
        <a:bodyPr/>
        <a:lstStyle/>
        <a:p>
          <a:endParaRPr lang="en-US"/>
        </a:p>
      </dgm:t>
    </dgm:pt>
    <dgm:pt modelId="{7FF7B891-191B-E546-A1E1-6D50BCAB1C6A}" type="sibTrans" cxnId="{61A039DA-D966-7E4B-8F28-BABE5FFE9103}">
      <dgm:prSet/>
      <dgm:spPr/>
      <dgm:t>
        <a:bodyPr/>
        <a:lstStyle/>
        <a:p>
          <a:endParaRPr lang="en-US"/>
        </a:p>
      </dgm:t>
    </dgm:pt>
    <dgm:pt modelId="{31941E95-7AA9-E94C-AFC7-82A277D484D5}">
      <dgm:prSet/>
      <dgm:spPr/>
      <dgm:t>
        <a:bodyPr/>
        <a:lstStyle/>
        <a:p>
          <a:pPr>
            <a:buFont typeface="Arial" panose="020B0604020202020204" pitchFamily="34" charset="0"/>
            <a:buChar char="•"/>
          </a:pPr>
          <a:r>
            <a:rPr lang="en-US" b="0" i="0"/>
            <a:t>Establish RBAC permissions and human-in-the-loop approval workflows</a:t>
          </a:r>
        </a:p>
      </dgm:t>
    </dgm:pt>
    <dgm:pt modelId="{38033F4E-CFDA-E045-8782-32083B2D93A2}" type="parTrans" cxnId="{49090485-C239-CE49-86B5-30128D80F2B2}">
      <dgm:prSet/>
      <dgm:spPr/>
      <dgm:t>
        <a:bodyPr/>
        <a:lstStyle/>
        <a:p>
          <a:endParaRPr lang="en-US"/>
        </a:p>
      </dgm:t>
    </dgm:pt>
    <dgm:pt modelId="{412920D1-67FB-5249-84AD-7DFBC00AD7C5}" type="sibTrans" cxnId="{49090485-C239-CE49-86B5-30128D80F2B2}">
      <dgm:prSet/>
      <dgm:spPr/>
      <dgm:t>
        <a:bodyPr/>
        <a:lstStyle/>
        <a:p>
          <a:endParaRPr lang="en-US"/>
        </a:p>
      </dgm:t>
    </dgm:pt>
    <dgm:pt modelId="{AE9EA2C3-F4E7-D241-B887-1D53375C4DBC}">
      <dgm:prSet/>
      <dgm:spPr/>
      <dgm:t>
        <a:bodyPr/>
        <a:lstStyle/>
        <a:p>
          <a:pPr>
            <a:buFont typeface="Arial" panose="020B0604020202020204" pitchFamily="34" charset="0"/>
            <a:buChar char="•"/>
          </a:pPr>
          <a:r>
            <a:rPr lang="en-US" b="0" i="0"/>
            <a:t>Define scalability and performance targets based on pilot data</a:t>
          </a:r>
        </a:p>
      </dgm:t>
    </dgm:pt>
    <dgm:pt modelId="{E704B982-8036-BA41-B230-27E00453EB7E}" type="parTrans" cxnId="{53F16591-EF26-644E-8346-DFD09245C62D}">
      <dgm:prSet/>
      <dgm:spPr/>
      <dgm:t>
        <a:bodyPr/>
        <a:lstStyle/>
        <a:p>
          <a:endParaRPr lang="en-US"/>
        </a:p>
      </dgm:t>
    </dgm:pt>
    <dgm:pt modelId="{87E3139C-8730-A547-9642-F4173C76C13C}" type="sibTrans" cxnId="{53F16591-EF26-644E-8346-DFD09245C62D}">
      <dgm:prSet/>
      <dgm:spPr/>
      <dgm:t>
        <a:bodyPr/>
        <a:lstStyle/>
        <a:p>
          <a:endParaRPr lang="en-US"/>
        </a:p>
      </dgm:t>
    </dgm:pt>
    <dgm:pt modelId="{4F964132-5EE6-4A48-834E-A76D24C29981}">
      <dgm:prSet/>
      <dgm:spPr/>
      <dgm:t>
        <a:bodyPr/>
        <a:lstStyle/>
        <a:p>
          <a:pPr>
            <a:buFont typeface="Arial" panose="020B0604020202020204" pitchFamily="34" charset="0"/>
            <a:buChar char="•"/>
          </a:pPr>
          <a:r>
            <a:rPr lang="en-US" b="0" i="0" dirty="0"/>
            <a:t>Plan organization-wide</a:t>
          </a:r>
          <a:br>
            <a:rPr lang="en-US" b="0" i="0" dirty="0"/>
          </a:br>
          <a:r>
            <a:rPr lang="en-US" b="0" i="0" dirty="0"/>
            <a:t>rollout based on pilot results</a:t>
          </a:r>
        </a:p>
      </dgm:t>
    </dgm:pt>
    <dgm:pt modelId="{D262720E-E1F3-E14C-A32C-8B8337B3AF1F}" type="parTrans" cxnId="{02B1ACDC-03EE-6648-8017-3C0A16377CC4}">
      <dgm:prSet/>
      <dgm:spPr/>
      <dgm:t>
        <a:bodyPr/>
        <a:lstStyle/>
        <a:p>
          <a:endParaRPr lang="en-US"/>
        </a:p>
      </dgm:t>
    </dgm:pt>
    <dgm:pt modelId="{DE71CB58-E372-404A-8DBE-0D94AA066085}" type="sibTrans" cxnId="{02B1ACDC-03EE-6648-8017-3C0A16377CC4}">
      <dgm:prSet/>
      <dgm:spPr/>
      <dgm:t>
        <a:bodyPr/>
        <a:lstStyle/>
        <a:p>
          <a:endParaRPr lang="en-US"/>
        </a:p>
      </dgm:t>
    </dgm:pt>
    <dgm:pt modelId="{A519C53D-32EF-434D-91E9-206490E60AD8}" type="pres">
      <dgm:prSet presAssocID="{02B18E24-E1E1-2F49-AF6D-22F53D9FA0D4}" presName="Name0" presStyleCnt="0">
        <dgm:presLayoutVars>
          <dgm:chMax val="7"/>
          <dgm:chPref val="7"/>
          <dgm:dir/>
          <dgm:animOne val="branch"/>
          <dgm:animLvl val="lvl"/>
        </dgm:presLayoutVars>
      </dgm:prSet>
      <dgm:spPr/>
    </dgm:pt>
    <dgm:pt modelId="{95B1ADBE-8E04-624E-A463-14F92558AA58}" type="pres">
      <dgm:prSet presAssocID="{A2743114-01B3-BF43-A432-6A3032145CBA}" presName="composite" presStyleCnt="0"/>
      <dgm:spPr/>
    </dgm:pt>
    <dgm:pt modelId="{8BA8E742-1D07-A64E-84DD-4A81A706FE66}" type="pres">
      <dgm:prSet presAssocID="{A2743114-01B3-BF43-A432-6A3032145CBA}" presName="BackAccent" presStyleLbl="bgShp" presStyleIdx="0" presStyleCnt="3"/>
      <dgm:spPr/>
    </dgm:pt>
    <dgm:pt modelId="{4E9C11BB-7FF8-EE4E-ADD5-563F745925C4}" type="pres">
      <dgm:prSet presAssocID="{A2743114-01B3-BF43-A432-6A3032145CBA}" presName="Accent" presStyleLbl="alignNode1" presStyleIdx="0" presStyleCnt="3"/>
      <dgm:spPr>
        <a:solidFill>
          <a:schemeClr val="accent5"/>
        </a:solidFill>
        <a:ln>
          <a:solidFill>
            <a:schemeClr val="accent5"/>
          </a:solidFill>
        </a:ln>
      </dgm:spPr>
    </dgm:pt>
    <dgm:pt modelId="{3A171F3C-AD86-F547-82DC-407FD6C176BA}" type="pres">
      <dgm:prSet presAssocID="{A2743114-01B3-BF43-A432-6A3032145CBA}" presName="Child" presStyleLbl="revTx" presStyleIdx="0" presStyleCnt="6">
        <dgm:presLayoutVars>
          <dgm:chMax val="0"/>
          <dgm:chPref val="0"/>
          <dgm:bulletEnabled val="1"/>
        </dgm:presLayoutVars>
      </dgm:prSet>
      <dgm:spPr/>
    </dgm:pt>
    <dgm:pt modelId="{06582C1D-F292-7246-AC4A-C845C4B7D6C2}" type="pres">
      <dgm:prSet presAssocID="{A2743114-01B3-BF43-A432-6A3032145CBA}" presName="Parent" presStyleLbl="revTx" presStyleIdx="1" presStyleCnt="6">
        <dgm:presLayoutVars>
          <dgm:chMax val="1"/>
          <dgm:chPref val="1"/>
          <dgm:bulletEnabled val="1"/>
        </dgm:presLayoutVars>
      </dgm:prSet>
      <dgm:spPr/>
    </dgm:pt>
    <dgm:pt modelId="{245AEB40-2B78-134F-9164-C030CDF87DBA}" type="pres">
      <dgm:prSet presAssocID="{FC6A5657-99CD-8A4C-98D1-E39BABD328F0}" presName="sibTrans" presStyleCnt="0"/>
      <dgm:spPr/>
    </dgm:pt>
    <dgm:pt modelId="{D88D216F-DF49-044B-8A4C-29537135C375}" type="pres">
      <dgm:prSet presAssocID="{13FF209E-1DBD-9F48-B1E9-8AC908C0D225}" presName="composite" presStyleCnt="0"/>
      <dgm:spPr/>
    </dgm:pt>
    <dgm:pt modelId="{0092D2EA-BCE4-B940-A6E0-3660CFD812D6}" type="pres">
      <dgm:prSet presAssocID="{13FF209E-1DBD-9F48-B1E9-8AC908C0D225}" presName="BackAccent" presStyleLbl="bgShp" presStyleIdx="1" presStyleCnt="3"/>
      <dgm:spPr/>
    </dgm:pt>
    <dgm:pt modelId="{AFA93EFA-B924-A448-9EBF-9406CA6CEC46}" type="pres">
      <dgm:prSet presAssocID="{13FF209E-1DBD-9F48-B1E9-8AC908C0D225}" presName="Accent" presStyleLbl="alignNode1" presStyleIdx="1" presStyleCnt="3"/>
      <dgm:spPr/>
    </dgm:pt>
    <dgm:pt modelId="{C91F389B-B26D-0546-95D8-0CE268FC1656}" type="pres">
      <dgm:prSet presAssocID="{13FF209E-1DBD-9F48-B1E9-8AC908C0D225}" presName="Child" presStyleLbl="revTx" presStyleIdx="2" presStyleCnt="6">
        <dgm:presLayoutVars>
          <dgm:chMax val="0"/>
          <dgm:chPref val="0"/>
          <dgm:bulletEnabled val="1"/>
        </dgm:presLayoutVars>
      </dgm:prSet>
      <dgm:spPr/>
    </dgm:pt>
    <dgm:pt modelId="{E3F148F2-AA4D-AB4E-8D84-7573629D198B}" type="pres">
      <dgm:prSet presAssocID="{13FF209E-1DBD-9F48-B1E9-8AC908C0D225}" presName="Parent" presStyleLbl="revTx" presStyleIdx="3" presStyleCnt="6">
        <dgm:presLayoutVars>
          <dgm:chMax val="1"/>
          <dgm:chPref val="1"/>
          <dgm:bulletEnabled val="1"/>
        </dgm:presLayoutVars>
      </dgm:prSet>
      <dgm:spPr/>
    </dgm:pt>
    <dgm:pt modelId="{A037C568-F9E8-8F4E-A932-34CE36182B4C}" type="pres">
      <dgm:prSet presAssocID="{CB200B96-D858-704C-87D5-540EED2F1F55}" presName="sibTrans" presStyleCnt="0"/>
      <dgm:spPr/>
    </dgm:pt>
    <dgm:pt modelId="{35B5C86D-BE23-C240-8820-7A0419790A20}" type="pres">
      <dgm:prSet presAssocID="{2CF7C8FB-ADF4-174F-8E89-FD3B39845E94}" presName="composite" presStyleCnt="0"/>
      <dgm:spPr/>
    </dgm:pt>
    <dgm:pt modelId="{66A07B98-90B5-9943-A1E3-708E96095C5C}" type="pres">
      <dgm:prSet presAssocID="{2CF7C8FB-ADF4-174F-8E89-FD3B39845E94}" presName="BackAccent" presStyleLbl="bgShp" presStyleIdx="2" presStyleCnt="3"/>
      <dgm:spPr/>
    </dgm:pt>
    <dgm:pt modelId="{EF7A0FB8-1A2C-5A46-A769-78D83904E394}" type="pres">
      <dgm:prSet presAssocID="{2CF7C8FB-ADF4-174F-8E89-FD3B39845E94}" presName="Accent" presStyleLbl="alignNode1" presStyleIdx="2" presStyleCnt="3"/>
      <dgm:spPr>
        <a:solidFill>
          <a:schemeClr val="accent2"/>
        </a:solidFill>
      </dgm:spPr>
    </dgm:pt>
    <dgm:pt modelId="{53418AB4-2F27-8448-9C85-869D816CF1C1}" type="pres">
      <dgm:prSet presAssocID="{2CF7C8FB-ADF4-174F-8E89-FD3B39845E94}" presName="Child" presStyleLbl="revTx" presStyleIdx="4" presStyleCnt="6">
        <dgm:presLayoutVars>
          <dgm:chMax val="0"/>
          <dgm:chPref val="0"/>
          <dgm:bulletEnabled val="1"/>
        </dgm:presLayoutVars>
      </dgm:prSet>
      <dgm:spPr/>
    </dgm:pt>
    <dgm:pt modelId="{9E7DA07B-04AC-AC4B-9B44-41056AA59A3B}" type="pres">
      <dgm:prSet presAssocID="{2CF7C8FB-ADF4-174F-8E89-FD3B39845E94}" presName="Parent" presStyleLbl="revTx" presStyleIdx="5" presStyleCnt="6">
        <dgm:presLayoutVars>
          <dgm:chMax val="1"/>
          <dgm:chPref val="1"/>
          <dgm:bulletEnabled val="1"/>
        </dgm:presLayoutVars>
      </dgm:prSet>
      <dgm:spPr/>
    </dgm:pt>
  </dgm:ptLst>
  <dgm:cxnLst>
    <dgm:cxn modelId="{F44EEF04-0383-A84B-A09B-1133E017E1F6}" type="presOf" srcId="{255DD688-383C-8A4F-AD5B-0ED1EB89673D}" destId="{C91F389B-B26D-0546-95D8-0CE268FC1656}" srcOrd="0" destOrd="2" presId="urn:microsoft.com/office/officeart/2008/layout/IncreasingCircleProcess"/>
    <dgm:cxn modelId="{BDB3490C-7B0A-4646-A4A5-422C898D3D60}" srcId="{A2743114-01B3-BF43-A432-6A3032145CBA}" destId="{102F82D6-3B40-5F4D-A3F0-7F30499F8686}" srcOrd="0" destOrd="0" parTransId="{6500FE16-D656-B745-81BF-781390CFF5A3}" sibTransId="{8062E086-DE67-5F4C-A374-6578537D2842}"/>
    <dgm:cxn modelId="{0EE41312-194E-8243-8C4A-3B3B53E32F0F}" type="presOf" srcId="{94C4F42F-8A54-5149-8764-E7FE1A3A75B1}" destId="{3A171F3C-AD86-F547-82DC-407FD6C176BA}" srcOrd="0" destOrd="3" presId="urn:microsoft.com/office/officeart/2008/layout/IncreasingCircleProcess"/>
    <dgm:cxn modelId="{86FD0919-6FA9-E744-AD5B-303BBC699374}" type="presOf" srcId="{AA1C0167-DE2A-1440-9BBA-A17135B16D72}" destId="{3A171F3C-AD86-F547-82DC-407FD6C176BA}" srcOrd="0" destOrd="1" presId="urn:microsoft.com/office/officeart/2008/layout/IncreasingCircleProcess"/>
    <dgm:cxn modelId="{B7B0F91C-750A-4B4B-A9D4-28081B145E3B}" srcId="{02B18E24-E1E1-2F49-AF6D-22F53D9FA0D4}" destId="{2CF7C8FB-ADF4-174F-8E89-FD3B39845E94}" srcOrd="2" destOrd="0" parTransId="{D6ED1143-A254-6B49-8DD8-2CC9CF4A5A94}" sibTransId="{95984162-3555-4D40-A35E-A1653165299C}"/>
    <dgm:cxn modelId="{4B405D26-A775-D849-B161-E481FD618166}" type="presOf" srcId="{02B18E24-E1E1-2F49-AF6D-22F53D9FA0D4}" destId="{A519C53D-32EF-434D-91E9-206490E60AD8}" srcOrd="0" destOrd="0" presId="urn:microsoft.com/office/officeart/2008/layout/IncreasingCircleProcess"/>
    <dgm:cxn modelId="{B3494C2D-1E8F-6440-8FB3-745E2E94F309}" type="presOf" srcId="{1F595006-766F-C74C-8F89-2B965A1283A5}" destId="{C91F389B-B26D-0546-95D8-0CE268FC1656}" srcOrd="0" destOrd="4" presId="urn:microsoft.com/office/officeart/2008/layout/IncreasingCircleProcess"/>
    <dgm:cxn modelId="{1DE57062-C7E3-6447-8263-89F7AE1C3CC2}" srcId="{13FF209E-1DBD-9F48-B1E9-8AC908C0D225}" destId="{7DCBDC21-4AD5-1E40-A277-8CA78317461D}" srcOrd="3" destOrd="0" parTransId="{18FCBE41-DFE5-D74C-A4CA-5E84EBFA4AB2}" sibTransId="{8685EAA1-81DE-F94C-9EBC-B03DBDA5BC92}"/>
    <dgm:cxn modelId="{130C2545-195E-EF46-B63C-EDEEB4B0850B}" type="presOf" srcId="{13FF209E-1DBD-9F48-B1E9-8AC908C0D225}" destId="{E3F148F2-AA4D-AB4E-8D84-7573629D198B}" srcOrd="0" destOrd="0" presId="urn:microsoft.com/office/officeart/2008/layout/IncreasingCircleProcess"/>
    <dgm:cxn modelId="{28B1F248-0F64-B74B-9891-A4BDA9DBCBED}" type="presOf" srcId="{AE9EA2C3-F4E7-D241-B887-1D53375C4DBC}" destId="{53418AB4-2F27-8448-9C85-869D816CF1C1}" srcOrd="0" destOrd="3" presId="urn:microsoft.com/office/officeart/2008/layout/IncreasingCircleProcess"/>
    <dgm:cxn modelId="{CC8CE86B-9FC3-CE43-AE1F-7E05D4B75DB9}" type="presOf" srcId="{A2743114-01B3-BF43-A432-6A3032145CBA}" destId="{06582C1D-F292-7246-AC4A-C845C4B7D6C2}" srcOrd="0" destOrd="0" presId="urn:microsoft.com/office/officeart/2008/layout/IncreasingCircleProcess"/>
    <dgm:cxn modelId="{9F24784C-889D-504F-8219-EB12A8CEFB9D}" srcId="{13FF209E-1DBD-9F48-B1E9-8AC908C0D225}" destId="{F5893D48-F64F-5243-927C-16201CCE6EB9}" srcOrd="1" destOrd="0" parTransId="{C99A4DE0-71E1-CD4A-9FA9-3F4689C9EF3A}" sibTransId="{AAB54CB6-E9EE-BD4C-B75F-DD6E83D46952}"/>
    <dgm:cxn modelId="{D0857D4C-312E-4D41-86A7-69958060DD4E}" srcId="{A2743114-01B3-BF43-A432-6A3032145CBA}" destId="{AA1C0167-DE2A-1440-9BBA-A17135B16D72}" srcOrd="1" destOrd="0" parTransId="{DAC12C1F-CC55-5D4B-9A98-F971B9871947}" sibTransId="{6777C68E-BFC1-904E-9E85-E7D55482BF07}"/>
    <dgm:cxn modelId="{5E0B475A-FD47-CD42-939D-FAFC5B96B03B}" srcId="{13FF209E-1DBD-9F48-B1E9-8AC908C0D225}" destId="{255DD688-383C-8A4F-AD5B-0ED1EB89673D}" srcOrd="2" destOrd="0" parTransId="{40F6F604-FFCE-054C-9AFC-28BEB24C843D}" sibTransId="{D4BA2428-E07D-7449-9253-28C0B58E6302}"/>
    <dgm:cxn modelId="{6A907C5A-DD2E-ED40-AD1D-C0158AC4C0E9}" srcId="{13FF209E-1DBD-9F48-B1E9-8AC908C0D225}" destId="{1F595006-766F-C74C-8F89-2B965A1283A5}" srcOrd="4" destOrd="0" parTransId="{EDB49B0F-CCAB-8D43-9C4A-CF923D66A810}" sibTransId="{F4D2489E-21AC-3D42-BCE3-CFDDE868956D}"/>
    <dgm:cxn modelId="{C3264080-A343-F345-89E7-6BA0B1BE92DB}" type="presOf" srcId="{3A308E42-9387-6A44-A77B-5DE39D7FCA2A}" destId="{3A171F3C-AD86-F547-82DC-407FD6C176BA}" srcOrd="0" destOrd="2" presId="urn:microsoft.com/office/officeart/2008/layout/IncreasingCircleProcess"/>
    <dgm:cxn modelId="{49090485-C239-CE49-86B5-30128D80F2B2}" srcId="{2CF7C8FB-ADF4-174F-8E89-FD3B39845E94}" destId="{31941E95-7AA9-E94C-AFC7-82A277D484D5}" srcOrd="2" destOrd="0" parTransId="{38033F4E-CFDA-E045-8782-32083B2D93A2}" sibTransId="{412920D1-67FB-5249-84AD-7DFBC00AD7C5}"/>
    <dgm:cxn modelId="{C241528A-2E56-EF4D-BB20-0CCCA9949BBE}" type="presOf" srcId="{38D7ECD8-F5E7-BE4A-A4D1-541E8E71E0C1}" destId="{53418AB4-2F27-8448-9C85-869D816CF1C1}" srcOrd="0" destOrd="0" presId="urn:microsoft.com/office/officeart/2008/layout/IncreasingCircleProcess"/>
    <dgm:cxn modelId="{32AB3C90-E53D-C747-8E34-648AE1B7AB09}" type="presOf" srcId="{A582E0FD-BFFA-F94D-AE85-7BDCD33745BA}" destId="{53418AB4-2F27-8448-9C85-869D816CF1C1}" srcOrd="0" destOrd="1" presId="urn:microsoft.com/office/officeart/2008/layout/IncreasingCircleProcess"/>
    <dgm:cxn modelId="{53F16591-EF26-644E-8346-DFD09245C62D}" srcId="{2CF7C8FB-ADF4-174F-8E89-FD3B39845E94}" destId="{AE9EA2C3-F4E7-D241-B887-1D53375C4DBC}" srcOrd="3" destOrd="0" parTransId="{E704B982-8036-BA41-B230-27E00453EB7E}" sibTransId="{87E3139C-8730-A547-9642-F4173C76C13C}"/>
    <dgm:cxn modelId="{9AF0EEAF-837B-0C45-A35A-62E79B2B8F46}" type="presOf" srcId="{102F82D6-3B40-5F4D-A3F0-7F30499F8686}" destId="{3A171F3C-AD86-F547-82DC-407FD6C176BA}" srcOrd="0" destOrd="0" presId="urn:microsoft.com/office/officeart/2008/layout/IncreasingCircleProcess"/>
    <dgm:cxn modelId="{97D2B9B4-85B1-4A41-B281-473F87BDA578}" srcId="{02B18E24-E1E1-2F49-AF6D-22F53D9FA0D4}" destId="{13FF209E-1DBD-9F48-B1E9-8AC908C0D225}" srcOrd="1" destOrd="0" parTransId="{CAFF60F9-9F47-C84F-96AA-2F91A411E0E3}" sibTransId="{CB200B96-D858-704C-87D5-540EED2F1F55}"/>
    <dgm:cxn modelId="{EF46C7B8-3792-E848-8B47-1C9CB3B6B892}" srcId="{A2743114-01B3-BF43-A432-6A3032145CBA}" destId="{3A308E42-9387-6A44-A77B-5DE39D7FCA2A}" srcOrd="2" destOrd="0" parTransId="{6805C544-713D-5C48-AC1F-1B9AD3F78BE5}" sibTransId="{A89F4B6A-A86D-604B-80EE-714287CF00D5}"/>
    <dgm:cxn modelId="{338F77BE-53EA-2F4C-B5BB-55F49873369B}" type="presOf" srcId="{F5893D48-F64F-5243-927C-16201CCE6EB9}" destId="{C91F389B-B26D-0546-95D8-0CE268FC1656}" srcOrd="0" destOrd="1" presId="urn:microsoft.com/office/officeart/2008/layout/IncreasingCircleProcess"/>
    <dgm:cxn modelId="{510092C0-ED99-3E49-8196-8732B62E6DC7}" type="presOf" srcId="{31941E95-7AA9-E94C-AFC7-82A277D484D5}" destId="{53418AB4-2F27-8448-9C85-869D816CF1C1}" srcOrd="0" destOrd="2" presId="urn:microsoft.com/office/officeart/2008/layout/IncreasingCircleProcess"/>
    <dgm:cxn modelId="{A032CDC2-D41A-E54D-B390-B49AADDB5547}" type="presOf" srcId="{7DCBDC21-4AD5-1E40-A277-8CA78317461D}" destId="{C91F389B-B26D-0546-95D8-0CE268FC1656}" srcOrd="0" destOrd="3" presId="urn:microsoft.com/office/officeart/2008/layout/IncreasingCircleProcess"/>
    <dgm:cxn modelId="{D446B3C9-0879-F844-96ED-82EF8206BE57}" srcId="{02B18E24-E1E1-2F49-AF6D-22F53D9FA0D4}" destId="{A2743114-01B3-BF43-A432-6A3032145CBA}" srcOrd="0" destOrd="0" parTransId="{DB405152-14FB-5D4E-8881-08A2D1254B00}" sibTransId="{FC6A5657-99CD-8A4C-98D1-E39BABD328F0}"/>
    <dgm:cxn modelId="{0E8F0DCC-E126-DD47-86A4-065160736C71}" srcId="{2CF7C8FB-ADF4-174F-8E89-FD3B39845E94}" destId="{38D7ECD8-F5E7-BE4A-A4D1-541E8E71E0C1}" srcOrd="0" destOrd="0" parTransId="{DF228118-F8D6-6F42-B0D5-534901BDC0BD}" sibTransId="{8E844B8F-253E-EB4E-8A95-83AC24E59869}"/>
    <dgm:cxn modelId="{E5726ACC-E011-8D43-8EFD-02907548DD2E}" srcId="{A2743114-01B3-BF43-A432-6A3032145CBA}" destId="{94C4F42F-8A54-5149-8764-E7FE1A3A75B1}" srcOrd="3" destOrd="0" parTransId="{251487BC-A304-064D-A25D-BDA048317BD9}" sibTransId="{6AB019B4-1019-854B-AA07-85D193A7670B}"/>
    <dgm:cxn modelId="{578EEDD9-22C4-C245-95DD-CA1EE75BC606}" srcId="{13FF209E-1DBD-9F48-B1E9-8AC908C0D225}" destId="{1B16AA71-6074-0042-90BC-88F3102B8C62}" srcOrd="0" destOrd="0" parTransId="{07BD867D-755B-4749-85FA-C06CFA10AE06}" sibTransId="{5AB8361B-E321-C149-8AB8-3B8AB9D3614C}"/>
    <dgm:cxn modelId="{61A039DA-D966-7E4B-8F28-BABE5FFE9103}" srcId="{2CF7C8FB-ADF4-174F-8E89-FD3B39845E94}" destId="{A582E0FD-BFFA-F94D-AE85-7BDCD33745BA}" srcOrd="1" destOrd="0" parTransId="{856BC814-FFB4-C347-8ABB-4A23905DC749}" sibTransId="{7FF7B891-191B-E546-A1E1-6D50BCAB1C6A}"/>
    <dgm:cxn modelId="{02B1ACDC-03EE-6648-8017-3C0A16377CC4}" srcId="{2CF7C8FB-ADF4-174F-8E89-FD3B39845E94}" destId="{4F964132-5EE6-4A48-834E-A76D24C29981}" srcOrd="4" destOrd="0" parTransId="{D262720E-E1F3-E14C-A32C-8B8337B3AF1F}" sibTransId="{DE71CB58-E372-404A-8DBE-0D94AA066085}"/>
    <dgm:cxn modelId="{3A4092E2-05A5-0341-8DEB-A3007BB75442}" type="presOf" srcId="{4F964132-5EE6-4A48-834E-A76D24C29981}" destId="{53418AB4-2F27-8448-9C85-869D816CF1C1}" srcOrd="0" destOrd="4" presId="urn:microsoft.com/office/officeart/2008/layout/IncreasingCircleProcess"/>
    <dgm:cxn modelId="{1B6ABEF1-2FBD-8A4C-BBE5-C23159A666EE}" type="presOf" srcId="{2CF7C8FB-ADF4-174F-8E89-FD3B39845E94}" destId="{9E7DA07B-04AC-AC4B-9B44-41056AA59A3B}" srcOrd="0" destOrd="0" presId="urn:microsoft.com/office/officeart/2008/layout/IncreasingCircleProcess"/>
    <dgm:cxn modelId="{94F089F6-4706-B243-ADEB-8815ED790F18}" type="presOf" srcId="{1B16AA71-6074-0042-90BC-88F3102B8C62}" destId="{C91F389B-B26D-0546-95D8-0CE268FC1656}" srcOrd="0" destOrd="0" presId="urn:microsoft.com/office/officeart/2008/layout/IncreasingCircleProcess"/>
    <dgm:cxn modelId="{25A4C484-1690-AE41-BFB7-2221757AA904}" type="presParOf" srcId="{A519C53D-32EF-434D-91E9-206490E60AD8}" destId="{95B1ADBE-8E04-624E-A463-14F92558AA58}" srcOrd="0" destOrd="0" presId="urn:microsoft.com/office/officeart/2008/layout/IncreasingCircleProcess"/>
    <dgm:cxn modelId="{21E1113F-F534-4B42-8390-94ADC1FB4113}" type="presParOf" srcId="{95B1ADBE-8E04-624E-A463-14F92558AA58}" destId="{8BA8E742-1D07-A64E-84DD-4A81A706FE66}" srcOrd="0" destOrd="0" presId="urn:microsoft.com/office/officeart/2008/layout/IncreasingCircleProcess"/>
    <dgm:cxn modelId="{EF88AF3D-BB07-2540-B6A0-51ABBC94F42A}" type="presParOf" srcId="{95B1ADBE-8E04-624E-A463-14F92558AA58}" destId="{4E9C11BB-7FF8-EE4E-ADD5-563F745925C4}" srcOrd="1" destOrd="0" presId="urn:microsoft.com/office/officeart/2008/layout/IncreasingCircleProcess"/>
    <dgm:cxn modelId="{3429587C-BB69-8942-9970-65B76DA0A5FD}" type="presParOf" srcId="{95B1ADBE-8E04-624E-A463-14F92558AA58}" destId="{3A171F3C-AD86-F547-82DC-407FD6C176BA}" srcOrd="2" destOrd="0" presId="urn:microsoft.com/office/officeart/2008/layout/IncreasingCircleProcess"/>
    <dgm:cxn modelId="{1894C848-E829-F24E-934A-0B688651513F}" type="presParOf" srcId="{95B1ADBE-8E04-624E-A463-14F92558AA58}" destId="{06582C1D-F292-7246-AC4A-C845C4B7D6C2}" srcOrd="3" destOrd="0" presId="urn:microsoft.com/office/officeart/2008/layout/IncreasingCircleProcess"/>
    <dgm:cxn modelId="{E4D04911-11AE-0348-B258-31A3F66F4025}" type="presParOf" srcId="{A519C53D-32EF-434D-91E9-206490E60AD8}" destId="{245AEB40-2B78-134F-9164-C030CDF87DBA}" srcOrd="1" destOrd="0" presId="urn:microsoft.com/office/officeart/2008/layout/IncreasingCircleProcess"/>
    <dgm:cxn modelId="{5D52E1DB-59FB-9746-8FB8-3C72FCE0DD66}" type="presParOf" srcId="{A519C53D-32EF-434D-91E9-206490E60AD8}" destId="{D88D216F-DF49-044B-8A4C-29537135C375}" srcOrd="2" destOrd="0" presId="urn:microsoft.com/office/officeart/2008/layout/IncreasingCircleProcess"/>
    <dgm:cxn modelId="{210850D4-804F-CE4E-A16B-2198C2C09848}" type="presParOf" srcId="{D88D216F-DF49-044B-8A4C-29537135C375}" destId="{0092D2EA-BCE4-B940-A6E0-3660CFD812D6}" srcOrd="0" destOrd="0" presId="urn:microsoft.com/office/officeart/2008/layout/IncreasingCircleProcess"/>
    <dgm:cxn modelId="{B150C226-E006-1D47-8071-3BA78D21F132}" type="presParOf" srcId="{D88D216F-DF49-044B-8A4C-29537135C375}" destId="{AFA93EFA-B924-A448-9EBF-9406CA6CEC46}" srcOrd="1" destOrd="0" presId="urn:microsoft.com/office/officeart/2008/layout/IncreasingCircleProcess"/>
    <dgm:cxn modelId="{2470D0CD-7BDE-D84E-9334-21E19B1BDF51}" type="presParOf" srcId="{D88D216F-DF49-044B-8A4C-29537135C375}" destId="{C91F389B-B26D-0546-95D8-0CE268FC1656}" srcOrd="2" destOrd="0" presId="urn:microsoft.com/office/officeart/2008/layout/IncreasingCircleProcess"/>
    <dgm:cxn modelId="{DB342DB0-ADE4-9049-B714-AC4ADE358C78}" type="presParOf" srcId="{D88D216F-DF49-044B-8A4C-29537135C375}" destId="{E3F148F2-AA4D-AB4E-8D84-7573629D198B}" srcOrd="3" destOrd="0" presId="urn:microsoft.com/office/officeart/2008/layout/IncreasingCircleProcess"/>
    <dgm:cxn modelId="{FDA88F66-30C7-0044-8D31-C5B6772DC415}" type="presParOf" srcId="{A519C53D-32EF-434D-91E9-206490E60AD8}" destId="{A037C568-F9E8-8F4E-A932-34CE36182B4C}" srcOrd="3" destOrd="0" presId="urn:microsoft.com/office/officeart/2008/layout/IncreasingCircleProcess"/>
    <dgm:cxn modelId="{4A4B6748-736B-A041-814A-DE3431C2B53F}" type="presParOf" srcId="{A519C53D-32EF-434D-91E9-206490E60AD8}" destId="{35B5C86D-BE23-C240-8820-7A0419790A20}" srcOrd="4" destOrd="0" presId="urn:microsoft.com/office/officeart/2008/layout/IncreasingCircleProcess"/>
    <dgm:cxn modelId="{FC4C1D80-1736-1847-8EE5-78E6E66E101B}" type="presParOf" srcId="{35B5C86D-BE23-C240-8820-7A0419790A20}" destId="{66A07B98-90B5-9943-A1E3-708E96095C5C}" srcOrd="0" destOrd="0" presId="urn:microsoft.com/office/officeart/2008/layout/IncreasingCircleProcess"/>
    <dgm:cxn modelId="{857D926F-D43F-FC41-A758-40C4A6FFE0F5}" type="presParOf" srcId="{35B5C86D-BE23-C240-8820-7A0419790A20}" destId="{EF7A0FB8-1A2C-5A46-A769-78D83904E394}" srcOrd="1" destOrd="0" presId="urn:microsoft.com/office/officeart/2008/layout/IncreasingCircleProcess"/>
    <dgm:cxn modelId="{A1A13650-5937-424D-8CEC-961626B59209}" type="presParOf" srcId="{35B5C86D-BE23-C240-8820-7A0419790A20}" destId="{53418AB4-2F27-8448-9C85-869D816CF1C1}" srcOrd="2" destOrd="0" presId="urn:microsoft.com/office/officeart/2008/layout/IncreasingCircleProcess"/>
    <dgm:cxn modelId="{E054873E-E77A-B342-ADCE-A3004085E691}" type="presParOf" srcId="{35B5C86D-BE23-C240-8820-7A0419790A20}" destId="{9E7DA07B-04AC-AC4B-9B44-41056AA59A3B}" srcOrd="3" destOrd="0" presId="urn:microsoft.com/office/officeart/2008/layout/IncreasingCircle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084B6F6-85EA-264D-959B-5058A955993D}" type="doc">
      <dgm:prSet loTypeId="urn:microsoft.com/office/officeart/2005/8/layout/vList2" loCatId="" qsTypeId="urn:microsoft.com/office/officeart/2005/8/quickstyle/simple1" qsCatId="simple" csTypeId="urn:microsoft.com/office/officeart/2005/8/colors/accent2_2" csCatId="accent2" phldr="1"/>
      <dgm:spPr/>
      <dgm:t>
        <a:bodyPr/>
        <a:lstStyle/>
        <a:p>
          <a:endParaRPr lang="en-US"/>
        </a:p>
      </dgm:t>
    </dgm:pt>
    <dgm:pt modelId="{5FC6F71D-3962-EC47-AE57-9E33A2CBE88E}">
      <dgm:prSet phldrT="[Text]"/>
      <dgm:spPr/>
      <dgm:t>
        <a:bodyPr/>
        <a:lstStyle/>
        <a:p>
          <a:r>
            <a:rPr lang="en-US" b="1" dirty="0"/>
            <a:t>Constitutional Framework</a:t>
          </a:r>
        </a:p>
      </dgm:t>
    </dgm:pt>
    <dgm:pt modelId="{6AD60BB1-B20F-B048-A256-260CA42DED82}" type="parTrans" cxnId="{476F0EE4-81E4-0645-A1B3-47B8B488F091}">
      <dgm:prSet/>
      <dgm:spPr/>
      <dgm:t>
        <a:bodyPr/>
        <a:lstStyle/>
        <a:p>
          <a:endParaRPr lang="en-US"/>
        </a:p>
      </dgm:t>
    </dgm:pt>
    <dgm:pt modelId="{13B6F54D-58A8-0347-B07F-62102A79E941}" type="sibTrans" cxnId="{476F0EE4-81E4-0645-A1B3-47B8B488F091}">
      <dgm:prSet/>
      <dgm:spPr/>
      <dgm:t>
        <a:bodyPr/>
        <a:lstStyle/>
        <a:p>
          <a:endParaRPr lang="en-US"/>
        </a:p>
      </dgm:t>
    </dgm:pt>
    <dgm:pt modelId="{F7B57587-B8D4-5941-A2E0-D973743A6F25}">
      <dgm:prSet phldrT="[Text]"/>
      <dgm:spPr/>
      <dgm:t>
        <a:bodyPr/>
        <a:lstStyle/>
        <a:p>
          <a:r>
            <a:rPr lang="en-US" b="0" i="0" dirty="0"/>
            <a:t>Established 8 core principles for agentic security operations</a:t>
          </a:r>
          <a:endParaRPr lang="en-US" dirty="0"/>
        </a:p>
      </dgm:t>
    </dgm:pt>
    <dgm:pt modelId="{8A411318-25C2-E24F-91E5-3945345E3DE0}" type="parTrans" cxnId="{28438312-CFB1-8D4C-99E5-4E86C874F521}">
      <dgm:prSet/>
      <dgm:spPr/>
      <dgm:t>
        <a:bodyPr/>
        <a:lstStyle/>
        <a:p>
          <a:endParaRPr lang="en-US"/>
        </a:p>
      </dgm:t>
    </dgm:pt>
    <dgm:pt modelId="{1F596612-9224-114B-803A-BB0BCAE43210}" type="sibTrans" cxnId="{28438312-CFB1-8D4C-99E5-4E86C874F521}">
      <dgm:prSet/>
      <dgm:spPr/>
      <dgm:t>
        <a:bodyPr/>
        <a:lstStyle/>
        <a:p>
          <a:endParaRPr lang="en-US"/>
        </a:p>
      </dgm:t>
    </dgm:pt>
    <dgm:pt modelId="{777BEAA8-821F-664B-AEF4-7CB254FB880A}">
      <dgm:prSet phldrT="[Text]"/>
      <dgm:spPr/>
      <dgm:t>
        <a:bodyPr/>
        <a:lstStyle/>
        <a:p>
          <a:pPr>
            <a:buFont typeface="Arial" panose="020B0604020202020204" pitchFamily="34" charset="0"/>
            <a:buChar char="•"/>
          </a:pPr>
          <a:r>
            <a:rPr lang="en-US" b="0" i="0" dirty="0"/>
            <a:t>100% specification-driven development</a:t>
          </a:r>
          <a:endParaRPr lang="en-US" dirty="0"/>
        </a:p>
      </dgm:t>
    </dgm:pt>
    <dgm:pt modelId="{B309EA26-E51D-B24A-BE1A-81E8F4993BFA}" type="parTrans" cxnId="{0A3F79E2-474D-1248-9F01-6C73BB3D1BD6}">
      <dgm:prSet/>
      <dgm:spPr/>
      <dgm:t>
        <a:bodyPr/>
        <a:lstStyle/>
        <a:p>
          <a:endParaRPr lang="en-US"/>
        </a:p>
      </dgm:t>
    </dgm:pt>
    <dgm:pt modelId="{DBFA619C-2D3B-434E-B443-0C0672337F19}" type="sibTrans" cxnId="{0A3F79E2-474D-1248-9F01-6C73BB3D1BD6}">
      <dgm:prSet/>
      <dgm:spPr/>
      <dgm:t>
        <a:bodyPr/>
        <a:lstStyle/>
        <a:p>
          <a:endParaRPr lang="en-US"/>
        </a:p>
      </dgm:t>
    </dgm:pt>
    <dgm:pt modelId="{5F147A8E-B75F-C64E-87F9-F567E4A9AB48}">
      <dgm:prSet phldrT="[Text]"/>
      <dgm:spPr/>
      <dgm:t>
        <a:bodyPr/>
        <a:lstStyle/>
        <a:p>
          <a:pPr>
            <a:buNone/>
          </a:pPr>
          <a:r>
            <a:rPr lang="en-US" b="1" i="0"/>
            <a:t>Detailed Specifications</a:t>
          </a:r>
          <a:endParaRPr lang="en-US" dirty="0"/>
        </a:p>
      </dgm:t>
    </dgm:pt>
    <dgm:pt modelId="{912DC844-75B9-B043-B754-8DA9A5514E9B}" type="sibTrans" cxnId="{59507E83-23BC-894C-9BF7-527DD4267721}">
      <dgm:prSet/>
      <dgm:spPr/>
      <dgm:t>
        <a:bodyPr/>
        <a:lstStyle/>
        <a:p>
          <a:endParaRPr lang="en-US"/>
        </a:p>
      </dgm:t>
    </dgm:pt>
    <dgm:pt modelId="{008117B7-74F6-0044-A4D8-17D8FE99205A}" type="parTrans" cxnId="{59507E83-23BC-894C-9BF7-527DD4267721}">
      <dgm:prSet/>
      <dgm:spPr/>
      <dgm:t>
        <a:bodyPr/>
        <a:lstStyle/>
        <a:p>
          <a:endParaRPr lang="en-US"/>
        </a:p>
      </dgm:t>
    </dgm:pt>
    <dgm:pt modelId="{73FC9C3E-E388-6E40-9A9A-8102B69AF697}">
      <dgm:prSet/>
      <dgm:spPr/>
      <dgm:t>
        <a:bodyPr/>
        <a:lstStyle/>
        <a:p>
          <a:pPr>
            <a:buFont typeface="Arial" panose="020B0604020202020204" pitchFamily="34" charset="0"/>
            <a:buChar char="•"/>
          </a:pPr>
          <a:r>
            <a:rPr lang="en-US" b="0" i="0"/>
            <a:t>Guided all architectural and implementation decisions</a:t>
          </a:r>
        </a:p>
      </dgm:t>
    </dgm:pt>
    <dgm:pt modelId="{194C0659-0776-7949-BEB1-98D4EF1E6BB5}" type="parTrans" cxnId="{0089371E-21E4-394D-881A-B3AEAFBC568A}">
      <dgm:prSet/>
      <dgm:spPr/>
      <dgm:t>
        <a:bodyPr/>
        <a:lstStyle/>
        <a:p>
          <a:endParaRPr lang="en-US"/>
        </a:p>
      </dgm:t>
    </dgm:pt>
    <dgm:pt modelId="{814DF50C-546E-A941-A900-41F80E086DF9}" type="sibTrans" cxnId="{0089371E-21E4-394D-881A-B3AEAFBC568A}">
      <dgm:prSet/>
      <dgm:spPr/>
      <dgm:t>
        <a:bodyPr/>
        <a:lstStyle/>
        <a:p>
          <a:endParaRPr lang="en-US"/>
        </a:p>
      </dgm:t>
    </dgm:pt>
    <dgm:pt modelId="{0AAF5A16-726C-A045-B3E9-9AC8A0E046AA}">
      <dgm:prSet/>
      <dgm:spPr/>
      <dgm:t>
        <a:bodyPr/>
        <a:lstStyle/>
        <a:p>
          <a:pPr>
            <a:buFont typeface="Arial" panose="020B0604020202020204" pitchFamily="34" charset="0"/>
            <a:buChar char="•"/>
          </a:pPr>
          <a:r>
            <a:rPr lang="en-US" b="0" i="0"/>
            <a:t>Ensured consistency across agents and workflows</a:t>
          </a:r>
        </a:p>
      </dgm:t>
    </dgm:pt>
    <dgm:pt modelId="{3FF24EE4-C8C4-AE45-A34C-369DBD86B4BD}" type="parTrans" cxnId="{F0BEE4D8-CBE3-FB4B-B259-D9DEED71DF55}">
      <dgm:prSet/>
      <dgm:spPr/>
      <dgm:t>
        <a:bodyPr/>
        <a:lstStyle/>
        <a:p>
          <a:endParaRPr lang="en-US"/>
        </a:p>
      </dgm:t>
    </dgm:pt>
    <dgm:pt modelId="{74A9D2A5-3A59-A944-9E72-CCA7CFF8A3AD}" type="sibTrans" cxnId="{F0BEE4D8-CBE3-FB4B-B259-D9DEED71DF55}">
      <dgm:prSet/>
      <dgm:spPr/>
      <dgm:t>
        <a:bodyPr/>
        <a:lstStyle/>
        <a:p>
          <a:endParaRPr lang="en-US"/>
        </a:p>
      </dgm:t>
    </dgm:pt>
    <dgm:pt modelId="{22EB9A86-7593-9745-B9D8-9E0E4C823D36}">
      <dgm:prSet/>
      <dgm:spPr/>
      <dgm:t>
        <a:bodyPr/>
        <a:lstStyle/>
        <a:p>
          <a:pPr>
            <a:buFont typeface="Arial" panose="020B0604020202020204" pitchFamily="34" charset="0"/>
            <a:buChar char="•"/>
          </a:pPr>
          <a:r>
            <a:rPr lang="en-US" b="0" i="0" dirty="0"/>
            <a:t>Clear separation of MVP vs. production requirements</a:t>
          </a:r>
        </a:p>
      </dgm:t>
    </dgm:pt>
    <dgm:pt modelId="{C3DEBD8E-A815-A34E-A906-A5E8763E5037}" type="parTrans" cxnId="{42087137-FEB9-714A-9AB4-EEE242662F76}">
      <dgm:prSet/>
      <dgm:spPr/>
      <dgm:t>
        <a:bodyPr/>
        <a:lstStyle/>
        <a:p>
          <a:endParaRPr lang="en-US"/>
        </a:p>
      </dgm:t>
    </dgm:pt>
    <dgm:pt modelId="{72BB3798-A5BB-D84E-86CE-C6E6CB4C6030}" type="sibTrans" cxnId="{42087137-FEB9-714A-9AB4-EEE242662F76}">
      <dgm:prSet/>
      <dgm:spPr/>
      <dgm:t>
        <a:bodyPr/>
        <a:lstStyle/>
        <a:p>
          <a:endParaRPr lang="en-US"/>
        </a:p>
      </dgm:t>
    </dgm:pt>
    <dgm:pt modelId="{231C6F05-7A47-6042-AA59-A79F59A18160}">
      <dgm:prSet/>
      <dgm:spPr/>
      <dgm:t>
        <a:bodyPr/>
        <a:lstStyle/>
        <a:p>
          <a:pPr>
            <a:buFont typeface="Arial" panose="020B0604020202020204" pitchFamily="34" charset="0"/>
            <a:buChar char="•"/>
          </a:pPr>
          <a:r>
            <a:rPr lang="en-US" b="0" i="0" dirty="0"/>
            <a:t>LLM-friendly: Focus on outcomes and constraints, not procedural logic</a:t>
          </a:r>
        </a:p>
      </dgm:t>
    </dgm:pt>
    <dgm:pt modelId="{C86DEAC3-2EE1-0F4C-8DA6-967F376876DA}" type="parTrans" cxnId="{916F89C1-2E8F-CA40-B1CF-5DEB4F1ABE69}">
      <dgm:prSet/>
      <dgm:spPr/>
      <dgm:t>
        <a:bodyPr/>
        <a:lstStyle/>
        <a:p>
          <a:endParaRPr lang="en-US"/>
        </a:p>
      </dgm:t>
    </dgm:pt>
    <dgm:pt modelId="{55B88873-B05E-3D46-B905-35BB095F8840}" type="sibTrans" cxnId="{916F89C1-2E8F-CA40-B1CF-5DEB4F1ABE69}">
      <dgm:prSet/>
      <dgm:spPr/>
      <dgm:t>
        <a:bodyPr/>
        <a:lstStyle/>
        <a:p>
          <a:endParaRPr lang="en-US"/>
        </a:p>
      </dgm:t>
    </dgm:pt>
    <dgm:pt modelId="{CE5B741C-1967-B54D-A51F-A8EC315C7910}">
      <dgm:prSet/>
      <dgm:spPr/>
      <dgm:t>
        <a:bodyPr/>
        <a:lstStyle/>
        <a:p>
          <a:r>
            <a:rPr lang="en-US" b="1" dirty="0"/>
            <a:t>Start with Researcher</a:t>
          </a:r>
        </a:p>
      </dgm:t>
    </dgm:pt>
    <dgm:pt modelId="{B7755EC9-92DA-CD44-8466-226949838C0C}" type="parTrans" cxnId="{9B6ED30F-9E3D-6348-9C70-898B652BE0C4}">
      <dgm:prSet/>
      <dgm:spPr/>
      <dgm:t>
        <a:bodyPr/>
        <a:lstStyle/>
        <a:p>
          <a:endParaRPr lang="en-US"/>
        </a:p>
      </dgm:t>
    </dgm:pt>
    <dgm:pt modelId="{64397346-EEFD-274B-9AC9-8A9A9C6EF7B6}" type="sibTrans" cxnId="{9B6ED30F-9E3D-6348-9C70-898B652BE0C4}">
      <dgm:prSet/>
      <dgm:spPr/>
      <dgm:t>
        <a:bodyPr/>
        <a:lstStyle/>
        <a:p>
          <a:endParaRPr lang="en-US"/>
        </a:p>
      </dgm:t>
    </dgm:pt>
    <dgm:pt modelId="{C80577D6-EF81-BC44-94B3-A2BA86487C87}">
      <dgm:prSet/>
      <dgm:spPr/>
      <dgm:t>
        <a:bodyPr/>
        <a:lstStyle/>
        <a:p>
          <a:r>
            <a:rPr lang="en-US" dirty="0"/>
            <a:t>Write a report about Traditional Security Operations Centers.</a:t>
          </a:r>
        </a:p>
      </dgm:t>
    </dgm:pt>
    <dgm:pt modelId="{E5ADC1D4-D72B-D544-BE89-3B02C31D9375}" type="parTrans" cxnId="{30D69360-51F6-F94E-B772-9F11AFAC94DA}">
      <dgm:prSet/>
      <dgm:spPr/>
      <dgm:t>
        <a:bodyPr/>
        <a:lstStyle/>
        <a:p>
          <a:endParaRPr lang="en-US"/>
        </a:p>
      </dgm:t>
    </dgm:pt>
    <dgm:pt modelId="{C2C0964C-1E65-EC47-9B2B-8E35D791068A}" type="sibTrans" cxnId="{30D69360-51F6-F94E-B772-9F11AFAC94DA}">
      <dgm:prSet/>
      <dgm:spPr/>
      <dgm:t>
        <a:bodyPr/>
        <a:lstStyle/>
        <a:p>
          <a:endParaRPr lang="en-US"/>
        </a:p>
      </dgm:t>
    </dgm:pt>
    <dgm:pt modelId="{9E9F6A3C-54F6-2445-BC8E-8C79F309F036}">
      <dgm:prSet/>
      <dgm:spPr/>
      <dgm:t>
        <a:bodyPr/>
        <a:lstStyle/>
        <a:p>
          <a:r>
            <a:rPr lang="en-US" dirty="0"/>
            <a:t>Find me credible security research datasets.</a:t>
          </a:r>
        </a:p>
      </dgm:t>
    </dgm:pt>
    <dgm:pt modelId="{B5311BC1-DDC9-AC48-A16E-876E267A2C0E}" type="parTrans" cxnId="{5B9004C9-54C9-AC4E-ACBA-1173863445B1}">
      <dgm:prSet/>
      <dgm:spPr/>
      <dgm:t>
        <a:bodyPr/>
        <a:lstStyle/>
        <a:p>
          <a:endParaRPr lang="en-US"/>
        </a:p>
      </dgm:t>
    </dgm:pt>
    <dgm:pt modelId="{A1285A0B-AD1C-8947-B863-4983C2CA392C}" type="sibTrans" cxnId="{5B9004C9-54C9-AC4E-ACBA-1173863445B1}">
      <dgm:prSet/>
      <dgm:spPr/>
      <dgm:t>
        <a:bodyPr/>
        <a:lstStyle/>
        <a:p>
          <a:endParaRPr lang="en-US"/>
        </a:p>
      </dgm:t>
    </dgm:pt>
    <dgm:pt modelId="{D5B0EF88-7369-1240-89FE-7A26CB29DB1E}">
      <dgm:prSet/>
      <dgm:spPr/>
      <dgm:t>
        <a:bodyPr/>
        <a:lstStyle/>
        <a:p>
          <a:r>
            <a:rPr lang="en-US" dirty="0"/>
            <a:t>Create a proposed approach for an Autonomous Agentic SOC.</a:t>
          </a:r>
        </a:p>
      </dgm:t>
    </dgm:pt>
    <dgm:pt modelId="{0BCBF1EA-B72D-7F47-AE3E-DA8C18323731}" type="parTrans" cxnId="{FDDCC0A1-C6D9-3E49-AC01-00874645FA0C}">
      <dgm:prSet/>
      <dgm:spPr/>
      <dgm:t>
        <a:bodyPr/>
        <a:lstStyle/>
        <a:p>
          <a:endParaRPr lang="en-US"/>
        </a:p>
      </dgm:t>
    </dgm:pt>
    <dgm:pt modelId="{5D79D037-33C4-E749-887C-C4A91E88CDC6}" type="sibTrans" cxnId="{FDDCC0A1-C6D9-3E49-AC01-00874645FA0C}">
      <dgm:prSet/>
      <dgm:spPr/>
      <dgm:t>
        <a:bodyPr/>
        <a:lstStyle/>
        <a:p>
          <a:endParaRPr lang="en-US"/>
        </a:p>
      </dgm:t>
    </dgm:pt>
    <dgm:pt modelId="{2F9B7A18-EF98-274A-8B54-CE4DAD59DB7A}" type="pres">
      <dgm:prSet presAssocID="{9084B6F6-85EA-264D-959B-5058A955993D}" presName="linear" presStyleCnt="0">
        <dgm:presLayoutVars>
          <dgm:animLvl val="lvl"/>
          <dgm:resizeHandles val="exact"/>
        </dgm:presLayoutVars>
      </dgm:prSet>
      <dgm:spPr/>
    </dgm:pt>
    <dgm:pt modelId="{6DC221AF-04DA-D84F-BC60-DE0B21DE4949}" type="pres">
      <dgm:prSet presAssocID="{CE5B741C-1967-B54D-A51F-A8EC315C7910}" presName="parentText" presStyleLbl="node1" presStyleIdx="0" presStyleCnt="3">
        <dgm:presLayoutVars>
          <dgm:chMax val="0"/>
          <dgm:bulletEnabled val="1"/>
        </dgm:presLayoutVars>
      </dgm:prSet>
      <dgm:spPr/>
    </dgm:pt>
    <dgm:pt modelId="{71B31505-A195-4945-ADD1-691EA6B591EC}" type="pres">
      <dgm:prSet presAssocID="{CE5B741C-1967-B54D-A51F-A8EC315C7910}" presName="childText" presStyleLbl="revTx" presStyleIdx="0" presStyleCnt="3">
        <dgm:presLayoutVars>
          <dgm:bulletEnabled val="1"/>
        </dgm:presLayoutVars>
      </dgm:prSet>
      <dgm:spPr/>
    </dgm:pt>
    <dgm:pt modelId="{34032029-931A-3C4B-B9F9-7C5A807935CC}" type="pres">
      <dgm:prSet presAssocID="{5FC6F71D-3962-EC47-AE57-9E33A2CBE88E}" presName="parentText" presStyleLbl="node1" presStyleIdx="1" presStyleCnt="3">
        <dgm:presLayoutVars>
          <dgm:chMax val="0"/>
          <dgm:bulletEnabled val="1"/>
        </dgm:presLayoutVars>
      </dgm:prSet>
      <dgm:spPr/>
    </dgm:pt>
    <dgm:pt modelId="{F83AE67B-AE1D-5548-AE7F-502E8BC71F02}" type="pres">
      <dgm:prSet presAssocID="{5FC6F71D-3962-EC47-AE57-9E33A2CBE88E}" presName="childText" presStyleLbl="revTx" presStyleIdx="1" presStyleCnt="3">
        <dgm:presLayoutVars>
          <dgm:bulletEnabled val="1"/>
        </dgm:presLayoutVars>
      </dgm:prSet>
      <dgm:spPr/>
    </dgm:pt>
    <dgm:pt modelId="{44E32F4D-9B57-8A48-8068-4628636457FC}" type="pres">
      <dgm:prSet presAssocID="{5F147A8E-B75F-C64E-87F9-F567E4A9AB48}" presName="parentText" presStyleLbl="node1" presStyleIdx="2" presStyleCnt="3">
        <dgm:presLayoutVars>
          <dgm:chMax val="0"/>
          <dgm:bulletEnabled val="1"/>
        </dgm:presLayoutVars>
      </dgm:prSet>
      <dgm:spPr/>
    </dgm:pt>
    <dgm:pt modelId="{A06D5B8F-B8CE-884E-9C2C-C617403F6CA2}" type="pres">
      <dgm:prSet presAssocID="{5F147A8E-B75F-C64E-87F9-F567E4A9AB48}" presName="childText" presStyleLbl="revTx" presStyleIdx="2" presStyleCnt="3">
        <dgm:presLayoutVars>
          <dgm:bulletEnabled val="1"/>
        </dgm:presLayoutVars>
      </dgm:prSet>
      <dgm:spPr/>
    </dgm:pt>
  </dgm:ptLst>
  <dgm:cxnLst>
    <dgm:cxn modelId="{9B6ED30F-9E3D-6348-9C70-898B652BE0C4}" srcId="{9084B6F6-85EA-264D-959B-5058A955993D}" destId="{CE5B741C-1967-B54D-A51F-A8EC315C7910}" srcOrd="0" destOrd="0" parTransId="{B7755EC9-92DA-CD44-8466-226949838C0C}" sibTransId="{64397346-EEFD-274B-9AC9-8A9A9C6EF7B6}"/>
    <dgm:cxn modelId="{28438312-CFB1-8D4C-99E5-4E86C874F521}" srcId="{5FC6F71D-3962-EC47-AE57-9E33A2CBE88E}" destId="{F7B57587-B8D4-5941-A2E0-D973743A6F25}" srcOrd="0" destOrd="0" parTransId="{8A411318-25C2-E24F-91E5-3945345E3DE0}" sibTransId="{1F596612-9224-114B-803A-BB0BCAE43210}"/>
    <dgm:cxn modelId="{0089371E-21E4-394D-881A-B3AEAFBC568A}" srcId="{5FC6F71D-3962-EC47-AE57-9E33A2CBE88E}" destId="{73FC9C3E-E388-6E40-9A9A-8102B69AF697}" srcOrd="1" destOrd="0" parTransId="{194C0659-0776-7949-BEB1-98D4EF1E6BB5}" sibTransId="{814DF50C-546E-A941-A900-41F80E086DF9}"/>
    <dgm:cxn modelId="{42087137-FEB9-714A-9AB4-EEE242662F76}" srcId="{5F147A8E-B75F-C64E-87F9-F567E4A9AB48}" destId="{22EB9A86-7593-9745-B9D8-9E0E4C823D36}" srcOrd="1" destOrd="0" parTransId="{C3DEBD8E-A815-A34E-A906-A5E8763E5037}" sibTransId="{72BB3798-A5BB-D84E-86CE-C6E6CB4C6030}"/>
    <dgm:cxn modelId="{E6BE1260-F95C-7048-A61E-64D3F398CF4E}" type="presOf" srcId="{5FC6F71D-3962-EC47-AE57-9E33A2CBE88E}" destId="{34032029-931A-3C4B-B9F9-7C5A807935CC}" srcOrd="0" destOrd="0" presId="urn:microsoft.com/office/officeart/2005/8/layout/vList2"/>
    <dgm:cxn modelId="{30D69360-51F6-F94E-B772-9F11AFAC94DA}" srcId="{CE5B741C-1967-B54D-A51F-A8EC315C7910}" destId="{C80577D6-EF81-BC44-94B3-A2BA86487C87}" srcOrd="0" destOrd="0" parTransId="{E5ADC1D4-D72B-D544-BE89-3B02C31D9375}" sibTransId="{C2C0964C-1E65-EC47-9B2B-8E35D791068A}"/>
    <dgm:cxn modelId="{7E1CB962-B45F-A84F-A5D3-77FDD9EF6F14}" type="presOf" srcId="{22EB9A86-7593-9745-B9D8-9E0E4C823D36}" destId="{A06D5B8F-B8CE-884E-9C2C-C617403F6CA2}" srcOrd="0" destOrd="1" presId="urn:microsoft.com/office/officeart/2005/8/layout/vList2"/>
    <dgm:cxn modelId="{039D9544-4A83-6144-BBAE-69F7174B860F}" type="presOf" srcId="{5F147A8E-B75F-C64E-87F9-F567E4A9AB48}" destId="{44E32F4D-9B57-8A48-8068-4628636457FC}" srcOrd="0" destOrd="0" presId="urn:microsoft.com/office/officeart/2005/8/layout/vList2"/>
    <dgm:cxn modelId="{64F7E349-C1F8-6B45-B0DA-5B9CF1732EB8}" type="presOf" srcId="{777BEAA8-821F-664B-AEF4-7CB254FB880A}" destId="{A06D5B8F-B8CE-884E-9C2C-C617403F6CA2}" srcOrd="0" destOrd="0" presId="urn:microsoft.com/office/officeart/2005/8/layout/vList2"/>
    <dgm:cxn modelId="{58C84C79-678A-914A-BDEC-B7B412056307}" type="presOf" srcId="{F7B57587-B8D4-5941-A2E0-D973743A6F25}" destId="{F83AE67B-AE1D-5548-AE7F-502E8BC71F02}" srcOrd="0" destOrd="0" presId="urn:microsoft.com/office/officeart/2005/8/layout/vList2"/>
    <dgm:cxn modelId="{59507E83-23BC-894C-9BF7-527DD4267721}" srcId="{9084B6F6-85EA-264D-959B-5058A955993D}" destId="{5F147A8E-B75F-C64E-87F9-F567E4A9AB48}" srcOrd="2" destOrd="0" parTransId="{008117B7-74F6-0044-A4D8-17D8FE99205A}" sibTransId="{912DC844-75B9-B043-B754-8DA9A5514E9B}"/>
    <dgm:cxn modelId="{3F371F91-67A8-6743-970D-CF792A13CE79}" type="presOf" srcId="{9E9F6A3C-54F6-2445-BC8E-8C79F309F036}" destId="{71B31505-A195-4945-ADD1-691EA6B591EC}" srcOrd="0" destOrd="1" presId="urn:microsoft.com/office/officeart/2005/8/layout/vList2"/>
    <dgm:cxn modelId="{A772A09D-45A1-2447-A6C5-E35EC5E32E96}" type="presOf" srcId="{C80577D6-EF81-BC44-94B3-A2BA86487C87}" destId="{71B31505-A195-4945-ADD1-691EA6B591EC}" srcOrd="0" destOrd="0" presId="urn:microsoft.com/office/officeart/2005/8/layout/vList2"/>
    <dgm:cxn modelId="{FDDCC0A1-C6D9-3E49-AC01-00874645FA0C}" srcId="{CE5B741C-1967-B54D-A51F-A8EC315C7910}" destId="{D5B0EF88-7369-1240-89FE-7A26CB29DB1E}" srcOrd="2" destOrd="0" parTransId="{0BCBF1EA-B72D-7F47-AE3E-DA8C18323731}" sibTransId="{5D79D037-33C4-E749-887C-C4A91E88CDC6}"/>
    <dgm:cxn modelId="{4C907EB5-49A9-2E45-88A7-08EFB78AE8B7}" type="presOf" srcId="{D5B0EF88-7369-1240-89FE-7A26CB29DB1E}" destId="{71B31505-A195-4945-ADD1-691EA6B591EC}" srcOrd="0" destOrd="2" presId="urn:microsoft.com/office/officeart/2005/8/layout/vList2"/>
    <dgm:cxn modelId="{6E6875B6-C6DE-BD41-AF15-A4E2CC00A520}" type="presOf" srcId="{73FC9C3E-E388-6E40-9A9A-8102B69AF697}" destId="{F83AE67B-AE1D-5548-AE7F-502E8BC71F02}" srcOrd="0" destOrd="1" presId="urn:microsoft.com/office/officeart/2005/8/layout/vList2"/>
    <dgm:cxn modelId="{5839B8BD-B25D-F941-8EA1-9FC9770C7EE3}" type="presOf" srcId="{CE5B741C-1967-B54D-A51F-A8EC315C7910}" destId="{6DC221AF-04DA-D84F-BC60-DE0B21DE4949}" srcOrd="0" destOrd="0" presId="urn:microsoft.com/office/officeart/2005/8/layout/vList2"/>
    <dgm:cxn modelId="{916F89C1-2E8F-CA40-B1CF-5DEB4F1ABE69}" srcId="{5F147A8E-B75F-C64E-87F9-F567E4A9AB48}" destId="{231C6F05-7A47-6042-AA59-A79F59A18160}" srcOrd="2" destOrd="0" parTransId="{C86DEAC3-2EE1-0F4C-8DA6-967F376876DA}" sibTransId="{55B88873-B05E-3D46-B905-35BB095F8840}"/>
    <dgm:cxn modelId="{5B9004C9-54C9-AC4E-ACBA-1173863445B1}" srcId="{CE5B741C-1967-B54D-A51F-A8EC315C7910}" destId="{9E9F6A3C-54F6-2445-BC8E-8C79F309F036}" srcOrd="1" destOrd="0" parTransId="{B5311BC1-DDC9-AC48-A16E-876E267A2C0E}" sibTransId="{A1285A0B-AD1C-8947-B863-4983C2CA392C}"/>
    <dgm:cxn modelId="{CA6512CD-E414-8B46-9453-16B0A09969A1}" type="presOf" srcId="{0AAF5A16-726C-A045-B3E9-9AC8A0E046AA}" destId="{F83AE67B-AE1D-5548-AE7F-502E8BC71F02}" srcOrd="0" destOrd="2" presId="urn:microsoft.com/office/officeart/2005/8/layout/vList2"/>
    <dgm:cxn modelId="{F0BEE4D8-CBE3-FB4B-B259-D9DEED71DF55}" srcId="{5FC6F71D-3962-EC47-AE57-9E33A2CBE88E}" destId="{0AAF5A16-726C-A045-B3E9-9AC8A0E046AA}" srcOrd="2" destOrd="0" parTransId="{3FF24EE4-C8C4-AE45-A34C-369DBD86B4BD}" sibTransId="{74A9D2A5-3A59-A944-9E72-CCA7CFF8A3AD}"/>
    <dgm:cxn modelId="{0A3F79E2-474D-1248-9F01-6C73BB3D1BD6}" srcId="{5F147A8E-B75F-C64E-87F9-F567E4A9AB48}" destId="{777BEAA8-821F-664B-AEF4-7CB254FB880A}" srcOrd="0" destOrd="0" parTransId="{B309EA26-E51D-B24A-BE1A-81E8F4993BFA}" sibTransId="{DBFA619C-2D3B-434E-B443-0C0672337F19}"/>
    <dgm:cxn modelId="{476F0EE4-81E4-0645-A1B3-47B8B488F091}" srcId="{9084B6F6-85EA-264D-959B-5058A955993D}" destId="{5FC6F71D-3962-EC47-AE57-9E33A2CBE88E}" srcOrd="1" destOrd="0" parTransId="{6AD60BB1-B20F-B048-A256-260CA42DED82}" sibTransId="{13B6F54D-58A8-0347-B07F-62102A79E941}"/>
    <dgm:cxn modelId="{23D1C7E7-1A60-5F40-B2E3-0E90B96D5542}" type="presOf" srcId="{231C6F05-7A47-6042-AA59-A79F59A18160}" destId="{A06D5B8F-B8CE-884E-9C2C-C617403F6CA2}" srcOrd="0" destOrd="2" presId="urn:microsoft.com/office/officeart/2005/8/layout/vList2"/>
    <dgm:cxn modelId="{3B615DEF-EDB5-0549-8BD2-5B53D2E35A6F}" type="presOf" srcId="{9084B6F6-85EA-264D-959B-5058A955993D}" destId="{2F9B7A18-EF98-274A-8B54-CE4DAD59DB7A}" srcOrd="0" destOrd="0" presId="urn:microsoft.com/office/officeart/2005/8/layout/vList2"/>
    <dgm:cxn modelId="{FE2ADB12-3208-5A46-93EE-FAB9940EFCBC}" type="presParOf" srcId="{2F9B7A18-EF98-274A-8B54-CE4DAD59DB7A}" destId="{6DC221AF-04DA-D84F-BC60-DE0B21DE4949}" srcOrd="0" destOrd="0" presId="urn:microsoft.com/office/officeart/2005/8/layout/vList2"/>
    <dgm:cxn modelId="{4B3525A4-AD5C-D94F-ADC1-1A1FEE8FDB7E}" type="presParOf" srcId="{2F9B7A18-EF98-274A-8B54-CE4DAD59DB7A}" destId="{71B31505-A195-4945-ADD1-691EA6B591EC}" srcOrd="1" destOrd="0" presId="urn:microsoft.com/office/officeart/2005/8/layout/vList2"/>
    <dgm:cxn modelId="{86B0FD28-4FE1-F04E-95E4-B0C9B922188D}" type="presParOf" srcId="{2F9B7A18-EF98-274A-8B54-CE4DAD59DB7A}" destId="{34032029-931A-3C4B-B9F9-7C5A807935CC}" srcOrd="2" destOrd="0" presId="urn:microsoft.com/office/officeart/2005/8/layout/vList2"/>
    <dgm:cxn modelId="{127C71F4-F528-D245-A0E9-C214E712CB3C}" type="presParOf" srcId="{2F9B7A18-EF98-274A-8B54-CE4DAD59DB7A}" destId="{F83AE67B-AE1D-5548-AE7F-502E8BC71F02}" srcOrd="3" destOrd="0" presId="urn:microsoft.com/office/officeart/2005/8/layout/vList2"/>
    <dgm:cxn modelId="{4E8D21F4-FFFC-CB4F-9F9C-D0B20654AFDC}" type="presParOf" srcId="{2F9B7A18-EF98-274A-8B54-CE4DAD59DB7A}" destId="{44E32F4D-9B57-8A48-8068-4628636457FC}" srcOrd="4" destOrd="0" presId="urn:microsoft.com/office/officeart/2005/8/layout/vList2"/>
    <dgm:cxn modelId="{88799F14-B90E-D546-AFBA-71D2F6CF89DD}" type="presParOf" srcId="{2F9B7A18-EF98-274A-8B54-CE4DAD59DB7A}" destId="{A06D5B8F-B8CE-884E-9C2C-C617403F6CA2}"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577B7E7-EE57-364E-B1B9-90896AE4F8CB}" type="doc">
      <dgm:prSet loTypeId="urn:microsoft.com/office/officeart/2005/8/layout/vList2" loCatId="" qsTypeId="urn:microsoft.com/office/officeart/2005/8/quickstyle/simple1" qsCatId="simple" csTypeId="urn:microsoft.com/office/officeart/2005/8/colors/accent2_2" csCatId="accent2" phldr="1"/>
      <dgm:spPr/>
      <dgm:t>
        <a:bodyPr/>
        <a:lstStyle/>
        <a:p>
          <a:endParaRPr lang="en-US"/>
        </a:p>
      </dgm:t>
    </dgm:pt>
    <dgm:pt modelId="{2E9431D7-5664-8041-8B86-8B69A032871F}">
      <dgm:prSet phldrT="[Text]"/>
      <dgm:spPr/>
      <dgm:t>
        <a:bodyPr/>
        <a:lstStyle/>
        <a:p>
          <a:pPr>
            <a:buNone/>
          </a:pPr>
          <a:r>
            <a:rPr lang="en-US" b="1" i="0" dirty="0"/>
            <a:t>Spike-Driven Discovery</a:t>
          </a:r>
          <a:endParaRPr lang="en-US" dirty="0"/>
        </a:p>
      </dgm:t>
    </dgm:pt>
    <dgm:pt modelId="{413B8BC5-D5DF-6F41-B234-CA6B9FD0E695}" type="parTrans" cxnId="{2C35AC0F-4937-2749-A227-22C138E1869E}">
      <dgm:prSet/>
      <dgm:spPr/>
      <dgm:t>
        <a:bodyPr/>
        <a:lstStyle/>
        <a:p>
          <a:endParaRPr lang="en-US"/>
        </a:p>
      </dgm:t>
    </dgm:pt>
    <dgm:pt modelId="{98B179D2-88D8-A54E-98E9-DE82C2F30B49}" type="sibTrans" cxnId="{2C35AC0F-4937-2749-A227-22C138E1869E}">
      <dgm:prSet/>
      <dgm:spPr/>
      <dgm:t>
        <a:bodyPr/>
        <a:lstStyle/>
        <a:p>
          <a:endParaRPr lang="en-US"/>
        </a:p>
      </dgm:t>
    </dgm:pt>
    <dgm:pt modelId="{7BA77D5E-9CCE-DC47-970C-D06B87278EB2}">
      <dgm:prSet phldrT="[Text]"/>
      <dgm:spPr/>
      <dgm:t>
        <a:bodyPr/>
        <a:lstStyle/>
        <a:p>
          <a:pPr>
            <a:buFont typeface="Arial" panose="020B0604020202020204" pitchFamily="34" charset="0"/>
            <a:buChar char="•"/>
          </a:pPr>
          <a:r>
            <a:rPr lang="en-US" b="0" i="0" dirty="0"/>
            <a:t>Validated Microsoft Foundry capabilities via research tasks</a:t>
          </a:r>
          <a:endParaRPr lang="en-US" dirty="0"/>
        </a:p>
      </dgm:t>
    </dgm:pt>
    <dgm:pt modelId="{863ADB59-DDCB-1E4D-87BD-F91A0C95B537}" type="parTrans" cxnId="{749A317C-E002-6F4A-ACFA-7587D8E1B5CA}">
      <dgm:prSet/>
      <dgm:spPr/>
      <dgm:t>
        <a:bodyPr/>
        <a:lstStyle/>
        <a:p>
          <a:endParaRPr lang="en-US"/>
        </a:p>
      </dgm:t>
    </dgm:pt>
    <dgm:pt modelId="{C1502593-692A-EF4F-95BB-89B47D635C43}" type="sibTrans" cxnId="{749A317C-E002-6F4A-ACFA-7587D8E1B5CA}">
      <dgm:prSet/>
      <dgm:spPr/>
      <dgm:t>
        <a:bodyPr/>
        <a:lstStyle/>
        <a:p>
          <a:endParaRPr lang="en-US"/>
        </a:p>
      </dgm:t>
    </dgm:pt>
    <dgm:pt modelId="{1B90C611-A28F-E449-9EBF-06647633E243}">
      <dgm:prSet phldrT="[Text]"/>
      <dgm:spPr/>
      <dgm:t>
        <a:bodyPr/>
        <a:lstStyle/>
        <a:p>
          <a:pPr>
            <a:buNone/>
          </a:pPr>
          <a:r>
            <a:rPr lang="en-US" b="1" i="0" dirty="0"/>
            <a:t>GitHub Copilot Agent Collaboration</a:t>
          </a:r>
          <a:endParaRPr lang="en-US" b="0" i="0" dirty="0"/>
        </a:p>
      </dgm:t>
    </dgm:pt>
    <dgm:pt modelId="{3168D81B-19D5-D145-B767-07A225D57EC0}" type="parTrans" cxnId="{CA16A1F8-3D33-A94F-98ED-DFA31C43A49F}">
      <dgm:prSet/>
      <dgm:spPr/>
      <dgm:t>
        <a:bodyPr/>
        <a:lstStyle/>
        <a:p>
          <a:endParaRPr lang="en-US"/>
        </a:p>
      </dgm:t>
    </dgm:pt>
    <dgm:pt modelId="{D8660086-9B15-C24E-A152-B3338F9EA990}" type="sibTrans" cxnId="{CA16A1F8-3D33-A94F-98ED-DFA31C43A49F}">
      <dgm:prSet/>
      <dgm:spPr/>
      <dgm:t>
        <a:bodyPr/>
        <a:lstStyle/>
        <a:p>
          <a:endParaRPr lang="en-US"/>
        </a:p>
      </dgm:t>
    </dgm:pt>
    <dgm:pt modelId="{DE200FA4-700D-EE47-80BE-92F9DF225D3D}">
      <dgm:prSet phldrT="[Text]"/>
      <dgm:spPr/>
      <dgm:t>
        <a:bodyPr/>
        <a:lstStyle/>
        <a:p>
          <a:pPr>
            <a:buFont typeface="Arial" panose="020B0604020202020204" pitchFamily="34" charset="0"/>
            <a:buChar char="•"/>
          </a:pPr>
          <a:r>
            <a:rPr lang="en-US" b="0" i="0" dirty="0"/>
            <a:t>Custom agents for Python code editing, architecture review</a:t>
          </a:r>
          <a:endParaRPr lang="en-US" dirty="0"/>
        </a:p>
      </dgm:t>
    </dgm:pt>
    <dgm:pt modelId="{BCA76B10-2170-B94E-B41F-F85E9758895F}" type="parTrans" cxnId="{F645C9D6-E1D1-3747-985F-3E4279AB694F}">
      <dgm:prSet/>
      <dgm:spPr/>
      <dgm:t>
        <a:bodyPr/>
        <a:lstStyle/>
        <a:p>
          <a:endParaRPr lang="en-US"/>
        </a:p>
      </dgm:t>
    </dgm:pt>
    <dgm:pt modelId="{681BB4B0-0F2C-644F-9478-0A4994C0EDFA}" type="sibTrans" cxnId="{F645C9D6-E1D1-3747-985F-3E4279AB694F}">
      <dgm:prSet/>
      <dgm:spPr/>
      <dgm:t>
        <a:bodyPr/>
        <a:lstStyle/>
        <a:p>
          <a:endParaRPr lang="en-US"/>
        </a:p>
      </dgm:t>
    </dgm:pt>
    <dgm:pt modelId="{DB6C4339-C07E-8C45-9F0A-9CB748E5AC18}">
      <dgm:prSet/>
      <dgm:spPr/>
      <dgm:t>
        <a:bodyPr/>
        <a:lstStyle/>
        <a:p>
          <a:pPr>
            <a:buFont typeface="Arial" panose="020B0604020202020204" pitchFamily="34" charset="0"/>
            <a:buChar char="•"/>
          </a:pPr>
          <a:r>
            <a:rPr lang="en-US" b="0" i="0" dirty="0"/>
            <a:t>Explored agent lifecycle, orchestration, RAG patterns</a:t>
          </a:r>
        </a:p>
      </dgm:t>
    </dgm:pt>
    <dgm:pt modelId="{BD8A052D-0A94-BF41-BC66-8701EB019C93}" type="parTrans" cxnId="{02DB5CFF-CBE6-474C-9102-2E0E8CE1B4A7}">
      <dgm:prSet/>
      <dgm:spPr/>
      <dgm:t>
        <a:bodyPr/>
        <a:lstStyle/>
        <a:p>
          <a:endParaRPr lang="en-US"/>
        </a:p>
      </dgm:t>
    </dgm:pt>
    <dgm:pt modelId="{A21D9600-282E-FC49-AD0A-97A504585875}" type="sibTrans" cxnId="{02DB5CFF-CBE6-474C-9102-2E0E8CE1B4A7}">
      <dgm:prSet/>
      <dgm:spPr/>
      <dgm:t>
        <a:bodyPr/>
        <a:lstStyle/>
        <a:p>
          <a:endParaRPr lang="en-US"/>
        </a:p>
      </dgm:t>
    </dgm:pt>
    <dgm:pt modelId="{BFCEAFB9-7779-B542-9168-C264F310F6F8}">
      <dgm:prSet/>
      <dgm:spPr/>
      <dgm:t>
        <a:bodyPr/>
        <a:lstStyle/>
        <a:p>
          <a:pPr>
            <a:buFont typeface="Arial" panose="020B0604020202020204" pitchFamily="34" charset="0"/>
            <a:buChar char="•"/>
          </a:pPr>
          <a:r>
            <a:rPr lang="en-US" b="0" i="0" dirty="0"/>
            <a:t>Documented learnings and corrections</a:t>
          </a:r>
        </a:p>
      </dgm:t>
    </dgm:pt>
    <dgm:pt modelId="{4DA0E2B6-4795-6840-B826-9310845C2067}" type="parTrans" cxnId="{3A6E780F-4B6F-574F-89B9-E9F8AF722B0E}">
      <dgm:prSet/>
      <dgm:spPr/>
      <dgm:t>
        <a:bodyPr/>
        <a:lstStyle/>
        <a:p>
          <a:endParaRPr lang="en-US"/>
        </a:p>
      </dgm:t>
    </dgm:pt>
    <dgm:pt modelId="{53F24475-12F3-3149-9FF5-FB56AA4CE46D}" type="sibTrans" cxnId="{3A6E780F-4B6F-574F-89B9-E9F8AF722B0E}">
      <dgm:prSet/>
      <dgm:spPr/>
      <dgm:t>
        <a:bodyPr/>
        <a:lstStyle/>
        <a:p>
          <a:endParaRPr lang="en-US"/>
        </a:p>
      </dgm:t>
    </dgm:pt>
    <dgm:pt modelId="{FCB6AA33-AF0A-8D40-9A07-D58B04FE5138}">
      <dgm:prSet/>
      <dgm:spPr/>
      <dgm:t>
        <a:bodyPr/>
        <a:lstStyle/>
        <a:p>
          <a:pPr>
            <a:buFont typeface="Arial" panose="020B0604020202020204" pitchFamily="34" charset="0"/>
            <a:buChar char="•"/>
          </a:pPr>
          <a:r>
            <a:rPr lang="en-US" b="0" i="0"/>
            <a:t>AI-generated infrastructure deployment scripts</a:t>
          </a:r>
        </a:p>
      </dgm:t>
    </dgm:pt>
    <dgm:pt modelId="{D54026D3-8FCE-B54F-9257-5BD25B0D8DF3}" type="parTrans" cxnId="{71FF9FE7-504E-0944-9953-96A5CD7898A2}">
      <dgm:prSet/>
      <dgm:spPr/>
      <dgm:t>
        <a:bodyPr/>
        <a:lstStyle/>
        <a:p>
          <a:endParaRPr lang="en-US"/>
        </a:p>
      </dgm:t>
    </dgm:pt>
    <dgm:pt modelId="{6DF84BDC-FEB4-3346-B3F6-AAB7DB4CEA77}" type="sibTrans" cxnId="{71FF9FE7-504E-0944-9953-96A5CD7898A2}">
      <dgm:prSet/>
      <dgm:spPr/>
      <dgm:t>
        <a:bodyPr/>
        <a:lstStyle/>
        <a:p>
          <a:endParaRPr lang="en-US"/>
        </a:p>
      </dgm:t>
    </dgm:pt>
    <dgm:pt modelId="{6DC19B57-6AE1-6547-AF86-03C5CCD0310E}">
      <dgm:prSet/>
      <dgm:spPr/>
      <dgm:t>
        <a:bodyPr/>
        <a:lstStyle/>
        <a:p>
          <a:pPr>
            <a:buFont typeface="Arial" panose="020B0604020202020204" pitchFamily="34" charset="0"/>
            <a:buChar char="•"/>
          </a:pPr>
          <a:r>
            <a:rPr lang="en-US" b="0" i="0" dirty="0"/>
            <a:t>Prompt-based agent definition and testing</a:t>
          </a:r>
        </a:p>
      </dgm:t>
    </dgm:pt>
    <dgm:pt modelId="{72D3F44D-08D7-0545-9A08-B16CA7743066}" type="parTrans" cxnId="{5188AF59-4E38-C44A-90B4-E9E712D29225}">
      <dgm:prSet/>
      <dgm:spPr/>
      <dgm:t>
        <a:bodyPr/>
        <a:lstStyle/>
        <a:p>
          <a:endParaRPr lang="en-US"/>
        </a:p>
      </dgm:t>
    </dgm:pt>
    <dgm:pt modelId="{AB86BAE5-6537-7B4C-A7D8-E54BCEDFDA8E}" type="sibTrans" cxnId="{5188AF59-4E38-C44A-90B4-E9E712D29225}">
      <dgm:prSet/>
      <dgm:spPr/>
      <dgm:t>
        <a:bodyPr/>
        <a:lstStyle/>
        <a:p>
          <a:endParaRPr lang="en-US"/>
        </a:p>
      </dgm:t>
    </dgm:pt>
    <dgm:pt modelId="{80877DE8-6BF0-E742-AF07-730A7FA0193D}">
      <dgm:prSet/>
      <dgm:spPr/>
      <dgm:t>
        <a:bodyPr/>
        <a:lstStyle/>
        <a:p>
          <a:pPr>
            <a:buNone/>
          </a:pPr>
          <a:r>
            <a:rPr lang="en-US" b="1" i="0" dirty="0"/>
            <a:t>Continuous Learning &amp; Iteration</a:t>
          </a:r>
          <a:endParaRPr lang="en-US" dirty="0"/>
        </a:p>
      </dgm:t>
    </dgm:pt>
    <dgm:pt modelId="{380CE0BD-3CAF-6248-AC15-1758C40452DC}" type="parTrans" cxnId="{4A14AA5E-C6CE-2047-9FFA-898C783E6035}">
      <dgm:prSet/>
      <dgm:spPr/>
      <dgm:t>
        <a:bodyPr/>
        <a:lstStyle/>
        <a:p>
          <a:endParaRPr lang="en-US"/>
        </a:p>
      </dgm:t>
    </dgm:pt>
    <dgm:pt modelId="{F690910A-3912-4D48-8C99-B38D2EB1D038}" type="sibTrans" cxnId="{4A14AA5E-C6CE-2047-9FFA-898C783E6035}">
      <dgm:prSet/>
      <dgm:spPr/>
      <dgm:t>
        <a:bodyPr/>
        <a:lstStyle/>
        <a:p>
          <a:endParaRPr lang="en-US"/>
        </a:p>
      </dgm:t>
    </dgm:pt>
    <dgm:pt modelId="{9535A346-7F35-744E-9036-5FB88458DEF1}">
      <dgm:prSet/>
      <dgm:spPr/>
      <dgm:t>
        <a:bodyPr/>
        <a:lstStyle/>
        <a:p>
          <a:pPr>
            <a:buFont typeface="Arial" panose="020B0604020202020204" pitchFamily="34" charset="0"/>
            <a:buChar char="•"/>
          </a:pPr>
          <a:r>
            <a:rPr lang="en-US" b="0" i="0" dirty="0"/>
            <a:t>Documented critical learnings: "Use platform-native patterns"</a:t>
          </a:r>
          <a:endParaRPr lang="en-US" dirty="0"/>
        </a:p>
      </dgm:t>
    </dgm:pt>
    <dgm:pt modelId="{282D0171-E86C-DE4D-8DBE-34BFE28939EC}" type="parTrans" cxnId="{2D5C925E-B895-554B-9D98-84E98B360031}">
      <dgm:prSet/>
      <dgm:spPr/>
      <dgm:t>
        <a:bodyPr/>
        <a:lstStyle/>
        <a:p>
          <a:endParaRPr lang="en-US"/>
        </a:p>
      </dgm:t>
    </dgm:pt>
    <dgm:pt modelId="{63E0078C-BD49-134C-92CC-7B8911E8E393}" type="sibTrans" cxnId="{2D5C925E-B895-554B-9D98-84E98B360031}">
      <dgm:prSet/>
      <dgm:spPr/>
      <dgm:t>
        <a:bodyPr/>
        <a:lstStyle/>
        <a:p>
          <a:endParaRPr lang="en-US"/>
        </a:p>
      </dgm:t>
    </dgm:pt>
    <dgm:pt modelId="{59DE1EF3-A73A-B341-9295-E3C8E63DF231}">
      <dgm:prSet/>
      <dgm:spPr/>
      <dgm:t>
        <a:bodyPr/>
        <a:lstStyle/>
        <a:p>
          <a:pPr>
            <a:buFont typeface="Arial" panose="020B0604020202020204" pitchFamily="34" charset="0"/>
            <a:buChar char="•"/>
          </a:pPr>
          <a:r>
            <a:rPr lang="en-US" b="0" i="0" dirty="0"/>
            <a:t>"Flexible concepts over rigid schemas" (90KB → 25KB)</a:t>
          </a:r>
        </a:p>
      </dgm:t>
    </dgm:pt>
    <dgm:pt modelId="{AB814095-396F-694E-B27C-D6EC151D6F5C}" type="parTrans" cxnId="{4FF4FD6E-CAB2-734D-97D6-1804F7F19FA2}">
      <dgm:prSet/>
      <dgm:spPr/>
      <dgm:t>
        <a:bodyPr/>
        <a:lstStyle/>
        <a:p>
          <a:endParaRPr lang="en-US"/>
        </a:p>
      </dgm:t>
    </dgm:pt>
    <dgm:pt modelId="{E631AAF9-9A6A-DB48-91C4-77155ED531B3}" type="sibTrans" cxnId="{4FF4FD6E-CAB2-734D-97D6-1804F7F19FA2}">
      <dgm:prSet/>
      <dgm:spPr/>
      <dgm:t>
        <a:bodyPr/>
        <a:lstStyle/>
        <a:p>
          <a:endParaRPr lang="en-US"/>
        </a:p>
      </dgm:t>
    </dgm:pt>
    <dgm:pt modelId="{A3B62875-C7B8-AA43-A2FE-2F6994CAFF67}">
      <dgm:prSet/>
      <dgm:spPr/>
      <dgm:t>
        <a:bodyPr/>
        <a:lstStyle/>
        <a:p>
          <a:pPr>
            <a:buFont typeface="Arial" panose="020B0604020202020204" pitchFamily="34" charset="0"/>
            <a:buChar char="•"/>
          </a:pPr>
          <a:r>
            <a:rPr lang="en-US" b="0" i="0"/>
            <a:t>Applied learnings to optimize future development</a:t>
          </a:r>
        </a:p>
      </dgm:t>
    </dgm:pt>
    <dgm:pt modelId="{3F24D99A-FEDC-BF45-9416-11FEC674C8D9}" type="parTrans" cxnId="{C2384BBD-02CB-A84F-B18C-7775CE59EB5F}">
      <dgm:prSet/>
      <dgm:spPr/>
      <dgm:t>
        <a:bodyPr/>
        <a:lstStyle/>
        <a:p>
          <a:endParaRPr lang="en-US"/>
        </a:p>
      </dgm:t>
    </dgm:pt>
    <dgm:pt modelId="{344F552A-4812-B541-9FA7-75D4EB01C0B0}" type="sibTrans" cxnId="{C2384BBD-02CB-A84F-B18C-7775CE59EB5F}">
      <dgm:prSet/>
      <dgm:spPr/>
      <dgm:t>
        <a:bodyPr/>
        <a:lstStyle/>
        <a:p>
          <a:endParaRPr lang="en-US"/>
        </a:p>
      </dgm:t>
    </dgm:pt>
    <dgm:pt modelId="{11872E41-BEBC-654D-87C8-AB69FA5038B6}">
      <dgm:prSet/>
      <dgm:spPr/>
      <dgm:t>
        <a:bodyPr/>
        <a:lstStyle/>
        <a:p>
          <a:pPr>
            <a:buFont typeface="Arial" panose="020B0604020202020204" pitchFamily="34" charset="0"/>
            <a:buChar char="•"/>
          </a:pPr>
          <a:r>
            <a:rPr lang="en-US" dirty="0"/>
            <a:t>“Review PR feedback and document corrections”</a:t>
          </a:r>
        </a:p>
      </dgm:t>
    </dgm:pt>
    <dgm:pt modelId="{729D76D7-2A66-4545-9F1F-F38AB47B19E3}" type="parTrans" cxnId="{2AFE227C-1788-E747-9C10-9BF00C7199B9}">
      <dgm:prSet/>
      <dgm:spPr/>
      <dgm:t>
        <a:bodyPr/>
        <a:lstStyle/>
        <a:p>
          <a:endParaRPr lang="en-US"/>
        </a:p>
      </dgm:t>
    </dgm:pt>
    <dgm:pt modelId="{416EA48D-CBD3-CF46-9012-6D9CE0656FF8}" type="sibTrans" cxnId="{2AFE227C-1788-E747-9C10-9BF00C7199B9}">
      <dgm:prSet/>
      <dgm:spPr/>
      <dgm:t>
        <a:bodyPr/>
        <a:lstStyle/>
        <a:p>
          <a:endParaRPr lang="en-US"/>
        </a:p>
      </dgm:t>
    </dgm:pt>
    <dgm:pt modelId="{1BE6B32C-9CF6-7249-8624-79F65C7F8372}" type="pres">
      <dgm:prSet presAssocID="{8577B7E7-EE57-364E-B1B9-90896AE4F8CB}" presName="linear" presStyleCnt="0">
        <dgm:presLayoutVars>
          <dgm:animLvl val="lvl"/>
          <dgm:resizeHandles val="exact"/>
        </dgm:presLayoutVars>
      </dgm:prSet>
      <dgm:spPr/>
    </dgm:pt>
    <dgm:pt modelId="{4252DBDD-B270-B245-93A3-33E53D3D42C0}" type="pres">
      <dgm:prSet presAssocID="{2E9431D7-5664-8041-8B86-8B69A032871F}" presName="parentText" presStyleLbl="node1" presStyleIdx="0" presStyleCnt="3">
        <dgm:presLayoutVars>
          <dgm:chMax val="0"/>
          <dgm:bulletEnabled val="1"/>
        </dgm:presLayoutVars>
      </dgm:prSet>
      <dgm:spPr/>
    </dgm:pt>
    <dgm:pt modelId="{F8ADAAA2-E053-024C-9905-2E2ADB4A8524}" type="pres">
      <dgm:prSet presAssocID="{2E9431D7-5664-8041-8B86-8B69A032871F}" presName="childText" presStyleLbl="revTx" presStyleIdx="0" presStyleCnt="3">
        <dgm:presLayoutVars>
          <dgm:bulletEnabled val="1"/>
        </dgm:presLayoutVars>
      </dgm:prSet>
      <dgm:spPr/>
    </dgm:pt>
    <dgm:pt modelId="{AC9B2C8C-E149-704E-BF97-F6FB47962340}" type="pres">
      <dgm:prSet presAssocID="{1B90C611-A28F-E449-9EBF-06647633E243}" presName="parentText" presStyleLbl="node1" presStyleIdx="1" presStyleCnt="3">
        <dgm:presLayoutVars>
          <dgm:chMax val="0"/>
          <dgm:bulletEnabled val="1"/>
        </dgm:presLayoutVars>
      </dgm:prSet>
      <dgm:spPr/>
    </dgm:pt>
    <dgm:pt modelId="{5B23AC69-8F9A-C44F-8B61-D6F0D3361F9F}" type="pres">
      <dgm:prSet presAssocID="{1B90C611-A28F-E449-9EBF-06647633E243}" presName="childText" presStyleLbl="revTx" presStyleIdx="1" presStyleCnt="3">
        <dgm:presLayoutVars>
          <dgm:bulletEnabled val="1"/>
        </dgm:presLayoutVars>
      </dgm:prSet>
      <dgm:spPr/>
    </dgm:pt>
    <dgm:pt modelId="{CCD2B6F0-DEB7-334B-9B15-122AC312899D}" type="pres">
      <dgm:prSet presAssocID="{80877DE8-6BF0-E742-AF07-730A7FA0193D}" presName="parentText" presStyleLbl="node1" presStyleIdx="2" presStyleCnt="3">
        <dgm:presLayoutVars>
          <dgm:chMax val="0"/>
          <dgm:bulletEnabled val="1"/>
        </dgm:presLayoutVars>
      </dgm:prSet>
      <dgm:spPr/>
    </dgm:pt>
    <dgm:pt modelId="{C67A3039-9406-204B-BC19-A56865D3B031}" type="pres">
      <dgm:prSet presAssocID="{80877DE8-6BF0-E742-AF07-730A7FA0193D}" presName="childText" presStyleLbl="revTx" presStyleIdx="2" presStyleCnt="3">
        <dgm:presLayoutVars>
          <dgm:bulletEnabled val="1"/>
        </dgm:presLayoutVars>
      </dgm:prSet>
      <dgm:spPr/>
    </dgm:pt>
  </dgm:ptLst>
  <dgm:cxnLst>
    <dgm:cxn modelId="{3A6E780F-4B6F-574F-89B9-E9F8AF722B0E}" srcId="{2E9431D7-5664-8041-8B86-8B69A032871F}" destId="{BFCEAFB9-7779-B542-9168-C264F310F6F8}" srcOrd="2" destOrd="0" parTransId="{4DA0E2B6-4795-6840-B826-9310845C2067}" sibTransId="{53F24475-12F3-3149-9FF5-FB56AA4CE46D}"/>
    <dgm:cxn modelId="{2C35AC0F-4937-2749-A227-22C138E1869E}" srcId="{8577B7E7-EE57-364E-B1B9-90896AE4F8CB}" destId="{2E9431D7-5664-8041-8B86-8B69A032871F}" srcOrd="0" destOrd="0" parTransId="{413B8BC5-D5DF-6F41-B234-CA6B9FD0E695}" sibTransId="{98B179D2-88D8-A54E-98E9-DE82C2F30B49}"/>
    <dgm:cxn modelId="{23F06F28-60C5-4646-B219-C202B418E286}" type="presOf" srcId="{80877DE8-6BF0-E742-AF07-730A7FA0193D}" destId="{CCD2B6F0-DEB7-334B-9B15-122AC312899D}" srcOrd="0" destOrd="0" presId="urn:microsoft.com/office/officeart/2005/8/layout/vList2"/>
    <dgm:cxn modelId="{95B6BD2A-1F28-7B4A-AE2C-151A6DBF79A7}" type="presOf" srcId="{6DC19B57-6AE1-6547-AF86-03C5CCD0310E}" destId="{5B23AC69-8F9A-C44F-8B61-D6F0D3361F9F}" srcOrd="0" destOrd="2" presId="urn:microsoft.com/office/officeart/2005/8/layout/vList2"/>
    <dgm:cxn modelId="{F2CC5A5E-0422-8340-8220-0CAA56125417}" type="presOf" srcId="{2E9431D7-5664-8041-8B86-8B69A032871F}" destId="{4252DBDD-B270-B245-93A3-33E53D3D42C0}" srcOrd="0" destOrd="0" presId="urn:microsoft.com/office/officeart/2005/8/layout/vList2"/>
    <dgm:cxn modelId="{2D5C925E-B895-554B-9D98-84E98B360031}" srcId="{80877DE8-6BF0-E742-AF07-730A7FA0193D}" destId="{9535A346-7F35-744E-9036-5FB88458DEF1}" srcOrd="0" destOrd="0" parTransId="{282D0171-E86C-DE4D-8DBE-34BFE28939EC}" sibTransId="{63E0078C-BD49-134C-92CC-7B8911E8E393}"/>
    <dgm:cxn modelId="{4A14AA5E-C6CE-2047-9FFA-898C783E6035}" srcId="{8577B7E7-EE57-364E-B1B9-90896AE4F8CB}" destId="{80877DE8-6BF0-E742-AF07-730A7FA0193D}" srcOrd="2" destOrd="0" parTransId="{380CE0BD-3CAF-6248-AC15-1758C40452DC}" sibTransId="{F690910A-3912-4D48-8C99-B38D2EB1D038}"/>
    <dgm:cxn modelId="{4FF4FD6E-CAB2-734D-97D6-1804F7F19FA2}" srcId="{80877DE8-6BF0-E742-AF07-730A7FA0193D}" destId="{59DE1EF3-A73A-B341-9295-E3C8E63DF231}" srcOrd="2" destOrd="0" parTransId="{AB814095-396F-694E-B27C-D6EC151D6F5C}" sibTransId="{E631AAF9-9A6A-DB48-91C4-77155ED531B3}"/>
    <dgm:cxn modelId="{8DB4A24F-88D3-2E45-B152-ECC42C7CCD04}" type="presOf" srcId="{FCB6AA33-AF0A-8D40-9A07-D58B04FE5138}" destId="{5B23AC69-8F9A-C44F-8B61-D6F0D3361F9F}" srcOrd="0" destOrd="1" presId="urn:microsoft.com/office/officeart/2005/8/layout/vList2"/>
    <dgm:cxn modelId="{563C4871-537E-3D45-B34F-89F5C710D00F}" type="presOf" srcId="{1B90C611-A28F-E449-9EBF-06647633E243}" destId="{AC9B2C8C-E149-704E-BF97-F6FB47962340}" srcOrd="0" destOrd="0" presId="urn:microsoft.com/office/officeart/2005/8/layout/vList2"/>
    <dgm:cxn modelId="{709DBE78-1ED1-C74C-9D86-CB2341F8E880}" type="presOf" srcId="{BFCEAFB9-7779-B542-9168-C264F310F6F8}" destId="{F8ADAAA2-E053-024C-9905-2E2ADB4A8524}" srcOrd="0" destOrd="2" presId="urn:microsoft.com/office/officeart/2005/8/layout/vList2"/>
    <dgm:cxn modelId="{5188AF59-4E38-C44A-90B4-E9E712D29225}" srcId="{1B90C611-A28F-E449-9EBF-06647633E243}" destId="{6DC19B57-6AE1-6547-AF86-03C5CCD0310E}" srcOrd="2" destOrd="0" parTransId="{72D3F44D-08D7-0545-9A08-B16CA7743066}" sibTransId="{AB86BAE5-6537-7B4C-A7D8-E54BCEDFDA8E}"/>
    <dgm:cxn modelId="{2AFE227C-1788-E747-9C10-9BF00C7199B9}" srcId="{80877DE8-6BF0-E742-AF07-730A7FA0193D}" destId="{11872E41-BEBC-654D-87C8-AB69FA5038B6}" srcOrd="1" destOrd="0" parTransId="{729D76D7-2A66-4545-9F1F-F38AB47B19E3}" sibTransId="{416EA48D-CBD3-CF46-9012-6D9CE0656FF8}"/>
    <dgm:cxn modelId="{749A317C-E002-6F4A-ACFA-7587D8E1B5CA}" srcId="{2E9431D7-5664-8041-8B86-8B69A032871F}" destId="{7BA77D5E-9CCE-DC47-970C-D06B87278EB2}" srcOrd="0" destOrd="0" parTransId="{863ADB59-DDCB-1E4D-87BD-F91A0C95B537}" sibTransId="{C1502593-692A-EF4F-95BB-89B47D635C43}"/>
    <dgm:cxn modelId="{1016BF83-3D62-1C4D-A1DC-450283C71CE4}" type="presOf" srcId="{8577B7E7-EE57-364E-B1B9-90896AE4F8CB}" destId="{1BE6B32C-9CF6-7249-8624-79F65C7F8372}" srcOrd="0" destOrd="0" presId="urn:microsoft.com/office/officeart/2005/8/layout/vList2"/>
    <dgm:cxn modelId="{015B3394-F4E9-4047-870C-570A52A2DFFA}" type="presOf" srcId="{7BA77D5E-9CCE-DC47-970C-D06B87278EB2}" destId="{F8ADAAA2-E053-024C-9905-2E2ADB4A8524}" srcOrd="0" destOrd="0" presId="urn:microsoft.com/office/officeart/2005/8/layout/vList2"/>
    <dgm:cxn modelId="{D9E31F9C-8787-2842-AADE-688835DCE73A}" type="presOf" srcId="{DE200FA4-700D-EE47-80BE-92F9DF225D3D}" destId="{5B23AC69-8F9A-C44F-8B61-D6F0D3361F9F}" srcOrd="0" destOrd="0" presId="urn:microsoft.com/office/officeart/2005/8/layout/vList2"/>
    <dgm:cxn modelId="{835655B5-6990-F84E-9954-A254805C7F2C}" type="presOf" srcId="{9535A346-7F35-744E-9036-5FB88458DEF1}" destId="{C67A3039-9406-204B-BC19-A56865D3B031}" srcOrd="0" destOrd="0" presId="urn:microsoft.com/office/officeart/2005/8/layout/vList2"/>
    <dgm:cxn modelId="{C2384BBD-02CB-A84F-B18C-7775CE59EB5F}" srcId="{80877DE8-6BF0-E742-AF07-730A7FA0193D}" destId="{A3B62875-C7B8-AA43-A2FE-2F6994CAFF67}" srcOrd="3" destOrd="0" parTransId="{3F24D99A-FEDC-BF45-9416-11FEC674C8D9}" sibTransId="{344F552A-4812-B541-9FA7-75D4EB01C0B0}"/>
    <dgm:cxn modelId="{14D1F8C5-5D47-C649-90DE-07F053886B37}" type="presOf" srcId="{A3B62875-C7B8-AA43-A2FE-2F6994CAFF67}" destId="{C67A3039-9406-204B-BC19-A56865D3B031}" srcOrd="0" destOrd="3" presId="urn:microsoft.com/office/officeart/2005/8/layout/vList2"/>
    <dgm:cxn modelId="{5F978AD3-EC95-E44E-AC4A-FC3BCC13AE07}" type="presOf" srcId="{DB6C4339-C07E-8C45-9F0A-9CB748E5AC18}" destId="{F8ADAAA2-E053-024C-9905-2E2ADB4A8524}" srcOrd="0" destOrd="1" presId="urn:microsoft.com/office/officeart/2005/8/layout/vList2"/>
    <dgm:cxn modelId="{F645C9D6-E1D1-3747-985F-3E4279AB694F}" srcId="{1B90C611-A28F-E449-9EBF-06647633E243}" destId="{DE200FA4-700D-EE47-80BE-92F9DF225D3D}" srcOrd="0" destOrd="0" parTransId="{BCA76B10-2170-B94E-B41F-F85E9758895F}" sibTransId="{681BB4B0-0F2C-644F-9478-0A4994C0EDFA}"/>
    <dgm:cxn modelId="{7F766AE5-9ADE-AF49-9955-77558F765F86}" type="presOf" srcId="{11872E41-BEBC-654D-87C8-AB69FA5038B6}" destId="{C67A3039-9406-204B-BC19-A56865D3B031}" srcOrd="0" destOrd="1" presId="urn:microsoft.com/office/officeart/2005/8/layout/vList2"/>
    <dgm:cxn modelId="{71FF9FE7-504E-0944-9953-96A5CD7898A2}" srcId="{1B90C611-A28F-E449-9EBF-06647633E243}" destId="{FCB6AA33-AF0A-8D40-9A07-D58B04FE5138}" srcOrd="1" destOrd="0" parTransId="{D54026D3-8FCE-B54F-9257-5BD25B0D8DF3}" sibTransId="{6DF84BDC-FEB4-3346-B3F6-AAB7DB4CEA77}"/>
    <dgm:cxn modelId="{CA16A1F8-3D33-A94F-98ED-DFA31C43A49F}" srcId="{8577B7E7-EE57-364E-B1B9-90896AE4F8CB}" destId="{1B90C611-A28F-E449-9EBF-06647633E243}" srcOrd="1" destOrd="0" parTransId="{3168D81B-19D5-D145-B767-07A225D57EC0}" sibTransId="{D8660086-9B15-C24E-A152-B3338F9EA990}"/>
    <dgm:cxn modelId="{9CF43DF9-D204-0A42-8916-EBA892FADE96}" type="presOf" srcId="{59DE1EF3-A73A-B341-9295-E3C8E63DF231}" destId="{C67A3039-9406-204B-BC19-A56865D3B031}" srcOrd="0" destOrd="2" presId="urn:microsoft.com/office/officeart/2005/8/layout/vList2"/>
    <dgm:cxn modelId="{02DB5CFF-CBE6-474C-9102-2E0E8CE1B4A7}" srcId="{2E9431D7-5664-8041-8B86-8B69A032871F}" destId="{DB6C4339-C07E-8C45-9F0A-9CB748E5AC18}" srcOrd="1" destOrd="0" parTransId="{BD8A052D-0A94-BF41-BC66-8701EB019C93}" sibTransId="{A21D9600-282E-FC49-AD0A-97A504585875}"/>
    <dgm:cxn modelId="{ED700CBC-FC55-F84F-8443-ECF5E72344FE}" type="presParOf" srcId="{1BE6B32C-9CF6-7249-8624-79F65C7F8372}" destId="{4252DBDD-B270-B245-93A3-33E53D3D42C0}" srcOrd="0" destOrd="0" presId="urn:microsoft.com/office/officeart/2005/8/layout/vList2"/>
    <dgm:cxn modelId="{D4B3A5A1-E89B-4C4D-90B6-47FCC1056B83}" type="presParOf" srcId="{1BE6B32C-9CF6-7249-8624-79F65C7F8372}" destId="{F8ADAAA2-E053-024C-9905-2E2ADB4A8524}" srcOrd="1" destOrd="0" presId="urn:microsoft.com/office/officeart/2005/8/layout/vList2"/>
    <dgm:cxn modelId="{4AD15588-95E6-FC45-BCA9-B68D2B32F7AD}" type="presParOf" srcId="{1BE6B32C-9CF6-7249-8624-79F65C7F8372}" destId="{AC9B2C8C-E149-704E-BF97-F6FB47962340}" srcOrd="2" destOrd="0" presId="urn:microsoft.com/office/officeart/2005/8/layout/vList2"/>
    <dgm:cxn modelId="{233A3D1D-F87E-D944-9D41-3CF32EB1479F}" type="presParOf" srcId="{1BE6B32C-9CF6-7249-8624-79F65C7F8372}" destId="{5B23AC69-8F9A-C44F-8B61-D6F0D3361F9F}" srcOrd="3" destOrd="0" presId="urn:microsoft.com/office/officeart/2005/8/layout/vList2"/>
    <dgm:cxn modelId="{BEA0B30F-FBFC-8940-9DFB-CF91342FFEE3}" type="presParOf" srcId="{1BE6B32C-9CF6-7249-8624-79F65C7F8372}" destId="{CCD2B6F0-DEB7-334B-9B15-122AC312899D}" srcOrd="4" destOrd="0" presId="urn:microsoft.com/office/officeart/2005/8/layout/vList2"/>
    <dgm:cxn modelId="{A76788CF-7FCB-D947-8D30-04F121406622}" type="presParOf" srcId="{1BE6B32C-9CF6-7249-8624-79F65C7F8372}" destId="{C67A3039-9406-204B-BC19-A56865D3B031}" srcOrd="5"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027BBC3-4870-CD49-9395-810E7F3920A2}" type="doc">
      <dgm:prSet loTypeId="urn:microsoft.com/office/officeart/2008/layout/HorizontalMultiLevelHierarchy" loCatId="" qsTypeId="urn:microsoft.com/office/officeart/2005/8/quickstyle/simple1" qsCatId="simple" csTypeId="urn:microsoft.com/office/officeart/2005/8/colors/colorful2" csCatId="colorful" phldr="1"/>
      <dgm:spPr/>
      <dgm:t>
        <a:bodyPr/>
        <a:lstStyle/>
        <a:p>
          <a:endParaRPr lang="en-US"/>
        </a:p>
      </dgm:t>
    </dgm:pt>
    <dgm:pt modelId="{71657A9D-1341-EC4E-A1CA-B48CB054B47E}">
      <dgm:prSet phldrT="[Text]"/>
      <dgm:spPr>
        <a:solidFill>
          <a:schemeClr val="accent2"/>
        </a:solidFill>
      </dgm:spPr>
      <dgm:t>
        <a:bodyPr/>
        <a:lstStyle/>
        <a:p>
          <a:r>
            <a:rPr lang="en-US" dirty="0"/>
            <a:t>Tim</a:t>
          </a:r>
        </a:p>
      </dgm:t>
    </dgm:pt>
    <dgm:pt modelId="{1B0A3906-9F13-594F-B655-A75424638381}" type="parTrans" cxnId="{88348A16-82BA-4147-A239-686B134EEE45}">
      <dgm:prSet/>
      <dgm:spPr/>
      <dgm:t>
        <a:bodyPr/>
        <a:lstStyle/>
        <a:p>
          <a:endParaRPr lang="en-US"/>
        </a:p>
      </dgm:t>
    </dgm:pt>
    <dgm:pt modelId="{769626EC-9891-8C42-A969-DEC350A3A783}" type="sibTrans" cxnId="{88348A16-82BA-4147-A239-686B134EEE45}">
      <dgm:prSet/>
      <dgm:spPr/>
      <dgm:t>
        <a:bodyPr/>
        <a:lstStyle/>
        <a:p>
          <a:endParaRPr lang="en-US"/>
        </a:p>
      </dgm:t>
    </dgm:pt>
    <dgm:pt modelId="{F114763E-3489-F548-8F48-508247057CDE}" type="asst">
      <dgm:prSet phldrT="[Text]"/>
      <dgm:spPr/>
      <dgm:t>
        <a:bodyPr/>
        <a:lstStyle/>
        <a:p>
          <a:r>
            <a:rPr lang="en-US" dirty="0"/>
            <a:t>Spec-Kit Agents</a:t>
          </a:r>
        </a:p>
      </dgm:t>
    </dgm:pt>
    <dgm:pt modelId="{C10F4F5D-A953-EC4E-A83A-73969D5AD68A}" type="parTrans" cxnId="{9E3E6580-CAE3-C84D-8416-ECD58DC574DB}">
      <dgm:prSet/>
      <dgm:spPr/>
      <dgm:t>
        <a:bodyPr/>
        <a:lstStyle/>
        <a:p>
          <a:endParaRPr lang="en-US"/>
        </a:p>
      </dgm:t>
    </dgm:pt>
    <dgm:pt modelId="{1C67514E-1C12-6543-9A2C-F02F486D8539}" type="sibTrans" cxnId="{9E3E6580-CAE3-C84D-8416-ECD58DC574DB}">
      <dgm:prSet/>
      <dgm:spPr/>
      <dgm:t>
        <a:bodyPr/>
        <a:lstStyle/>
        <a:p>
          <a:endParaRPr lang="en-US"/>
        </a:p>
      </dgm:t>
    </dgm:pt>
    <dgm:pt modelId="{0D7DC934-59CE-0B46-866A-45196C1CA17C}">
      <dgm:prSet phldrT="[Text]"/>
      <dgm:spPr/>
      <dgm:t>
        <a:bodyPr/>
        <a:lstStyle/>
        <a:p>
          <a:r>
            <a:rPr lang="en-US" dirty="0"/>
            <a:t>Core Team</a:t>
          </a:r>
        </a:p>
      </dgm:t>
    </dgm:pt>
    <dgm:pt modelId="{59CBCEA3-BC1D-4D49-B9B1-B90A1CA6C1CE}" type="parTrans" cxnId="{2328D0D6-83C8-F04E-BEA8-438CFB8F2B12}">
      <dgm:prSet/>
      <dgm:spPr/>
      <dgm:t>
        <a:bodyPr/>
        <a:lstStyle/>
        <a:p>
          <a:endParaRPr lang="en-US"/>
        </a:p>
      </dgm:t>
    </dgm:pt>
    <dgm:pt modelId="{2DC76BE1-8737-B546-A4A1-37546B382B75}" type="sibTrans" cxnId="{2328D0D6-83C8-F04E-BEA8-438CFB8F2B12}">
      <dgm:prSet/>
      <dgm:spPr/>
      <dgm:t>
        <a:bodyPr/>
        <a:lstStyle/>
        <a:p>
          <a:endParaRPr lang="en-US"/>
        </a:p>
      </dgm:t>
    </dgm:pt>
    <dgm:pt modelId="{5230DC38-5B64-6C48-812B-DC858108AEA7}">
      <dgm:prSet phldrT="[Text]"/>
      <dgm:spPr/>
      <dgm:t>
        <a:bodyPr/>
        <a:lstStyle/>
        <a:p>
          <a:r>
            <a:rPr lang="en-US" dirty="0"/>
            <a:t>Data Scientist</a:t>
          </a:r>
        </a:p>
      </dgm:t>
    </dgm:pt>
    <dgm:pt modelId="{6B14A5C5-630C-354D-91D7-860C4FAC771B}" type="parTrans" cxnId="{E37D1F6B-A55D-3D47-A18C-D0076D37B557}">
      <dgm:prSet/>
      <dgm:spPr/>
      <dgm:t>
        <a:bodyPr/>
        <a:lstStyle/>
        <a:p>
          <a:endParaRPr lang="en-US"/>
        </a:p>
      </dgm:t>
    </dgm:pt>
    <dgm:pt modelId="{A0ACFD56-6BA7-5145-9486-4AC9F974DEE6}" type="sibTrans" cxnId="{E37D1F6B-A55D-3D47-A18C-D0076D37B557}">
      <dgm:prSet/>
      <dgm:spPr/>
      <dgm:t>
        <a:bodyPr/>
        <a:lstStyle/>
        <a:p>
          <a:endParaRPr lang="en-US"/>
        </a:p>
      </dgm:t>
    </dgm:pt>
    <dgm:pt modelId="{0F5F8947-EDF1-654C-A2C8-A42D04910762}">
      <dgm:prSet phldrT="[Text]"/>
      <dgm:spPr>
        <a:solidFill>
          <a:schemeClr val="accent5"/>
        </a:solidFill>
      </dgm:spPr>
      <dgm:t>
        <a:bodyPr/>
        <a:lstStyle/>
        <a:p>
          <a:r>
            <a:rPr lang="en-US" dirty="0"/>
            <a:t>Python Developer</a:t>
          </a:r>
        </a:p>
      </dgm:t>
    </dgm:pt>
    <dgm:pt modelId="{FE90DD1A-0AC8-584A-B89B-888A853272E6}" type="parTrans" cxnId="{35B62106-AF70-1A4A-9B5F-4A1FE5DE51D9}">
      <dgm:prSet/>
      <dgm:spPr/>
      <dgm:t>
        <a:bodyPr/>
        <a:lstStyle/>
        <a:p>
          <a:endParaRPr lang="en-US"/>
        </a:p>
      </dgm:t>
    </dgm:pt>
    <dgm:pt modelId="{7F56FA5F-9C95-4A40-B140-FD540569D51B}" type="sibTrans" cxnId="{35B62106-AF70-1A4A-9B5F-4A1FE5DE51D9}">
      <dgm:prSet/>
      <dgm:spPr/>
      <dgm:t>
        <a:bodyPr/>
        <a:lstStyle/>
        <a:p>
          <a:endParaRPr lang="en-US"/>
        </a:p>
      </dgm:t>
    </dgm:pt>
    <dgm:pt modelId="{51ECA4C2-D61C-6047-80C9-665513FCA94E}">
      <dgm:prSet phldrT="[Text]"/>
      <dgm:spPr/>
      <dgm:t>
        <a:bodyPr/>
        <a:lstStyle/>
        <a:p>
          <a:r>
            <a:rPr lang="en-US" dirty="0"/>
            <a:t>Security Engineer</a:t>
          </a:r>
        </a:p>
      </dgm:t>
    </dgm:pt>
    <dgm:pt modelId="{A6FC3760-0095-1647-9E99-0E83ADA418A7}" type="parTrans" cxnId="{F178245A-6103-1445-B71A-A023483348FF}">
      <dgm:prSet/>
      <dgm:spPr/>
      <dgm:t>
        <a:bodyPr/>
        <a:lstStyle/>
        <a:p>
          <a:endParaRPr lang="en-US"/>
        </a:p>
      </dgm:t>
    </dgm:pt>
    <dgm:pt modelId="{2524A589-EF16-EA49-9FBB-7DA2B9B8E652}" type="sibTrans" cxnId="{F178245A-6103-1445-B71A-A023483348FF}">
      <dgm:prSet/>
      <dgm:spPr/>
      <dgm:t>
        <a:bodyPr/>
        <a:lstStyle/>
        <a:p>
          <a:endParaRPr lang="en-US"/>
        </a:p>
      </dgm:t>
    </dgm:pt>
    <dgm:pt modelId="{0612ED66-A8FD-8E4C-BE21-FD9D51949AFD}">
      <dgm:prSet phldrT="[Text]"/>
      <dgm:spPr/>
      <dgm:t>
        <a:bodyPr/>
        <a:lstStyle/>
        <a:p>
          <a:r>
            <a:rPr lang="en-US" dirty="0"/>
            <a:t>Exec Coaches</a:t>
          </a:r>
        </a:p>
      </dgm:t>
    </dgm:pt>
    <dgm:pt modelId="{709EF520-FEDE-9F40-AD0A-E1CC6C673C40}" type="parTrans" cxnId="{05A3E24A-9EF1-AD4F-8071-07A32C00DD58}">
      <dgm:prSet/>
      <dgm:spPr/>
      <dgm:t>
        <a:bodyPr/>
        <a:lstStyle/>
        <a:p>
          <a:endParaRPr lang="en-US"/>
        </a:p>
      </dgm:t>
    </dgm:pt>
    <dgm:pt modelId="{A178DB0F-4F8E-9F4E-B61C-9314D2283B93}" type="sibTrans" cxnId="{05A3E24A-9EF1-AD4F-8071-07A32C00DD58}">
      <dgm:prSet/>
      <dgm:spPr/>
      <dgm:t>
        <a:bodyPr/>
        <a:lstStyle/>
        <a:p>
          <a:endParaRPr lang="en-US"/>
        </a:p>
      </dgm:t>
    </dgm:pt>
    <dgm:pt modelId="{C3517F2A-9E47-CA47-95D4-5D3B25570F3D}">
      <dgm:prSet phldrT="[Text]"/>
      <dgm:spPr>
        <a:solidFill>
          <a:schemeClr val="accent5"/>
        </a:solidFill>
      </dgm:spPr>
      <dgm:t>
        <a:bodyPr/>
        <a:lstStyle/>
        <a:p>
          <a:r>
            <a:rPr lang="en-US" dirty="0"/>
            <a:t>Project Judge</a:t>
          </a:r>
        </a:p>
      </dgm:t>
    </dgm:pt>
    <dgm:pt modelId="{23915D2C-229B-1B4D-8C85-97B5D68EF24F}" type="parTrans" cxnId="{94000CCB-9851-484C-A8CB-5382ECE810EA}">
      <dgm:prSet/>
      <dgm:spPr/>
      <dgm:t>
        <a:bodyPr/>
        <a:lstStyle/>
        <a:p>
          <a:endParaRPr lang="en-US"/>
        </a:p>
      </dgm:t>
    </dgm:pt>
    <dgm:pt modelId="{BF882CBD-1529-0A42-8DFF-9C9500CED91F}" type="sibTrans" cxnId="{94000CCB-9851-484C-A8CB-5382ECE810EA}">
      <dgm:prSet/>
      <dgm:spPr/>
      <dgm:t>
        <a:bodyPr/>
        <a:lstStyle/>
        <a:p>
          <a:endParaRPr lang="en-US"/>
        </a:p>
      </dgm:t>
    </dgm:pt>
    <dgm:pt modelId="{F9A4B4F1-E633-8C4E-A60B-65BCE946A0CE}">
      <dgm:prSet phldrT="[Text]"/>
      <dgm:spPr>
        <a:solidFill>
          <a:schemeClr val="accent5"/>
        </a:solidFill>
      </dgm:spPr>
      <dgm:t>
        <a:bodyPr/>
        <a:lstStyle/>
        <a:p>
          <a:r>
            <a:rPr lang="en-US" dirty="0"/>
            <a:t>Presentation Prep</a:t>
          </a:r>
        </a:p>
      </dgm:t>
    </dgm:pt>
    <dgm:pt modelId="{E87567EB-AE4A-A241-BEB8-5B9928504848}" type="parTrans" cxnId="{810A6433-49E9-4942-9F49-A42492308BE7}">
      <dgm:prSet/>
      <dgm:spPr/>
      <dgm:t>
        <a:bodyPr/>
        <a:lstStyle/>
        <a:p>
          <a:endParaRPr lang="en-US"/>
        </a:p>
      </dgm:t>
    </dgm:pt>
    <dgm:pt modelId="{AE80FE6D-CC3F-6442-91A9-39DB0E9F7884}" type="sibTrans" cxnId="{810A6433-49E9-4942-9F49-A42492308BE7}">
      <dgm:prSet/>
      <dgm:spPr/>
      <dgm:t>
        <a:bodyPr/>
        <a:lstStyle/>
        <a:p>
          <a:endParaRPr lang="en-US"/>
        </a:p>
      </dgm:t>
    </dgm:pt>
    <dgm:pt modelId="{BD92A166-0E1C-974E-AA99-109FAA0128F3}">
      <dgm:prSet phldrT="[Text]"/>
      <dgm:spPr>
        <a:solidFill>
          <a:schemeClr val="accent5"/>
        </a:solidFill>
      </dgm:spPr>
      <dgm:t>
        <a:bodyPr/>
        <a:lstStyle/>
        <a:p>
          <a:r>
            <a:rPr lang="en-US" dirty="0"/>
            <a:t>CSA</a:t>
          </a:r>
        </a:p>
      </dgm:t>
    </dgm:pt>
    <dgm:pt modelId="{DDE094F1-10FB-F041-A82C-384C32003AC0}" type="parTrans" cxnId="{561789BE-4C62-B944-9739-28AD42CC7C4D}">
      <dgm:prSet/>
      <dgm:spPr/>
      <dgm:t>
        <a:bodyPr/>
        <a:lstStyle/>
        <a:p>
          <a:endParaRPr lang="en-US"/>
        </a:p>
      </dgm:t>
    </dgm:pt>
    <dgm:pt modelId="{739373DB-762F-AE4E-BDB1-2772D7E78099}" type="sibTrans" cxnId="{561789BE-4C62-B944-9739-28AD42CC7C4D}">
      <dgm:prSet/>
      <dgm:spPr/>
      <dgm:t>
        <a:bodyPr/>
        <a:lstStyle/>
        <a:p>
          <a:endParaRPr lang="en-US"/>
        </a:p>
      </dgm:t>
    </dgm:pt>
    <dgm:pt modelId="{DA2BDEAB-6EF8-4443-9458-9D3AC4B2660A}">
      <dgm:prSet phldrT="[Text]"/>
      <dgm:spPr/>
      <dgm:t>
        <a:bodyPr/>
        <a:lstStyle/>
        <a:p>
          <a:r>
            <a:rPr lang="en-US" dirty="0"/>
            <a:t>Technical Writer</a:t>
          </a:r>
        </a:p>
      </dgm:t>
    </dgm:pt>
    <dgm:pt modelId="{20CC32FA-4D76-354A-ADF3-927D11F13AFF}" type="parTrans" cxnId="{B955E266-0D0A-0F4F-BF40-0961949483B9}">
      <dgm:prSet/>
      <dgm:spPr/>
      <dgm:t>
        <a:bodyPr/>
        <a:lstStyle/>
        <a:p>
          <a:endParaRPr lang="en-US"/>
        </a:p>
      </dgm:t>
    </dgm:pt>
    <dgm:pt modelId="{83729A18-69F7-334A-B6F2-ACEA5897C777}" type="sibTrans" cxnId="{B955E266-0D0A-0F4F-BF40-0961949483B9}">
      <dgm:prSet/>
      <dgm:spPr/>
      <dgm:t>
        <a:bodyPr/>
        <a:lstStyle/>
        <a:p>
          <a:endParaRPr lang="en-US"/>
        </a:p>
      </dgm:t>
    </dgm:pt>
    <dgm:pt modelId="{8B7D141D-093A-5B4D-8B3A-545DA9AF1174}" type="pres">
      <dgm:prSet presAssocID="{4027BBC3-4870-CD49-9395-810E7F3920A2}" presName="Name0" presStyleCnt="0">
        <dgm:presLayoutVars>
          <dgm:chPref val="1"/>
          <dgm:dir/>
          <dgm:animOne val="branch"/>
          <dgm:animLvl val="lvl"/>
          <dgm:resizeHandles val="exact"/>
        </dgm:presLayoutVars>
      </dgm:prSet>
      <dgm:spPr/>
    </dgm:pt>
    <dgm:pt modelId="{2EBFD6E3-3556-114D-AEF8-2972AA27B975}" type="pres">
      <dgm:prSet presAssocID="{71657A9D-1341-EC4E-A1CA-B48CB054B47E}" presName="root1" presStyleCnt="0"/>
      <dgm:spPr/>
    </dgm:pt>
    <dgm:pt modelId="{28F18D48-3F36-9946-8238-E18BF3986F43}" type="pres">
      <dgm:prSet presAssocID="{71657A9D-1341-EC4E-A1CA-B48CB054B47E}" presName="LevelOneTextNode" presStyleLbl="node0" presStyleIdx="0" presStyleCnt="1">
        <dgm:presLayoutVars>
          <dgm:chPref val="3"/>
        </dgm:presLayoutVars>
      </dgm:prSet>
      <dgm:spPr/>
    </dgm:pt>
    <dgm:pt modelId="{BB224BC5-C243-2240-9C6C-5FB06DEDD9C7}" type="pres">
      <dgm:prSet presAssocID="{71657A9D-1341-EC4E-A1CA-B48CB054B47E}" presName="level2hierChild" presStyleCnt="0"/>
      <dgm:spPr/>
    </dgm:pt>
    <dgm:pt modelId="{20DFFDC5-1C43-2741-87D5-0C95C9B4DA2C}" type="pres">
      <dgm:prSet presAssocID="{C10F4F5D-A953-EC4E-A83A-73969D5AD68A}" presName="conn2-1" presStyleLbl="parChTrans1D2" presStyleIdx="0" presStyleCnt="3"/>
      <dgm:spPr/>
    </dgm:pt>
    <dgm:pt modelId="{070446CF-156D-9A4D-BD2E-E012A32DFD34}" type="pres">
      <dgm:prSet presAssocID="{C10F4F5D-A953-EC4E-A83A-73969D5AD68A}" presName="connTx" presStyleLbl="parChTrans1D2" presStyleIdx="0" presStyleCnt="3"/>
      <dgm:spPr/>
    </dgm:pt>
    <dgm:pt modelId="{3426436C-42A6-C345-908D-0972940B85FA}" type="pres">
      <dgm:prSet presAssocID="{F114763E-3489-F548-8F48-508247057CDE}" presName="root2" presStyleCnt="0"/>
      <dgm:spPr/>
    </dgm:pt>
    <dgm:pt modelId="{40887F2C-F421-2744-8B9A-001D767F78CD}" type="pres">
      <dgm:prSet presAssocID="{F114763E-3489-F548-8F48-508247057CDE}" presName="LevelTwoTextNode" presStyleLbl="asst1" presStyleIdx="0" presStyleCnt="1">
        <dgm:presLayoutVars>
          <dgm:chPref val="3"/>
        </dgm:presLayoutVars>
      </dgm:prSet>
      <dgm:spPr/>
    </dgm:pt>
    <dgm:pt modelId="{F6DCA857-C08C-D340-B60C-7A2263B12B15}" type="pres">
      <dgm:prSet presAssocID="{F114763E-3489-F548-8F48-508247057CDE}" presName="level3hierChild" presStyleCnt="0"/>
      <dgm:spPr/>
    </dgm:pt>
    <dgm:pt modelId="{B48B8D1B-E407-0342-96F8-A2F97486CB95}" type="pres">
      <dgm:prSet presAssocID="{59CBCEA3-BC1D-4D49-B9B1-B90A1CA6C1CE}" presName="conn2-1" presStyleLbl="parChTrans1D2" presStyleIdx="1" presStyleCnt="3"/>
      <dgm:spPr/>
    </dgm:pt>
    <dgm:pt modelId="{7DB24F1E-7DCE-4748-B0EA-E14602F778A9}" type="pres">
      <dgm:prSet presAssocID="{59CBCEA3-BC1D-4D49-B9B1-B90A1CA6C1CE}" presName="connTx" presStyleLbl="parChTrans1D2" presStyleIdx="1" presStyleCnt="3"/>
      <dgm:spPr/>
    </dgm:pt>
    <dgm:pt modelId="{199C7E40-DD2F-7745-8689-7A4E7F760626}" type="pres">
      <dgm:prSet presAssocID="{0D7DC934-59CE-0B46-866A-45196C1CA17C}" presName="root2" presStyleCnt="0"/>
      <dgm:spPr/>
    </dgm:pt>
    <dgm:pt modelId="{1667819F-4315-E74B-A17C-E738C75A7661}" type="pres">
      <dgm:prSet presAssocID="{0D7DC934-59CE-0B46-866A-45196C1CA17C}" presName="LevelTwoTextNode" presStyleLbl="node2" presStyleIdx="0" presStyleCnt="2">
        <dgm:presLayoutVars>
          <dgm:chPref val="3"/>
        </dgm:presLayoutVars>
      </dgm:prSet>
      <dgm:spPr/>
    </dgm:pt>
    <dgm:pt modelId="{38A26C26-22B1-5C4F-A922-4C8BCAB7F402}" type="pres">
      <dgm:prSet presAssocID="{0D7DC934-59CE-0B46-866A-45196C1CA17C}" presName="level3hierChild" presStyleCnt="0"/>
      <dgm:spPr/>
    </dgm:pt>
    <dgm:pt modelId="{CC48ECC1-A446-7F42-BA59-37407F71A9E1}" type="pres">
      <dgm:prSet presAssocID="{DDE094F1-10FB-F041-A82C-384C32003AC0}" presName="conn2-1" presStyleLbl="parChTrans1D3" presStyleIdx="0" presStyleCnt="7"/>
      <dgm:spPr/>
    </dgm:pt>
    <dgm:pt modelId="{FCD4C2BE-721A-5D4A-A5C6-86384CF6660A}" type="pres">
      <dgm:prSet presAssocID="{DDE094F1-10FB-F041-A82C-384C32003AC0}" presName="connTx" presStyleLbl="parChTrans1D3" presStyleIdx="0" presStyleCnt="7"/>
      <dgm:spPr/>
    </dgm:pt>
    <dgm:pt modelId="{6AC23181-EBE8-734F-B696-673E91FEC397}" type="pres">
      <dgm:prSet presAssocID="{BD92A166-0E1C-974E-AA99-109FAA0128F3}" presName="root2" presStyleCnt="0"/>
      <dgm:spPr/>
    </dgm:pt>
    <dgm:pt modelId="{C94487DA-7BDC-6246-AFCC-8EE0B570A63F}" type="pres">
      <dgm:prSet presAssocID="{BD92A166-0E1C-974E-AA99-109FAA0128F3}" presName="LevelTwoTextNode" presStyleLbl="node3" presStyleIdx="0" presStyleCnt="7">
        <dgm:presLayoutVars>
          <dgm:chPref val="3"/>
        </dgm:presLayoutVars>
      </dgm:prSet>
      <dgm:spPr/>
    </dgm:pt>
    <dgm:pt modelId="{D532DBA3-87D6-094F-BD0E-8B3468C3BB82}" type="pres">
      <dgm:prSet presAssocID="{BD92A166-0E1C-974E-AA99-109FAA0128F3}" presName="level3hierChild" presStyleCnt="0"/>
      <dgm:spPr/>
    </dgm:pt>
    <dgm:pt modelId="{066A3232-15B5-744A-820B-657DB4298B0E}" type="pres">
      <dgm:prSet presAssocID="{FE90DD1A-0AC8-584A-B89B-888A853272E6}" presName="conn2-1" presStyleLbl="parChTrans1D3" presStyleIdx="1" presStyleCnt="7"/>
      <dgm:spPr/>
    </dgm:pt>
    <dgm:pt modelId="{4BC63992-A861-D846-8D1A-5C635A045C33}" type="pres">
      <dgm:prSet presAssocID="{FE90DD1A-0AC8-584A-B89B-888A853272E6}" presName="connTx" presStyleLbl="parChTrans1D3" presStyleIdx="1" presStyleCnt="7"/>
      <dgm:spPr/>
    </dgm:pt>
    <dgm:pt modelId="{65C01BBA-85BF-6044-A7EF-BE0AC8BE877A}" type="pres">
      <dgm:prSet presAssocID="{0F5F8947-EDF1-654C-A2C8-A42D04910762}" presName="root2" presStyleCnt="0"/>
      <dgm:spPr/>
    </dgm:pt>
    <dgm:pt modelId="{AB75FB0E-58D0-F047-AAEE-477100089962}" type="pres">
      <dgm:prSet presAssocID="{0F5F8947-EDF1-654C-A2C8-A42D04910762}" presName="LevelTwoTextNode" presStyleLbl="node3" presStyleIdx="1" presStyleCnt="7">
        <dgm:presLayoutVars>
          <dgm:chPref val="3"/>
        </dgm:presLayoutVars>
      </dgm:prSet>
      <dgm:spPr/>
    </dgm:pt>
    <dgm:pt modelId="{0E4470F7-6FA3-954C-AEE6-0D8998645FE7}" type="pres">
      <dgm:prSet presAssocID="{0F5F8947-EDF1-654C-A2C8-A42D04910762}" presName="level3hierChild" presStyleCnt="0"/>
      <dgm:spPr/>
    </dgm:pt>
    <dgm:pt modelId="{16AB4224-872D-0F4C-84FF-A491C6331244}" type="pres">
      <dgm:prSet presAssocID="{6B14A5C5-630C-354D-91D7-860C4FAC771B}" presName="conn2-1" presStyleLbl="parChTrans1D3" presStyleIdx="2" presStyleCnt="7"/>
      <dgm:spPr/>
    </dgm:pt>
    <dgm:pt modelId="{E4A7EBE1-5D0F-014B-9308-98DB97BDDFD2}" type="pres">
      <dgm:prSet presAssocID="{6B14A5C5-630C-354D-91D7-860C4FAC771B}" presName="connTx" presStyleLbl="parChTrans1D3" presStyleIdx="2" presStyleCnt="7"/>
      <dgm:spPr/>
    </dgm:pt>
    <dgm:pt modelId="{6E555A71-D381-5942-B03D-C8F8A957879D}" type="pres">
      <dgm:prSet presAssocID="{5230DC38-5B64-6C48-812B-DC858108AEA7}" presName="root2" presStyleCnt="0"/>
      <dgm:spPr/>
    </dgm:pt>
    <dgm:pt modelId="{CD18E77B-95AE-3A4A-967B-6CA1E2636F7C}" type="pres">
      <dgm:prSet presAssocID="{5230DC38-5B64-6C48-812B-DC858108AEA7}" presName="LevelTwoTextNode" presStyleLbl="node3" presStyleIdx="2" presStyleCnt="7">
        <dgm:presLayoutVars>
          <dgm:chPref val="3"/>
        </dgm:presLayoutVars>
      </dgm:prSet>
      <dgm:spPr/>
    </dgm:pt>
    <dgm:pt modelId="{83E5335F-7B03-374E-A2AD-4DA75357450F}" type="pres">
      <dgm:prSet presAssocID="{5230DC38-5B64-6C48-812B-DC858108AEA7}" presName="level3hierChild" presStyleCnt="0"/>
      <dgm:spPr/>
    </dgm:pt>
    <dgm:pt modelId="{C6E5AC3D-0CC1-C141-BF24-BE8FA0943BA2}" type="pres">
      <dgm:prSet presAssocID="{A6FC3760-0095-1647-9E99-0E83ADA418A7}" presName="conn2-1" presStyleLbl="parChTrans1D3" presStyleIdx="3" presStyleCnt="7"/>
      <dgm:spPr/>
    </dgm:pt>
    <dgm:pt modelId="{907028BC-06B8-2545-94DF-808E415E601A}" type="pres">
      <dgm:prSet presAssocID="{A6FC3760-0095-1647-9E99-0E83ADA418A7}" presName="connTx" presStyleLbl="parChTrans1D3" presStyleIdx="3" presStyleCnt="7"/>
      <dgm:spPr/>
    </dgm:pt>
    <dgm:pt modelId="{214905AF-E35B-8C45-9ECF-898663B23931}" type="pres">
      <dgm:prSet presAssocID="{51ECA4C2-D61C-6047-80C9-665513FCA94E}" presName="root2" presStyleCnt="0"/>
      <dgm:spPr/>
    </dgm:pt>
    <dgm:pt modelId="{CDE5ED72-91B7-3F46-B83A-942A726C429C}" type="pres">
      <dgm:prSet presAssocID="{51ECA4C2-D61C-6047-80C9-665513FCA94E}" presName="LevelTwoTextNode" presStyleLbl="node3" presStyleIdx="3" presStyleCnt="7">
        <dgm:presLayoutVars>
          <dgm:chPref val="3"/>
        </dgm:presLayoutVars>
      </dgm:prSet>
      <dgm:spPr/>
    </dgm:pt>
    <dgm:pt modelId="{6141FCF4-0C5B-F941-852C-0494AFD8DDA9}" type="pres">
      <dgm:prSet presAssocID="{51ECA4C2-D61C-6047-80C9-665513FCA94E}" presName="level3hierChild" presStyleCnt="0"/>
      <dgm:spPr/>
    </dgm:pt>
    <dgm:pt modelId="{29816949-4669-794F-8A4B-4E0BDABC86DF}" type="pres">
      <dgm:prSet presAssocID="{20CC32FA-4D76-354A-ADF3-927D11F13AFF}" presName="conn2-1" presStyleLbl="parChTrans1D3" presStyleIdx="4" presStyleCnt="7"/>
      <dgm:spPr/>
    </dgm:pt>
    <dgm:pt modelId="{38A2065A-71B3-4F41-9048-8699FE0158FB}" type="pres">
      <dgm:prSet presAssocID="{20CC32FA-4D76-354A-ADF3-927D11F13AFF}" presName="connTx" presStyleLbl="parChTrans1D3" presStyleIdx="4" presStyleCnt="7"/>
      <dgm:spPr/>
    </dgm:pt>
    <dgm:pt modelId="{288A8D07-D7A0-2645-81D9-DB3BA3A11324}" type="pres">
      <dgm:prSet presAssocID="{DA2BDEAB-6EF8-4443-9458-9D3AC4B2660A}" presName="root2" presStyleCnt="0"/>
      <dgm:spPr/>
    </dgm:pt>
    <dgm:pt modelId="{8F05567B-A87A-1841-95EC-DAABB27280ED}" type="pres">
      <dgm:prSet presAssocID="{DA2BDEAB-6EF8-4443-9458-9D3AC4B2660A}" presName="LevelTwoTextNode" presStyleLbl="node3" presStyleIdx="4" presStyleCnt="7">
        <dgm:presLayoutVars>
          <dgm:chPref val="3"/>
        </dgm:presLayoutVars>
      </dgm:prSet>
      <dgm:spPr/>
    </dgm:pt>
    <dgm:pt modelId="{682A4681-2DFB-7E44-B2D4-0FB5AA81593E}" type="pres">
      <dgm:prSet presAssocID="{DA2BDEAB-6EF8-4443-9458-9D3AC4B2660A}" presName="level3hierChild" presStyleCnt="0"/>
      <dgm:spPr/>
    </dgm:pt>
    <dgm:pt modelId="{CC5A8B8B-A888-0B43-B92B-5CCC511F5084}" type="pres">
      <dgm:prSet presAssocID="{709EF520-FEDE-9F40-AD0A-E1CC6C673C40}" presName="conn2-1" presStyleLbl="parChTrans1D2" presStyleIdx="2" presStyleCnt="3"/>
      <dgm:spPr/>
    </dgm:pt>
    <dgm:pt modelId="{AF2C93A2-FBD0-8647-A6D7-C8AE62B3C725}" type="pres">
      <dgm:prSet presAssocID="{709EF520-FEDE-9F40-AD0A-E1CC6C673C40}" presName="connTx" presStyleLbl="parChTrans1D2" presStyleIdx="2" presStyleCnt="3"/>
      <dgm:spPr/>
    </dgm:pt>
    <dgm:pt modelId="{941057AC-7AF7-8A40-B99A-529641296EE7}" type="pres">
      <dgm:prSet presAssocID="{0612ED66-A8FD-8E4C-BE21-FD9D51949AFD}" presName="root2" presStyleCnt="0"/>
      <dgm:spPr/>
    </dgm:pt>
    <dgm:pt modelId="{782F3250-C9FC-7A4D-B175-5D916AF9ECAA}" type="pres">
      <dgm:prSet presAssocID="{0612ED66-A8FD-8E4C-BE21-FD9D51949AFD}" presName="LevelTwoTextNode" presStyleLbl="node2" presStyleIdx="1" presStyleCnt="2">
        <dgm:presLayoutVars>
          <dgm:chPref val="3"/>
        </dgm:presLayoutVars>
      </dgm:prSet>
      <dgm:spPr/>
    </dgm:pt>
    <dgm:pt modelId="{99EE6D19-DB5D-3942-8B27-546880E4D395}" type="pres">
      <dgm:prSet presAssocID="{0612ED66-A8FD-8E4C-BE21-FD9D51949AFD}" presName="level3hierChild" presStyleCnt="0"/>
      <dgm:spPr/>
    </dgm:pt>
    <dgm:pt modelId="{3D86BC43-6A2C-5D4B-9CDE-B649D12B7CBB}" type="pres">
      <dgm:prSet presAssocID="{23915D2C-229B-1B4D-8C85-97B5D68EF24F}" presName="conn2-1" presStyleLbl="parChTrans1D3" presStyleIdx="5" presStyleCnt="7"/>
      <dgm:spPr/>
    </dgm:pt>
    <dgm:pt modelId="{D7372326-9CAB-8048-916F-B28EC1B01EB9}" type="pres">
      <dgm:prSet presAssocID="{23915D2C-229B-1B4D-8C85-97B5D68EF24F}" presName="connTx" presStyleLbl="parChTrans1D3" presStyleIdx="5" presStyleCnt="7"/>
      <dgm:spPr/>
    </dgm:pt>
    <dgm:pt modelId="{30B2720F-1C14-C342-B043-497030531100}" type="pres">
      <dgm:prSet presAssocID="{C3517F2A-9E47-CA47-95D4-5D3B25570F3D}" presName="root2" presStyleCnt="0"/>
      <dgm:spPr/>
    </dgm:pt>
    <dgm:pt modelId="{C3841330-6324-194D-A7D4-834ABB543DC3}" type="pres">
      <dgm:prSet presAssocID="{C3517F2A-9E47-CA47-95D4-5D3B25570F3D}" presName="LevelTwoTextNode" presStyleLbl="node3" presStyleIdx="5" presStyleCnt="7">
        <dgm:presLayoutVars>
          <dgm:chPref val="3"/>
        </dgm:presLayoutVars>
      </dgm:prSet>
      <dgm:spPr/>
    </dgm:pt>
    <dgm:pt modelId="{AFD9DD07-32E3-C04F-9C9A-C7B784043145}" type="pres">
      <dgm:prSet presAssocID="{C3517F2A-9E47-CA47-95D4-5D3B25570F3D}" presName="level3hierChild" presStyleCnt="0"/>
      <dgm:spPr/>
    </dgm:pt>
    <dgm:pt modelId="{781E5521-9B3D-F84A-BA28-C6495F7EE932}" type="pres">
      <dgm:prSet presAssocID="{E87567EB-AE4A-A241-BEB8-5B9928504848}" presName="conn2-1" presStyleLbl="parChTrans1D3" presStyleIdx="6" presStyleCnt="7"/>
      <dgm:spPr/>
    </dgm:pt>
    <dgm:pt modelId="{226FD883-3EBE-314F-84C3-3B327B3D4B31}" type="pres">
      <dgm:prSet presAssocID="{E87567EB-AE4A-A241-BEB8-5B9928504848}" presName="connTx" presStyleLbl="parChTrans1D3" presStyleIdx="6" presStyleCnt="7"/>
      <dgm:spPr/>
    </dgm:pt>
    <dgm:pt modelId="{105649FB-B034-6943-824E-5E08B0014A04}" type="pres">
      <dgm:prSet presAssocID="{F9A4B4F1-E633-8C4E-A60B-65BCE946A0CE}" presName="root2" presStyleCnt="0"/>
      <dgm:spPr/>
    </dgm:pt>
    <dgm:pt modelId="{A9E8523C-122E-554C-8CC8-D7329AB0B51B}" type="pres">
      <dgm:prSet presAssocID="{F9A4B4F1-E633-8C4E-A60B-65BCE946A0CE}" presName="LevelTwoTextNode" presStyleLbl="node3" presStyleIdx="6" presStyleCnt="7">
        <dgm:presLayoutVars>
          <dgm:chPref val="3"/>
        </dgm:presLayoutVars>
      </dgm:prSet>
      <dgm:spPr/>
    </dgm:pt>
    <dgm:pt modelId="{0EC13677-4DC2-FF43-84F1-C5E82932BFFE}" type="pres">
      <dgm:prSet presAssocID="{F9A4B4F1-E633-8C4E-A60B-65BCE946A0CE}" presName="level3hierChild" presStyleCnt="0"/>
      <dgm:spPr/>
    </dgm:pt>
  </dgm:ptLst>
  <dgm:cxnLst>
    <dgm:cxn modelId="{35B62106-AF70-1A4A-9B5F-4A1FE5DE51D9}" srcId="{0D7DC934-59CE-0B46-866A-45196C1CA17C}" destId="{0F5F8947-EDF1-654C-A2C8-A42D04910762}" srcOrd="1" destOrd="0" parTransId="{FE90DD1A-0AC8-584A-B89B-888A853272E6}" sibTransId="{7F56FA5F-9C95-4A40-B140-FD540569D51B}"/>
    <dgm:cxn modelId="{5A5CEE0B-CB23-734B-B645-B9F48E41E250}" type="presOf" srcId="{F114763E-3489-F548-8F48-508247057CDE}" destId="{40887F2C-F421-2744-8B9A-001D767F78CD}" srcOrd="0" destOrd="0" presId="urn:microsoft.com/office/officeart/2008/layout/HorizontalMultiLevelHierarchy"/>
    <dgm:cxn modelId="{88348A16-82BA-4147-A239-686B134EEE45}" srcId="{4027BBC3-4870-CD49-9395-810E7F3920A2}" destId="{71657A9D-1341-EC4E-A1CA-B48CB054B47E}" srcOrd="0" destOrd="0" parTransId="{1B0A3906-9F13-594F-B655-A75424638381}" sibTransId="{769626EC-9891-8C42-A969-DEC350A3A783}"/>
    <dgm:cxn modelId="{66E03E1F-FBB2-BC45-A2E2-2FFB9E9C42EB}" type="presOf" srcId="{59CBCEA3-BC1D-4D49-B9B1-B90A1CA6C1CE}" destId="{B48B8D1B-E407-0342-96F8-A2F97486CB95}" srcOrd="0" destOrd="0" presId="urn:microsoft.com/office/officeart/2008/layout/HorizontalMultiLevelHierarchy"/>
    <dgm:cxn modelId="{810A6433-49E9-4942-9F49-A42492308BE7}" srcId="{0612ED66-A8FD-8E4C-BE21-FD9D51949AFD}" destId="{F9A4B4F1-E633-8C4E-A60B-65BCE946A0CE}" srcOrd="1" destOrd="0" parTransId="{E87567EB-AE4A-A241-BEB8-5B9928504848}" sibTransId="{AE80FE6D-CC3F-6442-91A9-39DB0E9F7884}"/>
    <dgm:cxn modelId="{DAC60D5E-10A2-4340-9B33-D059CD1CA483}" type="presOf" srcId="{DDE094F1-10FB-F041-A82C-384C32003AC0}" destId="{FCD4C2BE-721A-5D4A-A5C6-86384CF6660A}" srcOrd="1" destOrd="0" presId="urn:microsoft.com/office/officeart/2008/layout/HorizontalMultiLevelHierarchy"/>
    <dgm:cxn modelId="{D82E5660-E6E8-954A-A94A-077AA1B46856}" type="presOf" srcId="{BD92A166-0E1C-974E-AA99-109FAA0128F3}" destId="{C94487DA-7BDC-6246-AFCC-8EE0B570A63F}" srcOrd="0" destOrd="0" presId="urn:microsoft.com/office/officeart/2008/layout/HorizontalMultiLevelHierarchy"/>
    <dgm:cxn modelId="{7E032046-1F21-6340-8645-1D1EB6562AE2}" type="presOf" srcId="{C10F4F5D-A953-EC4E-A83A-73969D5AD68A}" destId="{070446CF-156D-9A4D-BD2E-E012A32DFD34}" srcOrd="1" destOrd="0" presId="urn:microsoft.com/office/officeart/2008/layout/HorizontalMultiLevelHierarchy"/>
    <dgm:cxn modelId="{70194266-5EA6-D94C-B745-2876AD7C3E45}" type="presOf" srcId="{A6FC3760-0095-1647-9E99-0E83ADA418A7}" destId="{C6E5AC3D-0CC1-C141-BF24-BE8FA0943BA2}" srcOrd="0" destOrd="0" presId="urn:microsoft.com/office/officeart/2008/layout/HorizontalMultiLevelHierarchy"/>
    <dgm:cxn modelId="{B955E266-0D0A-0F4F-BF40-0961949483B9}" srcId="{0D7DC934-59CE-0B46-866A-45196C1CA17C}" destId="{DA2BDEAB-6EF8-4443-9458-9D3AC4B2660A}" srcOrd="4" destOrd="0" parTransId="{20CC32FA-4D76-354A-ADF3-927D11F13AFF}" sibTransId="{83729A18-69F7-334A-B6F2-ACEA5897C777}"/>
    <dgm:cxn modelId="{84859149-DC3A-6949-8E3D-142F32936BC0}" type="presOf" srcId="{4027BBC3-4870-CD49-9395-810E7F3920A2}" destId="{8B7D141D-093A-5B4D-8B3A-545DA9AF1174}" srcOrd="0" destOrd="0" presId="urn:microsoft.com/office/officeart/2008/layout/HorizontalMultiLevelHierarchy"/>
    <dgm:cxn modelId="{34AA1B4A-8AD8-7F41-B476-631A6F0292C9}" type="presOf" srcId="{709EF520-FEDE-9F40-AD0A-E1CC6C673C40}" destId="{AF2C93A2-FBD0-8647-A6D7-C8AE62B3C725}" srcOrd="1" destOrd="0" presId="urn:microsoft.com/office/officeart/2008/layout/HorizontalMultiLevelHierarchy"/>
    <dgm:cxn modelId="{05A3E24A-9EF1-AD4F-8071-07A32C00DD58}" srcId="{71657A9D-1341-EC4E-A1CA-B48CB054B47E}" destId="{0612ED66-A8FD-8E4C-BE21-FD9D51949AFD}" srcOrd="2" destOrd="0" parTransId="{709EF520-FEDE-9F40-AD0A-E1CC6C673C40}" sibTransId="{A178DB0F-4F8E-9F4E-B61C-9314D2283B93}"/>
    <dgm:cxn modelId="{E37D1F6B-A55D-3D47-A18C-D0076D37B557}" srcId="{0D7DC934-59CE-0B46-866A-45196C1CA17C}" destId="{5230DC38-5B64-6C48-812B-DC858108AEA7}" srcOrd="2" destOrd="0" parTransId="{6B14A5C5-630C-354D-91D7-860C4FAC771B}" sibTransId="{A0ACFD56-6BA7-5145-9486-4AC9F974DEE6}"/>
    <dgm:cxn modelId="{F7A9304F-D865-9548-998E-727A2F5E5060}" type="presOf" srcId="{FE90DD1A-0AC8-584A-B89B-888A853272E6}" destId="{4BC63992-A861-D846-8D1A-5C635A045C33}" srcOrd="1" destOrd="0" presId="urn:microsoft.com/office/officeart/2008/layout/HorizontalMultiLevelHierarchy"/>
    <dgm:cxn modelId="{0CC55C6F-7AEA-A341-8676-C3DB9232DD7E}" type="presOf" srcId="{709EF520-FEDE-9F40-AD0A-E1CC6C673C40}" destId="{CC5A8B8B-A888-0B43-B92B-5CCC511F5084}" srcOrd="0" destOrd="0" presId="urn:microsoft.com/office/officeart/2008/layout/HorizontalMultiLevelHierarchy"/>
    <dgm:cxn modelId="{FA118A6F-8E09-0C4C-A737-C84733BE5500}" type="presOf" srcId="{71657A9D-1341-EC4E-A1CA-B48CB054B47E}" destId="{28F18D48-3F36-9946-8238-E18BF3986F43}" srcOrd="0" destOrd="0" presId="urn:microsoft.com/office/officeart/2008/layout/HorizontalMultiLevelHierarchy"/>
    <dgm:cxn modelId="{3F99AF52-4EAE-5440-A0DB-F0CFC087B87E}" type="presOf" srcId="{20CC32FA-4D76-354A-ADF3-927D11F13AFF}" destId="{38A2065A-71B3-4F41-9048-8699FE0158FB}" srcOrd="1" destOrd="0" presId="urn:microsoft.com/office/officeart/2008/layout/HorizontalMultiLevelHierarchy"/>
    <dgm:cxn modelId="{548D1B57-770C-6B4F-8C4F-59BABD99958F}" type="presOf" srcId="{C10F4F5D-A953-EC4E-A83A-73969D5AD68A}" destId="{20DFFDC5-1C43-2741-87D5-0C95C9B4DA2C}" srcOrd="0" destOrd="0" presId="urn:microsoft.com/office/officeart/2008/layout/HorizontalMultiLevelHierarchy"/>
    <dgm:cxn modelId="{70B6EC77-42A4-8842-A56E-7C847C7CBBC5}" type="presOf" srcId="{59CBCEA3-BC1D-4D49-B9B1-B90A1CA6C1CE}" destId="{7DB24F1E-7DCE-4748-B0EA-E14602F778A9}" srcOrd="1" destOrd="0" presId="urn:microsoft.com/office/officeart/2008/layout/HorizontalMultiLevelHierarchy"/>
    <dgm:cxn modelId="{F178245A-6103-1445-B71A-A023483348FF}" srcId="{0D7DC934-59CE-0B46-866A-45196C1CA17C}" destId="{51ECA4C2-D61C-6047-80C9-665513FCA94E}" srcOrd="3" destOrd="0" parTransId="{A6FC3760-0095-1647-9E99-0E83ADA418A7}" sibTransId="{2524A589-EF16-EA49-9FBB-7DA2B9B8E652}"/>
    <dgm:cxn modelId="{289BEB7C-E42A-8548-9C6E-D17E74A00B16}" type="presOf" srcId="{E87567EB-AE4A-A241-BEB8-5B9928504848}" destId="{226FD883-3EBE-314F-84C3-3B327B3D4B31}" srcOrd="1" destOrd="0" presId="urn:microsoft.com/office/officeart/2008/layout/HorizontalMultiLevelHierarchy"/>
    <dgm:cxn modelId="{314D327E-FB24-AC44-BA41-CBF8CAAB37B0}" type="presOf" srcId="{6B14A5C5-630C-354D-91D7-860C4FAC771B}" destId="{16AB4224-872D-0F4C-84FF-A491C6331244}" srcOrd="0" destOrd="0" presId="urn:microsoft.com/office/officeart/2008/layout/HorizontalMultiLevelHierarchy"/>
    <dgm:cxn modelId="{9E3E6580-CAE3-C84D-8416-ECD58DC574DB}" srcId="{71657A9D-1341-EC4E-A1CA-B48CB054B47E}" destId="{F114763E-3489-F548-8F48-508247057CDE}" srcOrd="0" destOrd="0" parTransId="{C10F4F5D-A953-EC4E-A83A-73969D5AD68A}" sibTransId="{1C67514E-1C12-6543-9A2C-F02F486D8539}"/>
    <dgm:cxn modelId="{ABBF7782-3CB5-EF46-A23C-F6831D6F3950}" type="presOf" srcId="{A6FC3760-0095-1647-9E99-0E83ADA418A7}" destId="{907028BC-06B8-2545-94DF-808E415E601A}" srcOrd="1" destOrd="0" presId="urn:microsoft.com/office/officeart/2008/layout/HorizontalMultiLevelHierarchy"/>
    <dgm:cxn modelId="{0977B083-A298-BA41-B279-B7EEC2C850E6}" type="presOf" srcId="{FE90DD1A-0AC8-584A-B89B-888A853272E6}" destId="{066A3232-15B5-744A-820B-657DB4298B0E}" srcOrd="0" destOrd="0" presId="urn:microsoft.com/office/officeart/2008/layout/HorizontalMultiLevelHierarchy"/>
    <dgm:cxn modelId="{9B212E87-FF3A-8240-869A-5B0EA6582F07}" type="presOf" srcId="{F9A4B4F1-E633-8C4E-A60B-65BCE946A0CE}" destId="{A9E8523C-122E-554C-8CC8-D7329AB0B51B}" srcOrd="0" destOrd="0" presId="urn:microsoft.com/office/officeart/2008/layout/HorizontalMultiLevelHierarchy"/>
    <dgm:cxn modelId="{DB3B9A90-6D3F-964D-99CB-18775F5EEC7B}" type="presOf" srcId="{5230DC38-5B64-6C48-812B-DC858108AEA7}" destId="{CD18E77B-95AE-3A4A-967B-6CA1E2636F7C}" srcOrd="0" destOrd="0" presId="urn:microsoft.com/office/officeart/2008/layout/HorizontalMultiLevelHierarchy"/>
    <dgm:cxn modelId="{26EBD393-749B-4B41-A055-8C5EFE50173F}" type="presOf" srcId="{C3517F2A-9E47-CA47-95D4-5D3B25570F3D}" destId="{C3841330-6324-194D-A7D4-834ABB543DC3}" srcOrd="0" destOrd="0" presId="urn:microsoft.com/office/officeart/2008/layout/HorizontalMultiLevelHierarchy"/>
    <dgm:cxn modelId="{BB56699A-EBBE-6E4E-9087-708D6E20BE37}" type="presOf" srcId="{E87567EB-AE4A-A241-BEB8-5B9928504848}" destId="{781E5521-9B3D-F84A-BA28-C6495F7EE932}" srcOrd="0" destOrd="0" presId="urn:microsoft.com/office/officeart/2008/layout/HorizontalMultiLevelHierarchy"/>
    <dgm:cxn modelId="{8CF2B1A1-42D3-7246-966A-3C59A6A14EF8}" type="presOf" srcId="{0F5F8947-EDF1-654C-A2C8-A42D04910762}" destId="{AB75FB0E-58D0-F047-AAEE-477100089962}" srcOrd="0" destOrd="0" presId="urn:microsoft.com/office/officeart/2008/layout/HorizontalMultiLevelHierarchy"/>
    <dgm:cxn modelId="{D767C7A2-4B39-B545-95EF-3B1065C22E45}" type="presOf" srcId="{6B14A5C5-630C-354D-91D7-860C4FAC771B}" destId="{E4A7EBE1-5D0F-014B-9308-98DB97BDDFD2}" srcOrd="1" destOrd="0" presId="urn:microsoft.com/office/officeart/2008/layout/HorizontalMultiLevelHierarchy"/>
    <dgm:cxn modelId="{6DB3C5A8-86F7-8243-8D4D-F28EC502C1FB}" type="presOf" srcId="{51ECA4C2-D61C-6047-80C9-665513FCA94E}" destId="{CDE5ED72-91B7-3F46-B83A-942A726C429C}" srcOrd="0" destOrd="0" presId="urn:microsoft.com/office/officeart/2008/layout/HorizontalMultiLevelHierarchy"/>
    <dgm:cxn modelId="{7675A0AC-2BC9-D84D-B720-2EDD59F539DD}" type="presOf" srcId="{23915D2C-229B-1B4D-8C85-97B5D68EF24F}" destId="{D7372326-9CAB-8048-916F-B28EC1B01EB9}" srcOrd="1" destOrd="0" presId="urn:microsoft.com/office/officeart/2008/layout/HorizontalMultiLevelHierarchy"/>
    <dgm:cxn modelId="{AEA1A2B8-D243-AE41-8847-773C62C6DF87}" type="presOf" srcId="{23915D2C-229B-1B4D-8C85-97B5D68EF24F}" destId="{3D86BC43-6A2C-5D4B-9CDE-B649D12B7CBB}" srcOrd="0" destOrd="0" presId="urn:microsoft.com/office/officeart/2008/layout/HorizontalMultiLevelHierarchy"/>
    <dgm:cxn modelId="{561789BE-4C62-B944-9739-28AD42CC7C4D}" srcId="{0D7DC934-59CE-0B46-866A-45196C1CA17C}" destId="{BD92A166-0E1C-974E-AA99-109FAA0128F3}" srcOrd="0" destOrd="0" parTransId="{DDE094F1-10FB-F041-A82C-384C32003AC0}" sibTransId="{739373DB-762F-AE4E-BDB1-2772D7E78099}"/>
    <dgm:cxn modelId="{EBC241C1-50E0-DC40-9C3F-199692B6F0A0}" type="presOf" srcId="{DA2BDEAB-6EF8-4443-9458-9D3AC4B2660A}" destId="{8F05567B-A87A-1841-95EC-DAABB27280ED}" srcOrd="0" destOrd="0" presId="urn:microsoft.com/office/officeart/2008/layout/HorizontalMultiLevelHierarchy"/>
    <dgm:cxn modelId="{EAB99ACA-76BE-5D4C-ADA5-84CC6968763D}" type="presOf" srcId="{20CC32FA-4D76-354A-ADF3-927D11F13AFF}" destId="{29816949-4669-794F-8A4B-4E0BDABC86DF}" srcOrd="0" destOrd="0" presId="urn:microsoft.com/office/officeart/2008/layout/HorizontalMultiLevelHierarchy"/>
    <dgm:cxn modelId="{94000CCB-9851-484C-A8CB-5382ECE810EA}" srcId="{0612ED66-A8FD-8E4C-BE21-FD9D51949AFD}" destId="{C3517F2A-9E47-CA47-95D4-5D3B25570F3D}" srcOrd="0" destOrd="0" parTransId="{23915D2C-229B-1B4D-8C85-97B5D68EF24F}" sibTransId="{BF882CBD-1529-0A42-8DFF-9C9500CED91F}"/>
    <dgm:cxn modelId="{2328D0D6-83C8-F04E-BEA8-438CFB8F2B12}" srcId="{71657A9D-1341-EC4E-A1CA-B48CB054B47E}" destId="{0D7DC934-59CE-0B46-866A-45196C1CA17C}" srcOrd="1" destOrd="0" parTransId="{59CBCEA3-BC1D-4D49-B9B1-B90A1CA6C1CE}" sibTransId="{2DC76BE1-8737-B546-A4A1-37546B382B75}"/>
    <dgm:cxn modelId="{0EF8FCDD-7CD2-6845-AE3A-1554D5035C47}" type="presOf" srcId="{0612ED66-A8FD-8E4C-BE21-FD9D51949AFD}" destId="{782F3250-C9FC-7A4D-B175-5D916AF9ECAA}" srcOrd="0" destOrd="0" presId="urn:microsoft.com/office/officeart/2008/layout/HorizontalMultiLevelHierarchy"/>
    <dgm:cxn modelId="{3E3751FC-24AD-8145-AFA7-F931C2C6695E}" type="presOf" srcId="{DDE094F1-10FB-F041-A82C-384C32003AC0}" destId="{CC48ECC1-A446-7F42-BA59-37407F71A9E1}" srcOrd="0" destOrd="0" presId="urn:microsoft.com/office/officeart/2008/layout/HorizontalMultiLevelHierarchy"/>
    <dgm:cxn modelId="{37F5A3FD-F81C-0D49-8179-8C79D280222E}" type="presOf" srcId="{0D7DC934-59CE-0B46-866A-45196C1CA17C}" destId="{1667819F-4315-E74B-A17C-E738C75A7661}" srcOrd="0" destOrd="0" presId="urn:microsoft.com/office/officeart/2008/layout/HorizontalMultiLevelHierarchy"/>
    <dgm:cxn modelId="{73A845D3-5329-1447-AE50-DE28C98196CD}" type="presParOf" srcId="{8B7D141D-093A-5B4D-8B3A-545DA9AF1174}" destId="{2EBFD6E3-3556-114D-AEF8-2972AA27B975}" srcOrd="0" destOrd="0" presId="urn:microsoft.com/office/officeart/2008/layout/HorizontalMultiLevelHierarchy"/>
    <dgm:cxn modelId="{C2DAABB4-EC0E-A047-96B5-CA61D2814E52}" type="presParOf" srcId="{2EBFD6E3-3556-114D-AEF8-2972AA27B975}" destId="{28F18D48-3F36-9946-8238-E18BF3986F43}" srcOrd="0" destOrd="0" presId="urn:microsoft.com/office/officeart/2008/layout/HorizontalMultiLevelHierarchy"/>
    <dgm:cxn modelId="{76456ED2-F938-6641-B5AA-8C93B2021BC2}" type="presParOf" srcId="{2EBFD6E3-3556-114D-AEF8-2972AA27B975}" destId="{BB224BC5-C243-2240-9C6C-5FB06DEDD9C7}" srcOrd="1" destOrd="0" presId="urn:microsoft.com/office/officeart/2008/layout/HorizontalMultiLevelHierarchy"/>
    <dgm:cxn modelId="{9C8E2287-DE3B-6645-95AC-6F402D06688E}" type="presParOf" srcId="{BB224BC5-C243-2240-9C6C-5FB06DEDD9C7}" destId="{20DFFDC5-1C43-2741-87D5-0C95C9B4DA2C}" srcOrd="0" destOrd="0" presId="urn:microsoft.com/office/officeart/2008/layout/HorizontalMultiLevelHierarchy"/>
    <dgm:cxn modelId="{DABD347C-434A-1A43-8F1F-F2B96DA4BD1C}" type="presParOf" srcId="{20DFFDC5-1C43-2741-87D5-0C95C9B4DA2C}" destId="{070446CF-156D-9A4D-BD2E-E012A32DFD34}" srcOrd="0" destOrd="0" presId="urn:microsoft.com/office/officeart/2008/layout/HorizontalMultiLevelHierarchy"/>
    <dgm:cxn modelId="{9FE7516D-6A80-0341-B5D2-F9454DA08820}" type="presParOf" srcId="{BB224BC5-C243-2240-9C6C-5FB06DEDD9C7}" destId="{3426436C-42A6-C345-908D-0972940B85FA}" srcOrd="1" destOrd="0" presId="urn:microsoft.com/office/officeart/2008/layout/HorizontalMultiLevelHierarchy"/>
    <dgm:cxn modelId="{240E2B85-D4FB-1C40-BAFB-CEC830580571}" type="presParOf" srcId="{3426436C-42A6-C345-908D-0972940B85FA}" destId="{40887F2C-F421-2744-8B9A-001D767F78CD}" srcOrd="0" destOrd="0" presId="urn:microsoft.com/office/officeart/2008/layout/HorizontalMultiLevelHierarchy"/>
    <dgm:cxn modelId="{91689766-F20F-CB4E-AABB-7A36BB6DCA28}" type="presParOf" srcId="{3426436C-42A6-C345-908D-0972940B85FA}" destId="{F6DCA857-C08C-D340-B60C-7A2263B12B15}" srcOrd="1" destOrd="0" presId="urn:microsoft.com/office/officeart/2008/layout/HorizontalMultiLevelHierarchy"/>
    <dgm:cxn modelId="{4F498D5D-02C5-F04B-8A5F-952851CB354C}" type="presParOf" srcId="{BB224BC5-C243-2240-9C6C-5FB06DEDD9C7}" destId="{B48B8D1B-E407-0342-96F8-A2F97486CB95}" srcOrd="2" destOrd="0" presId="urn:microsoft.com/office/officeart/2008/layout/HorizontalMultiLevelHierarchy"/>
    <dgm:cxn modelId="{4CF4A24E-9F32-EF41-998F-985B22E16F7D}" type="presParOf" srcId="{B48B8D1B-E407-0342-96F8-A2F97486CB95}" destId="{7DB24F1E-7DCE-4748-B0EA-E14602F778A9}" srcOrd="0" destOrd="0" presId="urn:microsoft.com/office/officeart/2008/layout/HorizontalMultiLevelHierarchy"/>
    <dgm:cxn modelId="{3165865D-05B1-2A41-84EF-8AF01868AF1F}" type="presParOf" srcId="{BB224BC5-C243-2240-9C6C-5FB06DEDD9C7}" destId="{199C7E40-DD2F-7745-8689-7A4E7F760626}" srcOrd="3" destOrd="0" presId="urn:microsoft.com/office/officeart/2008/layout/HorizontalMultiLevelHierarchy"/>
    <dgm:cxn modelId="{5BA46EA4-27DA-F348-8738-CBBA9F279AFC}" type="presParOf" srcId="{199C7E40-DD2F-7745-8689-7A4E7F760626}" destId="{1667819F-4315-E74B-A17C-E738C75A7661}" srcOrd="0" destOrd="0" presId="urn:microsoft.com/office/officeart/2008/layout/HorizontalMultiLevelHierarchy"/>
    <dgm:cxn modelId="{BE4D91B8-2A05-D547-B968-421B65939E87}" type="presParOf" srcId="{199C7E40-DD2F-7745-8689-7A4E7F760626}" destId="{38A26C26-22B1-5C4F-A922-4C8BCAB7F402}" srcOrd="1" destOrd="0" presId="urn:microsoft.com/office/officeart/2008/layout/HorizontalMultiLevelHierarchy"/>
    <dgm:cxn modelId="{377A3B12-615E-F54B-9D43-E305AC1CB743}" type="presParOf" srcId="{38A26C26-22B1-5C4F-A922-4C8BCAB7F402}" destId="{CC48ECC1-A446-7F42-BA59-37407F71A9E1}" srcOrd="0" destOrd="0" presId="urn:microsoft.com/office/officeart/2008/layout/HorizontalMultiLevelHierarchy"/>
    <dgm:cxn modelId="{9AA9CE31-3DAC-2146-9D0B-BCFEA7E71F72}" type="presParOf" srcId="{CC48ECC1-A446-7F42-BA59-37407F71A9E1}" destId="{FCD4C2BE-721A-5D4A-A5C6-86384CF6660A}" srcOrd="0" destOrd="0" presId="urn:microsoft.com/office/officeart/2008/layout/HorizontalMultiLevelHierarchy"/>
    <dgm:cxn modelId="{57243EF5-4E0F-8E41-A594-10FA1A6B95CD}" type="presParOf" srcId="{38A26C26-22B1-5C4F-A922-4C8BCAB7F402}" destId="{6AC23181-EBE8-734F-B696-673E91FEC397}" srcOrd="1" destOrd="0" presId="urn:microsoft.com/office/officeart/2008/layout/HorizontalMultiLevelHierarchy"/>
    <dgm:cxn modelId="{016AB984-A8F1-2C42-BAF8-3FA1752BEA40}" type="presParOf" srcId="{6AC23181-EBE8-734F-B696-673E91FEC397}" destId="{C94487DA-7BDC-6246-AFCC-8EE0B570A63F}" srcOrd="0" destOrd="0" presId="urn:microsoft.com/office/officeart/2008/layout/HorizontalMultiLevelHierarchy"/>
    <dgm:cxn modelId="{F1921D90-CAD7-BF4D-933D-0E23EEAED98B}" type="presParOf" srcId="{6AC23181-EBE8-734F-B696-673E91FEC397}" destId="{D532DBA3-87D6-094F-BD0E-8B3468C3BB82}" srcOrd="1" destOrd="0" presId="urn:microsoft.com/office/officeart/2008/layout/HorizontalMultiLevelHierarchy"/>
    <dgm:cxn modelId="{4529BE6A-778F-4E4B-835C-878A9B80F6FA}" type="presParOf" srcId="{38A26C26-22B1-5C4F-A922-4C8BCAB7F402}" destId="{066A3232-15B5-744A-820B-657DB4298B0E}" srcOrd="2" destOrd="0" presId="urn:microsoft.com/office/officeart/2008/layout/HorizontalMultiLevelHierarchy"/>
    <dgm:cxn modelId="{3423DCF4-0A72-2547-9FBA-23C977C4B93B}" type="presParOf" srcId="{066A3232-15B5-744A-820B-657DB4298B0E}" destId="{4BC63992-A861-D846-8D1A-5C635A045C33}" srcOrd="0" destOrd="0" presId="urn:microsoft.com/office/officeart/2008/layout/HorizontalMultiLevelHierarchy"/>
    <dgm:cxn modelId="{3D0B7EC3-4DFE-8A46-B52D-31C699EF53AE}" type="presParOf" srcId="{38A26C26-22B1-5C4F-A922-4C8BCAB7F402}" destId="{65C01BBA-85BF-6044-A7EF-BE0AC8BE877A}" srcOrd="3" destOrd="0" presId="urn:microsoft.com/office/officeart/2008/layout/HorizontalMultiLevelHierarchy"/>
    <dgm:cxn modelId="{399EFD37-5EAE-3743-A385-06BE59CFC9C5}" type="presParOf" srcId="{65C01BBA-85BF-6044-A7EF-BE0AC8BE877A}" destId="{AB75FB0E-58D0-F047-AAEE-477100089962}" srcOrd="0" destOrd="0" presId="urn:microsoft.com/office/officeart/2008/layout/HorizontalMultiLevelHierarchy"/>
    <dgm:cxn modelId="{F38E1B53-865D-424A-ADC1-41DD03223265}" type="presParOf" srcId="{65C01BBA-85BF-6044-A7EF-BE0AC8BE877A}" destId="{0E4470F7-6FA3-954C-AEE6-0D8998645FE7}" srcOrd="1" destOrd="0" presId="urn:microsoft.com/office/officeart/2008/layout/HorizontalMultiLevelHierarchy"/>
    <dgm:cxn modelId="{82E724D3-6EE0-304E-91DA-955174933902}" type="presParOf" srcId="{38A26C26-22B1-5C4F-A922-4C8BCAB7F402}" destId="{16AB4224-872D-0F4C-84FF-A491C6331244}" srcOrd="4" destOrd="0" presId="urn:microsoft.com/office/officeart/2008/layout/HorizontalMultiLevelHierarchy"/>
    <dgm:cxn modelId="{A30FD540-90FD-5D43-9C84-8E1547CDBA4F}" type="presParOf" srcId="{16AB4224-872D-0F4C-84FF-A491C6331244}" destId="{E4A7EBE1-5D0F-014B-9308-98DB97BDDFD2}" srcOrd="0" destOrd="0" presId="urn:microsoft.com/office/officeart/2008/layout/HorizontalMultiLevelHierarchy"/>
    <dgm:cxn modelId="{76700B2A-D3CC-D34A-8FFE-DBF8B01654E9}" type="presParOf" srcId="{38A26C26-22B1-5C4F-A922-4C8BCAB7F402}" destId="{6E555A71-D381-5942-B03D-C8F8A957879D}" srcOrd="5" destOrd="0" presId="urn:microsoft.com/office/officeart/2008/layout/HorizontalMultiLevelHierarchy"/>
    <dgm:cxn modelId="{F58C0EF2-D731-BC4D-8DC6-195AFECB1AA8}" type="presParOf" srcId="{6E555A71-D381-5942-B03D-C8F8A957879D}" destId="{CD18E77B-95AE-3A4A-967B-6CA1E2636F7C}" srcOrd="0" destOrd="0" presId="urn:microsoft.com/office/officeart/2008/layout/HorizontalMultiLevelHierarchy"/>
    <dgm:cxn modelId="{975222E2-A43F-9A4F-9630-FC08D14655CC}" type="presParOf" srcId="{6E555A71-D381-5942-B03D-C8F8A957879D}" destId="{83E5335F-7B03-374E-A2AD-4DA75357450F}" srcOrd="1" destOrd="0" presId="urn:microsoft.com/office/officeart/2008/layout/HorizontalMultiLevelHierarchy"/>
    <dgm:cxn modelId="{94C0CF93-1267-9840-BFFD-6D9B52AD137B}" type="presParOf" srcId="{38A26C26-22B1-5C4F-A922-4C8BCAB7F402}" destId="{C6E5AC3D-0CC1-C141-BF24-BE8FA0943BA2}" srcOrd="6" destOrd="0" presId="urn:microsoft.com/office/officeart/2008/layout/HorizontalMultiLevelHierarchy"/>
    <dgm:cxn modelId="{4016C705-1087-F04B-9EF6-19D33C0FC7A4}" type="presParOf" srcId="{C6E5AC3D-0CC1-C141-BF24-BE8FA0943BA2}" destId="{907028BC-06B8-2545-94DF-808E415E601A}" srcOrd="0" destOrd="0" presId="urn:microsoft.com/office/officeart/2008/layout/HorizontalMultiLevelHierarchy"/>
    <dgm:cxn modelId="{234EF9E4-06E2-6940-A07A-9CEAAF3917C8}" type="presParOf" srcId="{38A26C26-22B1-5C4F-A922-4C8BCAB7F402}" destId="{214905AF-E35B-8C45-9ECF-898663B23931}" srcOrd="7" destOrd="0" presId="urn:microsoft.com/office/officeart/2008/layout/HorizontalMultiLevelHierarchy"/>
    <dgm:cxn modelId="{150DF7C3-520A-7E44-B514-87F29A77FE1F}" type="presParOf" srcId="{214905AF-E35B-8C45-9ECF-898663B23931}" destId="{CDE5ED72-91B7-3F46-B83A-942A726C429C}" srcOrd="0" destOrd="0" presId="urn:microsoft.com/office/officeart/2008/layout/HorizontalMultiLevelHierarchy"/>
    <dgm:cxn modelId="{E2596660-D790-2F47-94EC-7468664217B1}" type="presParOf" srcId="{214905AF-E35B-8C45-9ECF-898663B23931}" destId="{6141FCF4-0C5B-F941-852C-0494AFD8DDA9}" srcOrd="1" destOrd="0" presId="urn:microsoft.com/office/officeart/2008/layout/HorizontalMultiLevelHierarchy"/>
    <dgm:cxn modelId="{9A81F788-BC1B-5944-A64C-179FA3997242}" type="presParOf" srcId="{38A26C26-22B1-5C4F-A922-4C8BCAB7F402}" destId="{29816949-4669-794F-8A4B-4E0BDABC86DF}" srcOrd="8" destOrd="0" presId="urn:microsoft.com/office/officeart/2008/layout/HorizontalMultiLevelHierarchy"/>
    <dgm:cxn modelId="{061AD483-2FCD-9949-8419-70D8C76F9002}" type="presParOf" srcId="{29816949-4669-794F-8A4B-4E0BDABC86DF}" destId="{38A2065A-71B3-4F41-9048-8699FE0158FB}" srcOrd="0" destOrd="0" presId="urn:microsoft.com/office/officeart/2008/layout/HorizontalMultiLevelHierarchy"/>
    <dgm:cxn modelId="{A2250346-AF37-F441-8027-20454117E79E}" type="presParOf" srcId="{38A26C26-22B1-5C4F-A922-4C8BCAB7F402}" destId="{288A8D07-D7A0-2645-81D9-DB3BA3A11324}" srcOrd="9" destOrd="0" presId="urn:microsoft.com/office/officeart/2008/layout/HorizontalMultiLevelHierarchy"/>
    <dgm:cxn modelId="{4680827A-C9B1-2A45-B361-9FE725998917}" type="presParOf" srcId="{288A8D07-D7A0-2645-81D9-DB3BA3A11324}" destId="{8F05567B-A87A-1841-95EC-DAABB27280ED}" srcOrd="0" destOrd="0" presId="urn:microsoft.com/office/officeart/2008/layout/HorizontalMultiLevelHierarchy"/>
    <dgm:cxn modelId="{AB608128-2E59-634D-85A5-F7C6DFFE57CC}" type="presParOf" srcId="{288A8D07-D7A0-2645-81D9-DB3BA3A11324}" destId="{682A4681-2DFB-7E44-B2D4-0FB5AA81593E}" srcOrd="1" destOrd="0" presId="urn:microsoft.com/office/officeart/2008/layout/HorizontalMultiLevelHierarchy"/>
    <dgm:cxn modelId="{1F1C3459-84E6-254F-BA9E-938662EADA04}" type="presParOf" srcId="{BB224BC5-C243-2240-9C6C-5FB06DEDD9C7}" destId="{CC5A8B8B-A888-0B43-B92B-5CCC511F5084}" srcOrd="4" destOrd="0" presId="urn:microsoft.com/office/officeart/2008/layout/HorizontalMultiLevelHierarchy"/>
    <dgm:cxn modelId="{B6A2D3B9-5718-A448-A7DB-05095E981AD5}" type="presParOf" srcId="{CC5A8B8B-A888-0B43-B92B-5CCC511F5084}" destId="{AF2C93A2-FBD0-8647-A6D7-C8AE62B3C725}" srcOrd="0" destOrd="0" presId="urn:microsoft.com/office/officeart/2008/layout/HorizontalMultiLevelHierarchy"/>
    <dgm:cxn modelId="{F2A5C009-6FFE-4046-AF9A-67D1DF435AB8}" type="presParOf" srcId="{BB224BC5-C243-2240-9C6C-5FB06DEDD9C7}" destId="{941057AC-7AF7-8A40-B99A-529641296EE7}" srcOrd="5" destOrd="0" presId="urn:microsoft.com/office/officeart/2008/layout/HorizontalMultiLevelHierarchy"/>
    <dgm:cxn modelId="{DC85DA45-2D15-B74D-89FC-69FC7BC4541F}" type="presParOf" srcId="{941057AC-7AF7-8A40-B99A-529641296EE7}" destId="{782F3250-C9FC-7A4D-B175-5D916AF9ECAA}" srcOrd="0" destOrd="0" presId="urn:microsoft.com/office/officeart/2008/layout/HorizontalMultiLevelHierarchy"/>
    <dgm:cxn modelId="{68701B52-A0F5-0846-BC3F-EE3472D2DB44}" type="presParOf" srcId="{941057AC-7AF7-8A40-B99A-529641296EE7}" destId="{99EE6D19-DB5D-3942-8B27-546880E4D395}" srcOrd="1" destOrd="0" presId="urn:microsoft.com/office/officeart/2008/layout/HorizontalMultiLevelHierarchy"/>
    <dgm:cxn modelId="{FA20DC0B-79EF-AD40-94B1-8F2138C0FDEF}" type="presParOf" srcId="{99EE6D19-DB5D-3942-8B27-546880E4D395}" destId="{3D86BC43-6A2C-5D4B-9CDE-B649D12B7CBB}" srcOrd="0" destOrd="0" presId="urn:microsoft.com/office/officeart/2008/layout/HorizontalMultiLevelHierarchy"/>
    <dgm:cxn modelId="{69887211-C94F-7C4F-BC72-CD93D0BDD961}" type="presParOf" srcId="{3D86BC43-6A2C-5D4B-9CDE-B649D12B7CBB}" destId="{D7372326-9CAB-8048-916F-B28EC1B01EB9}" srcOrd="0" destOrd="0" presId="urn:microsoft.com/office/officeart/2008/layout/HorizontalMultiLevelHierarchy"/>
    <dgm:cxn modelId="{E6CD710A-B897-134E-AE4B-88D13563418A}" type="presParOf" srcId="{99EE6D19-DB5D-3942-8B27-546880E4D395}" destId="{30B2720F-1C14-C342-B043-497030531100}" srcOrd="1" destOrd="0" presId="urn:microsoft.com/office/officeart/2008/layout/HorizontalMultiLevelHierarchy"/>
    <dgm:cxn modelId="{D70AFA7F-4CB4-3D4C-AC28-943757B2646A}" type="presParOf" srcId="{30B2720F-1C14-C342-B043-497030531100}" destId="{C3841330-6324-194D-A7D4-834ABB543DC3}" srcOrd="0" destOrd="0" presId="urn:microsoft.com/office/officeart/2008/layout/HorizontalMultiLevelHierarchy"/>
    <dgm:cxn modelId="{5C01F7A0-4438-334D-A965-2B1EC751EF07}" type="presParOf" srcId="{30B2720F-1C14-C342-B043-497030531100}" destId="{AFD9DD07-32E3-C04F-9C9A-C7B784043145}" srcOrd="1" destOrd="0" presId="urn:microsoft.com/office/officeart/2008/layout/HorizontalMultiLevelHierarchy"/>
    <dgm:cxn modelId="{BA9D05F4-39E7-C841-9964-12A5BAE92F50}" type="presParOf" srcId="{99EE6D19-DB5D-3942-8B27-546880E4D395}" destId="{781E5521-9B3D-F84A-BA28-C6495F7EE932}" srcOrd="2" destOrd="0" presId="urn:microsoft.com/office/officeart/2008/layout/HorizontalMultiLevelHierarchy"/>
    <dgm:cxn modelId="{A644C42E-9E1D-2141-9AA1-CA3669D9C35F}" type="presParOf" srcId="{781E5521-9B3D-F84A-BA28-C6495F7EE932}" destId="{226FD883-3EBE-314F-84C3-3B327B3D4B31}" srcOrd="0" destOrd="0" presId="urn:microsoft.com/office/officeart/2008/layout/HorizontalMultiLevelHierarchy"/>
    <dgm:cxn modelId="{776AF86E-AC28-D04A-A6A3-B8B392744EF4}" type="presParOf" srcId="{99EE6D19-DB5D-3942-8B27-546880E4D395}" destId="{105649FB-B034-6943-824E-5E08B0014A04}" srcOrd="3" destOrd="0" presId="urn:microsoft.com/office/officeart/2008/layout/HorizontalMultiLevelHierarchy"/>
    <dgm:cxn modelId="{4913066E-F005-EF4C-9336-F38E0194A263}" type="presParOf" srcId="{105649FB-B034-6943-824E-5E08B0014A04}" destId="{A9E8523C-122E-554C-8CC8-D7329AB0B51B}" srcOrd="0" destOrd="0" presId="urn:microsoft.com/office/officeart/2008/layout/HorizontalMultiLevelHierarchy"/>
    <dgm:cxn modelId="{EFDB9986-9BCE-4641-BBD9-3E493A5ABE13}" type="presParOf" srcId="{105649FB-B034-6943-824E-5E08B0014A04}" destId="{0EC13677-4DC2-FF43-84F1-C5E82932BFFE}"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A8E742-1D07-A64E-84DD-4A81A706FE66}">
      <dsp:nvSpPr>
        <dsp:cNvPr id="0" name=""/>
        <dsp:cNvSpPr/>
      </dsp:nvSpPr>
      <dsp:spPr>
        <a:xfrm>
          <a:off x="4435" y="0"/>
          <a:ext cx="852359" cy="852359"/>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E9C11BB-7FF8-EE4E-ADD5-563F745925C4}">
      <dsp:nvSpPr>
        <dsp:cNvPr id="0" name=""/>
        <dsp:cNvSpPr/>
      </dsp:nvSpPr>
      <dsp:spPr>
        <a:xfrm>
          <a:off x="89671" y="85235"/>
          <a:ext cx="681887" cy="681887"/>
        </a:xfrm>
        <a:prstGeom prst="chord">
          <a:avLst>
            <a:gd name="adj1" fmla="val 1168272"/>
            <a:gd name="adj2" fmla="val 9631728"/>
          </a:avLst>
        </a:prstGeom>
        <a:solidFill>
          <a:schemeClr val="accent5"/>
        </a:solidFill>
        <a:ln w="10795" cap="flat" cmpd="sng" algn="ctr">
          <a:solidFill>
            <a:schemeClr val="accent5"/>
          </a:solidFill>
          <a:prstDash val="solid"/>
        </a:ln>
        <a:effectLst/>
      </dsp:spPr>
      <dsp:style>
        <a:lnRef idx="2">
          <a:scrgbClr r="0" g="0" b="0"/>
        </a:lnRef>
        <a:fillRef idx="1">
          <a:scrgbClr r="0" g="0" b="0"/>
        </a:fillRef>
        <a:effectRef idx="0">
          <a:scrgbClr r="0" g="0" b="0"/>
        </a:effectRef>
        <a:fontRef idx="minor">
          <a:schemeClr val="lt1"/>
        </a:fontRef>
      </dsp:style>
    </dsp:sp>
    <dsp:sp modelId="{3A171F3C-AD86-F547-82DC-407FD6C176BA}">
      <dsp:nvSpPr>
        <dsp:cNvPr id="0" name=""/>
        <dsp:cNvSpPr/>
      </dsp:nvSpPr>
      <dsp:spPr>
        <a:xfrm>
          <a:off x="1034370" y="852359"/>
          <a:ext cx="2521564" cy="3587014"/>
        </a:xfrm>
        <a:prstGeom prst="rect">
          <a:avLst/>
        </a:prstGeom>
        <a:solidFill>
          <a:schemeClr val="bg1"/>
        </a:solidFill>
        <a:ln>
          <a:noFill/>
        </a:ln>
        <a:effectLst/>
      </dsp:spPr>
      <dsp:style>
        <a:lnRef idx="0">
          <a:scrgbClr r="0" g="0" b="0"/>
        </a:lnRef>
        <a:fillRef idx="0">
          <a:scrgbClr r="0" g="0" b="0"/>
        </a:fillRef>
        <a:effectRef idx="0">
          <a:scrgbClr r="0" g="0" b="0"/>
        </a:effectRef>
        <a:fontRef idx="minor"/>
      </dsp:style>
      <dsp:txBody>
        <a:bodyPr spcFirstLastPara="0" vert="horz" wrap="square" lIns="33020" tIns="33020" rIns="33020" bIns="33020" numCol="1" spcCol="1270" anchor="t" anchorCtr="0">
          <a:noAutofit/>
        </a:bodyPr>
        <a:lstStyle/>
        <a:p>
          <a:pPr marL="0" lvl="0" indent="0" algn="l" defTabSz="577850">
            <a:lnSpc>
              <a:spcPct val="90000"/>
            </a:lnSpc>
            <a:spcBef>
              <a:spcPct val="0"/>
            </a:spcBef>
            <a:spcAft>
              <a:spcPct val="35000"/>
            </a:spcAft>
            <a:buFont typeface="Arial" panose="020B0604020202020204" pitchFamily="34" charset="0"/>
            <a:buNone/>
          </a:pPr>
          <a:r>
            <a:rPr lang="en-US" sz="1300" b="0" i="0" kern="1200" dirty="0"/>
            <a:t>Present business case demonstrating </a:t>
          </a:r>
          <a:r>
            <a:rPr lang="en-US" sz="1300" b="1" i="0" kern="1200" dirty="0"/>
            <a:t>510-1,460% ROI</a:t>
          </a:r>
          <a:endParaRPr lang="en-US" sz="1300" kern="1200" dirty="0"/>
        </a:p>
        <a:p>
          <a:pPr marL="0" lvl="0" indent="0" algn="l" defTabSz="577850">
            <a:lnSpc>
              <a:spcPct val="90000"/>
            </a:lnSpc>
            <a:spcBef>
              <a:spcPct val="0"/>
            </a:spcBef>
            <a:spcAft>
              <a:spcPct val="35000"/>
            </a:spcAft>
            <a:buFont typeface="Arial" panose="020B0604020202020204" pitchFamily="34" charset="0"/>
            <a:buNone/>
          </a:pPr>
          <a:r>
            <a:rPr lang="en-US" sz="1300" b="0" i="0" kern="1200" dirty="0"/>
            <a:t>Demonstrate MVP capabilities with pre-built scenarios</a:t>
          </a:r>
        </a:p>
        <a:p>
          <a:pPr marL="0" lvl="0" indent="0" algn="l" defTabSz="577850">
            <a:lnSpc>
              <a:spcPct val="90000"/>
            </a:lnSpc>
            <a:spcBef>
              <a:spcPct val="0"/>
            </a:spcBef>
            <a:spcAft>
              <a:spcPct val="35000"/>
            </a:spcAft>
            <a:buFont typeface="Arial" panose="020B0604020202020204" pitchFamily="34" charset="0"/>
            <a:buNone/>
          </a:pPr>
          <a:r>
            <a:rPr lang="en-US" sz="1300" b="0" i="0" kern="1200" dirty="0"/>
            <a:t>Align on success metrics and 90-day pilot assessment criteria</a:t>
          </a:r>
        </a:p>
        <a:p>
          <a:pPr marL="0" lvl="0" indent="0" algn="l" defTabSz="577850">
            <a:lnSpc>
              <a:spcPct val="90000"/>
            </a:lnSpc>
            <a:spcBef>
              <a:spcPct val="0"/>
            </a:spcBef>
            <a:spcAft>
              <a:spcPct val="35000"/>
            </a:spcAft>
            <a:buFont typeface="Arial" panose="020B0604020202020204" pitchFamily="34" charset="0"/>
            <a:buNone/>
          </a:pPr>
          <a:r>
            <a:rPr lang="en-US" sz="1300" b="1" i="0" kern="1200" dirty="0">
              <a:solidFill>
                <a:schemeClr val="accent5"/>
              </a:solidFill>
            </a:rPr>
            <a:t>Decision</a:t>
          </a:r>
          <a:r>
            <a:rPr lang="en-US" sz="1300" b="0" i="0" kern="1200" dirty="0">
              <a:solidFill>
                <a:schemeClr val="accent5"/>
              </a:solidFill>
            </a:rPr>
            <a:t>: Get approval to move forward with the pilot</a:t>
          </a:r>
        </a:p>
      </dsp:txBody>
      <dsp:txXfrm>
        <a:off x="1034370" y="852359"/>
        <a:ext cx="2521564" cy="3587014"/>
      </dsp:txXfrm>
    </dsp:sp>
    <dsp:sp modelId="{06582C1D-F292-7246-AC4A-C845C4B7D6C2}">
      <dsp:nvSpPr>
        <dsp:cNvPr id="0" name=""/>
        <dsp:cNvSpPr/>
      </dsp:nvSpPr>
      <dsp:spPr>
        <a:xfrm>
          <a:off x="1034370" y="0"/>
          <a:ext cx="2521564" cy="852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l" defTabSz="933450">
            <a:lnSpc>
              <a:spcPct val="90000"/>
            </a:lnSpc>
            <a:spcBef>
              <a:spcPct val="0"/>
            </a:spcBef>
            <a:spcAft>
              <a:spcPct val="35000"/>
            </a:spcAft>
            <a:buNone/>
          </a:pPr>
          <a:r>
            <a:rPr lang="en-US" sz="2100" b="1" i="0" kern="1200" dirty="0"/>
            <a:t>Go/No Go &amp; </a:t>
          </a:r>
          <a:br>
            <a:rPr lang="en-US" sz="2100" b="1" i="0" kern="1200" dirty="0"/>
          </a:br>
          <a:r>
            <a:rPr lang="en-US" sz="2100" b="1" i="0" kern="1200" dirty="0"/>
            <a:t>Align Stakeholders</a:t>
          </a:r>
          <a:endParaRPr lang="en-US" sz="2100" kern="1200" dirty="0"/>
        </a:p>
      </dsp:txBody>
      <dsp:txXfrm>
        <a:off x="1034370" y="0"/>
        <a:ext cx="2521564" cy="852359"/>
      </dsp:txXfrm>
    </dsp:sp>
    <dsp:sp modelId="{0092D2EA-BCE4-B940-A6E0-3660CFD812D6}">
      <dsp:nvSpPr>
        <dsp:cNvPr id="0" name=""/>
        <dsp:cNvSpPr/>
      </dsp:nvSpPr>
      <dsp:spPr>
        <a:xfrm>
          <a:off x="3733510" y="0"/>
          <a:ext cx="852359" cy="852359"/>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FA93EFA-B924-A448-9EBF-9406CA6CEC46}">
      <dsp:nvSpPr>
        <dsp:cNvPr id="0" name=""/>
        <dsp:cNvSpPr/>
      </dsp:nvSpPr>
      <dsp:spPr>
        <a:xfrm>
          <a:off x="3818746" y="85235"/>
          <a:ext cx="681887" cy="681887"/>
        </a:xfrm>
        <a:prstGeom prst="chord">
          <a:avLst>
            <a:gd name="adj1" fmla="val 20431728"/>
            <a:gd name="adj2" fmla="val 11968272"/>
          </a:avLst>
        </a:prstGeom>
        <a:solidFill>
          <a:schemeClr val="accent3">
            <a:hueOff val="0"/>
            <a:satOff val="0"/>
            <a:lumOff val="0"/>
            <a:alphaOff val="0"/>
          </a:schemeClr>
        </a:solidFill>
        <a:ln w="1079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91F389B-B26D-0546-95D8-0CE268FC1656}">
      <dsp:nvSpPr>
        <dsp:cNvPr id="0" name=""/>
        <dsp:cNvSpPr/>
      </dsp:nvSpPr>
      <dsp:spPr>
        <a:xfrm>
          <a:off x="4763445" y="852359"/>
          <a:ext cx="2521564" cy="3587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020" tIns="33020" rIns="33020" bIns="33020" numCol="1" spcCol="1270" anchor="t" anchorCtr="0">
          <a:noAutofit/>
        </a:bodyPr>
        <a:lstStyle/>
        <a:p>
          <a:pPr marL="0" lvl="0" indent="0" algn="l" defTabSz="577850">
            <a:lnSpc>
              <a:spcPct val="90000"/>
            </a:lnSpc>
            <a:spcBef>
              <a:spcPct val="0"/>
            </a:spcBef>
            <a:spcAft>
              <a:spcPct val="35000"/>
            </a:spcAft>
            <a:buFont typeface="Arial" panose="020B0604020202020204" pitchFamily="34" charset="0"/>
            <a:buNone/>
          </a:pPr>
          <a:r>
            <a:rPr lang="en-US" sz="1300" b="0" i="0" kern="1200"/>
            <a:t>Select pilot Security Team for initial SDK deployment</a:t>
          </a:r>
          <a:endParaRPr lang="en-US" sz="1300" kern="1200" dirty="0"/>
        </a:p>
        <a:p>
          <a:pPr marL="0" lvl="0" indent="0" algn="l" defTabSz="577850">
            <a:lnSpc>
              <a:spcPct val="90000"/>
            </a:lnSpc>
            <a:spcBef>
              <a:spcPct val="0"/>
            </a:spcBef>
            <a:spcAft>
              <a:spcPct val="35000"/>
            </a:spcAft>
            <a:buFont typeface="Arial" panose="020B0604020202020204" pitchFamily="34" charset="0"/>
            <a:buNone/>
          </a:pPr>
          <a:r>
            <a:rPr lang="en-US" sz="1300" b="1" i="0" kern="1200"/>
            <a:t>Weeks 1-4</a:t>
          </a:r>
          <a:r>
            <a:rPr lang="en-US" sz="1300" b="0" i="0" kern="1200"/>
            <a:t>: Training and hands-on learning with the SDK</a:t>
          </a:r>
        </a:p>
        <a:p>
          <a:pPr marL="0" lvl="0" indent="0" algn="l" defTabSz="577850">
            <a:lnSpc>
              <a:spcPct val="90000"/>
            </a:lnSpc>
            <a:spcBef>
              <a:spcPct val="0"/>
            </a:spcBef>
            <a:spcAft>
              <a:spcPct val="35000"/>
            </a:spcAft>
            <a:buFont typeface="Arial" panose="020B0604020202020204" pitchFamily="34" charset="0"/>
            <a:buNone/>
          </a:pPr>
          <a:r>
            <a:rPr lang="en-US" sz="1300" b="1" i="0" kern="1200" dirty="0"/>
            <a:t>Weeks 5-8</a:t>
          </a:r>
          <a:r>
            <a:rPr lang="en-US" sz="1300" b="0" i="0" kern="1200" dirty="0"/>
            <a:t>: Security Team builds and tests custom workflows</a:t>
          </a:r>
        </a:p>
        <a:p>
          <a:pPr marL="0" lvl="0" indent="0" algn="l" defTabSz="577850">
            <a:lnSpc>
              <a:spcPct val="90000"/>
            </a:lnSpc>
            <a:spcBef>
              <a:spcPct val="0"/>
            </a:spcBef>
            <a:spcAft>
              <a:spcPct val="35000"/>
            </a:spcAft>
            <a:buFont typeface="Arial" panose="020B0604020202020204" pitchFamily="34" charset="0"/>
            <a:buNone/>
          </a:pPr>
          <a:r>
            <a:rPr lang="en-US" sz="1300" b="1" i="0" kern="1200"/>
            <a:t>Weeks 9-12</a:t>
          </a:r>
          <a:r>
            <a:rPr lang="en-US" sz="1300" b="0" i="0" kern="1200"/>
            <a:t>: Collect feedback, measure success metrics, iterate on agent behavior</a:t>
          </a:r>
        </a:p>
        <a:p>
          <a:pPr marL="0" lvl="0" indent="0" algn="l" defTabSz="577850">
            <a:lnSpc>
              <a:spcPct val="90000"/>
            </a:lnSpc>
            <a:spcBef>
              <a:spcPct val="0"/>
            </a:spcBef>
            <a:spcAft>
              <a:spcPct val="35000"/>
            </a:spcAft>
            <a:buFont typeface="Arial" panose="020B0604020202020204" pitchFamily="34" charset="0"/>
            <a:buNone/>
          </a:pPr>
          <a:r>
            <a:rPr lang="en-US" sz="1300" b="0" i="0" kern="1200"/>
            <a:t>Validate triage accuracy, MTTD improvements, and analyst productivity gains</a:t>
          </a:r>
        </a:p>
      </dsp:txBody>
      <dsp:txXfrm>
        <a:off x="4763445" y="852359"/>
        <a:ext cx="2521564" cy="3587014"/>
      </dsp:txXfrm>
    </dsp:sp>
    <dsp:sp modelId="{E3F148F2-AA4D-AB4E-8D84-7573629D198B}">
      <dsp:nvSpPr>
        <dsp:cNvPr id="0" name=""/>
        <dsp:cNvSpPr/>
      </dsp:nvSpPr>
      <dsp:spPr>
        <a:xfrm>
          <a:off x="4763445" y="0"/>
          <a:ext cx="2521564" cy="852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l" defTabSz="933450">
            <a:lnSpc>
              <a:spcPct val="90000"/>
            </a:lnSpc>
            <a:spcBef>
              <a:spcPct val="0"/>
            </a:spcBef>
            <a:spcAft>
              <a:spcPct val="35000"/>
            </a:spcAft>
            <a:buNone/>
          </a:pPr>
          <a:r>
            <a:rPr lang="en-US" sz="2100" b="1" i="0" kern="1200" dirty="0"/>
            <a:t>Launch the </a:t>
          </a:r>
          <a:br>
            <a:rPr lang="en-US" sz="2100" b="1" i="0" kern="1200" dirty="0"/>
          </a:br>
          <a:r>
            <a:rPr lang="en-US" sz="2100" b="1" i="0" kern="1200" dirty="0"/>
            <a:t>90-Day Pilot</a:t>
          </a:r>
          <a:endParaRPr lang="en-US" sz="2100" kern="1200" dirty="0"/>
        </a:p>
      </dsp:txBody>
      <dsp:txXfrm>
        <a:off x="4763445" y="0"/>
        <a:ext cx="2521564" cy="852359"/>
      </dsp:txXfrm>
    </dsp:sp>
    <dsp:sp modelId="{66A07B98-90B5-9943-A1E3-708E96095C5C}">
      <dsp:nvSpPr>
        <dsp:cNvPr id="0" name=""/>
        <dsp:cNvSpPr/>
      </dsp:nvSpPr>
      <dsp:spPr>
        <a:xfrm>
          <a:off x="7462584" y="0"/>
          <a:ext cx="852359" cy="852359"/>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F7A0FB8-1A2C-5A46-A769-78D83904E394}">
      <dsp:nvSpPr>
        <dsp:cNvPr id="0" name=""/>
        <dsp:cNvSpPr/>
      </dsp:nvSpPr>
      <dsp:spPr>
        <a:xfrm>
          <a:off x="7547820" y="85235"/>
          <a:ext cx="681887" cy="681887"/>
        </a:xfrm>
        <a:prstGeom prst="chord">
          <a:avLst>
            <a:gd name="adj1" fmla="val 16200000"/>
            <a:gd name="adj2" fmla="val 16200000"/>
          </a:avLst>
        </a:prstGeom>
        <a:solidFill>
          <a:schemeClr val="accent2"/>
        </a:solidFill>
        <a:ln w="1079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3418AB4-2F27-8448-9C85-869D816CF1C1}">
      <dsp:nvSpPr>
        <dsp:cNvPr id="0" name=""/>
        <dsp:cNvSpPr/>
      </dsp:nvSpPr>
      <dsp:spPr>
        <a:xfrm>
          <a:off x="8492519" y="852359"/>
          <a:ext cx="2521564" cy="35870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3020" tIns="33020" rIns="33020" bIns="33020" numCol="1" spcCol="1270" anchor="t" anchorCtr="0">
          <a:noAutofit/>
        </a:bodyPr>
        <a:lstStyle/>
        <a:p>
          <a:pPr marL="0" lvl="0" indent="0" algn="l" defTabSz="577850">
            <a:lnSpc>
              <a:spcPct val="90000"/>
            </a:lnSpc>
            <a:spcBef>
              <a:spcPct val="0"/>
            </a:spcBef>
            <a:spcAft>
              <a:spcPct val="35000"/>
            </a:spcAft>
            <a:buFont typeface="Arial" panose="020B0604020202020204" pitchFamily="34" charset="0"/>
            <a:buNone/>
          </a:pPr>
          <a:r>
            <a:rPr lang="en-US" sz="1300" b="0" i="0" kern="1200" dirty="0"/>
            <a:t>Validate production requirements and alert volumes with pilot learnings</a:t>
          </a:r>
          <a:endParaRPr lang="en-US" sz="1300" kern="1200" dirty="0"/>
        </a:p>
        <a:p>
          <a:pPr marL="0" lvl="0" indent="0" algn="l" defTabSz="577850">
            <a:lnSpc>
              <a:spcPct val="90000"/>
            </a:lnSpc>
            <a:spcBef>
              <a:spcPct val="0"/>
            </a:spcBef>
            <a:spcAft>
              <a:spcPct val="35000"/>
            </a:spcAft>
            <a:buFont typeface="Arial" panose="020B0604020202020204" pitchFamily="34" charset="0"/>
            <a:buNone/>
          </a:pPr>
          <a:r>
            <a:rPr lang="en-US" sz="1300" b="0" i="0" kern="1200" dirty="0"/>
            <a:t>Integrate SDK with production security streams (Microsoft Sentinel, Defender XDR, Entra ID)</a:t>
          </a:r>
        </a:p>
        <a:p>
          <a:pPr marL="0" lvl="0" indent="0" algn="l" defTabSz="577850">
            <a:lnSpc>
              <a:spcPct val="90000"/>
            </a:lnSpc>
            <a:spcBef>
              <a:spcPct val="0"/>
            </a:spcBef>
            <a:spcAft>
              <a:spcPct val="35000"/>
            </a:spcAft>
            <a:buFont typeface="Arial" panose="020B0604020202020204" pitchFamily="34" charset="0"/>
            <a:buNone/>
          </a:pPr>
          <a:r>
            <a:rPr lang="en-US" sz="1300" b="0" i="0" kern="1200"/>
            <a:t>Establish RBAC permissions and human-in-the-loop approval workflows</a:t>
          </a:r>
        </a:p>
        <a:p>
          <a:pPr marL="0" lvl="0" indent="0" algn="l" defTabSz="577850">
            <a:lnSpc>
              <a:spcPct val="90000"/>
            </a:lnSpc>
            <a:spcBef>
              <a:spcPct val="0"/>
            </a:spcBef>
            <a:spcAft>
              <a:spcPct val="35000"/>
            </a:spcAft>
            <a:buFont typeface="Arial" panose="020B0604020202020204" pitchFamily="34" charset="0"/>
            <a:buNone/>
          </a:pPr>
          <a:r>
            <a:rPr lang="en-US" sz="1300" b="0" i="0" kern="1200"/>
            <a:t>Define scalability and performance targets based on pilot data</a:t>
          </a:r>
        </a:p>
        <a:p>
          <a:pPr marL="0" lvl="0" indent="0" algn="l" defTabSz="577850">
            <a:lnSpc>
              <a:spcPct val="90000"/>
            </a:lnSpc>
            <a:spcBef>
              <a:spcPct val="0"/>
            </a:spcBef>
            <a:spcAft>
              <a:spcPct val="35000"/>
            </a:spcAft>
            <a:buFont typeface="Arial" panose="020B0604020202020204" pitchFamily="34" charset="0"/>
            <a:buNone/>
          </a:pPr>
          <a:r>
            <a:rPr lang="en-US" sz="1300" b="0" i="0" kern="1200" dirty="0"/>
            <a:t>Plan organization-wide</a:t>
          </a:r>
          <a:br>
            <a:rPr lang="en-US" sz="1300" b="0" i="0" kern="1200" dirty="0"/>
          </a:br>
          <a:r>
            <a:rPr lang="en-US" sz="1300" b="0" i="0" kern="1200" dirty="0"/>
            <a:t>rollout based on pilot results</a:t>
          </a:r>
        </a:p>
      </dsp:txBody>
      <dsp:txXfrm>
        <a:off x="8492519" y="852359"/>
        <a:ext cx="2521564" cy="3587014"/>
      </dsp:txXfrm>
    </dsp:sp>
    <dsp:sp modelId="{9E7DA07B-04AC-AC4B-9B44-41056AA59A3B}">
      <dsp:nvSpPr>
        <dsp:cNvPr id="0" name=""/>
        <dsp:cNvSpPr/>
      </dsp:nvSpPr>
      <dsp:spPr>
        <a:xfrm>
          <a:off x="8492519" y="0"/>
          <a:ext cx="2521564" cy="8523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3340" tIns="53340" rIns="53340" bIns="53340" numCol="1" spcCol="1270" anchor="b" anchorCtr="0">
          <a:noAutofit/>
        </a:bodyPr>
        <a:lstStyle/>
        <a:p>
          <a:pPr marL="0" lvl="0" indent="0" algn="l" defTabSz="933450">
            <a:lnSpc>
              <a:spcPct val="90000"/>
            </a:lnSpc>
            <a:spcBef>
              <a:spcPct val="0"/>
            </a:spcBef>
            <a:spcAft>
              <a:spcPct val="35000"/>
            </a:spcAft>
            <a:buNone/>
          </a:pPr>
          <a:r>
            <a:rPr lang="en-US" sz="2100" b="1" i="0" kern="1200" dirty="0"/>
            <a:t>Plan for </a:t>
          </a:r>
          <a:br>
            <a:rPr lang="en-US" sz="2100" b="1" i="0" kern="1200" dirty="0"/>
          </a:br>
          <a:r>
            <a:rPr lang="en-US" sz="2100" b="1" i="0" kern="1200" dirty="0"/>
            <a:t>Production</a:t>
          </a:r>
          <a:endParaRPr lang="en-US" sz="2100" kern="1200" dirty="0"/>
        </a:p>
      </dsp:txBody>
      <dsp:txXfrm>
        <a:off x="8492519" y="0"/>
        <a:ext cx="2521564" cy="85235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221AF-04DA-D84F-BC60-DE0B21DE4949}">
      <dsp:nvSpPr>
        <dsp:cNvPr id="0" name=""/>
        <dsp:cNvSpPr/>
      </dsp:nvSpPr>
      <dsp:spPr>
        <a:xfrm>
          <a:off x="0" y="243681"/>
          <a:ext cx="4969109" cy="437580"/>
        </a:xfrm>
        <a:prstGeom prst="roundRect">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Start with Researcher</a:t>
          </a:r>
        </a:p>
      </dsp:txBody>
      <dsp:txXfrm>
        <a:off x="21361" y="265042"/>
        <a:ext cx="4926387" cy="394858"/>
      </dsp:txXfrm>
    </dsp:sp>
    <dsp:sp modelId="{71B31505-A195-4945-ADD1-691EA6B591EC}">
      <dsp:nvSpPr>
        <dsp:cNvPr id="0" name=""/>
        <dsp:cNvSpPr/>
      </dsp:nvSpPr>
      <dsp:spPr>
        <a:xfrm>
          <a:off x="0" y="681261"/>
          <a:ext cx="4969109" cy="738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769"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kern="1200" dirty="0"/>
            <a:t>Write a report about Traditional Security Operations Centers.</a:t>
          </a:r>
        </a:p>
        <a:p>
          <a:pPr marL="114300" lvl="1" indent="-114300" algn="l" defTabSz="577850">
            <a:lnSpc>
              <a:spcPct val="90000"/>
            </a:lnSpc>
            <a:spcBef>
              <a:spcPct val="0"/>
            </a:spcBef>
            <a:spcAft>
              <a:spcPct val="20000"/>
            </a:spcAft>
            <a:buChar char="•"/>
          </a:pPr>
          <a:r>
            <a:rPr lang="en-US" sz="1300" kern="1200" dirty="0"/>
            <a:t>Find me credible security research datasets.</a:t>
          </a:r>
        </a:p>
        <a:p>
          <a:pPr marL="114300" lvl="1" indent="-114300" algn="l" defTabSz="577850">
            <a:lnSpc>
              <a:spcPct val="90000"/>
            </a:lnSpc>
            <a:spcBef>
              <a:spcPct val="0"/>
            </a:spcBef>
            <a:spcAft>
              <a:spcPct val="20000"/>
            </a:spcAft>
            <a:buChar char="•"/>
          </a:pPr>
          <a:r>
            <a:rPr lang="en-US" sz="1300" kern="1200" dirty="0"/>
            <a:t>Create a proposed approach for an Autonomous Agentic SOC.</a:t>
          </a:r>
        </a:p>
      </dsp:txBody>
      <dsp:txXfrm>
        <a:off x="0" y="681261"/>
        <a:ext cx="4969109" cy="738990"/>
      </dsp:txXfrm>
    </dsp:sp>
    <dsp:sp modelId="{34032029-931A-3C4B-B9F9-7C5A807935CC}">
      <dsp:nvSpPr>
        <dsp:cNvPr id="0" name=""/>
        <dsp:cNvSpPr/>
      </dsp:nvSpPr>
      <dsp:spPr>
        <a:xfrm>
          <a:off x="0" y="1420251"/>
          <a:ext cx="4969109" cy="437580"/>
        </a:xfrm>
        <a:prstGeom prst="roundRect">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dirty="0"/>
            <a:t>Constitutional Framework</a:t>
          </a:r>
        </a:p>
      </dsp:txBody>
      <dsp:txXfrm>
        <a:off x="21361" y="1441612"/>
        <a:ext cx="4926387" cy="394858"/>
      </dsp:txXfrm>
    </dsp:sp>
    <dsp:sp modelId="{F83AE67B-AE1D-5548-AE7F-502E8BC71F02}">
      <dsp:nvSpPr>
        <dsp:cNvPr id="0" name=""/>
        <dsp:cNvSpPr/>
      </dsp:nvSpPr>
      <dsp:spPr>
        <a:xfrm>
          <a:off x="0" y="1857832"/>
          <a:ext cx="4969109" cy="738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769" tIns="21590" rIns="120904" bIns="21590" numCol="1" spcCol="1270" anchor="t" anchorCtr="0">
          <a:noAutofit/>
        </a:bodyPr>
        <a:lstStyle/>
        <a:p>
          <a:pPr marL="114300" lvl="1" indent="-114300" algn="l" defTabSz="577850">
            <a:lnSpc>
              <a:spcPct val="90000"/>
            </a:lnSpc>
            <a:spcBef>
              <a:spcPct val="0"/>
            </a:spcBef>
            <a:spcAft>
              <a:spcPct val="20000"/>
            </a:spcAft>
            <a:buChar char="•"/>
          </a:pPr>
          <a:r>
            <a:rPr lang="en-US" sz="1300" b="0" i="0" kern="1200" dirty="0"/>
            <a:t>Established 8 core principles for agentic security operations</a:t>
          </a:r>
          <a:endParaRPr lang="en-US" sz="1300" kern="1200" dirty="0"/>
        </a:p>
        <a:p>
          <a:pPr marL="114300" lvl="1" indent="-114300" algn="l" defTabSz="577850">
            <a:lnSpc>
              <a:spcPct val="90000"/>
            </a:lnSpc>
            <a:spcBef>
              <a:spcPct val="0"/>
            </a:spcBef>
            <a:spcAft>
              <a:spcPct val="20000"/>
            </a:spcAft>
            <a:buFont typeface="Arial" panose="020B0604020202020204" pitchFamily="34" charset="0"/>
            <a:buChar char="•"/>
          </a:pPr>
          <a:r>
            <a:rPr lang="en-US" sz="1300" b="0" i="0" kern="1200"/>
            <a:t>Guided all architectural and implementation decisions</a:t>
          </a:r>
        </a:p>
        <a:p>
          <a:pPr marL="114300" lvl="1" indent="-114300" algn="l" defTabSz="577850">
            <a:lnSpc>
              <a:spcPct val="90000"/>
            </a:lnSpc>
            <a:spcBef>
              <a:spcPct val="0"/>
            </a:spcBef>
            <a:spcAft>
              <a:spcPct val="20000"/>
            </a:spcAft>
            <a:buFont typeface="Arial" panose="020B0604020202020204" pitchFamily="34" charset="0"/>
            <a:buChar char="•"/>
          </a:pPr>
          <a:r>
            <a:rPr lang="en-US" sz="1300" b="0" i="0" kern="1200"/>
            <a:t>Ensured consistency across agents and workflows</a:t>
          </a:r>
        </a:p>
      </dsp:txBody>
      <dsp:txXfrm>
        <a:off x="0" y="1857832"/>
        <a:ext cx="4969109" cy="738990"/>
      </dsp:txXfrm>
    </dsp:sp>
    <dsp:sp modelId="{44E32F4D-9B57-8A48-8068-4628636457FC}">
      <dsp:nvSpPr>
        <dsp:cNvPr id="0" name=""/>
        <dsp:cNvSpPr/>
      </dsp:nvSpPr>
      <dsp:spPr>
        <a:xfrm>
          <a:off x="0" y="2596821"/>
          <a:ext cx="4969109" cy="437580"/>
        </a:xfrm>
        <a:prstGeom prst="roundRect">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i="0" kern="1200"/>
            <a:t>Detailed Specifications</a:t>
          </a:r>
          <a:endParaRPr lang="en-US" sz="1700" kern="1200" dirty="0"/>
        </a:p>
      </dsp:txBody>
      <dsp:txXfrm>
        <a:off x="21361" y="2618182"/>
        <a:ext cx="4926387" cy="394858"/>
      </dsp:txXfrm>
    </dsp:sp>
    <dsp:sp modelId="{A06D5B8F-B8CE-884E-9C2C-C617403F6CA2}">
      <dsp:nvSpPr>
        <dsp:cNvPr id="0" name=""/>
        <dsp:cNvSpPr/>
      </dsp:nvSpPr>
      <dsp:spPr>
        <a:xfrm>
          <a:off x="0" y="3034402"/>
          <a:ext cx="4969109" cy="932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769" tIns="21590" rIns="120904" bIns="21590" numCol="1" spcCol="1270" anchor="t" anchorCtr="0">
          <a:noAutofit/>
        </a:bodyPr>
        <a:lstStyle/>
        <a:p>
          <a:pPr marL="114300" lvl="1" indent="-114300" algn="l" defTabSz="577850">
            <a:lnSpc>
              <a:spcPct val="90000"/>
            </a:lnSpc>
            <a:spcBef>
              <a:spcPct val="0"/>
            </a:spcBef>
            <a:spcAft>
              <a:spcPct val="20000"/>
            </a:spcAft>
            <a:buFont typeface="Arial" panose="020B0604020202020204" pitchFamily="34" charset="0"/>
            <a:buChar char="•"/>
          </a:pPr>
          <a:r>
            <a:rPr lang="en-US" sz="1300" b="0" i="0" kern="1200" dirty="0"/>
            <a:t>100% specification-driven development</a:t>
          </a:r>
          <a:endParaRPr lang="en-US" sz="1300" kern="1200" dirty="0"/>
        </a:p>
        <a:p>
          <a:pPr marL="114300" lvl="1" indent="-114300" algn="l" defTabSz="577850">
            <a:lnSpc>
              <a:spcPct val="90000"/>
            </a:lnSpc>
            <a:spcBef>
              <a:spcPct val="0"/>
            </a:spcBef>
            <a:spcAft>
              <a:spcPct val="20000"/>
            </a:spcAft>
            <a:buFont typeface="Arial" panose="020B0604020202020204" pitchFamily="34" charset="0"/>
            <a:buChar char="•"/>
          </a:pPr>
          <a:r>
            <a:rPr lang="en-US" sz="1300" b="0" i="0" kern="1200" dirty="0"/>
            <a:t>Clear separation of MVP vs. production requirements</a:t>
          </a:r>
        </a:p>
        <a:p>
          <a:pPr marL="114300" lvl="1" indent="-114300" algn="l" defTabSz="577850">
            <a:lnSpc>
              <a:spcPct val="90000"/>
            </a:lnSpc>
            <a:spcBef>
              <a:spcPct val="0"/>
            </a:spcBef>
            <a:spcAft>
              <a:spcPct val="20000"/>
            </a:spcAft>
            <a:buFont typeface="Arial" panose="020B0604020202020204" pitchFamily="34" charset="0"/>
            <a:buChar char="•"/>
          </a:pPr>
          <a:r>
            <a:rPr lang="en-US" sz="1300" b="0" i="0" kern="1200" dirty="0"/>
            <a:t>LLM-friendly: Focus on outcomes and constraints, not procedural logic</a:t>
          </a:r>
        </a:p>
      </dsp:txBody>
      <dsp:txXfrm>
        <a:off x="0" y="3034402"/>
        <a:ext cx="4969109" cy="9325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52DBDD-B270-B245-93A3-33E53D3D42C0}">
      <dsp:nvSpPr>
        <dsp:cNvPr id="0" name=""/>
        <dsp:cNvSpPr/>
      </dsp:nvSpPr>
      <dsp:spPr>
        <a:xfrm>
          <a:off x="0" y="228469"/>
          <a:ext cx="4965192" cy="437580"/>
        </a:xfrm>
        <a:prstGeom prst="roundRect">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i="0" kern="1200" dirty="0"/>
            <a:t>Spike-Driven Discovery</a:t>
          </a:r>
          <a:endParaRPr lang="en-US" sz="1700" kern="1200" dirty="0"/>
        </a:p>
      </dsp:txBody>
      <dsp:txXfrm>
        <a:off x="21361" y="249830"/>
        <a:ext cx="4922470" cy="394858"/>
      </dsp:txXfrm>
    </dsp:sp>
    <dsp:sp modelId="{F8ADAAA2-E053-024C-9905-2E2ADB4A8524}">
      <dsp:nvSpPr>
        <dsp:cNvPr id="0" name=""/>
        <dsp:cNvSpPr/>
      </dsp:nvSpPr>
      <dsp:spPr>
        <a:xfrm>
          <a:off x="0" y="666049"/>
          <a:ext cx="4965192" cy="738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645" tIns="21590" rIns="120904" bIns="21590" numCol="1" spcCol="1270" anchor="t" anchorCtr="0">
          <a:noAutofit/>
        </a:bodyPr>
        <a:lstStyle/>
        <a:p>
          <a:pPr marL="114300" lvl="1" indent="-114300" algn="l" defTabSz="577850">
            <a:lnSpc>
              <a:spcPct val="90000"/>
            </a:lnSpc>
            <a:spcBef>
              <a:spcPct val="0"/>
            </a:spcBef>
            <a:spcAft>
              <a:spcPct val="20000"/>
            </a:spcAft>
            <a:buFont typeface="Arial" panose="020B0604020202020204" pitchFamily="34" charset="0"/>
            <a:buChar char="•"/>
          </a:pPr>
          <a:r>
            <a:rPr lang="en-US" sz="1300" b="0" i="0" kern="1200" dirty="0"/>
            <a:t>Validated Microsoft Foundry capabilities via research tasks</a:t>
          </a:r>
          <a:endParaRPr lang="en-US" sz="1300" kern="1200" dirty="0"/>
        </a:p>
        <a:p>
          <a:pPr marL="114300" lvl="1" indent="-114300" algn="l" defTabSz="577850">
            <a:lnSpc>
              <a:spcPct val="90000"/>
            </a:lnSpc>
            <a:spcBef>
              <a:spcPct val="0"/>
            </a:spcBef>
            <a:spcAft>
              <a:spcPct val="20000"/>
            </a:spcAft>
            <a:buFont typeface="Arial" panose="020B0604020202020204" pitchFamily="34" charset="0"/>
            <a:buChar char="•"/>
          </a:pPr>
          <a:r>
            <a:rPr lang="en-US" sz="1300" b="0" i="0" kern="1200" dirty="0"/>
            <a:t>Explored agent lifecycle, orchestration, RAG patterns</a:t>
          </a:r>
        </a:p>
        <a:p>
          <a:pPr marL="114300" lvl="1" indent="-114300" algn="l" defTabSz="577850">
            <a:lnSpc>
              <a:spcPct val="90000"/>
            </a:lnSpc>
            <a:spcBef>
              <a:spcPct val="0"/>
            </a:spcBef>
            <a:spcAft>
              <a:spcPct val="20000"/>
            </a:spcAft>
            <a:buFont typeface="Arial" panose="020B0604020202020204" pitchFamily="34" charset="0"/>
            <a:buChar char="•"/>
          </a:pPr>
          <a:r>
            <a:rPr lang="en-US" sz="1300" b="0" i="0" kern="1200" dirty="0"/>
            <a:t>Documented learnings and corrections</a:t>
          </a:r>
        </a:p>
      </dsp:txBody>
      <dsp:txXfrm>
        <a:off x="0" y="666049"/>
        <a:ext cx="4965192" cy="738990"/>
      </dsp:txXfrm>
    </dsp:sp>
    <dsp:sp modelId="{AC9B2C8C-E149-704E-BF97-F6FB47962340}">
      <dsp:nvSpPr>
        <dsp:cNvPr id="0" name=""/>
        <dsp:cNvSpPr/>
      </dsp:nvSpPr>
      <dsp:spPr>
        <a:xfrm>
          <a:off x="0" y="1405039"/>
          <a:ext cx="4965192" cy="437580"/>
        </a:xfrm>
        <a:prstGeom prst="roundRect">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i="0" kern="1200" dirty="0"/>
            <a:t>GitHub Copilot Agent Collaboration</a:t>
          </a:r>
          <a:endParaRPr lang="en-US" sz="1700" b="0" i="0" kern="1200" dirty="0"/>
        </a:p>
      </dsp:txBody>
      <dsp:txXfrm>
        <a:off x="21361" y="1426400"/>
        <a:ext cx="4922470" cy="394858"/>
      </dsp:txXfrm>
    </dsp:sp>
    <dsp:sp modelId="{5B23AC69-8F9A-C44F-8B61-D6F0D3361F9F}">
      <dsp:nvSpPr>
        <dsp:cNvPr id="0" name=""/>
        <dsp:cNvSpPr/>
      </dsp:nvSpPr>
      <dsp:spPr>
        <a:xfrm>
          <a:off x="0" y="1842619"/>
          <a:ext cx="4965192" cy="7389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645" tIns="21590" rIns="120904" bIns="21590" numCol="1" spcCol="1270" anchor="t" anchorCtr="0">
          <a:noAutofit/>
        </a:bodyPr>
        <a:lstStyle/>
        <a:p>
          <a:pPr marL="114300" lvl="1" indent="-114300" algn="l" defTabSz="577850">
            <a:lnSpc>
              <a:spcPct val="90000"/>
            </a:lnSpc>
            <a:spcBef>
              <a:spcPct val="0"/>
            </a:spcBef>
            <a:spcAft>
              <a:spcPct val="20000"/>
            </a:spcAft>
            <a:buFont typeface="Arial" panose="020B0604020202020204" pitchFamily="34" charset="0"/>
            <a:buChar char="•"/>
          </a:pPr>
          <a:r>
            <a:rPr lang="en-US" sz="1300" b="0" i="0" kern="1200" dirty="0"/>
            <a:t>Custom agents for Python code editing, architecture review</a:t>
          </a:r>
          <a:endParaRPr lang="en-US" sz="1300" kern="1200" dirty="0"/>
        </a:p>
        <a:p>
          <a:pPr marL="114300" lvl="1" indent="-114300" algn="l" defTabSz="577850">
            <a:lnSpc>
              <a:spcPct val="90000"/>
            </a:lnSpc>
            <a:spcBef>
              <a:spcPct val="0"/>
            </a:spcBef>
            <a:spcAft>
              <a:spcPct val="20000"/>
            </a:spcAft>
            <a:buFont typeface="Arial" panose="020B0604020202020204" pitchFamily="34" charset="0"/>
            <a:buChar char="•"/>
          </a:pPr>
          <a:r>
            <a:rPr lang="en-US" sz="1300" b="0" i="0" kern="1200"/>
            <a:t>AI-generated infrastructure deployment scripts</a:t>
          </a:r>
        </a:p>
        <a:p>
          <a:pPr marL="114300" lvl="1" indent="-114300" algn="l" defTabSz="577850">
            <a:lnSpc>
              <a:spcPct val="90000"/>
            </a:lnSpc>
            <a:spcBef>
              <a:spcPct val="0"/>
            </a:spcBef>
            <a:spcAft>
              <a:spcPct val="20000"/>
            </a:spcAft>
            <a:buFont typeface="Arial" panose="020B0604020202020204" pitchFamily="34" charset="0"/>
            <a:buChar char="•"/>
          </a:pPr>
          <a:r>
            <a:rPr lang="en-US" sz="1300" b="0" i="0" kern="1200" dirty="0"/>
            <a:t>Prompt-based agent definition and testing</a:t>
          </a:r>
        </a:p>
      </dsp:txBody>
      <dsp:txXfrm>
        <a:off x="0" y="1842619"/>
        <a:ext cx="4965192" cy="738990"/>
      </dsp:txXfrm>
    </dsp:sp>
    <dsp:sp modelId="{CCD2B6F0-DEB7-334B-9B15-122AC312899D}">
      <dsp:nvSpPr>
        <dsp:cNvPr id="0" name=""/>
        <dsp:cNvSpPr/>
      </dsp:nvSpPr>
      <dsp:spPr>
        <a:xfrm>
          <a:off x="0" y="2581609"/>
          <a:ext cx="4965192" cy="437580"/>
        </a:xfrm>
        <a:prstGeom prst="roundRect">
          <a:avLst/>
        </a:prstGeom>
        <a:solidFill>
          <a:schemeClr val="accent2">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i="0" kern="1200" dirty="0"/>
            <a:t>Continuous Learning &amp; Iteration</a:t>
          </a:r>
          <a:endParaRPr lang="en-US" sz="1700" kern="1200" dirty="0"/>
        </a:p>
      </dsp:txBody>
      <dsp:txXfrm>
        <a:off x="21361" y="2602970"/>
        <a:ext cx="4922470" cy="394858"/>
      </dsp:txXfrm>
    </dsp:sp>
    <dsp:sp modelId="{C67A3039-9406-204B-BC19-A56865D3B031}">
      <dsp:nvSpPr>
        <dsp:cNvPr id="0" name=""/>
        <dsp:cNvSpPr/>
      </dsp:nvSpPr>
      <dsp:spPr>
        <a:xfrm>
          <a:off x="0" y="3019189"/>
          <a:ext cx="4965192" cy="967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7645" tIns="21590" rIns="120904" bIns="21590" numCol="1" spcCol="1270" anchor="t" anchorCtr="0">
          <a:noAutofit/>
        </a:bodyPr>
        <a:lstStyle/>
        <a:p>
          <a:pPr marL="114300" lvl="1" indent="-114300" algn="l" defTabSz="577850">
            <a:lnSpc>
              <a:spcPct val="90000"/>
            </a:lnSpc>
            <a:spcBef>
              <a:spcPct val="0"/>
            </a:spcBef>
            <a:spcAft>
              <a:spcPct val="20000"/>
            </a:spcAft>
            <a:buFont typeface="Arial" panose="020B0604020202020204" pitchFamily="34" charset="0"/>
            <a:buChar char="•"/>
          </a:pPr>
          <a:r>
            <a:rPr lang="en-US" sz="1300" b="0" i="0" kern="1200" dirty="0"/>
            <a:t>Documented critical learnings: "Use platform-native patterns"</a:t>
          </a:r>
          <a:endParaRPr lang="en-US" sz="1300" kern="1200" dirty="0"/>
        </a:p>
        <a:p>
          <a:pPr marL="114300" lvl="1" indent="-114300" algn="l" defTabSz="577850">
            <a:lnSpc>
              <a:spcPct val="90000"/>
            </a:lnSpc>
            <a:spcBef>
              <a:spcPct val="0"/>
            </a:spcBef>
            <a:spcAft>
              <a:spcPct val="20000"/>
            </a:spcAft>
            <a:buFont typeface="Arial" panose="020B0604020202020204" pitchFamily="34" charset="0"/>
            <a:buChar char="•"/>
          </a:pPr>
          <a:r>
            <a:rPr lang="en-US" sz="1300" kern="1200" dirty="0"/>
            <a:t>“Review PR feedback and document corrections”</a:t>
          </a:r>
        </a:p>
        <a:p>
          <a:pPr marL="114300" lvl="1" indent="-114300" algn="l" defTabSz="577850">
            <a:lnSpc>
              <a:spcPct val="90000"/>
            </a:lnSpc>
            <a:spcBef>
              <a:spcPct val="0"/>
            </a:spcBef>
            <a:spcAft>
              <a:spcPct val="20000"/>
            </a:spcAft>
            <a:buFont typeface="Arial" panose="020B0604020202020204" pitchFamily="34" charset="0"/>
            <a:buChar char="•"/>
          </a:pPr>
          <a:r>
            <a:rPr lang="en-US" sz="1300" b="0" i="0" kern="1200" dirty="0"/>
            <a:t>"Flexible concepts over rigid schemas" (90KB → 25KB)</a:t>
          </a:r>
        </a:p>
        <a:p>
          <a:pPr marL="114300" lvl="1" indent="-114300" algn="l" defTabSz="577850">
            <a:lnSpc>
              <a:spcPct val="90000"/>
            </a:lnSpc>
            <a:spcBef>
              <a:spcPct val="0"/>
            </a:spcBef>
            <a:spcAft>
              <a:spcPct val="20000"/>
            </a:spcAft>
            <a:buFont typeface="Arial" panose="020B0604020202020204" pitchFamily="34" charset="0"/>
            <a:buChar char="•"/>
          </a:pPr>
          <a:r>
            <a:rPr lang="en-US" sz="1300" b="0" i="0" kern="1200"/>
            <a:t>Applied learnings to optimize future development</a:t>
          </a:r>
        </a:p>
      </dsp:txBody>
      <dsp:txXfrm>
        <a:off x="0" y="3019189"/>
        <a:ext cx="4965192" cy="96772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1E5521-9B3D-F84A-BA28-C6495F7EE932}">
      <dsp:nvSpPr>
        <dsp:cNvPr id="0" name=""/>
        <dsp:cNvSpPr/>
      </dsp:nvSpPr>
      <dsp:spPr>
        <a:xfrm>
          <a:off x="2841829" y="4120624"/>
          <a:ext cx="366507" cy="349187"/>
        </a:xfrm>
        <a:custGeom>
          <a:avLst/>
          <a:gdLst/>
          <a:ahLst/>
          <a:cxnLst/>
          <a:rect l="0" t="0" r="0" b="0"/>
          <a:pathLst>
            <a:path>
              <a:moveTo>
                <a:pt x="0" y="0"/>
              </a:moveTo>
              <a:lnTo>
                <a:pt x="183253" y="0"/>
              </a:lnTo>
              <a:lnTo>
                <a:pt x="183253" y="349187"/>
              </a:lnTo>
              <a:lnTo>
                <a:pt x="366507" y="349187"/>
              </a:lnTo>
            </a:path>
          </a:pathLst>
        </a:custGeom>
        <a:noFill/>
        <a:ln w="10795"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12427" y="4282562"/>
        <a:ext cx="25311" cy="25311"/>
      </dsp:txXfrm>
    </dsp:sp>
    <dsp:sp modelId="{3D86BC43-6A2C-5D4B-9CDE-B649D12B7CBB}">
      <dsp:nvSpPr>
        <dsp:cNvPr id="0" name=""/>
        <dsp:cNvSpPr/>
      </dsp:nvSpPr>
      <dsp:spPr>
        <a:xfrm>
          <a:off x="2841829" y="3771436"/>
          <a:ext cx="366507" cy="349187"/>
        </a:xfrm>
        <a:custGeom>
          <a:avLst/>
          <a:gdLst/>
          <a:ahLst/>
          <a:cxnLst/>
          <a:rect l="0" t="0" r="0" b="0"/>
          <a:pathLst>
            <a:path>
              <a:moveTo>
                <a:pt x="0" y="349187"/>
              </a:moveTo>
              <a:lnTo>
                <a:pt x="183253" y="349187"/>
              </a:lnTo>
              <a:lnTo>
                <a:pt x="183253" y="0"/>
              </a:lnTo>
              <a:lnTo>
                <a:pt x="366507" y="0"/>
              </a:lnTo>
            </a:path>
          </a:pathLst>
        </a:custGeom>
        <a:noFill/>
        <a:ln w="10795"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12427" y="3933374"/>
        <a:ext cx="25311" cy="25311"/>
      </dsp:txXfrm>
    </dsp:sp>
    <dsp:sp modelId="{CC5A8B8B-A888-0B43-B92B-5CCC511F5084}">
      <dsp:nvSpPr>
        <dsp:cNvPr id="0" name=""/>
        <dsp:cNvSpPr/>
      </dsp:nvSpPr>
      <dsp:spPr>
        <a:xfrm>
          <a:off x="642784" y="2549279"/>
          <a:ext cx="366507" cy="1571344"/>
        </a:xfrm>
        <a:custGeom>
          <a:avLst/>
          <a:gdLst/>
          <a:ahLst/>
          <a:cxnLst/>
          <a:rect l="0" t="0" r="0" b="0"/>
          <a:pathLst>
            <a:path>
              <a:moveTo>
                <a:pt x="0" y="0"/>
              </a:moveTo>
              <a:lnTo>
                <a:pt x="183253" y="0"/>
              </a:lnTo>
              <a:lnTo>
                <a:pt x="183253" y="1571344"/>
              </a:lnTo>
              <a:lnTo>
                <a:pt x="366507" y="1571344"/>
              </a:lnTo>
            </a:path>
          </a:pathLst>
        </a:custGeom>
        <a:noFill/>
        <a:ln w="1079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85700" y="3294613"/>
        <a:ext cx="80676" cy="80676"/>
      </dsp:txXfrm>
    </dsp:sp>
    <dsp:sp modelId="{29816949-4669-794F-8A4B-4E0BDABC86DF}">
      <dsp:nvSpPr>
        <dsp:cNvPr id="0" name=""/>
        <dsp:cNvSpPr/>
      </dsp:nvSpPr>
      <dsp:spPr>
        <a:xfrm>
          <a:off x="2841829" y="1676309"/>
          <a:ext cx="366507" cy="1396751"/>
        </a:xfrm>
        <a:custGeom>
          <a:avLst/>
          <a:gdLst/>
          <a:ahLst/>
          <a:cxnLst/>
          <a:rect l="0" t="0" r="0" b="0"/>
          <a:pathLst>
            <a:path>
              <a:moveTo>
                <a:pt x="0" y="0"/>
              </a:moveTo>
              <a:lnTo>
                <a:pt x="183253" y="0"/>
              </a:lnTo>
              <a:lnTo>
                <a:pt x="183253" y="1396751"/>
              </a:lnTo>
              <a:lnTo>
                <a:pt x="366507" y="1396751"/>
              </a:lnTo>
            </a:path>
          </a:pathLst>
        </a:custGeom>
        <a:noFill/>
        <a:ln w="10795"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88982" y="2338584"/>
        <a:ext cx="72201" cy="72201"/>
      </dsp:txXfrm>
    </dsp:sp>
    <dsp:sp modelId="{C6E5AC3D-0CC1-C141-BF24-BE8FA0943BA2}">
      <dsp:nvSpPr>
        <dsp:cNvPr id="0" name=""/>
        <dsp:cNvSpPr/>
      </dsp:nvSpPr>
      <dsp:spPr>
        <a:xfrm>
          <a:off x="2841829" y="1676309"/>
          <a:ext cx="366507" cy="698375"/>
        </a:xfrm>
        <a:custGeom>
          <a:avLst/>
          <a:gdLst/>
          <a:ahLst/>
          <a:cxnLst/>
          <a:rect l="0" t="0" r="0" b="0"/>
          <a:pathLst>
            <a:path>
              <a:moveTo>
                <a:pt x="0" y="0"/>
              </a:moveTo>
              <a:lnTo>
                <a:pt x="183253" y="0"/>
              </a:lnTo>
              <a:lnTo>
                <a:pt x="183253" y="698375"/>
              </a:lnTo>
              <a:lnTo>
                <a:pt x="366507" y="698375"/>
              </a:lnTo>
            </a:path>
          </a:pathLst>
        </a:custGeom>
        <a:noFill/>
        <a:ln w="10795"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05365" y="2005780"/>
        <a:ext cx="39435" cy="39435"/>
      </dsp:txXfrm>
    </dsp:sp>
    <dsp:sp modelId="{16AB4224-872D-0F4C-84FF-A491C6331244}">
      <dsp:nvSpPr>
        <dsp:cNvPr id="0" name=""/>
        <dsp:cNvSpPr/>
      </dsp:nvSpPr>
      <dsp:spPr>
        <a:xfrm>
          <a:off x="2841829" y="1630589"/>
          <a:ext cx="366507" cy="91440"/>
        </a:xfrm>
        <a:custGeom>
          <a:avLst/>
          <a:gdLst/>
          <a:ahLst/>
          <a:cxnLst/>
          <a:rect l="0" t="0" r="0" b="0"/>
          <a:pathLst>
            <a:path>
              <a:moveTo>
                <a:pt x="0" y="45720"/>
              </a:moveTo>
              <a:lnTo>
                <a:pt x="366507" y="45720"/>
              </a:lnTo>
            </a:path>
          </a:pathLst>
        </a:custGeom>
        <a:noFill/>
        <a:ln w="10795"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15920" y="1667147"/>
        <a:ext cx="18325" cy="18325"/>
      </dsp:txXfrm>
    </dsp:sp>
    <dsp:sp modelId="{066A3232-15B5-744A-820B-657DB4298B0E}">
      <dsp:nvSpPr>
        <dsp:cNvPr id="0" name=""/>
        <dsp:cNvSpPr/>
      </dsp:nvSpPr>
      <dsp:spPr>
        <a:xfrm>
          <a:off x="2841829" y="977934"/>
          <a:ext cx="366507" cy="698375"/>
        </a:xfrm>
        <a:custGeom>
          <a:avLst/>
          <a:gdLst/>
          <a:ahLst/>
          <a:cxnLst/>
          <a:rect l="0" t="0" r="0" b="0"/>
          <a:pathLst>
            <a:path>
              <a:moveTo>
                <a:pt x="0" y="698375"/>
              </a:moveTo>
              <a:lnTo>
                <a:pt x="183253" y="698375"/>
              </a:lnTo>
              <a:lnTo>
                <a:pt x="183253" y="0"/>
              </a:lnTo>
              <a:lnTo>
                <a:pt x="366507" y="0"/>
              </a:lnTo>
            </a:path>
          </a:pathLst>
        </a:custGeom>
        <a:noFill/>
        <a:ln w="10795"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005365" y="1307404"/>
        <a:ext cx="39435" cy="39435"/>
      </dsp:txXfrm>
    </dsp:sp>
    <dsp:sp modelId="{CC48ECC1-A446-7F42-BA59-37407F71A9E1}">
      <dsp:nvSpPr>
        <dsp:cNvPr id="0" name=""/>
        <dsp:cNvSpPr/>
      </dsp:nvSpPr>
      <dsp:spPr>
        <a:xfrm>
          <a:off x="2841829" y="279558"/>
          <a:ext cx="366507" cy="1396751"/>
        </a:xfrm>
        <a:custGeom>
          <a:avLst/>
          <a:gdLst/>
          <a:ahLst/>
          <a:cxnLst/>
          <a:rect l="0" t="0" r="0" b="0"/>
          <a:pathLst>
            <a:path>
              <a:moveTo>
                <a:pt x="0" y="1396751"/>
              </a:moveTo>
              <a:lnTo>
                <a:pt x="183253" y="1396751"/>
              </a:lnTo>
              <a:lnTo>
                <a:pt x="183253" y="0"/>
              </a:lnTo>
              <a:lnTo>
                <a:pt x="366507" y="0"/>
              </a:lnTo>
            </a:path>
          </a:pathLst>
        </a:custGeom>
        <a:noFill/>
        <a:ln w="10795" cap="flat" cmpd="sng" algn="ctr">
          <a:solidFill>
            <a:schemeClr val="accent4">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988982" y="941833"/>
        <a:ext cx="72201" cy="72201"/>
      </dsp:txXfrm>
    </dsp:sp>
    <dsp:sp modelId="{B48B8D1B-E407-0342-96F8-A2F97486CB95}">
      <dsp:nvSpPr>
        <dsp:cNvPr id="0" name=""/>
        <dsp:cNvSpPr/>
      </dsp:nvSpPr>
      <dsp:spPr>
        <a:xfrm>
          <a:off x="642784" y="1676309"/>
          <a:ext cx="366507" cy="872969"/>
        </a:xfrm>
        <a:custGeom>
          <a:avLst/>
          <a:gdLst/>
          <a:ahLst/>
          <a:cxnLst/>
          <a:rect l="0" t="0" r="0" b="0"/>
          <a:pathLst>
            <a:path>
              <a:moveTo>
                <a:pt x="0" y="872969"/>
              </a:moveTo>
              <a:lnTo>
                <a:pt x="183253" y="872969"/>
              </a:lnTo>
              <a:lnTo>
                <a:pt x="183253" y="0"/>
              </a:lnTo>
              <a:lnTo>
                <a:pt x="366507" y="0"/>
              </a:lnTo>
            </a:path>
          </a:pathLst>
        </a:custGeom>
        <a:noFill/>
        <a:ln w="1079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802368" y="2089125"/>
        <a:ext cx="47339" cy="47339"/>
      </dsp:txXfrm>
    </dsp:sp>
    <dsp:sp modelId="{20DFFDC5-1C43-2741-87D5-0C95C9B4DA2C}">
      <dsp:nvSpPr>
        <dsp:cNvPr id="0" name=""/>
        <dsp:cNvSpPr/>
      </dsp:nvSpPr>
      <dsp:spPr>
        <a:xfrm>
          <a:off x="642784" y="977934"/>
          <a:ext cx="366507" cy="1571344"/>
        </a:xfrm>
        <a:custGeom>
          <a:avLst/>
          <a:gdLst/>
          <a:ahLst/>
          <a:cxnLst/>
          <a:rect l="0" t="0" r="0" b="0"/>
          <a:pathLst>
            <a:path>
              <a:moveTo>
                <a:pt x="0" y="1571344"/>
              </a:moveTo>
              <a:lnTo>
                <a:pt x="183253" y="1571344"/>
              </a:lnTo>
              <a:lnTo>
                <a:pt x="183253" y="0"/>
              </a:lnTo>
              <a:lnTo>
                <a:pt x="366507" y="0"/>
              </a:lnTo>
            </a:path>
          </a:pathLst>
        </a:custGeom>
        <a:noFill/>
        <a:ln w="10795"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85700" y="1723268"/>
        <a:ext cx="80676" cy="80676"/>
      </dsp:txXfrm>
    </dsp:sp>
    <dsp:sp modelId="{28F18D48-3F36-9946-8238-E18BF3986F43}">
      <dsp:nvSpPr>
        <dsp:cNvPr id="0" name=""/>
        <dsp:cNvSpPr/>
      </dsp:nvSpPr>
      <dsp:spPr>
        <a:xfrm rot="16200000">
          <a:off x="-1106830" y="2269929"/>
          <a:ext cx="2940528" cy="558700"/>
        </a:xfrm>
        <a:prstGeom prst="rect">
          <a:avLst/>
        </a:prstGeom>
        <a:solidFill>
          <a:schemeClr val="accent2"/>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n-US" sz="3300" kern="1200" dirty="0"/>
            <a:t>Tim</a:t>
          </a:r>
        </a:p>
      </dsp:txBody>
      <dsp:txXfrm>
        <a:off x="-1106830" y="2269929"/>
        <a:ext cx="2940528" cy="558700"/>
      </dsp:txXfrm>
    </dsp:sp>
    <dsp:sp modelId="{40887F2C-F421-2744-8B9A-001D767F78CD}">
      <dsp:nvSpPr>
        <dsp:cNvPr id="0" name=""/>
        <dsp:cNvSpPr/>
      </dsp:nvSpPr>
      <dsp:spPr>
        <a:xfrm>
          <a:off x="1009291" y="698584"/>
          <a:ext cx="1832537" cy="558700"/>
        </a:xfrm>
        <a:prstGeom prst="rect">
          <a:avLst/>
        </a:prstGeom>
        <a:solidFill>
          <a:schemeClr val="accent3">
            <a:hueOff val="0"/>
            <a:satOff val="0"/>
            <a:lumOff val="0"/>
            <a:alphaOff val="0"/>
          </a:schemeClr>
        </a:solidFill>
        <a:ln w="10795" cap="flat" cmpd="sng" algn="ctr">
          <a:solidFill>
            <a:schemeClr val="lt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Spec-Kit Agents</a:t>
          </a:r>
        </a:p>
      </dsp:txBody>
      <dsp:txXfrm>
        <a:off x="1009291" y="698584"/>
        <a:ext cx="1832537" cy="558700"/>
      </dsp:txXfrm>
    </dsp:sp>
    <dsp:sp modelId="{1667819F-4315-E74B-A17C-E738C75A7661}">
      <dsp:nvSpPr>
        <dsp:cNvPr id="0" name=""/>
        <dsp:cNvSpPr/>
      </dsp:nvSpPr>
      <dsp:spPr>
        <a:xfrm>
          <a:off x="1009291" y="1396959"/>
          <a:ext cx="1832537" cy="558700"/>
        </a:xfrm>
        <a:prstGeom prst="rect">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Core Team</a:t>
          </a:r>
        </a:p>
      </dsp:txBody>
      <dsp:txXfrm>
        <a:off x="1009291" y="1396959"/>
        <a:ext cx="1832537" cy="558700"/>
      </dsp:txXfrm>
    </dsp:sp>
    <dsp:sp modelId="{C94487DA-7BDC-6246-AFCC-8EE0B570A63F}">
      <dsp:nvSpPr>
        <dsp:cNvPr id="0" name=""/>
        <dsp:cNvSpPr/>
      </dsp:nvSpPr>
      <dsp:spPr>
        <a:xfrm>
          <a:off x="3208336" y="208"/>
          <a:ext cx="1832537" cy="558700"/>
        </a:xfrm>
        <a:prstGeom prst="rect">
          <a:avLst/>
        </a:prstGeom>
        <a:solidFill>
          <a:schemeClr val="accent5"/>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CSA</a:t>
          </a:r>
        </a:p>
      </dsp:txBody>
      <dsp:txXfrm>
        <a:off x="3208336" y="208"/>
        <a:ext cx="1832537" cy="558700"/>
      </dsp:txXfrm>
    </dsp:sp>
    <dsp:sp modelId="{AB75FB0E-58D0-F047-AAEE-477100089962}">
      <dsp:nvSpPr>
        <dsp:cNvPr id="0" name=""/>
        <dsp:cNvSpPr/>
      </dsp:nvSpPr>
      <dsp:spPr>
        <a:xfrm>
          <a:off x="3208336" y="698584"/>
          <a:ext cx="1832537" cy="558700"/>
        </a:xfrm>
        <a:prstGeom prst="rect">
          <a:avLst/>
        </a:prstGeom>
        <a:solidFill>
          <a:schemeClr val="accent5"/>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Python Developer</a:t>
          </a:r>
        </a:p>
      </dsp:txBody>
      <dsp:txXfrm>
        <a:off x="3208336" y="698584"/>
        <a:ext cx="1832537" cy="558700"/>
      </dsp:txXfrm>
    </dsp:sp>
    <dsp:sp modelId="{CD18E77B-95AE-3A4A-967B-6CA1E2636F7C}">
      <dsp:nvSpPr>
        <dsp:cNvPr id="0" name=""/>
        <dsp:cNvSpPr/>
      </dsp:nvSpPr>
      <dsp:spPr>
        <a:xfrm>
          <a:off x="3208336" y="1396959"/>
          <a:ext cx="1832537" cy="558700"/>
        </a:xfrm>
        <a:prstGeom prst="rect">
          <a:avLst/>
        </a:prstGeom>
        <a:solidFill>
          <a:schemeClr val="accent4">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Data Scientist</a:t>
          </a:r>
        </a:p>
      </dsp:txBody>
      <dsp:txXfrm>
        <a:off x="3208336" y="1396959"/>
        <a:ext cx="1832537" cy="558700"/>
      </dsp:txXfrm>
    </dsp:sp>
    <dsp:sp modelId="{CDE5ED72-91B7-3F46-B83A-942A726C429C}">
      <dsp:nvSpPr>
        <dsp:cNvPr id="0" name=""/>
        <dsp:cNvSpPr/>
      </dsp:nvSpPr>
      <dsp:spPr>
        <a:xfrm>
          <a:off x="3208336" y="2095335"/>
          <a:ext cx="1832537" cy="558700"/>
        </a:xfrm>
        <a:prstGeom prst="rect">
          <a:avLst/>
        </a:prstGeom>
        <a:solidFill>
          <a:schemeClr val="accent4">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Security Engineer</a:t>
          </a:r>
        </a:p>
      </dsp:txBody>
      <dsp:txXfrm>
        <a:off x="3208336" y="2095335"/>
        <a:ext cx="1832537" cy="558700"/>
      </dsp:txXfrm>
    </dsp:sp>
    <dsp:sp modelId="{8F05567B-A87A-1841-95EC-DAABB27280ED}">
      <dsp:nvSpPr>
        <dsp:cNvPr id="0" name=""/>
        <dsp:cNvSpPr/>
      </dsp:nvSpPr>
      <dsp:spPr>
        <a:xfrm>
          <a:off x="3208336" y="2793710"/>
          <a:ext cx="1832537" cy="558700"/>
        </a:xfrm>
        <a:prstGeom prst="rect">
          <a:avLst/>
        </a:prstGeom>
        <a:solidFill>
          <a:schemeClr val="accent4">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Technical Writer</a:t>
          </a:r>
        </a:p>
      </dsp:txBody>
      <dsp:txXfrm>
        <a:off x="3208336" y="2793710"/>
        <a:ext cx="1832537" cy="558700"/>
      </dsp:txXfrm>
    </dsp:sp>
    <dsp:sp modelId="{782F3250-C9FC-7A4D-B175-5D916AF9ECAA}">
      <dsp:nvSpPr>
        <dsp:cNvPr id="0" name=""/>
        <dsp:cNvSpPr/>
      </dsp:nvSpPr>
      <dsp:spPr>
        <a:xfrm>
          <a:off x="1009291" y="3841274"/>
          <a:ext cx="1832537" cy="558700"/>
        </a:xfrm>
        <a:prstGeom prst="rect">
          <a:avLst/>
        </a:prstGeom>
        <a:solidFill>
          <a:schemeClr val="accent3">
            <a:hueOff val="0"/>
            <a:satOff val="0"/>
            <a:lumOff val="0"/>
            <a:alphaOff val="0"/>
          </a:schemeClr>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Exec Coaches</a:t>
          </a:r>
        </a:p>
      </dsp:txBody>
      <dsp:txXfrm>
        <a:off x="1009291" y="3841274"/>
        <a:ext cx="1832537" cy="558700"/>
      </dsp:txXfrm>
    </dsp:sp>
    <dsp:sp modelId="{C3841330-6324-194D-A7D4-834ABB543DC3}">
      <dsp:nvSpPr>
        <dsp:cNvPr id="0" name=""/>
        <dsp:cNvSpPr/>
      </dsp:nvSpPr>
      <dsp:spPr>
        <a:xfrm>
          <a:off x="3208336" y="3492086"/>
          <a:ext cx="1832537" cy="558700"/>
        </a:xfrm>
        <a:prstGeom prst="rect">
          <a:avLst/>
        </a:prstGeom>
        <a:solidFill>
          <a:schemeClr val="accent5"/>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Project Judge</a:t>
          </a:r>
        </a:p>
      </dsp:txBody>
      <dsp:txXfrm>
        <a:off x="3208336" y="3492086"/>
        <a:ext cx="1832537" cy="558700"/>
      </dsp:txXfrm>
    </dsp:sp>
    <dsp:sp modelId="{A9E8523C-122E-554C-8CC8-D7329AB0B51B}">
      <dsp:nvSpPr>
        <dsp:cNvPr id="0" name=""/>
        <dsp:cNvSpPr/>
      </dsp:nvSpPr>
      <dsp:spPr>
        <a:xfrm>
          <a:off x="3208336" y="4190461"/>
          <a:ext cx="1832537" cy="558700"/>
        </a:xfrm>
        <a:prstGeom prst="rect">
          <a:avLst/>
        </a:prstGeom>
        <a:solidFill>
          <a:schemeClr val="accent5"/>
        </a:solidFill>
        <a:ln w="1079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Presentation Prep</a:t>
          </a:r>
        </a:p>
      </dsp:txBody>
      <dsp:txXfrm>
        <a:off x="3208336" y="4190461"/>
        <a:ext cx="1832537" cy="558700"/>
      </dsp:txXfrm>
    </dsp:sp>
  </dsp:spTree>
</dsp:drawing>
</file>

<file path=ppt/diagrams/layout1.xml><?xml version="1.0" encoding="utf-8"?>
<dgm:layoutDef xmlns:dgm="http://schemas.openxmlformats.org/drawingml/2006/diagram" xmlns:a="http://schemas.openxmlformats.org/drawingml/2006/main" uniqueId="urn:microsoft.com/office/officeart/2008/layout/IncreasingCircleProcess">
  <dgm:title val=""/>
  <dgm:desc val=""/>
  <dgm:catLst>
    <dgm:cat type="list" pri="8300"/>
    <dgm:cat type="process" pri="43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clrData>
  <dgm:layoutNode name="Name0">
    <dgm:varLst>
      <dgm:chMax val="7"/>
      <dgm:chPref val="7"/>
      <dgm:dir/>
      <dgm:animOne val="branch"/>
      <dgm:animLvl val="lvl"/>
    </dgm:varLst>
    <dgm:choose name="Name1">
      <dgm:if name="Name2" func="var" arg="dir" op="equ" val="norm">
        <dgm:alg type="lin">
          <dgm:param type="linDir" val="fromL"/>
          <dgm:param type="horzAlign" val="ctr"/>
          <dgm:param type="vertAlign" val="t"/>
        </dgm:alg>
      </dgm:if>
      <dgm:else name="Name3">
        <dgm:alg type="lin">
          <dgm:param type="linDir" val="fromR"/>
          <dgm:param type="horzAlign" val="ctr"/>
          <dgm:param type="vertAlign" val="t"/>
        </dgm:alg>
      </dgm:else>
    </dgm:choose>
    <dgm:shape xmlns:r="http://schemas.openxmlformats.org/officeDocument/2006/relationships" r:blip="">
      <dgm:adjLst/>
    </dgm:shape>
    <dgm:constrLst>
      <dgm:constr type="primFontSz" for="des" forName="Child" val="65"/>
      <dgm:constr type="primFontSz" for="des" forName="Parent" val="65"/>
      <dgm:constr type="primFontSz" for="des" forName="Child" refType="primFontSz" refFor="des" refForName="Parent" op="lte"/>
      <dgm:constr type="w" for="ch" forName="composite" refType="w"/>
      <dgm:constr type="h" for="ch" forName="composite" refType="h"/>
      <dgm:constr type="sp" refType="w" refFor="ch" refForName="composite" op="equ" fact="0.05"/>
      <dgm:constr type="w" for="ch" forName="sibTrans" refType="h" refFor="ch" refForName="composite" op="equ" fact="0.04"/>
    </dgm:constrLst>
    <dgm:forEach name="nodesForEach" axis="ch" ptType="node" cnt="7">
      <dgm:layoutNode name="composite">
        <dgm:alg type="composite">
          <dgm:param type="ar" val="0.8"/>
        </dgm:alg>
        <dgm:choose name="Name4">
          <dgm:if name="Name5" func="var" arg="dir" op="equ" val="norm">
            <dgm:constrLst>
              <dgm:constr type="l" for="ch" forName="Child" refType="w" fact="0.29"/>
              <dgm:constr type="t" for="ch" forName="Child" refType="h" fact="0.192"/>
              <dgm:constr type="w" for="ch" forName="Child" refType="w" fact="0.71"/>
              <dgm:constr type="h" for="ch" forName="Child" refType="h" fact="0.808"/>
              <dgm:constr type="l" for="ch" forName="Parent" refType="w" fact="0.29"/>
              <dgm:constr type="t" for="ch" forName="Parent" refType="h" fact="0"/>
              <dgm:constr type="w" for="ch" forName="Parent" refType="w" fact="0.71"/>
              <dgm:constr type="h" for="ch" forName="Parent" refType="h" fact="0.192"/>
              <dgm:constr type="l" for="ch" forName="BackAccent" refType="w" fact="0"/>
              <dgm:constr type="t" for="ch" forName="BackAccent" refType="h" fact="0"/>
              <dgm:constr type="w" for="ch" forName="BackAccent" refType="w" fact="0.24"/>
              <dgm:constr type="h" for="ch" forName="BackAccent" refType="h" fact="0.192"/>
              <dgm:constr type="l" for="ch" forName="Accent" refType="w" fact="0.024"/>
              <dgm:constr type="t" for="ch" forName="Accent" refType="h" fact="0.0192"/>
              <dgm:constr type="w" for="ch" forName="Accent" refType="w" fact="0.192"/>
              <dgm:constr type="h" for="ch" forName="Accent" refType="h" fact="0.1536"/>
            </dgm:constrLst>
          </dgm:if>
          <dgm:else name="Name6">
            <dgm:constrLst>
              <dgm:constr type="r" for="ch" forName="Child" refType="w" fact="0.71"/>
              <dgm:constr type="t" for="ch" forName="Child" refType="h" fact="0.192"/>
              <dgm:constr type="w" for="ch" forName="Child" refType="w" fact="0.71"/>
              <dgm:constr type="h" for="ch" forName="Child" refType="h" fact="0.808"/>
              <dgm:constr type="r" for="ch" forName="Parent" refType="w" fact="0.71"/>
              <dgm:constr type="t" for="ch" forName="Parent" refType="h" fact="0"/>
              <dgm:constr type="w" for="ch" forName="Parent" refType="w" fact="0.71"/>
              <dgm:constr type="h" for="ch" forName="Parent" refType="h" fact="0.192"/>
              <dgm:constr type="r" for="ch" forName="BackAccent" refType="w"/>
              <dgm:constr type="t" for="ch" forName="BackAccent" refType="h" fact="0"/>
              <dgm:constr type="w" for="ch" forName="BackAccent" refType="w" fact="0.24"/>
              <dgm:constr type="h" for="ch" forName="BackAccent" refType="h" fact="0.192"/>
              <dgm:constr type="r" for="ch" forName="Accent" refType="w" fact="0.976"/>
              <dgm:constr type="t" for="ch" forName="Accent" refType="h" fact="0.0192"/>
              <dgm:constr type="w" for="ch" forName="Accent" refType="w" fact="0.192"/>
              <dgm:constr type="h" for="ch" forName="Accent" refType="h" fact="0.1536"/>
            </dgm:constrLst>
          </dgm:else>
        </dgm:choose>
        <dgm:layoutNode name="BackAccent" styleLbl="bgShp">
          <dgm:alg type="sp"/>
          <dgm:shape xmlns:r="http://schemas.openxmlformats.org/officeDocument/2006/relationships" type="ellipse" r:blip="">
            <dgm:adjLst/>
          </dgm:shape>
          <dgm:presOf/>
        </dgm:layoutNode>
        <dgm:layoutNode name="Accent" styleLbl="alignNode1">
          <dgm:alg type="sp"/>
          <dgm:choose name="Name7">
            <dgm:if name="Name8" axis="precedSib" ptType="node" func="cnt" op="equ" val="0">
              <dgm:choose name="Name9">
                <dgm:if name="Name10" axis="followSib" ptType="node" func="cnt" op="equ" val="0">
                  <dgm:shape xmlns:r="http://schemas.openxmlformats.org/officeDocument/2006/relationships" type="chord" r:blip="">
                    <dgm:adjLst>
                      <dgm:adj idx="1" val="-90"/>
                      <dgm:adj idx="2" val="-90"/>
                    </dgm:adjLst>
                  </dgm:shape>
                </dgm:if>
                <dgm:if name="Name11" axis="followSib" ptType="node" func="cnt" op="equ" val="1">
                  <dgm:shape xmlns:r="http://schemas.openxmlformats.org/officeDocument/2006/relationships" type="chord" r:blip="">
                    <dgm:adjLst>
                      <dgm:adj idx="1" val="0"/>
                      <dgm:adj idx="2" val="180"/>
                    </dgm:adjLst>
                  </dgm:shape>
                </dgm:if>
                <dgm:if name="Name12" axis="followSib" ptType="node" func="cnt" op="equ" val="2">
                  <dgm:shape xmlns:r="http://schemas.openxmlformats.org/officeDocument/2006/relationships" type="chord" r:blip="">
                    <dgm:adjLst>
                      <dgm:adj idx="1" val="19.4712"/>
                      <dgm:adj idx="2" val="160.5288"/>
                    </dgm:adjLst>
                  </dgm:shape>
                </dgm:if>
                <dgm:if name="Name13" axis="followSib" ptType="node" func="cnt" op="equ" val="3">
                  <dgm:shape xmlns:r="http://schemas.openxmlformats.org/officeDocument/2006/relationships" type="chord" r:blip="">
                    <dgm:adjLst>
                      <dgm:adj idx="1" val="30"/>
                      <dgm:adj idx="2" val="150"/>
                    </dgm:adjLst>
                  </dgm:shape>
                </dgm:if>
                <dgm:if name="Name14" axis="followSib" ptType="node" func="cnt" op="equ" val="4">
                  <dgm:shape xmlns:r="http://schemas.openxmlformats.org/officeDocument/2006/relationships" type="chord" r:blip="">
                    <dgm:adjLst>
                      <dgm:adj idx="1" val="38.8699"/>
                      <dgm:adj idx="2" val="143.1301"/>
                    </dgm:adjLst>
                  </dgm:shape>
                </dgm:if>
                <dgm:if name="Name15" axis="followSib" ptType="node" func="cnt" op="equ" val="5">
                  <dgm:shape xmlns:r="http://schemas.openxmlformats.org/officeDocument/2006/relationships" type="chord" r:blip="">
                    <dgm:adjLst>
                      <dgm:adj idx="1" val="41.8103"/>
                      <dgm:adj idx="2" val="138.1897"/>
                    </dgm:adjLst>
                  </dgm:shape>
                </dgm:if>
                <dgm:else name="Name16">
                  <dgm:shape xmlns:r="http://schemas.openxmlformats.org/officeDocument/2006/relationships" type="chord" r:blip="">
                    <dgm:adjLst>
                      <dgm:adj idx="1" val="45.5847"/>
                      <dgm:adj idx="2" val="134.4153"/>
                    </dgm:adjLst>
                  </dgm:shape>
                </dgm:else>
              </dgm:choose>
            </dgm:if>
            <dgm:if name="Name17" axis="precedSib" ptType="node" func="cnt" op="equ" val="1">
              <dgm:choose name="Name18">
                <dgm:if name="Name19" axis="followSib" ptType="node" func="cnt" op="equ" val="0">
                  <dgm:shape xmlns:r="http://schemas.openxmlformats.org/officeDocument/2006/relationships" type="chord" r:blip="">
                    <dgm:adjLst>
                      <dgm:adj idx="1" val="-90"/>
                      <dgm:adj idx="2" val="-90"/>
                    </dgm:adjLst>
                  </dgm:shape>
                </dgm:if>
                <dgm:if name="Name20" axis="followSib" ptType="node" func="cnt" op="equ" val="1">
                  <dgm:shape xmlns:r="http://schemas.openxmlformats.org/officeDocument/2006/relationships" type="chord" r:blip="">
                    <dgm:adjLst>
                      <dgm:adj idx="1" val="-19.4712"/>
                      <dgm:adj idx="2" val="-160.5288"/>
                    </dgm:adjLst>
                  </dgm:shape>
                </dgm:if>
                <dgm:if name="Name21" axis="followSib" ptType="node" func="cnt" op="equ" val="2">
                  <dgm:shape xmlns:r="http://schemas.openxmlformats.org/officeDocument/2006/relationships" type="chord" r:blip="">
                    <dgm:adjLst>
                      <dgm:adj idx="1" val="0"/>
                      <dgm:adj idx="2" val="180"/>
                    </dgm:adjLst>
                  </dgm:shape>
                </dgm:if>
                <dgm:if name="Name22" axis="followSib" ptType="node" func="cnt" op="equ" val="3">
                  <dgm:shape xmlns:r="http://schemas.openxmlformats.org/officeDocument/2006/relationships" type="chord" r:blip="">
                    <dgm:adjLst>
                      <dgm:adj idx="1" val="11.537"/>
                      <dgm:adj idx="2" val="168.463"/>
                    </dgm:adjLst>
                  </dgm:shape>
                </dgm:if>
                <dgm:if name="Name23" axis="followSib" ptType="node" func="cnt" op="equ" val="4">
                  <dgm:shape xmlns:r="http://schemas.openxmlformats.org/officeDocument/2006/relationships" type="chord" r:blip="">
                    <dgm:adjLst>
                      <dgm:adj idx="1" val="19.4712"/>
                      <dgm:adj idx="2" val="160.5288"/>
                    </dgm:adjLst>
                  </dgm:shape>
                </dgm:if>
                <dgm:else name="Name24">
                  <dgm:shape xmlns:r="http://schemas.openxmlformats.org/officeDocument/2006/relationships" type="chord" r:blip="">
                    <dgm:adjLst>
                      <dgm:adj idx="1" val="25.3769"/>
                      <dgm:adj idx="2" val="154.6231"/>
                    </dgm:adjLst>
                  </dgm:shape>
                </dgm:else>
              </dgm:choose>
            </dgm:if>
            <dgm:if name="Name25" axis="precedSib" ptType="node" func="cnt" op="equ" val="2">
              <dgm:choose name="Name26">
                <dgm:if name="Name27" axis="followSib" ptType="node" func="cnt" op="equ" val="0">
                  <dgm:shape xmlns:r="http://schemas.openxmlformats.org/officeDocument/2006/relationships" type="chord" r:blip="">
                    <dgm:adjLst>
                      <dgm:adj idx="1" val="-90"/>
                      <dgm:adj idx="2" val="-90"/>
                    </dgm:adjLst>
                  </dgm:shape>
                </dgm:if>
                <dgm:if name="Name28" axis="followSib" ptType="node" func="cnt" op="equ" val="1">
                  <dgm:shape xmlns:r="http://schemas.openxmlformats.org/officeDocument/2006/relationships" type="chord" r:blip="">
                    <dgm:adjLst>
                      <dgm:adj idx="1" val="-30"/>
                      <dgm:adj idx="2" val="-150"/>
                    </dgm:adjLst>
                  </dgm:shape>
                </dgm:if>
                <dgm:if name="Name29" axis="followSib" ptType="node" func="cnt" op="equ" val="2">
                  <dgm:shape xmlns:r="http://schemas.openxmlformats.org/officeDocument/2006/relationships" type="chord" r:blip="">
                    <dgm:adjLst>
                      <dgm:adj idx="1" val="-11.537"/>
                      <dgm:adj idx="2" val="-168.463"/>
                    </dgm:adjLst>
                  </dgm:shape>
                </dgm:if>
                <dgm:if name="Name30" axis="followSib" ptType="node" func="cnt" op="equ" val="3">
                  <dgm:shape xmlns:r="http://schemas.openxmlformats.org/officeDocument/2006/relationships" type="chord" r:blip="">
                    <dgm:adjLst>
                      <dgm:adj idx="1" val="0"/>
                      <dgm:adj idx="2" val="180"/>
                    </dgm:adjLst>
                  </dgm:shape>
                </dgm:if>
                <dgm:else name="Name31">
                  <dgm:shape xmlns:r="http://schemas.openxmlformats.org/officeDocument/2006/relationships" type="chord" r:blip="">
                    <dgm:adjLst>
                      <dgm:adj idx="1" val="8.2133"/>
                      <dgm:adj idx="2" val="171.7867"/>
                    </dgm:adjLst>
                  </dgm:shape>
                </dgm:else>
              </dgm:choose>
            </dgm:if>
            <dgm:if name="Name32" axis="precedSib" ptType="node" func="cnt" op="equ" val="3">
              <dgm:choose name="Name33">
                <dgm:if name="Name34" axis="followSib" ptType="node" func="cnt" op="equ" val="0">
                  <dgm:shape xmlns:r="http://schemas.openxmlformats.org/officeDocument/2006/relationships" type="chord" r:blip="">
                    <dgm:adjLst>
                      <dgm:adj idx="1" val="-90"/>
                      <dgm:adj idx="2" val="-90"/>
                    </dgm:adjLst>
                  </dgm:shape>
                </dgm:if>
                <dgm:if name="Name35" axis="followSib" ptType="node" func="cnt" op="equ" val="1">
                  <dgm:shape xmlns:r="http://schemas.openxmlformats.org/officeDocument/2006/relationships" type="chord" r:blip="">
                    <dgm:adjLst>
                      <dgm:adj idx="1" val="-38.8699"/>
                      <dgm:adj idx="2" val="-143.1301"/>
                    </dgm:adjLst>
                  </dgm:shape>
                </dgm:if>
                <dgm:if name="Name36" axis="followSib" ptType="node" func="cnt" op="equ" val="2">
                  <dgm:shape xmlns:r="http://schemas.openxmlformats.org/officeDocument/2006/relationships" type="chord" r:blip="">
                    <dgm:adjLst>
                      <dgm:adj idx="1" val="-19.4712"/>
                      <dgm:adj idx="2" val="-160.5288"/>
                    </dgm:adjLst>
                  </dgm:shape>
                </dgm:if>
                <dgm:else name="Name37">
                  <dgm:shape xmlns:r="http://schemas.openxmlformats.org/officeDocument/2006/relationships" type="chord" r:blip="">
                    <dgm:adjLst>
                      <dgm:adj idx="1" val="-8.2133"/>
                      <dgm:adj idx="2" val="-171.7867"/>
                    </dgm:adjLst>
                  </dgm:shape>
                </dgm:else>
              </dgm:choose>
            </dgm:if>
            <dgm:if name="Name38" axis="precedSib" ptType="node" func="cnt" op="equ" val="4">
              <dgm:choose name="Name39">
                <dgm:if name="Name40" axis="followSib" ptType="node" func="cnt" op="equ" val="0">
                  <dgm:shape xmlns:r="http://schemas.openxmlformats.org/officeDocument/2006/relationships" type="chord" r:blip="">
                    <dgm:adjLst>
                      <dgm:adj idx="1" val="-90"/>
                      <dgm:adj idx="2" val="-90"/>
                    </dgm:adjLst>
                  </dgm:shape>
                </dgm:if>
                <dgm:if name="Name41" axis="followSib" ptType="node" func="cnt" op="equ" val="1">
                  <dgm:shape xmlns:r="http://schemas.openxmlformats.org/officeDocument/2006/relationships" type="chord" r:blip="">
                    <dgm:adjLst>
                      <dgm:adj idx="1" val="-41.8103"/>
                      <dgm:adj idx="2" val="-138.1897"/>
                    </dgm:adjLst>
                  </dgm:shape>
                </dgm:if>
                <dgm:else name="Name42">
                  <dgm:shape xmlns:r="http://schemas.openxmlformats.org/officeDocument/2006/relationships" type="chord" r:blip="">
                    <dgm:adjLst>
                      <dgm:adj idx="1" val="-25.3769"/>
                      <dgm:adj idx="2" val="-154.6231"/>
                    </dgm:adjLst>
                  </dgm:shape>
                </dgm:else>
              </dgm:choose>
            </dgm:if>
            <dgm:if name="Name43" axis="precedSib" ptType="node" func="cnt" op="equ" val="5">
              <dgm:choose name="Name44">
                <dgm:if name="Name45" axis="followSib" ptType="node" func="cnt" op="equ" val="0">
                  <dgm:shape xmlns:r="http://schemas.openxmlformats.org/officeDocument/2006/relationships" type="chord" r:blip="">
                    <dgm:adjLst>
                      <dgm:adj idx="1" val="-90"/>
                      <dgm:adj idx="2" val="-90"/>
                    </dgm:adjLst>
                  </dgm:shape>
                </dgm:if>
                <dgm:else name="Name46">
                  <dgm:shape xmlns:r="http://schemas.openxmlformats.org/officeDocument/2006/relationships" type="chord" r:blip="">
                    <dgm:adjLst>
                      <dgm:adj idx="1" val="-45.5847"/>
                      <dgm:adj idx="2" val="-134.4153"/>
                    </dgm:adjLst>
                  </dgm:shape>
                </dgm:else>
              </dgm:choose>
            </dgm:if>
            <dgm:else name="Name47">
              <dgm:shape xmlns:r="http://schemas.openxmlformats.org/officeDocument/2006/relationships" type="chord" r:blip="">
                <dgm:adjLst>
                  <dgm:adj idx="1" val="-90"/>
                  <dgm:adj idx="2" val="-90"/>
                </dgm:adjLst>
              </dgm:shape>
            </dgm:else>
          </dgm:choose>
          <dgm:presOf/>
        </dgm:layoutNode>
        <dgm:layoutNode name="Child" styleLbl="revTx">
          <dgm:varLst>
            <dgm:chMax val="0"/>
            <dgm:chPref val="0"/>
            <dgm:bulletEnabled val="1"/>
          </dgm:varLst>
          <dgm:choose name="Name48">
            <dgm:if name="Name49" func="var" arg="dir" op="equ" val="norm">
              <dgm:alg type="tx">
                <dgm:param type="parTxLTRAlign" val="l"/>
                <dgm:param type="parTxRTLAlign" val="l"/>
                <dgm:param type="txAnchorVert" val="t"/>
              </dgm:alg>
            </dgm:if>
            <dgm:else name="Name50">
              <dgm:alg type="tx">
                <dgm:param type="parTxLTRAlign" val="r"/>
                <dgm:param type="parTxRTLAlign" val="r"/>
                <dgm:param type="txAnchorVert" val="t"/>
              </dgm:alg>
            </dgm:else>
          </dgm:choose>
          <dgm:choose name="Name51">
            <dgm:if name="Name52" axis="ch" ptType="node" func="cnt" op="gte" val="1">
              <dgm:shape xmlns:r="http://schemas.openxmlformats.org/officeDocument/2006/relationships" type="rect" r:blip="">
                <dgm:adjLst/>
              </dgm:shape>
            </dgm:if>
            <dgm:else name="Name53">
              <dgm:shape xmlns:r="http://schemas.openxmlformats.org/officeDocument/2006/relationships" type="rect" r:blip="" hideGeom="1">
                <dgm:adjLst/>
              </dgm:shape>
            </dgm:else>
          </dgm:choose>
          <dgm:choose name="Name54">
            <dgm:if name="Name55" axis="ch" ptType="node" func="cnt" op="gte" val="1">
              <dgm:presOf axis="des" ptType="node"/>
            </dgm:if>
            <dgm:else name="Name56">
              <dgm:presOf/>
            </dgm:else>
          </dgm:choos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Parent" styleLbl="revTx">
          <dgm:varLst>
            <dgm:chMax val="1"/>
            <dgm:chPref val="1"/>
            <dgm:bulletEnabled val="1"/>
          </dgm:varLst>
          <dgm:choose name="Name57">
            <dgm:if name="Name58" func="var" arg="dir" op="equ" val="norm">
              <dgm:alg type="tx">
                <dgm:param type="parTxLTRAlign" val="l"/>
                <dgm:param type="parTxRTLAlign" val="l"/>
                <dgm:param type="shpTxLTRAlignCh" val="l"/>
                <dgm:param type="shpTxRTLAlignCh" val="l"/>
                <dgm:param type="txAnchorVert" val="b"/>
                <dgm:param type="txAnchorVertCh" val="b"/>
              </dgm:alg>
            </dgm:if>
            <dgm:else name="Name59">
              <dgm:alg type="tx">
                <dgm:param type="parTxLTRAlign" val="r"/>
                <dgm:param type="parTxRTLAlign" val="r"/>
                <dgm:param type="shpTxLTRAlignCh" val="r"/>
                <dgm:param type="shpTxRTLAlignCh" val="r"/>
                <dgm:param type="txAnchorVert" val="b"/>
                <dgm:param type="txAnchorVertCh" val="b"/>
              </dgm:alg>
            </dgm:else>
          </dgm:choose>
          <dgm:shape xmlns:r="http://schemas.openxmlformats.org/officeDocument/2006/relationships" type="rect" r:blip="">
            <dgm:adjLst/>
          </dgm:shape>
          <dgm:presOf axis="self" ptType="node"/>
          <dgm:constrLst>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2/23/2026 8:01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2/23/2026 7:57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0" i="0" kern="1200" dirty="0">
                <a:solidFill>
                  <a:schemeClr val="tx1"/>
                </a:solidFill>
                <a:effectLst/>
                <a:latin typeface="Segoe UI" panose="020B0502040204020203" pitchFamily="34" charset="0"/>
                <a:ea typeface="+mn-ea"/>
                <a:cs typeface="+mn-cs"/>
              </a:rPr>
              <a:t>"Today I'm presenting an AI-enhanced approach to security operations in a Zero Trust Enterprise, such as yours.”</a:t>
            </a:r>
          </a:p>
          <a:p>
            <a:endParaRPr lang="en-US" sz="882" b="0" i="0" kern="1200" dirty="0">
              <a:solidFill>
                <a:schemeClr val="tx1"/>
              </a:solidFill>
              <a:effectLst/>
              <a:latin typeface="Segoe UI" panose="020B0502040204020203" pitchFamily="34" charset="0"/>
              <a:ea typeface="+mn-ea"/>
              <a:cs typeface="+mn-cs"/>
            </a:endParaRPr>
          </a:p>
          <a:p>
            <a:r>
              <a:rPr lang="en-US" sz="882" b="0" i="0" kern="1200" dirty="0">
                <a:solidFill>
                  <a:schemeClr val="tx1"/>
                </a:solidFill>
                <a:effectLst/>
                <a:latin typeface="Segoe UI" panose="020B0502040204020203" pitchFamily="34" charset="0"/>
                <a:ea typeface="+mn-ea"/>
                <a:cs typeface="+mn-cs"/>
              </a:rPr>
              <a:t>“Zero Trust is built on three principles: </a:t>
            </a:r>
            <a:r>
              <a:rPr lang="en-US" sz="882" b="1" i="0" kern="1200" dirty="0">
                <a:solidFill>
                  <a:schemeClr val="tx1"/>
                </a:solidFill>
                <a:effectLst/>
                <a:latin typeface="Segoe UI" panose="020B0502040204020203" pitchFamily="34" charset="0"/>
                <a:ea typeface="+mn-ea"/>
                <a:cs typeface="+mn-cs"/>
              </a:rPr>
              <a:t>verify explicitly, use least privilege, and assume breach</a:t>
            </a:r>
            <a:r>
              <a:rPr lang="en-US" sz="882" b="0" i="0" kern="1200" dirty="0">
                <a:solidFill>
                  <a:schemeClr val="tx1"/>
                </a:solidFill>
                <a:effectLst/>
                <a:latin typeface="Segoe UI" panose="020B0502040204020203" pitchFamily="34" charset="0"/>
                <a:ea typeface="+mn-ea"/>
                <a:cs typeface="+mn-cs"/>
              </a:rPr>
              <a:t>. But”</a:t>
            </a:r>
          </a:p>
          <a:p>
            <a:endParaRPr lang="en-US" sz="882" b="0" i="0" kern="1200" dirty="0">
              <a:solidFill>
                <a:schemeClr val="tx1"/>
              </a:solidFill>
              <a:effectLst/>
              <a:latin typeface="Segoe UI" panose="020B0502040204020203" pitchFamily="34" charset="0"/>
              <a:ea typeface="+mn-ea"/>
              <a:cs typeface="+mn-cs"/>
            </a:endParaRPr>
          </a:p>
          <a:p>
            <a:r>
              <a:rPr lang="en-US" sz="882" b="0" i="0" kern="1200" dirty="0">
                <a:solidFill>
                  <a:schemeClr val="tx1"/>
                </a:solidFill>
                <a:effectLst/>
                <a:latin typeface="Segoe UI" panose="020B0502040204020203" pitchFamily="34" charset="0"/>
                <a:ea typeface="+mn-ea"/>
                <a:cs typeface="+mn-cs"/>
              </a:rPr>
              <a:t>”Organizations deploying Zero Trust architectures are drowning in alerts. Every authentication, every access request, every anomaly — that's the data you need to verify explicitly and assume breach. The more security products and controls you add, the more signals you generate — and traditional SOCs weren't built for this volume.</a:t>
            </a:r>
          </a:p>
          <a:p>
            <a:r>
              <a:rPr lang="en-US" sz="882" b="0" i="0" kern="1200" dirty="0">
                <a:solidFill>
                  <a:schemeClr val="tx1"/>
                </a:solidFill>
                <a:effectLst/>
                <a:latin typeface="Segoe UI" panose="020B0502040204020203" pitchFamily="34" charset="0"/>
                <a:ea typeface="+mn-ea"/>
                <a:cs typeface="+mn-cs"/>
              </a:rPr>
              <a:t>The result? Analyst burnout, missed threats, and response times measured in hours, not minutes.”</a:t>
            </a:r>
          </a:p>
          <a:p>
            <a:endParaRPr lang="en-US" sz="882" b="0" i="0" kern="1200" dirty="0">
              <a:solidFill>
                <a:schemeClr val="tx1"/>
              </a:solidFill>
              <a:effectLst/>
              <a:latin typeface="Segoe UI" panose="020B0502040204020203" pitchFamily="34" charset="0"/>
              <a:ea typeface="+mn-ea"/>
              <a:cs typeface="+mn-cs"/>
            </a:endParaRPr>
          </a:p>
          <a:p>
            <a:r>
              <a:rPr lang="en-US" sz="882" b="0" i="0" kern="1200" dirty="0">
                <a:solidFill>
                  <a:schemeClr val="tx1"/>
                </a:solidFill>
                <a:effectLst/>
                <a:latin typeface="Segoe UI" panose="020B0502040204020203" pitchFamily="34" charset="0"/>
                <a:ea typeface="+mn-ea"/>
                <a:cs typeface="+mn-cs"/>
              </a:rPr>
              <a:t>”I want to put you on a path towards an </a:t>
            </a:r>
            <a:r>
              <a:rPr lang="en-US" sz="882" b="1" i="0" kern="1200" dirty="0">
                <a:solidFill>
                  <a:schemeClr val="tx1"/>
                </a:solidFill>
                <a:effectLst/>
                <a:latin typeface="Segoe UI" panose="020B0502040204020203" pitchFamily="34" charset="0"/>
                <a:ea typeface="+mn-ea"/>
                <a:cs typeface="+mn-cs"/>
              </a:rPr>
              <a:t>Agentic SOC,</a:t>
            </a:r>
            <a:r>
              <a:rPr lang="en-US" sz="882" b="0" i="0" kern="1200" dirty="0">
                <a:solidFill>
                  <a:schemeClr val="tx1"/>
                </a:solidFill>
                <a:effectLst/>
                <a:latin typeface="Segoe UI" panose="020B0502040204020203" pitchFamily="34" charset="0"/>
                <a:ea typeface="+mn-ea"/>
                <a:cs typeface="+mn-cs"/>
              </a:rPr>
              <a:t> offering a different approach — using AI agents to augment human analysts and transform how security teams operate.</a:t>
            </a:r>
          </a:p>
          <a:p>
            <a:r>
              <a:rPr lang="en-US" sz="882" b="0" i="0" kern="1200" dirty="0">
                <a:solidFill>
                  <a:schemeClr val="tx1"/>
                </a:solidFill>
                <a:effectLst/>
                <a:latin typeface="Segoe UI" panose="020B0502040204020203" pitchFamily="34" charset="0"/>
                <a:ea typeface="+mn-ea"/>
                <a:cs typeface="+mn-cs"/>
              </a:rPr>
              <a:t>I'll walk you through the objectives we're solving for, how we built it, and the measurable outcomes we've achieved."</a:t>
            </a:r>
          </a:p>
          <a:p>
            <a:endParaRPr lang="en-US" sz="882" b="0" i="0" kern="1200" dirty="0">
              <a:solidFill>
                <a:schemeClr val="tx1"/>
              </a:solidFill>
              <a:effectLst/>
              <a:latin typeface="Segoe UI" panose="020B0502040204020203" pitchFamily="34" charset="0"/>
              <a:ea typeface="+mn-ea"/>
              <a:cs typeface="+mn-cs"/>
            </a:endParaRP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2/23/2026 7:57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a:t>
            </a:fld>
            <a:endParaRPr lang="en-US"/>
          </a:p>
        </p:txBody>
      </p:sp>
    </p:spTree>
    <p:extLst>
      <p:ext uri="{BB962C8B-B14F-4D97-AF65-F5344CB8AC3E}">
        <p14:creationId xmlns:p14="http://schemas.microsoft.com/office/powerpoint/2010/main" val="9589951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882" b="0" i="0" kern="1200" dirty="0">
                <a:solidFill>
                  <a:schemeClr val="tx1"/>
                </a:solidFill>
                <a:effectLst/>
                <a:latin typeface="Segoe UI" panose="020B0502040204020203" pitchFamily="34" charset="0"/>
                <a:ea typeface="+mn-ea"/>
                <a:cs typeface="+mn-cs"/>
              </a:rPr>
              <a:t>"These are the three outcomes that matter most to our customers — and how we measure success."</a:t>
            </a:r>
          </a:p>
          <a:p>
            <a:endParaRPr lang="en-US" dirty="0"/>
          </a:p>
          <a:p>
            <a:r>
              <a:rPr lang="en-US" sz="882" b="1" i="0" kern="1200" dirty="0">
                <a:solidFill>
                  <a:schemeClr val="tx1"/>
                </a:solidFill>
                <a:effectLst/>
                <a:latin typeface="Segoe UI" panose="020B0502040204020203" pitchFamily="34" charset="0"/>
                <a:ea typeface="+mn-ea"/>
                <a:cs typeface="+mn-cs"/>
              </a:rPr>
              <a:t>Column 1: Reducing MTTD (US Audience)</a:t>
            </a:r>
          </a:p>
          <a:p>
            <a:r>
              <a:rPr lang="en-US" sz="882" b="0" i="0" kern="1200" dirty="0">
                <a:solidFill>
                  <a:schemeClr val="tx1"/>
                </a:solidFill>
                <a:effectLst/>
                <a:latin typeface="Segoe UI" panose="020B0502040204020203" pitchFamily="34" charset="0"/>
                <a:ea typeface="+mn-ea"/>
                <a:cs typeface="+mn-cs"/>
              </a:rPr>
              <a:t>"First, </a:t>
            </a:r>
            <a:r>
              <a:rPr lang="en-US" sz="882" b="1" i="0" kern="1200" dirty="0">
                <a:solidFill>
                  <a:schemeClr val="tx1"/>
                </a:solidFill>
                <a:effectLst/>
                <a:latin typeface="Segoe UI" panose="020B0502040204020203" pitchFamily="34" charset="0"/>
                <a:ea typeface="+mn-ea"/>
                <a:cs typeface="+mn-cs"/>
              </a:rPr>
              <a:t>Mean Time to Detect</a:t>
            </a:r>
            <a:r>
              <a:rPr lang="en-US" sz="882" b="0" i="0" kern="1200" dirty="0">
                <a:solidFill>
                  <a:schemeClr val="tx1"/>
                </a:solidFill>
                <a:effectLst/>
                <a:latin typeface="Segoe UI" panose="020B0502040204020203" pitchFamily="34" charset="0"/>
                <a:ea typeface="+mn-ea"/>
                <a:cs typeface="+mn-cs"/>
              </a:rPr>
              <a:t>. Today, security teams spend 4 to 6 hours manually triaging alerts before they even know if something's real.</a:t>
            </a:r>
          </a:p>
          <a:p>
            <a:r>
              <a:rPr lang="en-US" sz="882" b="0" i="0" kern="1200" dirty="0">
                <a:solidFill>
                  <a:schemeClr val="tx1"/>
                </a:solidFill>
                <a:effectLst/>
                <a:latin typeface="Segoe UI" panose="020B0502040204020203" pitchFamily="34" charset="0"/>
                <a:ea typeface="+mn-ea"/>
                <a:cs typeface="+mn-cs"/>
              </a:rPr>
              <a:t>That's 4 to 6 hours where an attacker can move laterally, escalate privileges, and exfiltrate data. And with the average breach in the US now costing </a:t>
            </a:r>
            <a:r>
              <a:rPr lang="en-US" sz="882" b="1" i="0" kern="1200" dirty="0">
                <a:solidFill>
                  <a:schemeClr val="tx1"/>
                </a:solidFill>
                <a:effectLst/>
                <a:latin typeface="Segoe UI" panose="020B0502040204020203" pitchFamily="34" charset="0"/>
                <a:ea typeface="+mn-ea"/>
                <a:cs typeface="+mn-cs"/>
              </a:rPr>
              <a:t>$9.5 million</a:t>
            </a:r>
            <a:r>
              <a:rPr lang="en-US" sz="882" b="0" i="0" kern="1200" dirty="0">
                <a:solidFill>
                  <a:schemeClr val="tx1"/>
                </a:solidFill>
                <a:effectLst/>
                <a:latin typeface="Segoe UI" panose="020B0502040204020203" pitchFamily="34" charset="0"/>
                <a:ea typeface="+mn-ea"/>
                <a:cs typeface="+mn-cs"/>
              </a:rPr>
              <a:t>, every hour of delay has a real dollar cost.</a:t>
            </a:r>
          </a:p>
          <a:p>
            <a:r>
              <a:rPr lang="en-US" sz="882" b="0" i="0" kern="1200" dirty="0">
                <a:solidFill>
                  <a:schemeClr val="tx1"/>
                </a:solidFill>
                <a:effectLst/>
                <a:latin typeface="Segoe UI" panose="020B0502040204020203" pitchFamily="34" charset="0"/>
                <a:ea typeface="+mn-ea"/>
                <a:cs typeface="+mn-cs"/>
              </a:rPr>
              <a:t>Our target: </a:t>
            </a:r>
            <a:r>
              <a:rPr lang="en-US" sz="882" b="1" i="0" kern="1200" dirty="0">
                <a:solidFill>
                  <a:schemeClr val="tx1"/>
                </a:solidFill>
                <a:effectLst/>
                <a:latin typeface="Segoe UI" panose="020B0502040204020203" pitchFamily="34" charset="0"/>
                <a:ea typeface="+mn-ea"/>
                <a:cs typeface="+mn-cs"/>
              </a:rPr>
              <a:t>under 15 minutes</a:t>
            </a:r>
            <a:r>
              <a:rPr lang="en-US" sz="882" b="0" i="0" kern="1200" dirty="0">
                <a:solidFill>
                  <a:schemeClr val="tx1"/>
                </a:solidFill>
                <a:effectLst/>
                <a:latin typeface="Segoe UI" panose="020B0502040204020203" pitchFamily="34" charset="0"/>
                <a:ea typeface="+mn-ea"/>
                <a:cs typeface="+mn-cs"/>
              </a:rPr>
              <a:t>. That 75% reduction in detection time directly translates to reduced breach impact and containment costs."</a:t>
            </a:r>
          </a:p>
          <a:p>
            <a:r>
              <a:rPr lang="en-US" sz="882" b="1" i="0" kern="1200" dirty="0">
                <a:solidFill>
                  <a:schemeClr val="tx1"/>
                </a:solidFill>
                <a:effectLst/>
                <a:latin typeface="Segoe UI" panose="020B0502040204020203" pitchFamily="34" charset="0"/>
                <a:ea typeface="+mn-ea"/>
                <a:cs typeface="+mn-cs"/>
              </a:rPr>
              <a:t>Key phrase to land</a:t>
            </a:r>
            <a:r>
              <a:rPr lang="en-US" sz="882" b="0" i="0" kern="1200" dirty="0">
                <a:solidFill>
                  <a:schemeClr val="tx1"/>
                </a:solidFill>
                <a:effectLst/>
                <a:latin typeface="Segoe UI" panose="020B0502040204020203" pitchFamily="34" charset="0"/>
                <a:ea typeface="+mn-ea"/>
                <a:cs typeface="+mn-cs"/>
              </a:rPr>
              <a:t>: </a:t>
            </a:r>
            <a:r>
              <a:rPr lang="en-US" sz="882" b="0" i="1" kern="1200" dirty="0">
                <a:solidFill>
                  <a:schemeClr val="tx1"/>
                </a:solidFill>
                <a:effectLst/>
                <a:latin typeface="Segoe UI" panose="020B0502040204020203" pitchFamily="34" charset="0"/>
                <a:ea typeface="+mn-ea"/>
                <a:cs typeface="+mn-cs"/>
              </a:rPr>
              <a:t>"At $9.5 million per breach, speed isn't a nice-to-have — it's a financial imperative."</a:t>
            </a:r>
            <a:endParaRPr lang="en-US" sz="882" b="0" i="0" kern="1200" dirty="0">
              <a:solidFill>
                <a:schemeClr val="tx1"/>
              </a:solidFill>
              <a:effectLst/>
              <a:latin typeface="Segoe UI" panose="020B0502040204020203" pitchFamily="34" charset="0"/>
              <a:ea typeface="+mn-ea"/>
              <a:cs typeface="+mn-cs"/>
            </a:endParaRPr>
          </a:p>
          <a:p>
            <a:br>
              <a:rPr lang="en-US" dirty="0"/>
            </a:br>
            <a:endParaRPr lang="en-US" dirty="0"/>
          </a:p>
          <a:p>
            <a:r>
              <a:rPr lang="en-US" sz="882" b="1" i="0" kern="1200" dirty="0">
                <a:solidFill>
                  <a:schemeClr val="tx1"/>
                </a:solidFill>
                <a:effectLst/>
                <a:latin typeface="Segoe UI" panose="020B0502040204020203" pitchFamily="34" charset="0"/>
                <a:ea typeface="+mn-ea"/>
                <a:cs typeface="+mn-cs"/>
              </a:rPr>
              <a:t>Column 2: Improving Triage (30-40 seconds)</a:t>
            </a:r>
          </a:p>
          <a:p>
            <a:r>
              <a:rPr lang="en-US" sz="882" b="0" i="0" kern="1200" dirty="0">
                <a:solidFill>
                  <a:schemeClr val="tx1"/>
                </a:solidFill>
                <a:effectLst/>
                <a:latin typeface="Segoe UI" panose="020B0502040204020203" pitchFamily="34" charset="0"/>
                <a:ea typeface="+mn-ea"/>
                <a:cs typeface="+mn-cs"/>
              </a:rPr>
              <a:t>"Second, </a:t>
            </a:r>
            <a:r>
              <a:rPr lang="en-US" sz="882" b="1" i="0" kern="1200" dirty="0">
                <a:solidFill>
                  <a:schemeClr val="tx1"/>
                </a:solidFill>
                <a:effectLst/>
                <a:latin typeface="Segoe UI" panose="020B0502040204020203" pitchFamily="34" charset="0"/>
                <a:ea typeface="+mn-ea"/>
                <a:cs typeface="+mn-cs"/>
              </a:rPr>
              <a:t>triage accuracy</a:t>
            </a:r>
            <a:r>
              <a:rPr lang="en-US" sz="882" b="0" i="0" kern="1200" dirty="0">
                <a:solidFill>
                  <a:schemeClr val="tx1"/>
                </a:solidFill>
                <a:effectLst/>
                <a:latin typeface="Segoe UI" panose="020B0502040204020203" pitchFamily="34" charset="0"/>
                <a:ea typeface="+mn-ea"/>
                <a:cs typeface="+mn-cs"/>
              </a:rPr>
              <a:t>. Here's the dirty secret of most SOCs: up to 70% of the alerts analysts investigate are false positives.</a:t>
            </a:r>
          </a:p>
          <a:p>
            <a:r>
              <a:rPr lang="en-US" sz="882" b="0" i="0" kern="1200" dirty="0">
                <a:solidFill>
                  <a:schemeClr val="tx1"/>
                </a:solidFill>
                <a:effectLst/>
                <a:latin typeface="Segoe UI" panose="020B0502040204020203" pitchFamily="34" charset="0"/>
                <a:ea typeface="+mn-ea"/>
                <a:cs typeface="+mn-cs"/>
              </a:rPr>
              <a:t>That's not just wasted time — it's how real threats slip through. Analysts get fatigued, they start ignoring alerts, and the one that matters gets missed.</a:t>
            </a:r>
          </a:p>
          <a:p>
            <a:r>
              <a:rPr lang="en-US" sz="882" b="0" i="0" kern="1200" dirty="0">
                <a:solidFill>
                  <a:schemeClr val="tx1"/>
                </a:solidFill>
                <a:effectLst/>
                <a:latin typeface="Segoe UI" panose="020B0502040204020203" pitchFamily="34" charset="0"/>
                <a:ea typeface="+mn-ea"/>
                <a:cs typeface="+mn-cs"/>
              </a:rPr>
              <a:t>We're targeting </a:t>
            </a:r>
            <a:r>
              <a:rPr lang="en-US" sz="882" b="1" i="0" kern="1200" dirty="0">
                <a:solidFill>
                  <a:schemeClr val="tx1"/>
                </a:solidFill>
                <a:effectLst/>
                <a:latin typeface="Segoe UI" panose="020B0502040204020203" pitchFamily="34" charset="0"/>
                <a:ea typeface="+mn-ea"/>
                <a:cs typeface="+mn-cs"/>
              </a:rPr>
              <a:t>under 20% false positive escalation</a:t>
            </a:r>
            <a:r>
              <a:rPr lang="en-US" sz="882" b="0" i="0" kern="1200" dirty="0">
                <a:solidFill>
                  <a:schemeClr val="tx1"/>
                </a:solidFill>
                <a:effectLst/>
                <a:latin typeface="Segoe UI" panose="020B0502040204020203" pitchFamily="34" charset="0"/>
                <a:ea typeface="+mn-ea"/>
                <a:cs typeface="+mn-cs"/>
              </a:rPr>
              <a:t> — freeing teams to focus on actual threats and proactive hunting, not noise."</a:t>
            </a:r>
          </a:p>
          <a:p>
            <a:r>
              <a:rPr lang="en-US" sz="882" b="1" i="0" kern="1200" dirty="0">
                <a:solidFill>
                  <a:schemeClr val="tx1"/>
                </a:solidFill>
                <a:effectLst/>
                <a:latin typeface="Segoe UI" panose="020B0502040204020203" pitchFamily="34" charset="0"/>
                <a:ea typeface="+mn-ea"/>
                <a:cs typeface="+mn-cs"/>
              </a:rPr>
              <a:t>Key phrase to land</a:t>
            </a:r>
            <a:r>
              <a:rPr lang="en-US" sz="882" b="0" i="0" kern="1200" dirty="0">
                <a:solidFill>
                  <a:schemeClr val="tx1"/>
                </a:solidFill>
                <a:effectLst/>
                <a:latin typeface="Segoe UI" panose="020B0502040204020203" pitchFamily="34" charset="0"/>
                <a:ea typeface="+mn-ea"/>
                <a:cs typeface="+mn-cs"/>
              </a:rPr>
              <a:t>: </a:t>
            </a:r>
            <a:r>
              <a:rPr lang="en-US" sz="882" b="0" i="1" kern="1200" dirty="0">
                <a:solidFill>
                  <a:schemeClr val="tx1"/>
                </a:solidFill>
                <a:effectLst/>
                <a:latin typeface="Segoe UI" panose="020B0502040204020203" pitchFamily="34" charset="0"/>
                <a:ea typeface="+mn-ea"/>
                <a:cs typeface="+mn-cs"/>
              </a:rPr>
              <a:t>"We're giving analysts their time back."</a:t>
            </a:r>
            <a:endParaRPr lang="en-US" sz="882" b="0" i="0" kern="1200" dirty="0">
              <a:solidFill>
                <a:schemeClr val="tx1"/>
              </a:solidFill>
              <a:effectLst/>
              <a:latin typeface="Segoe UI" panose="020B0502040204020203" pitchFamily="34" charset="0"/>
              <a:ea typeface="+mn-ea"/>
              <a:cs typeface="+mn-cs"/>
            </a:endParaRPr>
          </a:p>
          <a:p>
            <a:br>
              <a:rPr lang="en-US" dirty="0"/>
            </a:br>
            <a:endParaRPr lang="en-US" dirty="0"/>
          </a:p>
          <a:p>
            <a:r>
              <a:rPr lang="en-US" sz="882" b="1" i="0" kern="1200" dirty="0">
                <a:solidFill>
                  <a:schemeClr val="tx1"/>
                </a:solidFill>
                <a:effectLst/>
                <a:latin typeface="Segoe UI" panose="020B0502040204020203" pitchFamily="34" charset="0"/>
                <a:ea typeface="+mn-ea"/>
                <a:cs typeface="+mn-cs"/>
              </a:rPr>
              <a:t>Column 3: Accelerate </a:t>
            </a:r>
            <a:r>
              <a:rPr lang="en-US" sz="882" b="1" i="0" kern="1200" dirty="0" err="1">
                <a:solidFill>
                  <a:schemeClr val="tx1"/>
                </a:solidFill>
                <a:effectLst/>
                <a:latin typeface="Segoe UI" panose="020B0502040204020203" pitchFamily="34" charset="0"/>
                <a:ea typeface="+mn-ea"/>
                <a:cs typeface="+mn-cs"/>
              </a:rPr>
              <a:t>SecAI</a:t>
            </a:r>
            <a:r>
              <a:rPr lang="en-US" sz="882" b="1" i="0" kern="1200" dirty="0">
                <a:solidFill>
                  <a:schemeClr val="tx1"/>
                </a:solidFill>
                <a:effectLst/>
                <a:latin typeface="Segoe UI" panose="020B0502040204020203" pitchFamily="34" charset="0"/>
                <a:ea typeface="+mn-ea"/>
                <a:cs typeface="+mn-cs"/>
              </a:rPr>
              <a:t> Dev (30-40 seconds)</a:t>
            </a:r>
          </a:p>
          <a:p>
            <a:r>
              <a:rPr lang="en-US" sz="882" b="0" i="0" kern="1200" dirty="0">
                <a:solidFill>
                  <a:schemeClr val="tx1"/>
                </a:solidFill>
                <a:effectLst/>
                <a:latin typeface="Segoe UI" panose="020B0502040204020203" pitchFamily="34" charset="0"/>
                <a:ea typeface="+mn-ea"/>
                <a:cs typeface="+mn-cs"/>
              </a:rPr>
              <a:t>"Third — and this one's often overlooked — </a:t>
            </a:r>
            <a:r>
              <a:rPr lang="en-US" sz="882" b="1" i="0" kern="1200" dirty="0">
                <a:solidFill>
                  <a:schemeClr val="tx1"/>
                </a:solidFill>
                <a:effectLst/>
                <a:latin typeface="Segoe UI" panose="020B0502040204020203" pitchFamily="34" charset="0"/>
                <a:ea typeface="+mn-ea"/>
                <a:cs typeface="+mn-cs"/>
              </a:rPr>
              <a:t>development velocity</a:t>
            </a:r>
            <a:r>
              <a:rPr lang="en-US" sz="882" b="0" i="0" kern="1200" dirty="0">
                <a:solidFill>
                  <a:schemeClr val="tx1"/>
                </a:solidFill>
                <a:effectLst/>
                <a:latin typeface="Segoe UI" panose="020B0502040204020203" pitchFamily="34" charset="0"/>
                <a:ea typeface="+mn-ea"/>
                <a:cs typeface="+mn-cs"/>
              </a:rPr>
              <a:t>.</a:t>
            </a:r>
          </a:p>
          <a:p>
            <a:r>
              <a:rPr lang="en-US" sz="882" b="0" i="0" kern="1200" dirty="0">
                <a:solidFill>
                  <a:schemeClr val="tx1"/>
                </a:solidFill>
                <a:effectLst/>
                <a:latin typeface="Segoe UI" panose="020B0502040204020203" pitchFamily="34" charset="0"/>
                <a:ea typeface="+mn-ea"/>
                <a:cs typeface="+mn-cs"/>
              </a:rPr>
              <a:t>Most organizations take 4 to 8 weeks to go from 'we have an idea for a security use case' to 'we have something we can test.' That's too slow when threats evolve daily.</a:t>
            </a:r>
          </a:p>
          <a:p>
            <a:r>
              <a:rPr lang="en-US" sz="882" b="0" i="0" kern="1200" dirty="0">
                <a:solidFill>
                  <a:schemeClr val="tx1"/>
                </a:solidFill>
                <a:effectLst/>
                <a:latin typeface="Segoe UI" panose="020B0502040204020203" pitchFamily="34" charset="0"/>
                <a:ea typeface="+mn-ea"/>
                <a:cs typeface="+mn-cs"/>
              </a:rPr>
              <a:t>We've built a dev kit lets security teams deploy and iterate on AI agents in </a:t>
            </a:r>
            <a:r>
              <a:rPr lang="en-US" sz="882" b="1" i="0" kern="1200" dirty="0">
                <a:solidFill>
                  <a:schemeClr val="tx1"/>
                </a:solidFill>
                <a:effectLst/>
                <a:latin typeface="Segoe UI" panose="020B0502040204020203" pitchFamily="34" charset="0"/>
                <a:ea typeface="+mn-ea"/>
                <a:cs typeface="+mn-cs"/>
              </a:rPr>
              <a:t>under a day </a:t>
            </a:r>
            <a:r>
              <a:rPr lang="en-US" sz="882" b="0" i="0" kern="1200" dirty="0">
                <a:solidFill>
                  <a:schemeClr val="tx1"/>
                </a:solidFill>
                <a:effectLst/>
                <a:latin typeface="Segoe UI" panose="020B0502040204020203" pitchFamily="34" charset="0"/>
                <a:ea typeface="+mn-ea"/>
                <a:cs typeface="+mn-cs"/>
              </a:rPr>
              <a:t>with a clear path to production and enterprise scale. Validate ideas in minutes, not months. That's how you stay ahead of adversaries."</a:t>
            </a:r>
          </a:p>
          <a:p>
            <a:r>
              <a:rPr lang="en-US" sz="882" b="1" i="0" kern="1200" dirty="0">
                <a:solidFill>
                  <a:schemeClr val="tx1"/>
                </a:solidFill>
                <a:effectLst/>
                <a:latin typeface="Segoe UI" panose="020B0502040204020203" pitchFamily="34" charset="0"/>
                <a:ea typeface="+mn-ea"/>
                <a:cs typeface="+mn-cs"/>
              </a:rPr>
              <a:t>Key phrase to land</a:t>
            </a:r>
            <a:r>
              <a:rPr lang="en-US" sz="882" b="0" i="0" kern="1200" dirty="0">
                <a:solidFill>
                  <a:schemeClr val="tx1"/>
                </a:solidFill>
                <a:effectLst/>
                <a:latin typeface="Segoe UI" panose="020B0502040204020203" pitchFamily="34" charset="0"/>
                <a:ea typeface="+mn-ea"/>
                <a:cs typeface="+mn-cs"/>
              </a:rPr>
              <a:t>: </a:t>
            </a:r>
            <a:r>
              <a:rPr lang="en-US" sz="882" b="0" i="1" kern="1200" dirty="0">
                <a:solidFill>
                  <a:schemeClr val="tx1"/>
                </a:solidFill>
                <a:effectLst/>
                <a:latin typeface="Segoe UI" panose="020B0502040204020203" pitchFamily="34" charset="0"/>
                <a:ea typeface="+mn-ea"/>
                <a:cs typeface="+mn-cs"/>
              </a:rPr>
              <a:t>"Speed to experiment is speed to protect."</a:t>
            </a:r>
            <a:endParaRPr lang="en-US" sz="882" b="0" i="0" kern="1200" dirty="0">
              <a:solidFill>
                <a:schemeClr val="tx1"/>
              </a:solidFill>
              <a:effectLst/>
              <a:latin typeface="Segoe UI" panose="020B0502040204020203" pitchFamily="34" charset="0"/>
              <a:ea typeface="+mn-ea"/>
              <a:cs typeface="+mn-cs"/>
            </a:endParaRPr>
          </a:p>
          <a:p>
            <a:br>
              <a:rPr lang="en-US" dirty="0"/>
            </a:br>
            <a:r>
              <a:rPr lang="en-US" sz="882" b="1" i="0" kern="1200" dirty="0">
                <a:solidFill>
                  <a:schemeClr val="tx1"/>
                </a:solidFill>
                <a:effectLst/>
                <a:latin typeface="Segoe UI" panose="020B0502040204020203" pitchFamily="34" charset="0"/>
                <a:ea typeface="+mn-ea"/>
                <a:cs typeface="+mn-cs"/>
              </a:rPr>
              <a:t>Transition to Next Slide (5 seconds)</a:t>
            </a:r>
          </a:p>
          <a:p>
            <a:r>
              <a:rPr lang="en-US" sz="882" b="0" i="0" kern="1200" dirty="0">
                <a:solidFill>
                  <a:schemeClr val="tx1"/>
                </a:solidFill>
                <a:effectLst/>
                <a:latin typeface="Segoe UI" panose="020B0502040204020203" pitchFamily="34" charset="0"/>
                <a:ea typeface="+mn-ea"/>
                <a:cs typeface="+mn-cs"/>
              </a:rPr>
              <a:t>"So those are the outcomes. Now let's look at how we deliver them."</a:t>
            </a:r>
          </a:p>
          <a:p>
            <a:endParaRPr lang="en-US" sz="882" b="1" i="0" kern="1200" dirty="0">
              <a:solidFill>
                <a:schemeClr val="tx1"/>
              </a:solidFill>
              <a:effectLst/>
              <a:latin typeface="Segoe UI" panose="020B0502040204020203" pitchFamily="34" charset="0"/>
              <a:ea typeface="+mn-ea"/>
              <a:cs typeface="+mn-cs"/>
            </a:endParaRPr>
          </a:p>
          <a:p>
            <a:endParaRPr lang="en-US" sz="882" b="1" i="0" kern="1200" dirty="0">
              <a:solidFill>
                <a:schemeClr val="tx1"/>
              </a:solidFill>
              <a:effectLst/>
              <a:latin typeface="Segoe UI" panose="020B0502040204020203" pitchFamily="34" charset="0"/>
              <a:ea typeface="+mn-ea"/>
              <a:cs typeface="+mn-cs"/>
            </a:endParaRPr>
          </a:p>
          <a:p>
            <a:endParaRPr lang="en-US" sz="882" b="1" i="0" kern="1200" dirty="0">
              <a:solidFill>
                <a:schemeClr val="tx1"/>
              </a:solidFill>
              <a:effectLst/>
              <a:latin typeface="Segoe UI" panose="020B0502040204020203" pitchFamily="34" charset="0"/>
              <a:ea typeface="+mn-ea"/>
              <a:cs typeface="+mn-cs"/>
            </a:endParaRPr>
          </a:p>
          <a:p>
            <a:endParaRPr lang="en-US" sz="882" b="1" i="0" kern="1200" dirty="0">
              <a:solidFill>
                <a:schemeClr val="tx1"/>
              </a:solidFill>
              <a:effectLst/>
              <a:latin typeface="Segoe UI" panose="020B0502040204020203" pitchFamily="34" charset="0"/>
              <a:ea typeface="+mn-ea"/>
              <a:cs typeface="+mn-cs"/>
            </a:endParaRPr>
          </a:p>
          <a:p>
            <a:r>
              <a:rPr lang="en-US" sz="882" b="1" i="0" kern="1200" dirty="0">
                <a:solidFill>
                  <a:schemeClr val="tx1"/>
                </a:solidFill>
                <a:effectLst/>
                <a:latin typeface="Segoe UI" panose="020B0502040204020203" pitchFamily="34" charset="0"/>
                <a:ea typeface="+mn-ea"/>
                <a:cs typeface="+mn-cs"/>
              </a:rPr>
              <a:t>----</a:t>
            </a:r>
          </a:p>
          <a:p>
            <a:endParaRPr lang="en-US" sz="882" b="1" i="0" kern="1200" dirty="0">
              <a:solidFill>
                <a:schemeClr val="tx1"/>
              </a:solidFill>
              <a:effectLst/>
              <a:latin typeface="Segoe UI" panose="020B0502040204020203" pitchFamily="34" charset="0"/>
              <a:ea typeface="+mn-ea"/>
              <a:cs typeface="+mn-cs"/>
            </a:endParaRPr>
          </a:p>
          <a:p>
            <a:r>
              <a:rPr lang="en-US" sz="882" b="1" i="0" kern="1200" dirty="0">
                <a:solidFill>
                  <a:schemeClr val="tx1"/>
                </a:solidFill>
                <a:effectLst/>
                <a:latin typeface="Segoe UI" panose="020B0502040204020203" pitchFamily="34" charset="0"/>
                <a:ea typeface="+mn-ea"/>
                <a:cs typeface="+mn-cs"/>
              </a:rPr>
              <a:t>MTTD Baseline (4-6 hours): </a:t>
            </a:r>
          </a:p>
          <a:p>
            <a:r>
              <a:rPr lang="en-US" sz="882" b="0" i="0" kern="1200" dirty="0">
                <a:solidFill>
                  <a:schemeClr val="tx1"/>
                </a:solidFill>
                <a:effectLst/>
                <a:latin typeface="Segoe UI" panose="020B0502040204020203" pitchFamily="34" charset="0"/>
                <a:ea typeface="+mn-ea"/>
                <a:cs typeface="+mn-cs"/>
              </a:rPr>
              <a:t>• IBM/</a:t>
            </a:r>
            <a:r>
              <a:rPr lang="en-US" sz="882" b="0" i="0" kern="1200" dirty="0" err="1">
                <a:solidFill>
                  <a:schemeClr val="tx1"/>
                </a:solidFill>
                <a:effectLst/>
                <a:latin typeface="Segoe UI" panose="020B0502040204020203" pitchFamily="34" charset="0"/>
                <a:ea typeface="+mn-ea"/>
                <a:cs typeface="+mn-cs"/>
              </a:rPr>
              <a:t>Ponemon</a:t>
            </a:r>
            <a:r>
              <a:rPr lang="en-US" sz="882" b="0" i="0" kern="1200" dirty="0">
                <a:solidFill>
                  <a:schemeClr val="tx1"/>
                </a:solidFill>
                <a:effectLst/>
                <a:latin typeface="Segoe UI" panose="020B0502040204020203" pitchFamily="34" charset="0"/>
                <a:ea typeface="+mn-ea"/>
                <a:cs typeface="+mn-cs"/>
              </a:rPr>
              <a:t> Institute, "Cost of a Data Breach Report 2024” https://</a:t>
            </a:r>
            <a:r>
              <a:rPr lang="en-US" sz="882" b="0" i="0" kern="1200" dirty="0" err="1">
                <a:solidFill>
                  <a:schemeClr val="tx1"/>
                </a:solidFill>
                <a:effectLst/>
                <a:latin typeface="Segoe UI" panose="020B0502040204020203" pitchFamily="34" charset="0"/>
                <a:ea typeface="+mn-ea"/>
                <a:cs typeface="+mn-cs"/>
              </a:rPr>
              <a:t>www.ibm.com</a:t>
            </a:r>
            <a:r>
              <a:rPr lang="en-US" sz="882" b="0" i="0" kern="1200" dirty="0">
                <a:solidFill>
                  <a:schemeClr val="tx1"/>
                </a:solidFill>
                <a:effectLst/>
                <a:latin typeface="Segoe UI" panose="020B0502040204020203" pitchFamily="34" charset="0"/>
                <a:ea typeface="+mn-ea"/>
                <a:cs typeface="+mn-cs"/>
              </a:rPr>
              <a:t>/security/data-breach</a:t>
            </a:r>
          </a:p>
          <a:p>
            <a:endParaRPr lang="en-US" sz="882" b="1" i="0" kern="1200" dirty="0">
              <a:solidFill>
                <a:schemeClr val="tx1"/>
              </a:solidFill>
              <a:effectLst/>
              <a:latin typeface="Segoe UI" panose="020B0502040204020203" pitchFamily="34" charset="0"/>
              <a:ea typeface="+mn-ea"/>
              <a:cs typeface="+mn-cs"/>
            </a:endParaRPr>
          </a:p>
          <a:p>
            <a:r>
              <a:rPr lang="en-US" sz="882" b="1" i="0" kern="1200" dirty="0">
                <a:solidFill>
                  <a:schemeClr val="tx1"/>
                </a:solidFill>
                <a:effectLst/>
                <a:latin typeface="Segoe UI" panose="020B0502040204020203" pitchFamily="34" charset="0"/>
                <a:ea typeface="+mn-ea"/>
                <a:cs typeface="+mn-cs"/>
              </a:rPr>
              <a:t>MTTD Target (&lt;15 min / 75% reduction):</a:t>
            </a:r>
          </a:p>
          <a:p>
            <a:r>
              <a:rPr lang="en-US" sz="882" b="0" i="0" kern="1200" dirty="0">
                <a:solidFill>
                  <a:schemeClr val="tx1"/>
                </a:solidFill>
                <a:effectLst/>
                <a:latin typeface="Segoe UI" panose="020B0502040204020203" pitchFamily="34" charset="0"/>
                <a:ea typeface="+mn-ea"/>
                <a:cs typeface="+mn-cs"/>
              </a:rPr>
              <a:t>• Forrester, "Security Automation Benefits" (2023)</a:t>
            </a:r>
          </a:p>
          <a:p>
            <a:r>
              <a:rPr lang="en-US" sz="882" b="0" i="0" kern="1200" dirty="0">
                <a:solidFill>
                  <a:schemeClr val="tx1"/>
                </a:solidFill>
                <a:effectLst/>
                <a:latin typeface="Segoe UI" panose="020B0502040204020203" pitchFamily="34" charset="0"/>
                <a:ea typeface="+mn-ea"/>
                <a:cs typeface="+mn-cs"/>
              </a:rPr>
              <a:t>• Gartner, "SOAR Performance Metrics" (2023)</a:t>
            </a:r>
          </a:p>
          <a:p>
            <a:r>
              <a:rPr lang="en-US" sz="882" b="0" i="0" kern="1200" dirty="0">
                <a:solidFill>
                  <a:schemeClr val="tx1"/>
                </a:solidFill>
                <a:effectLst/>
                <a:latin typeface="Segoe UI" panose="020B0502040204020203" pitchFamily="34" charset="0"/>
                <a:ea typeface="+mn-ea"/>
                <a:cs typeface="+mn-cs"/>
              </a:rPr>
              <a:t>• Industry benchmark: 60-80% MTTD reduction with automated alert correlation</a:t>
            </a:r>
          </a:p>
          <a:p>
            <a:endParaRPr lang="en-US" sz="882" b="1" i="0" kern="1200" dirty="0">
              <a:solidFill>
                <a:schemeClr val="tx1"/>
              </a:solidFill>
              <a:effectLst/>
              <a:latin typeface="Segoe UI" panose="020B0502040204020203" pitchFamily="34" charset="0"/>
              <a:ea typeface="+mn-ea"/>
              <a:cs typeface="+mn-cs"/>
            </a:endParaRPr>
          </a:p>
          <a:p>
            <a:r>
              <a:rPr lang="en-US" sz="882" b="1" i="0" kern="1200" dirty="0">
                <a:solidFill>
                  <a:schemeClr val="tx1"/>
                </a:solidFill>
                <a:effectLst/>
                <a:latin typeface="Segoe UI" panose="020B0502040204020203" pitchFamily="34" charset="0"/>
                <a:ea typeface="+mn-ea"/>
                <a:cs typeface="+mn-cs"/>
              </a:rPr>
              <a:t>---</a:t>
            </a:r>
          </a:p>
          <a:p>
            <a:endParaRPr lang="en-US" sz="882" b="1" i="0" kern="1200" dirty="0">
              <a:solidFill>
                <a:schemeClr val="tx1"/>
              </a:solidFill>
              <a:effectLst/>
              <a:latin typeface="Segoe UI" panose="020B0502040204020203" pitchFamily="34" charset="0"/>
              <a:ea typeface="+mn-ea"/>
              <a:cs typeface="+mn-cs"/>
            </a:endParaRPr>
          </a:p>
          <a:p>
            <a:r>
              <a:rPr lang="en-US" sz="882" b="1" i="0" kern="1200" dirty="0">
                <a:solidFill>
                  <a:schemeClr val="tx1"/>
                </a:solidFill>
                <a:effectLst/>
                <a:latin typeface="Segoe UI" panose="020B0502040204020203" pitchFamily="34" charset="0"/>
                <a:ea typeface="+mn-ea"/>
                <a:cs typeface="+mn-cs"/>
              </a:rPr>
              <a:t>70% False Positive Rate (Industry Problem)</a:t>
            </a:r>
            <a:br>
              <a:rPr lang="en-US" sz="882" b="0" i="0" kern="1200" dirty="0">
                <a:solidFill>
                  <a:schemeClr val="tx1"/>
                </a:solidFill>
                <a:effectLst/>
                <a:latin typeface="Segoe UI" panose="020B0502040204020203" pitchFamily="34" charset="0"/>
                <a:ea typeface="+mn-ea"/>
                <a:cs typeface="+mn-cs"/>
              </a:rPr>
            </a:br>
            <a:r>
              <a:rPr lang="en-US" sz="882" b="0" i="0" kern="1200" dirty="0">
                <a:solidFill>
                  <a:schemeClr val="tx1"/>
                </a:solidFill>
                <a:effectLst/>
                <a:latin typeface="Segoe UI" panose="020B0502040204020203" pitchFamily="34" charset="0"/>
                <a:ea typeface="+mn-ea"/>
                <a:cs typeface="+mn-cs"/>
              </a:rPr>
              <a:t>Cisco, "2023 Cybersecurity Threat Trends Report." Also supported by </a:t>
            </a:r>
            <a:r>
              <a:rPr lang="en-US" sz="882" b="0" i="0" kern="1200" dirty="0" err="1">
                <a:solidFill>
                  <a:schemeClr val="tx1"/>
                </a:solidFill>
                <a:effectLst/>
                <a:latin typeface="Segoe UI" panose="020B0502040204020203" pitchFamily="34" charset="0"/>
                <a:ea typeface="+mn-ea"/>
                <a:cs typeface="+mn-cs"/>
              </a:rPr>
              <a:t>Ponemon</a:t>
            </a:r>
            <a:r>
              <a:rPr lang="en-US" sz="882" b="0" i="0" kern="1200" dirty="0">
                <a:solidFill>
                  <a:schemeClr val="tx1"/>
                </a:solidFill>
                <a:effectLst/>
                <a:latin typeface="Segoe UI" panose="020B0502040204020203" pitchFamily="34" charset="0"/>
                <a:ea typeface="+mn-ea"/>
                <a:cs typeface="+mn-cs"/>
              </a:rPr>
              <a:t> Institute, "The Cost of Malware Containment."</a:t>
            </a:r>
          </a:p>
          <a:p>
            <a:r>
              <a:rPr lang="en-US" sz="882" b="1" i="0" kern="1200" dirty="0">
                <a:solidFill>
                  <a:schemeClr val="tx1"/>
                </a:solidFill>
                <a:effectLst/>
                <a:latin typeface="Segoe UI" panose="020B0502040204020203" pitchFamily="34" charset="0"/>
                <a:ea typeface="+mn-ea"/>
                <a:cs typeface="+mn-cs"/>
              </a:rPr>
              <a:t>60-70% False Positive Reduction (Solution Benefit)</a:t>
            </a:r>
            <a:br>
              <a:rPr lang="en-US" sz="882" b="0" i="0" kern="1200" dirty="0">
                <a:solidFill>
                  <a:schemeClr val="tx1"/>
                </a:solidFill>
                <a:effectLst/>
                <a:latin typeface="Segoe UI" panose="020B0502040204020203" pitchFamily="34" charset="0"/>
                <a:ea typeface="+mn-ea"/>
                <a:cs typeface="+mn-cs"/>
              </a:rPr>
            </a:br>
            <a:r>
              <a:rPr lang="en-US" sz="882" b="0" i="0" kern="1200" dirty="0">
                <a:solidFill>
                  <a:schemeClr val="tx1"/>
                </a:solidFill>
                <a:effectLst/>
                <a:latin typeface="Segoe UI" panose="020B0502040204020203" pitchFamily="34" charset="0"/>
                <a:ea typeface="+mn-ea"/>
                <a:cs typeface="+mn-cs"/>
              </a:rPr>
              <a:t>Forrester Research, "The Total Economic Impact of Security Automation and Orchestration," TEI Study (2023).</a:t>
            </a:r>
          </a:p>
          <a:p>
            <a:r>
              <a:rPr lang="en-US" sz="882" b="1" i="0" kern="1200" dirty="0">
                <a:solidFill>
                  <a:schemeClr val="tx1"/>
                </a:solidFill>
                <a:effectLst/>
                <a:latin typeface="Segoe UI" panose="020B0502040204020203" pitchFamily="34" charset="0"/>
                <a:ea typeface="+mn-ea"/>
                <a:cs typeface="+mn-cs"/>
              </a:rPr>
              <a:t>&gt;80% Triage Accuracy (Our Validation)</a:t>
            </a:r>
            <a:br>
              <a:rPr lang="en-US" sz="882" b="0" i="0" kern="1200" dirty="0">
                <a:solidFill>
                  <a:schemeClr val="tx1"/>
                </a:solidFill>
                <a:effectLst/>
                <a:latin typeface="Segoe UI" panose="020B0502040204020203" pitchFamily="34" charset="0"/>
                <a:ea typeface="+mn-ea"/>
                <a:cs typeface="+mn-cs"/>
              </a:rPr>
            </a:br>
            <a:r>
              <a:rPr lang="en-US" sz="882" b="0" i="0" kern="1200" dirty="0">
                <a:solidFill>
                  <a:schemeClr val="tx1"/>
                </a:solidFill>
                <a:effectLst/>
                <a:latin typeface="Segoe UI" panose="020B0502040204020203" pitchFamily="34" charset="0"/>
                <a:ea typeface="+mn-ea"/>
                <a:cs typeface="+mn-cs"/>
              </a:rPr>
              <a:t>Microsoft Research, "GUIDE: Real-World Enterprise Security Dataset" (2023). Contains 1.17M+ realistic security events with ground truth labels for validation.</a:t>
            </a:r>
          </a:p>
          <a:p>
            <a:endParaRPr lang="en-US" dirty="0"/>
          </a:p>
          <a:p>
            <a:r>
              <a:rPr lang="en-US" dirty="0"/>
              <a:t>---</a:t>
            </a:r>
          </a:p>
          <a:p>
            <a:endParaRPr lang="en-US" dirty="0"/>
          </a:p>
          <a:p>
            <a:r>
              <a:rPr lang="en-US" sz="882" b="0" i="0" kern="1200" dirty="0">
                <a:solidFill>
                  <a:schemeClr val="tx1"/>
                </a:solidFill>
                <a:effectLst/>
                <a:latin typeface="Segoe UI" panose="020B0502040204020203" pitchFamily="34" charset="0"/>
                <a:ea typeface="+mn-ea"/>
                <a:cs typeface="+mn-cs"/>
              </a:rPr>
              <a:t>Traditional AI security development takes 4-8 weeks (Gartner, 2023). Our development kit compresses this to &lt;1 day—10x faster (Forrester, 2023).</a:t>
            </a: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2/23/2026 7:57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17079809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882" b="0" i="0" kern="1200" dirty="0">
                <a:solidFill>
                  <a:schemeClr val="tx1"/>
                </a:solidFill>
                <a:effectLst/>
                <a:latin typeface="Segoe UI" panose="020B0502040204020203" pitchFamily="34" charset="0"/>
                <a:ea typeface="+mn-ea"/>
                <a:cs typeface="+mn-cs"/>
              </a:rPr>
              <a:t>"So how do we deliver those outcomes? This is </a:t>
            </a:r>
            <a:r>
              <a:rPr lang="en-US" sz="882" b="1" i="0" kern="1200" dirty="0">
                <a:solidFill>
                  <a:schemeClr val="tx1"/>
                </a:solidFill>
                <a:effectLst/>
                <a:latin typeface="Segoe UI" panose="020B0502040204020203" pitchFamily="34" charset="0"/>
                <a:ea typeface="+mn-ea"/>
                <a:cs typeface="+mn-cs"/>
              </a:rPr>
              <a:t>not</a:t>
            </a:r>
            <a:r>
              <a:rPr lang="en-US" sz="882" b="0" i="0" kern="1200" dirty="0">
                <a:solidFill>
                  <a:schemeClr val="tx1"/>
                </a:solidFill>
                <a:effectLst/>
                <a:latin typeface="Segoe UI" panose="020B0502040204020203" pitchFamily="34" charset="0"/>
                <a:ea typeface="+mn-ea"/>
                <a:cs typeface="+mn-cs"/>
              </a:rPr>
              <a:t> a point product. It's a development kit — a framework for building, testing, and deploying security-focused AI agents."</a:t>
            </a:r>
          </a:p>
          <a:p>
            <a:br>
              <a:rPr lang="en-US" dirty="0"/>
            </a:br>
            <a:endParaRPr lang="en-US" dirty="0"/>
          </a:p>
          <a:p>
            <a:r>
              <a:rPr lang="en-US" sz="882" b="1" i="0" kern="1200" dirty="0">
                <a:solidFill>
                  <a:schemeClr val="tx1"/>
                </a:solidFill>
                <a:effectLst/>
                <a:latin typeface="Segoe UI" panose="020B0502040204020203" pitchFamily="34" charset="0"/>
                <a:ea typeface="+mn-ea"/>
                <a:cs typeface="+mn-cs"/>
              </a:rPr>
              <a:t>What It Is (20-30 seconds)</a:t>
            </a:r>
          </a:p>
          <a:p>
            <a:r>
              <a:rPr lang="en-US" sz="882" b="0" i="0" kern="1200" dirty="0">
                <a:solidFill>
                  <a:schemeClr val="tx1"/>
                </a:solidFill>
                <a:effectLst/>
                <a:latin typeface="Segoe UI" panose="020B0502040204020203" pitchFamily="34" charset="0"/>
                <a:ea typeface="+mn-ea"/>
                <a:cs typeface="+mn-cs"/>
              </a:rPr>
              <a:t>"The Agentic SOC is built on </a:t>
            </a:r>
            <a:r>
              <a:rPr lang="en-US" sz="882" b="1" i="0" kern="1200" dirty="0">
                <a:solidFill>
                  <a:schemeClr val="tx1"/>
                </a:solidFill>
                <a:effectLst/>
                <a:latin typeface="Segoe UI" panose="020B0502040204020203" pitchFamily="34" charset="0"/>
                <a:ea typeface="+mn-ea"/>
                <a:cs typeface="+mn-cs"/>
              </a:rPr>
              <a:t>Microsoft Foundry</a:t>
            </a:r>
            <a:r>
              <a:rPr lang="en-US" sz="882" b="0" i="0" kern="1200" dirty="0">
                <a:solidFill>
                  <a:schemeClr val="tx1"/>
                </a:solidFill>
                <a:effectLst/>
                <a:latin typeface="Segoe UI" panose="020B0502040204020203" pitchFamily="34" charset="0"/>
                <a:ea typeface="+mn-ea"/>
                <a:cs typeface="+mn-cs"/>
              </a:rPr>
              <a:t> — Microsoft's enterprise-grade platform for agentic AI.</a:t>
            </a:r>
          </a:p>
          <a:p>
            <a:r>
              <a:rPr lang="en-US" sz="882" b="0" i="0" kern="1200" dirty="0">
                <a:solidFill>
                  <a:schemeClr val="tx1"/>
                </a:solidFill>
                <a:effectLst/>
                <a:latin typeface="Segoe UI" panose="020B0502040204020203" pitchFamily="34" charset="0"/>
                <a:ea typeface="+mn-ea"/>
                <a:cs typeface="+mn-cs"/>
              </a:rPr>
              <a:t>But we've made it </a:t>
            </a:r>
            <a:r>
              <a:rPr lang="en-US" sz="882" b="1" i="0" kern="1200" dirty="0">
                <a:solidFill>
                  <a:schemeClr val="tx1"/>
                </a:solidFill>
                <a:effectLst/>
                <a:latin typeface="Segoe UI" panose="020B0502040204020203" pitchFamily="34" charset="0"/>
                <a:ea typeface="+mn-ea"/>
                <a:cs typeface="+mn-cs"/>
              </a:rPr>
              <a:t>security-specific</a:t>
            </a:r>
            <a:r>
              <a:rPr lang="en-US" sz="882" b="0" i="0" kern="1200" dirty="0">
                <a:solidFill>
                  <a:schemeClr val="tx1"/>
                </a:solidFill>
                <a:effectLst/>
                <a:latin typeface="Segoe UI" panose="020B0502040204020203" pitchFamily="34" charset="0"/>
                <a:ea typeface="+mn-ea"/>
                <a:cs typeface="+mn-cs"/>
              </a:rPr>
              <a:t>. This isn't a generic chatbot framework — it's purpose-built for SOC workflows: detection, investigation, and response."</a:t>
            </a:r>
          </a:p>
          <a:p>
            <a:br>
              <a:rPr lang="en-US" dirty="0"/>
            </a:br>
            <a:endParaRPr lang="en-US" dirty="0"/>
          </a:p>
          <a:p>
            <a:r>
              <a:rPr lang="en-US" sz="882" b="1" i="0" kern="1200" dirty="0">
                <a:solidFill>
                  <a:schemeClr val="tx1"/>
                </a:solidFill>
                <a:effectLst/>
                <a:latin typeface="Segoe UI" panose="020B0502040204020203" pitchFamily="34" charset="0"/>
                <a:ea typeface="+mn-ea"/>
                <a:cs typeface="+mn-cs"/>
              </a:rPr>
              <a:t>The Four Starter Agents (20-30 seconds)</a:t>
            </a:r>
          </a:p>
          <a:p>
            <a:r>
              <a:rPr lang="en-US" sz="882" b="0" i="0" kern="1200" dirty="0">
                <a:solidFill>
                  <a:schemeClr val="tx1"/>
                </a:solidFill>
                <a:effectLst/>
                <a:latin typeface="Segoe UI" panose="020B0502040204020203" pitchFamily="34" charset="0"/>
                <a:ea typeface="+mn-ea"/>
                <a:cs typeface="+mn-cs"/>
              </a:rPr>
              <a:t>"The kit ships with </a:t>
            </a:r>
            <a:r>
              <a:rPr lang="en-US" sz="882" b="1" i="0" kern="1200" dirty="0">
                <a:solidFill>
                  <a:schemeClr val="tx1"/>
                </a:solidFill>
                <a:effectLst/>
                <a:latin typeface="Segoe UI" panose="020B0502040204020203" pitchFamily="34" charset="0"/>
                <a:ea typeface="+mn-ea"/>
                <a:cs typeface="+mn-cs"/>
              </a:rPr>
              <a:t>four specialized agents</a:t>
            </a:r>
            <a:r>
              <a:rPr lang="en-US" sz="882" b="0" i="0" kern="1200" dirty="0">
                <a:solidFill>
                  <a:schemeClr val="tx1"/>
                </a:solidFill>
                <a:effectLst/>
                <a:latin typeface="Segoe UI" panose="020B0502040204020203" pitchFamily="34" charset="0"/>
                <a:ea typeface="+mn-ea"/>
                <a:cs typeface="+mn-cs"/>
              </a:rPr>
              <a:t>:</a:t>
            </a:r>
          </a:p>
          <a:p>
            <a:r>
              <a:rPr lang="en-US" sz="882" b="1" i="0" kern="1200" dirty="0">
                <a:solidFill>
                  <a:schemeClr val="tx1"/>
                </a:solidFill>
                <a:effectLst/>
                <a:latin typeface="Segoe UI" panose="020B0502040204020203" pitchFamily="34" charset="0"/>
                <a:ea typeface="+mn-ea"/>
                <a:cs typeface="+mn-cs"/>
              </a:rPr>
              <a:t>Alert Triage</a:t>
            </a:r>
            <a:r>
              <a:rPr lang="en-US" sz="882" b="0" i="0" kern="1200" dirty="0">
                <a:solidFill>
                  <a:schemeClr val="tx1"/>
                </a:solidFill>
                <a:effectLst/>
                <a:latin typeface="Segoe UI" panose="020B0502040204020203" pitchFamily="34" charset="0"/>
                <a:ea typeface="+mn-ea"/>
                <a:cs typeface="+mn-cs"/>
              </a:rPr>
              <a:t> — automated severity assessment and prioritization</a:t>
            </a:r>
          </a:p>
          <a:p>
            <a:r>
              <a:rPr lang="en-US" sz="882" b="1" i="0" kern="1200" dirty="0">
                <a:solidFill>
                  <a:schemeClr val="tx1"/>
                </a:solidFill>
                <a:effectLst/>
                <a:latin typeface="Segoe UI" panose="020B0502040204020203" pitchFamily="34" charset="0"/>
                <a:ea typeface="+mn-ea"/>
                <a:cs typeface="+mn-cs"/>
              </a:rPr>
              <a:t>Threat Hunting</a:t>
            </a:r>
            <a:r>
              <a:rPr lang="en-US" sz="882" b="0" i="0" kern="1200" dirty="0">
                <a:solidFill>
                  <a:schemeClr val="tx1"/>
                </a:solidFill>
                <a:effectLst/>
                <a:latin typeface="Segoe UI" panose="020B0502040204020203" pitchFamily="34" charset="0"/>
                <a:ea typeface="+mn-ea"/>
                <a:cs typeface="+mn-cs"/>
              </a:rPr>
              <a:t> — proactive search for indicators of compromise</a:t>
            </a:r>
          </a:p>
          <a:p>
            <a:r>
              <a:rPr lang="en-US" sz="882" b="1" i="0" kern="1200" dirty="0">
                <a:solidFill>
                  <a:schemeClr val="tx1"/>
                </a:solidFill>
                <a:effectLst/>
                <a:latin typeface="Segoe UI" panose="020B0502040204020203" pitchFamily="34" charset="0"/>
                <a:ea typeface="+mn-ea"/>
                <a:cs typeface="+mn-cs"/>
              </a:rPr>
              <a:t>Incident Response</a:t>
            </a:r>
            <a:r>
              <a:rPr lang="en-US" sz="882" b="0" i="0" kern="1200" dirty="0">
                <a:solidFill>
                  <a:schemeClr val="tx1"/>
                </a:solidFill>
                <a:effectLst/>
                <a:latin typeface="Segoe UI" panose="020B0502040204020203" pitchFamily="34" charset="0"/>
                <a:ea typeface="+mn-ea"/>
                <a:cs typeface="+mn-cs"/>
              </a:rPr>
              <a:t> — orchestrated containment and remediation</a:t>
            </a:r>
          </a:p>
          <a:p>
            <a:r>
              <a:rPr lang="en-US" sz="882" b="1" i="0" kern="1200" dirty="0">
                <a:solidFill>
                  <a:schemeClr val="tx1"/>
                </a:solidFill>
                <a:effectLst/>
                <a:latin typeface="Segoe UI" panose="020B0502040204020203" pitchFamily="34" charset="0"/>
                <a:ea typeface="+mn-ea"/>
                <a:cs typeface="+mn-cs"/>
              </a:rPr>
              <a:t>Threat Intelligence</a:t>
            </a:r>
            <a:r>
              <a:rPr lang="en-US" sz="882" b="0" i="0" kern="1200" dirty="0">
                <a:solidFill>
                  <a:schemeClr val="tx1"/>
                </a:solidFill>
                <a:effectLst/>
                <a:latin typeface="Segoe UI" panose="020B0502040204020203" pitchFamily="34" charset="0"/>
                <a:ea typeface="+mn-ea"/>
                <a:cs typeface="+mn-cs"/>
              </a:rPr>
              <a:t> — enrichment with external threat context</a:t>
            </a:r>
          </a:p>
          <a:p>
            <a:r>
              <a:rPr lang="en-US" sz="882" b="0" i="0" kern="1200" dirty="0">
                <a:solidFill>
                  <a:schemeClr val="tx1"/>
                </a:solidFill>
                <a:effectLst/>
                <a:latin typeface="Segoe UI" panose="020B0502040204020203" pitchFamily="34" charset="0"/>
                <a:ea typeface="+mn-ea"/>
                <a:cs typeface="+mn-cs"/>
              </a:rPr>
              <a:t>These aren't demos — they're working agents you can extend and customize."</a:t>
            </a:r>
          </a:p>
          <a:p>
            <a:br>
              <a:rPr lang="en-US" dirty="0"/>
            </a:br>
            <a:endParaRPr lang="en-US" dirty="0"/>
          </a:p>
          <a:p>
            <a:r>
              <a:rPr lang="en-US" sz="882" b="1" i="0" kern="1200" dirty="0">
                <a:solidFill>
                  <a:schemeClr val="tx1"/>
                </a:solidFill>
                <a:effectLst/>
                <a:latin typeface="Segoe UI" panose="020B0502040204020203" pitchFamily="34" charset="0"/>
                <a:ea typeface="+mn-ea"/>
                <a:cs typeface="+mn-cs"/>
              </a:rPr>
              <a:t>What Makes It Credible (15-20 seconds)</a:t>
            </a:r>
          </a:p>
          <a:p>
            <a:r>
              <a:rPr lang="en-US" sz="882" b="0" i="0" kern="1200" dirty="0">
                <a:solidFill>
                  <a:schemeClr val="tx1"/>
                </a:solidFill>
                <a:effectLst/>
                <a:latin typeface="Segoe UI" panose="020B0502040204020203" pitchFamily="34" charset="0"/>
                <a:ea typeface="+mn-ea"/>
                <a:cs typeface="+mn-cs"/>
              </a:rPr>
              <a:t>"What sets this apart: it's </a:t>
            </a:r>
            <a:r>
              <a:rPr lang="en-US" sz="882" b="1" i="0" kern="1200" dirty="0">
                <a:solidFill>
                  <a:schemeClr val="tx1"/>
                </a:solidFill>
                <a:effectLst/>
                <a:latin typeface="Segoe UI" panose="020B0502040204020203" pitchFamily="34" charset="0"/>
                <a:ea typeface="+mn-ea"/>
                <a:cs typeface="+mn-cs"/>
              </a:rPr>
              <a:t>grounded in 14,000+ MITRE ATT&amp;CK scenarios</a:t>
            </a:r>
            <a:r>
              <a:rPr lang="en-US" sz="882" b="0" i="0" kern="1200" dirty="0">
                <a:solidFill>
                  <a:schemeClr val="tx1"/>
                </a:solidFill>
                <a:effectLst/>
                <a:latin typeface="Segoe UI" panose="020B0502040204020203" pitchFamily="34" charset="0"/>
                <a:ea typeface="+mn-ea"/>
                <a:cs typeface="+mn-cs"/>
              </a:rPr>
              <a:t> and </a:t>
            </a:r>
            <a:r>
              <a:rPr lang="en-US" sz="882" b="1" i="0" kern="1200" dirty="0">
                <a:solidFill>
                  <a:schemeClr val="tx1"/>
                </a:solidFill>
                <a:effectLst/>
                <a:latin typeface="Segoe UI" panose="020B0502040204020203" pitchFamily="34" charset="0"/>
                <a:ea typeface="+mn-ea"/>
                <a:cs typeface="+mn-cs"/>
              </a:rPr>
              <a:t>validated against the Microsoft Research GUIDE dataset</a:t>
            </a:r>
            <a:r>
              <a:rPr lang="en-US" sz="882" b="0" i="0" kern="1200" dirty="0">
                <a:solidFill>
                  <a:schemeClr val="tx1"/>
                </a:solidFill>
                <a:effectLst/>
                <a:latin typeface="Segoe UI" panose="020B0502040204020203" pitchFamily="34" charset="0"/>
                <a:ea typeface="+mn-ea"/>
                <a:cs typeface="+mn-cs"/>
              </a:rPr>
              <a:t> — over a million security events with ground truth.</a:t>
            </a:r>
          </a:p>
          <a:p>
            <a:r>
              <a:rPr lang="en-US" sz="882" b="0" i="0" kern="1200" dirty="0">
                <a:solidFill>
                  <a:schemeClr val="tx1"/>
                </a:solidFill>
                <a:effectLst/>
                <a:latin typeface="Segoe UI" panose="020B0502040204020203" pitchFamily="34" charset="0"/>
                <a:ea typeface="+mn-ea"/>
                <a:cs typeface="+mn-cs"/>
              </a:rPr>
              <a:t>We don't guess if it works; we measure it."</a:t>
            </a:r>
          </a:p>
          <a:p>
            <a:br>
              <a:rPr lang="en-US" dirty="0"/>
            </a:br>
            <a:endParaRPr lang="en-US" dirty="0"/>
          </a:p>
          <a:p>
            <a:r>
              <a:rPr lang="en-US" sz="882" b="1" i="0" kern="1200" dirty="0">
                <a:solidFill>
                  <a:schemeClr val="tx1"/>
                </a:solidFill>
                <a:effectLst/>
                <a:latin typeface="Segoe UI" panose="020B0502040204020203" pitchFamily="34" charset="0"/>
                <a:ea typeface="+mn-ea"/>
                <a:cs typeface="+mn-cs"/>
              </a:rPr>
              <a:t>Transition (5 seconds)</a:t>
            </a:r>
          </a:p>
          <a:p>
            <a:r>
              <a:rPr lang="en-US" sz="882" b="0" i="0" kern="1200" dirty="0">
                <a:solidFill>
                  <a:schemeClr val="tx1"/>
                </a:solidFill>
                <a:effectLst/>
                <a:latin typeface="Segoe UI" panose="020B0502040204020203" pitchFamily="34" charset="0"/>
                <a:ea typeface="+mn-ea"/>
                <a:cs typeface="+mn-cs"/>
              </a:rPr>
              <a:t>"Let me walk you through the key components that make this possible."</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2/23/2026 7:57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10670313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0" i="0" kern="1200" dirty="0">
                <a:solidFill>
                  <a:schemeClr val="tx1"/>
                </a:solidFill>
                <a:effectLst/>
                <a:latin typeface="Segoe UI" panose="020B0502040204020203" pitchFamily="34" charset="0"/>
                <a:ea typeface="+mn-ea"/>
                <a:cs typeface="+mn-cs"/>
              </a:rPr>
              <a:t>"You've seen the agents and the data. Now let me show you how the kit actually works."</a:t>
            </a:r>
          </a:p>
          <a:p>
            <a:br>
              <a:rPr lang="en-US" dirty="0"/>
            </a:br>
            <a:endParaRPr lang="en-US" dirty="0"/>
          </a:p>
          <a:p>
            <a:r>
              <a:rPr lang="en-US" sz="882" b="1" i="0" kern="1200" dirty="0">
                <a:solidFill>
                  <a:schemeClr val="tx1"/>
                </a:solidFill>
                <a:effectLst/>
                <a:latin typeface="Segoe UI" panose="020B0502040204020203" pitchFamily="34" charset="0"/>
                <a:ea typeface="+mn-ea"/>
                <a:cs typeface="+mn-cs"/>
              </a:rPr>
              <a:t>1 &amp; 2: Quick Reference (10 seconds)</a:t>
            </a:r>
          </a:p>
          <a:p>
            <a:r>
              <a:rPr lang="en-US" sz="882" b="0" i="0" kern="1200" dirty="0">
                <a:solidFill>
                  <a:schemeClr val="tx1"/>
                </a:solidFill>
                <a:effectLst/>
                <a:latin typeface="Segoe UI" panose="020B0502040204020203" pitchFamily="34" charset="0"/>
                <a:ea typeface="+mn-ea"/>
                <a:cs typeface="+mn-cs"/>
              </a:rPr>
              <a:t>"The </a:t>
            </a:r>
            <a:r>
              <a:rPr lang="en-US" sz="882" b="1" i="0" kern="1200" dirty="0">
                <a:solidFill>
                  <a:schemeClr val="tx1"/>
                </a:solidFill>
                <a:effectLst/>
                <a:latin typeface="Segoe UI" panose="020B0502040204020203" pitchFamily="34" charset="0"/>
                <a:ea typeface="+mn-ea"/>
                <a:cs typeface="+mn-cs"/>
              </a:rPr>
              <a:t>four agents</a:t>
            </a:r>
            <a:r>
              <a:rPr lang="en-US" sz="882" b="0" i="0" kern="1200" dirty="0">
                <a:solidFill>
                  <a:schemeClr val="tx1"/>
                </a:solidFill>
                <a:effectLst/>
                <a:latin typeface="Segoe UI" panose="020B0502040204020203" pitchFamily="34" charset="0"/>
                <a:ea typeface="+mn-ea"/>
                <a:cs typeface="+mn-cs"/>
              </a:rPr>
              <a:t> and </a:t>
            </a:r>
            <a:r>
              <a:rPr lang="en-US" sz="882" b="1" i="0" kern="1200" dirty="0">
                <a:solidFill>
                  <a:schemeClr val="tx1"/>
                </a:solidFill>
                <a:effectLst/>
                <a:latin typeface="Segoe UI" panose="020B0502040204020203" pitchFamily="34" charset="0"/>
                <a:ea typeface="+mn-ea"/>
                <a:cs typeface="+mn-cs"/>
              </a:rPr>
              <a:t>research datasets</a:t>
            </a:r>
            <a:r>
              <a:rPr lang="en-US" sz="882" b="0" i="0" kern="1200" dirty="0">
                <a:solidFill>
                  <a:schemeClr val="tx1"/>
                </a:solidFill>
                <a:effectLst/>
                <a:latin typeface="Segoe UI" panose="020B0502040204020203" pitchFamily="34" charset="0"/>
                <a:ea typeface="+mn-ea"/>
                <a:cs typeface="+mn-cs"/>
              </a:rPr>
              <a:t> I just mentioned — those are the </a:t>
            </a:r>
            <a:r>
              <a:rPr lang="en-US" sz="882" b="0" i="1" kern="1200" dirty="0">
                <a:solidFill>
                  <a:schemeClr val="tx1"/>
                </a:solidFill>
                <a:effectLst/>
                <a:latin typeface="Segoe UI" panose="020B0502040204020203" pitchFamily="34" charset="0"/>
                <a:ea typeface="+mn-ea"/>
                <a:cs typeface="+mn-cs"/>
              </a:rPr>
              <a:t>what</a:t>
            </a:r>
            <a:r>
              <a:rPr lang="en-US" sz="882" b="0" i="0" kern="1200" dirty="0">
                <a:solidFill>
                  <a:schemeClr val="tx1"/>
                </a:solidFill>
                <a:effectLst/>
                <a:latin typeface="Segoe UI" panose="020B0502040204020203" pitchFamily="34" charset="0"/>
                <a:ea typeface="+mn-ea"/>
                <a:cs typeface="+mn-cs"/>
              </a:rPr>
              <a:t>. The GUIDE MSR Incident Dataset provides the scaffolding for repeatable experimentation and test.</a:t>
            </a:r>
          </a:p>
          <a:p>
            <a:endParaRPr lang="en-US" sz="882" b="0" i="0" kern="1200" dirty="0">
              <a:solidFill>
                <a:schemeClr val="tx1"/>
              </a:solidFill>
              <a:effectLst/>
              <a:latin typeface="Segoe UI" panose="020B0502040204020203" pitchFamily="34" charset="0"/>
              <a:ea typeface="+mn-ea"/>
              <a:cs typeface="+mn-cs"/>
            </a:endParaRPr>
          </a:p>
          <a:p>
            <a:r>
              <a:rPr lang="en-US" sz="882" b="0" i="0" kern="1200" dirty="0">
                <a:solidFill>
                  <a:schemeClr val="tx1"/>
                </a:solidFill>
                <a:effectLst/>
                <a:latin typeface="Segoe UI" panose="020B0502040204020203" pitchFamily="34" charset="0"/>
                <a:ea typeface="+mn-ea"/>
                <a:cs typeface="+mn-cs"/>
              </a:rPr>
              <a:t> The next three components are the </a:t>
            </a:r>
            <a:r>
              <a:rPr lang="en-US" sz="882" b="0" i="1" kern="1200" dirty="0">
                <a:solidFill>
                  <a:schemeClr val="tx1"/>
                </a:solidFill>
                <a:effectLst/>
                <a:latin typeface="Segoe UI" panose="020B0502040204020203" pitchFamily="34" charset="0"/>
                <a:ea typeface="+mn-ea"/>
                <a:cs typeface="+mn-cs"/>
              </a:rPr>
              <a:t>how</a:t>
            </a:r>
            <a:r>
              <a:rPr lang="en-US" sz="882" b="0" i="0" kern="1200" dirty="0">
                <a:solidFill>
                  <a:schemeClr val="tx1"/>
                </a:solidFill>
                <a:effectLst/>
                <a:latin typeface="Segoe UI" panose="020B0502040204020203" pitchFamily="34" charset="0"/>
                <a:ea typeface="+mn-ea"/>
                <a:cs typeface="+mn-cs"/>
              </a:rPr>
              <a:t>."</a:t>
            </a:r>
          </a:p>
          <a:p>
            <a:endParaRPr lang="en-US" dirty="0"/>
          </a:p>
          <a:p>
            <a:r>
              <a:rPr lang="en-US" sz="882" b="1" i="0" kern="1200" dirty="0">
                <a:solidFill>
                  <a:schemeClr val="tx1"/>
                </a:solidFill>
                <a:effectLst/>
                <a:latin typeface="Segoe UI" panose="020B0502040204020203" pitchFamily="34" charset="0"/>
                <a:ea typeface="+mn-ea"/>
                <a:cs typeface="+mn-cs"/>
              </a:rPr>
              <a:t>3. Knowledge-Grounded AI (25-30 seconds)</a:t>
            </a:r>
          </a:p>
          <a:p>
            <a:r>
              <a:rPr lang="en-US" sz="882" b="0" i="0" kern="1200" dirty="0">
                <a:solidFill>
                  <a:schemeClr val="tx1"/>
                </a:solidFill>
                <a:effectLst/>
                <a:latin typeface="Segoe UI" panose="020B0502040204020203" pitchFamily="34" charset="0"/>
                <a:ea typeface="+mn-ea"/>
                <a:cs typeface="+mn-cs"/>
              </a:rPr>
              <a:t>"</a:t>
            </a:r>
            <a:r>
              <a:rPr lang="en-US" sz="882" b="1" i="0" kern="1200" dirty="0">
                <a:solidFill>
                  <a:schemeClr val="tx1"/>
                </a:solidFill>
                <a:effectLst/>
                <a:latin typeface="Segoe UI" panose="020B0502040204020203" pitchFamily="34" charset="0"/>
                <a:ea typeface="+mn-ea"/>
                <a:cs typeface="+mn-cs"/>
              </a:rPr>
              <a:t>Agentic RAG</a:t>
            </a:r>
            <a:r>
              <a:rPr lang="en-US" sz="882" b="0" i="0" kern="1200" dirty="0">
                <a:solidFill>
                  <a:schemeClr val="tx1"/>
                </a:solidFill>
                <a:effectLst/>
                <a:latin typeface="Segoe UI" panose="020B0502040204020203" pitchFamily="34" charset="0"/>
                <a:ea typeface="+mn-ea"/>
                <a:cs typeface="+mn-cs"/>
              </a:rPr>
              <a:t> is the key to accuracy.</a:t>
            </a:r>
          </a:p>
          <a:p>
            <a:r>
              <a:rPr lang="en-US" sz="882" b="0" i="0" kern="1200" dirty="0">
                <a:solidFill>
                  <a:schemeClr val="tx1"/>
                </a:solidFill>
                <a:effectLst/>
                <a:latin typeface="Segoe UI" panose="020B0502040204020203" pitchFamily="34" charset="0"/>
                <a:ea typeface="+mn-ea"/>
                <a:cs typeface="+mn-cs"/>
              </a:rPr>
              <a:t>When an agent assesses an alert, it doesn't just rely on its LLM’s training — it actively retrieves relevant MITRE techniques and playbooks from Azure AI Search.</a:t>
            </a:r>
          </a:p>
          <a:p>
            <a:r>
              <a:rPr lang="en-US" sz="882" b="0" i="0" kern="1200" dirty="0">
                <a:solidFill>
                  <a:schemeClr val="tx1"/>
                </a:solidFill>
                <a:effectLst/>
                <a:latin typeface="Segoe UI" panose="020B0502040204020203" pitchFamily="34" charset="0"/>
                <a:ea typeface="+mn-ea"/>
                <a:cs typeface="+mn-cs"/>
              </a:rPr>
              <a:t>Responses are grounded in validated security knowledge, not hallucinations. That's how we are going to hit &gt;80% triage accuracy."</a:t>
            </a:r>
          </a:p>
          <a:p>
            <a:br>
              <a:rPr lang="en-US" dirty="0"/>
            </a:br>
            <a:r>
              <a:rPr lang="en-US" sz="882" b="1" i="0" kern="1200" dirty="0">
                <a:solidFill>
                  <a:schemeClr val="tx1"/>
                </a:solidFill>
                <a:effectLst/>
                <a:latin typeface="Segoe UI" panose="020B0502040204020203" pitchFamily="34" charset="0"/>
                <a:ea typeface="+mn-ea"/>
                <a:cs typeface="+mn-cs"/>
              </a:rPr>
              <a:t>4. Foundry-Native Development (25-30 seconds)</a:t>
            </a:r>
          </a:p>
          <a:p>
            <a:r>
              <a:rPr lang="en-US" sz="882" b="0" i="0" kern="1200" dirty="0">
                <a:solidFill>
                  <a:schemeClr val="tx1"/>
                </a:solidFill>
                <a:effectLst/>
                <a:latin typeface="Segoe UI" panose="020B0502040204020203" pitchFamily="34" charset="0"/>
                <a:ea typeface="+mn-ea"/>
                <a:cs typeface="+mn-cs"/>
              </a:rPr>
              <a:t>"</a:t>
            </a:r>
            <a:r>
              <a:rPr lang="en-US" sz="882" b="1" i="0" kern="1200" dirty="0">
                <a:solidFill>
                  <a:schemeClr val="tx1"/>
                </a:solidFill>
                <a:effectLst/>
                <a:latin typeface="Segoe UI" panose="020B0502040204020203" pitchFamily="34" charset="0"/>
                <a:ea typeface="+mn-ea"/>
                <a:cs typeface="+mn-cs"/>
              </a:rPr>
              <a:t>Microsoft Foundry</a:t>
            </a:r>
            <a:r>
              <a:rPr lang="en-US" sz="882" b="0" i="0" kern="1200" dirty="0">
                <a:solidFill>
                  <a:schemeClr val="tx1"/>
                </a:solidFill>
                <a:effectLst/>
                <a:latin typeface="Segoe UI" panose="020B0502040204020203" pitchFamily="34" charset="0"/>
                <a:ea typeface="+mn-ea"/>
                <a:cs typeface="+mn-cs"/>
              </a:rPr>
              <a:t> handles the infrastructure you'd otherwise have to build yourself: agent lifecycle, persistent memory, telemetry, governance, workflows.</a:t>
            </a:r>
          </a:p>
          <a:p>
            <a:r>
              <a:rPr lang="en-US" sz="882" b="0" i="0" kern="1200" dirty="0">
                <a:solidFill>
                  <a:schemeClr val="tx1"/>
                </a:solidFill>
                <a:effectLst/>
                <a:latin typeface="Segoe UI" panose="020B0502040204020203" pitchFamily="34" charset="0"/>
                <a:ea typeface="+mn-ea"/>
                <a:cs typeface="+mn-cs"/>
              </a:rPr>
              <a:t>Your teams focus on agent behavior and tooling — not plumbing. That's what compresses weeks of development into days with a quick path to enterprise scale."</a:t>
            </a:r>
          </a:p>
          <a:p>
            <a:br>
              <a:rPr lang="en-US" dirty="0"/>
            </a:br>
            <a:r>
              <a:rPr lang="en-US" sz="882" b="1" i="0" kern="1200" dirty="0">
                <a:solidFill>
                  <a:schemeClr val="tx1"/>
                </a:solidFill>
                <a:effectLst/>
                <a:latin typeface="Segoe UI" panose="020B0502040204020203" pitchFamily="34" charset="0"/>
                <a:ea typeface="+mn-ea"/>
                <a:cs typeface="+mn-cs"/>
              </a:rPr>
              <a:t>5. Accelerated Deployment (25-30 seconds)</a:t>
            </a:r>
          </a:p>
          <a:p>
            <a:r>
              <a:rPr lang="en-US" sz="882" b="0" i="0" kern="1200" dirty="0">
                <a:solidFill>
                  <a:schemeClr val="tx1"/>
                </a:solidFill>
                <a:effectLst/>
                <a:latin typeface="Segoe UI" panose="020B0502040204020203" pitchFamily="34" charset="0"/>
                <a:ea typeface="+mn-ea"/>
                <a:cs typeface="+mn-cs"/>
              </a:rPr>
              <a:t>"Finally — the </a:t>
            </a:r>
            <a:r>
              <a:rPr lang="en-US" sz="882" b="1" i="0" kern="1200" dirty="0">
                <a:solidFill>
                  <a:schemeClr val="tx1"/>
                </a:solidFill>
                <a:effectLst/>
                <a:latin typeface="Segoe UI" panose="020B0502040204020203" pitchFamily="34" charset="0"/>
                <a:ea typeface="+mn-ea"/>
                <a:cs typeface="+mn-cs"/>
              </a:rPr>
              <a:t>developer experience</a:t>
            </a:r>
            <a:r>
              <a:rPr lang="en-US" sz="882" b="0" i="0" kern="1200" dirty="0">
                <a:solidFill>
                  <a:schemeClr val="tx1"/>
                </a:solidFill>
                <a:effectLst/>
                <a:latin typeface="Segoe UI" panose="020B0502040204020203" pitchFamily="34" charset="0"/>
                <a:ea typeface="+mn-ea"/>
                <a:cs typeface="+mn-cs"/>
              </a:rPr>
              <a:t>. Infrastructure-as-Code deploys the full environment in under 15 minutes. The </a:t>
            </a:r>
            <a:r>
              <a:rPr lang="en-US" sz="882" b="0" i="0" kern="1200" dirty="0" err="1">
                <a:solidFill>
                  <a:schemeClr val="tx1"/>
                </a:solidFill>
                <a:effectLst/>
                <a:latin typeface="Segoe UI" panose="020B0502040204020203" pitchFamily="34" charset="0"/>
                <a:ea typeface="+mn-ea"/>
                <a:cs typeface="+mn-cs"/>
              </a:rPr>
              <a:t>asoc</a:t>
            </a:r>
            <a:r>
              <a:rPr lang="en-US" sz="882" b="0" i="0" kern="1200" dirty="0">
                <a:solidFill>
                  <a:schemeClr val="tx1"/>
                </a:solidFill>
                <a:effectLst/>
                <a:latin typeface="Segoe UI" panose="020B0502040204020203" pitchFamily="34" charset="0"/>
                <a:ea typeface="+mn-ea"/>
                <a:cs typeface="+mn-cs"/>
              </a:rPr>
              <a:t> CLI handles testing, demos, and iteration.</a:t>
            </a:r>
          </a:p>
          <a:p>
            <a:r>
              <a:rPr lang="en-US" sz="882" b="0" i="0" kern="1200" dirty="0">
                <a:solidFill>
                  <a:schemeClr val="tx1"/>
                </a:solidFill>
                <a:effectLst/>
                <a:latin typeface="Segoe UI" panose="020B0502040204020203" pitchFamily="34" charset="0"/>
                <a:ea typeface="+mn-ea"/>
                <a:cs typeface="+mn-cs"/>
              </a:rPr>
              <a:t>And every agent decision flows to </a:t>
            </a:r>
            <a:r>
              <a:rPr lang="en-US" sz="882" b="1" i="0" kern="1200" dirty="0">
                <a:solidFill>
                  <a:schemeClr val="tx1"/>
                </a:solidFill>
                <a:effectLst/>
                <a:latin typeface="Segoe UI" panose="020B0502040204020203" pitchFamily="34" charset="0"/>
                <a:ea typeface="+mn-ea"/>
                <a:cs typeface="+mn-cs"/>
              </a:rPr>
              <a:t>App Insights</a:t>
            </a:r>
            <a:r>
              <a:rPr lang="en-US" sz="882" b="0" i="0" kern="1200" dirty="0">
                <a:solidFill>
                  <a:schemeClr val="tx1"/>
                </a:solidFill>
                <a:effectLst/>
                <a:latin typeface="Segoe UI" panose="020B0502040204020203" pitchFamily="34" charset="0"/>
                <a:ea typeface="+mn-ea"/>
                <a:cs typeface="+mn-cs"/>
              </a:rPr>
              <a:t> — fully traceable, fully auditable. No black boxes."</a:t>
            </a:r>
          </a:p>
          <a:p>
            <a:br>
              <a:rPr lang="en-US" dirty="0"/>
            </a:br>
            <a:endParaRPr lang="en-US" dirty="0"/>
          </a:p>
          <a:p>
            <a:r>
              <a:rPr lang="en-US" sz="882" b="1" i="0" kern="1200" dirty="0">
                <a:solidFill>
                  <a:schemeClr val="tx1"/>
                </a:solidFill>
                <a:effectLst/>
                <a:latin typeface="Segoe UI" panose="020B0502040204020203" pitchFamily="34" charset="0"/>
                <a:ea typeface="+mn-ea"/>
                <a:cs typeface="+mn-cs"/>
              </a:rPr>
              <a:t>Transition (5 seconds)</a:t>
            </a:r>
          </a:p>
          <a:p>
            <a:r>
              <a:rPr lang="en-US" sz="882" b="0" i="0" kern="1200" dirty="0">
                <a:solidFill>
                  <a:schemeClr val="tx1"/>
                </a:solidFill>
                <a:effectLst/>
                <a:latin typeface="Segoe UI" panose="020B0502040204020203" pitchFamily="34" charset="0"/>
                <a:ea typeface="+mn-ea"/>
                <a:cs typeface="+mn-cs"/>
              </a:rPr>
              <a:t>"Now let's see how these pieces come together architecturally."</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2/23/2026 7:57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16198874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882" b="0" i="0" kern="1200" dirty="0">
                <a:solidFill>
                  <a:schemeClr val="tx1"/>
                </a:solidFill>
                <a:effectLst/>
                <a:latin typeface="Segoe UI" panose="020B0502040204020203" pitchFamily="34" charset="0"/>
                <a:ea typeface="+mn-ea"/>
                <a:cs typeface="+mn-cs"/>
              </a:rPr>
              <a:t>"Here's how everything fits together. Let me walk you through the data flow from left to right."</a:t>
            </a:r>
          </a:p>
          <a:p>
            <a:endParaRPr lang="en-US" sz="882" b="1" i="0" kern="1200" dirty="0">
              <a:solidFill>
                <a:schemeClr val="tx1"/>
              </a:solidFill>
              <a:effectLst/>
              <a:latin typeface="Segoe UI" panose="020B0502040204020203" pitchFamily="34" charset="0"/>
              <a:ea typeface="+mn-ea"/>
              <a:cs typeface="+mn-cs"/>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2/23/2026 7:57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39522870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6E7B7-738F-3C46-24C7-BEF1238575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D40436-CC1A-A064-E988-1F72F2B09CB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614F6059-C54A-F443-2FE9-75C9DB28B167}"/>
              </a:ext>
            </a:extLst>
          </p:cNvPr>
          <p:cNvSpPr>
            <a:spLocks noGrp="1"/>
          </p:cNvSpPr>
          <p:nvPr>
            <p:ph type="body" idx="1"/>
          </p:nvPr>
        </p:nvSpPr>
        <p:spPr/>
        <p:txBody>
          <a:bodyPr/>
          <a:lstStyle/>
          <a:p>
            <a:r>
              <a:rPr lang="en-US" sz="882" b="0" i="0" kern="1200" dirty="0">
                <a:solidFill>
                  <a:schemeClr val="tx1"/>
                </a:solidFill>
                <a:effectLst/>
                <a:latin typeface="Segoe UI" panose="020B0502040204020203" pitchFamily="34" charset="0"/>
                <a:ea typeface="+mn-ea"/>
                <a:cs typeface="+mn-cs"/>
              </a:rPr>
              <a:t>"Here's how everything fits together. Let me walk you through the data flow from left to right."</a:t>
            </a:r>
          </a:p>
          <a:p>
            <a:endParaRPr lang="en-US" sz="882" b="1" i="0" kern="1200" dirty="0">
              <a:solidFill>
                <a:schemeClr val="tx1"/>
              </a:solidFill>
              <a:effectLst/>
              <a:latin typeface="Segoe UI" panose="020B0502040204020203" pitchFamily="34" charset="0"/>
              <a:ea typeface="+mn-ea"/>
              <a:cs typeface="+mn-cs"/>
            </a:endParaRPr>
          </a:p>
          <a:p>
            <a:r>
              <a:rPr lang="en-US" sz="882" b="1" i="0" kern="1200" dirty="0">
                <a:solidFill>
                  <a:schemeClr val="tx1"/>
                </a:solidFill>
                <a:effectLst/>
                <a:latin typeface="Segoe UI" panose="020B0502040204020203" pitchFamily="34" charset="0"/>
                <a:ea typeface="+mn-ea"/>
                <a:cs typeface="+mn-cs"/>
              </a:rPr>
              <a:t>Left Side: Security Sources (25-30 seconds)</a:t>
            </a:r>
          </a:p>
          <a:p>
            <a:r>
              <a:rPr lang="en-US" sz="882" b="0" i="0" kern="1200" dirty="0">
                <a:solidFill>
                  <a:schemeClr val="tx1"/>
                </a:solidFill>
                <a:effectLst/>
                <a:latin typeface="Segoe UI" panose="020B0502040204020203" pitchFamily="34" charset="0"/>
                <a:ea typeface="+mn-ea"/>
                <a:cs typeface="+mn-cs"/>
              </a:rPr>
              <a:t>"On the left — your security data sources. In production, we integrate with the </a:t>
            </a:r>
            <a:r>
              <a:rPr lang="en-US" sz="882" b="1" i="0" kern="1200" dirty="0">
                <a:solidFill>
                  <a:schemeClr val="tx1"/>
                </a:solidFill>
                <a:effectLst/>
                <a:latin typeface="Segoe UI" panose="020B0502040204020203" pitchFamily="34" charset="0"/>
                <a:ea typeface="+mn-ea"/>
                <a:cs typeface="+mn-cs"/>
              </a:rPr>
              <a:t>Microsoft security stack</a:t>
            </a:r>
            <a:r>
              <a:rPr lang="en-US" sz="882" b="0" i="0" kern="1200" dirty="0">
                <a:solidFill>
                  <a:schemeClr val="tx1"/>
                </a:solidFill>
                <a:effectLst/>
                <a:latin typeface="Segoe UI" panose="020B0502040204020203" pitchFamily="34" charset="0"/>
                <a:ea typeface="+mn-ea"/>
                <a:cs typeface="+mn-cs"/>
              </a:rPr>
              <a:t>: Entra ID for identity signals, Sentinel for SIEM data, and Defender XDR for endpoint and threat detection.</a:t>
            </a:r>
          </a:p>
          <a:p>
            <a:r>
              <a:rPr lang="en-US" sz="882" b="0" i="0" kern="1200" dirty="0">
                <a:solidFill>
                  <a:schemeClr val="tx1"/>
                </a:solidFill>
                <a:effectLst/>
                <a:latin typeface="Segoe UI" panose="020B0502040204020203" pitchFamily="34" charset="0"/>
                <a:ea typeface="+mn-ea"/>
                <a:cs typeface="+mn-cs"/>
              </a:rPr>
              <a:t>The dashed line represents </a:t>
            </a:r>
            <a:r>
              <a:rPr lang="en-US" sz="882" b="1" i="0" kern="1200" dirty="0">
                <a:solidFill>
                  <a:schemeClr val="tx1"/>
                </a:solidFill>
                <a:effectLst/>
                <a:latin typeface="Segoe UI" panose="020B0502040204020203" pitchFamily="34" charset="0"/>
                <a:ea typeface="+mn-ea"/>
                <a:cs typeface="+mn-cs"/>
              </a:rPr>
              <a:t>third-party solutions</a:t>
            </a:r>
            <a:r>
              <a:rPr lang="en-US" sz="882" b="0" i="0" kern="1200" dirty="0">
                <a:solidFill>
                  <a:schemeClr val="tx1"/>
                </a:solidFill>
                <a:effectLst/>
                <a:latin typeface="Segoe UI" panose="020B0502040204020203" pitchFamily="34" charset="0"/>
                <a:ea typeface="+mn-ea"/>
                <a:cs typeface="+mn-cs"/>
              </a:rPr>
              <a:t> — the architecture is extensible.</a:t>
            </a:r>
          </a:p>
          <a:p>
            <a:r>
              <a:rPr lang="en-US" sz="882" b="1" i="0" kern="1200" dirty="0">
                <a:solidFill>
                  <a:schemeClr val="tx1"/>
                </a:solidFill>
                <a:effectLst/>
                <a:latin typeface="Segoe UI" panose="020B0502040204020203" pitchFamily="34" charset="0"/>
                <a:ea typeface="+mn-ea"/>
                <a:cs typeface="+mn-cs"/>
              </a:rPr>
              <a:t>Important note for the dev kit</a:t>
            </a:r>
            <a:r>
              <a:rPr lang="en-US" sz="882" b="0" i="0" kern="1200" dirty="0">
                <a:solidFill>
                  <a:schemeClr val="tx1"/>
                </a:solidFill>
                <a:effectLst/>
                <a:latin typeface="Segoe UI" panose="020B0502040204020203" pitchFamily="34" charset="0"/>
                <a:ea typeface="+mn-ea"/>
                <a:cs typeface="+mn-cs"/>
              </a:rPr>
              <a:t>: The </a:t>
            </a:r>
            <a:r>
              <a:rPr lang="en-US" sz="882" b="1" i="0" kern="1200" dirty="0">
                <a:solidFill>
                  <a:schemeClr val="tx1"/>
                </a:solidFill>
                <a:effectLst/>
                <a:latin typeface="Segoe UI" panose="020B0502040204020203" pitchFamily="34" charset="0"/>
                <a:ea typeface="+mn-ea"/>
                <a:cs typeface="+mn-cs"/>
              </a:rPr>
              <a:t>GUIDE dataset</a:t>
            </a:r>
            <a:r>
              <a:rPr lang="en-US" sz="882" b="0" i="0" kern="1200" dirty="0">
                <a:solidFill>
                  <a:schemeClr val="tx1"/>
                </a:solidFill>
                <a:effectLst/>
                <a:latin typeface="Segoe UI" panose="020B0502040204020203" pitchFamily="34" charset="0"/>
                <a:ea typeface="+mn-ea"/>
                <a:cs typeface="+mn-cs"/>
              </a:rPr>
              <a:t> plays this role during development and testing. Instead of connecting to live security sources, you're running agents against 1.17 million graded events with known outcomes. That's what makes testing repeatable and accuracy measurable."</a:t>
            </a:r>
          </a:p>
          <a:p>
            <a:r>
              <a:rPr lang="en-US" sz="882" b="1" i="0" kern="1200" dirty="0">
                <a:solidFill>
                  <a:schemeClr val="tx1"/>
                </a:solidFill>
                <a:effectLst/>
                <a:latin typeface="Segoe UI" panose="020B0502040204020203" pitchFamily="34" charset="0"/>
                <a:ea typeface="+mn-ea"/>
                <a:cs typeface="+mn-cs"/>
              </a:rPr>
              <a:t>Key phrase to land</a:t>
            </a:r>
            <a:r>
              <a:rPr lang="en-US" sz="882" b="0" i="0" kern="1200" dirty="0">
                <a:solidFill>
                  <a:schemeClr val="tx1"/>
                </a:solidFill>
                <a:effectLst/>
                <a:latin typeface="Segoe UI" panose="020B0502040204020203" pitchFamily="34" charset="0"/>
                <a:ea typeface="+mn-ea"/>
                <a:cs typeface="+mn-cs"/>
              </a:rPr>
              <a:t>: </a:t>
            </a:r>
            <a:r>
              <a:rPr lang="en-US" sz="882" b="0" i="1" kern="1200" dirty="0">
                <a:solidFill>
                  <a:schemeClr val="tx1"/>
                </a:solidFill>
                <a:effectLst/>
                <a:latin typeface="Segoe UI" panose="020B0502040204020203" pitchFamily="34" charset="0"/>
                <a:ea typeface="+mn-ea"/>
                <a:cs typeface="+mn-cs"/>
              </a:rPr>
              <a:t>"In production, it's your live data. In development, it's validated research data — same architecture, repeatable results."</a:t>
            </a:r>
            <a:endParaRPr lang="en-US" sz="882" b="0" i="0" kern="1200" dirty="0">
              <a:solidFill>
                <a:schemeClr val="tx1"/>
              </a:solidFill>
              <a:effectLst/>
              <a:latin typeface="Segoe UI" panose="020B0502040204020203" pitchFamily="34" charset="0"/>
              <a:ea typeface="+mn-ea"/>
              <a:cs typeface="+mn-cs"/>
            </a:endParaRPr>
          </a:p>
          <a:p>
            <a:endParaRPr lang="en-US" sz="900" b="1" dirty="0">
              <a:solidFill>
                <a:schemeClr val="accent3"/>
              </a:solidFill>
            </a:endParaRPr>
          </a:p>
          <a:p>
            <a:endParaRPr lang="en-US" sz="900" b="1" dirty="0">
              <a:solidFill>
                <a:schemeClr val="accent3"/>
              </a:solidFill>
            </a:endParaRPr>
          </a:p>
          <a:p>
            <a:r>
              <a:rPr lang="en-US" sz="882" b="1" i="0" kern="1200" dirty="0">
                <a:solidFill>
                  <a:schemeClr val="tx1"/>
                </a:solidFill>
                <a:effectLst/>
                <a:latin typeface="Segoe UI" panose="020B0502040204020203" pitchFamily="34" charset="0"/>
                <a:ea typeface="+mn-ea"/>
                <a:cs typeface="+mn-cs"/>
              </a:rPr>
              <a:t>Defender XDR Streaming API </a:t>
            </a:r>
            <a:r>
              <a:rPr lang="en-US" sz="882" b="0" i="0" kern="1200" dirty="0">
                <a:solidFill>
                  <a:schemeClr val="tx1"/>
                </a:solidFill>
                <a:effectLst/>
                <a:latin typeface="Segoe UI" panose="020B0502040204020203" pitchFamily="34" charset="0"/>
                <a:ea typeface="+mn-ea"/>
                <a:cs typeface="+mn-cs"/>
              </a:rPr>
              <a:t>in production</a:t>
            </a:r>
            <a:endParaRPr lang="en-US" sz="900" b="1" dirty="0">
              <a:solidFill>
                <a:schemeClr val="accent3"/>
              </a:solidFill>
            </a:endParaRPr>
          </a:p>
        </p:txBody>
      </p:sp>
      <p:sp>
        <p:nvSpPr>
          <p:cNvPr id="4" name="Header Placeholder 3">
            <a:extLst>
              <a:ext uri="{FF2B5EF4-FFF2-40B4-BE49-F238E27FC236}">
                <a16:creationId xmlns:a16="http://schemas.microsoft.com/office/drawing/2014/main" id="{2CE619B7-88F6-54C5-7330-0C320537364E}"/>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36A4E365-422E-130F-075E-46C5F3BC33B1}"/>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827129D-711C-3F32-C794-023E1B4EE977}"/>
              </a:ext>
            </a:extLst>
          </p:cNvPr>
          <p:cNvSpPr>
            <a:spLocks noGrp="1"/>
          </p:cNvSpPr>
          <p:nvPr>
            <p:ph type="dt" idx="1"/>
          </p:nvPr>
        </p:nvSpPr>
        <p:spPr/>
        <p:txBody>
          <a:bodyPr/>
          <a:lstStyle/>
          <a:p>
            <a:fld id="{386CE63F-9E7F-4C04-9D0D-FCA25A8E9E86}" type="datetime8">
              <a:rPr lang="en-US" smtClean="0"/>
              <a:t>2/23/2026 7:57 PM</a:t>
            </a:fld>
            <a:endParaRPr lang="en-US"/>
          </a:p>
        </p:txBody>
      </p:sp>
      <p:sp>
        <p:nvSpPr>
          <p:cNvPr id="7" name="Slide Number Placeholder 6">
            <a:extLst>
              <a:ext uri="{FF2B5EF4-FFF2-40B4-BE49-F238E27FC236}">
                <a16:creationId xmlns:a16="http://schemas.microsoft.com/office/drawing/2014/main" id="{0F6A9E3B-CB76-6192-54D8-36732C769769}"/>
              </a:ext>
            </a:extLst>
          </p:cNvPr>
          <p:cNvSpPr>
            <a:spLocks noGrp="1"/>
          </p:cNvSpPr>
          <p:nvPr>
            <p:ph type="sldNum" sz="quarter" idx="5"/>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33996151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5AC41-CDA5-08EF-2735-34A5281195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EC323A-6432-EC9E-39A9-CE5BF6D935C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A6AE820-0068-C868-30D1-25FD8C4DCBAF}"/>
              </a:ext>
            </a:extLst>
          </p:cNvPr>
          <p:cNvSpPr>
            <a:spLocks noGrp="1"/>
          </p:cNvSpPr>
          <p:nvPr>
            <p:ph type="body" idx="1"/>
          </p:nvPr>
        </p:nvSpPr>
        <p:spPr/>
        <p:txBody>
          <a:bodyPr/>
          <a:lstStyle/>
          <a:p>
            <a:endParaRPr lang="en-US" sz="900" b="1" dirty="0">
              <a:solidFill>
                <a:schemeClr val="accent3"/>
              </a:solidFill>
            </a:endParaRPr>
          </a:p>
          <a:p>
            <a:r>
              <a:rPr lang="en-US" sz="882" b="1" i="0" kern="1200" dirty="0">
                <a:solidFill>
                  <a:schemeClr val="tx1"/>
                </a:solidFill>
                <a:effectLst/>
                <a:latin typeface="Segoe UI" panose="020B0502040204020203" pitchFamily="34" charset="0"/>
                <a:ea typeface="+mn-ea"/>
                <a:cs typeface="+mn-cs"/>
              </a:rPr>
              <a:t>User Entry Point (15 seconds)</a:t>
            </a:r>
          </a:p>
          <a:p>
            <a:r>
              <a:rPr lang="en-US" sz="882" b="0" i="0" kern="1200" dirty="0">
                <a:solidFill>
                  <a:schemeClr val="tx1"/>
                </a:solidFill>
                <a:effectLst/>
                <a:latin typeface="Segoe UI" panose="020B0502040204020203" pitchFamily="34" charset="0"/>
                <a:ea typeface="+mn-ea"/>
                <a:cs typeface="+mn-cs"/>
              </a:rPr>
              <a:t>"Analysts interact through the </a:t>
            </a:r>
            <a:r>
              <a:rPr lang="en-US" sz="882" b="1" i="0" kern="1200" dirty="0">
                <a:solidFill>
                  <a:schemeClr val="tx1"/>
                </a:solidFill>
                <a:effectLst/>
                <a:latin typeface="Segoe UI" panose="020B0502040204020203" pitchFamily="34" charset="0"/>
                <a:ea typeface="+mn-ea"/>
                <a:cs typeface="+mn-cs"/>
              </a:rPr>
              <a:t>CLI</a:t>
            </a:r>
            <a:r>
              <a:rPr lang="en-US" sz="882" b="0" i="0" kern="1200" dirty="0">
                <a:solidFill>
                  <a:schemeClr val="tx1"/>
                </a:solidFill>
                <a:effectLst/>
                <a:latin typeface="Segoe UI" panose="020B0502040204020203" pitchFamily="34" charset="0"/>
                <a:ea typeface="+mn-ea"/>
                <a:cs typeface="+mn-cs"/>
              </a:rPr>
              <a:t> today — with Jupyter Notebooks on the roadmap for more exploratory workflows.</a:t>
            </a:r>
          </a:p>
          <a:p>
            <a:r>
              <a:rPr lang="en-US" sz="882" b="0" i="0" kern="1200" dirty="0">
                <a:solidFill>
                  <a:schemeClr val="tx1"/>
                </a:solidFill>
                <a:effectLst/>
                <a:latin typeface="Segoe UI" panose="020B0502040204020203" pitchFamily="34" charset="0"/>
                <a:ea typeface="+mn-ea"/>
                <a:cs typeface="+mn-cs"/>
              </a:rPr>
              <a:t>This is the developer inner-loop: run an agent, see results, iterate."</a:t>
            </a:r>
          </a:p>
          <a:p>
            <a:endParaRPr lang="en-US" sz="900" dirty="0"/>
          </a:p>
        </p:txBody>
      </p:sp>
      <p:sp>
        <p:nvSpPr>
          <p:cNvPr id="4" name="Header Placeholder 3">
            <a:extLst>
              <a:ext uri="{FF2B5EF4-FFF2-40B4-BE49-F238E27FC236}">
                <a16:creationId xmlns:a16="http://schemas.microsoft.com/office/drawing/2014/main" id="{0561B24A-2F3D-08B2-4ABC-36E003E0C223}"/>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90E47C04-58D9-2332-B311-12AE8C7B9532}"/>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B069E424-609C-077C-99AC-A2F9760FED7A}"/>
              </a:ext>
            </a:extLst>
          </p:cNvPr>
          <p:cNvSpPr>
            <a:spLocks noGrp="1"/>
          </p:cNvSpPr>
          <p:nvPr>
            <p:ph type="dt" idx="1"/>
          </p:nvPr>
        </p:nvSpPr>
        <p:spPr/>
        <p:txBody>
          <a:bodyPr/>
          <a:lstStyle/>
          <a:p>
            <a:fld id="{386CE63F-9E7F-4C04-9D0D-FCA25A8E9E86}" type="datetime8">
              <a:rPr lang="en-US" smtClean="0"/>
              <a:t>2/23/2026 7:57 PM</a:t>
            </a:fld>
            <a:endParaRPr lang="en-US"/>
          </a:p>
        </p:txBody>
      </p:sp>
      <p:sp>
        <p:nvSpPr>
          <p:cNvPr id="7" name="Slide Number Placeholder 6">
            <a:extLst>
              <a:ext uri="{FF2B5EF4-FFF2-40B4-BE49-F238E27FC236}">
                <a16:creationId xmlns:a16="http://schemas.microsoft.com/office/drawing/2014/main" id="{3C5C9FF4-5921-E6BB-B19E-C72CAA639DB5}"/>
              </a:ext>
            </a:extLst>
          </p:cNvPr>
          <p:cNvSpPr>
            <a:spLocks noGrp="1"/>
          </p:cNvSpPr>
          <p:nvPr>
            <p:ph type="sldNum" sz="quarter" idx="5"/>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29174928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26B26A-C45D-6325-B11C-28B050ED1D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A85316-6060-F9EF-322B-58AE3410646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06B1AA4-606D-FB55-CC13-04AD83BD67F0}"/>
              </a:ext>
            </a:extLst>
          </p:cNvPr>
          <p:cNvSpPr>
            <a:spLocks noGrp="1"/>
          </p:cNvSpPr>
          <p:nvPr>
            <p:ph type="body" idx="1"/>
          </p:nvPr>
        </p:nvSpPr>
        <p:spPr/>
        <p:txBody>
          <a:bodyPr/>
          <a:lstStyle/>
          <a:p>
            <a:endParaRPr lang="en-US" sz="900" b="1" dirty="0">
              <a:solidFill>
                <a:schemeClr val="accent3"/>
              </a:solidFill>
            </a:endParaRPr>
          </a:p>
          <a:p>
            <a:r>
              <a:rPr lang="en-US" sz="882" b="1" i="0" kern="1200" dirty="0">
                <a:solidFill>
                  <a:schemeClr val="tx1"/>
                </a:solidFill>
                <a:effectLst/>
                <a:latin typeface="Segoe UI" panose="020B0502040204020203" pitchFamily="34" charset="0"/>
                <a:ea typeface="+mn-ea"/>
                <a:cs typeface="+mn-cs"/>
              </a:rPr>
              <a:t>Microsoft Foundry Layer (25-30 seconds)</a:t>
            </a:r>
          </a:p>
          <a:p>
            <a:r>
              <a:rPr lang="en-US" sz="882" b="0" i="0" kern="1200" dirty="0">
                <a:solidFill>
                  <a:schemeClr val="tx1"/>
                </a:solidFill>
                <a:effectLst/>
                <a:latin typeface="Segoe UI" panose="020B0502040204020203" pitchFamily="34" charset="0"/>
                <a:ea typeface="+mn-ea"/>
                <a:cs typeface="+mn-cs"/>
              </a:rPr>
              <a:t>"The core of the system runs in </a:t>
            </a:r>
            <a:r>
              <a:rPr lang="en-US" sz="882" b="1" i="0" kern="1200" dirty="0">
                <a:solidFill>
                  <a:schemeClr val="tx1"/>
                </a:solidFill>
                <a:effectLst/>
                <a:latin typeface="Segoe UI" panose="020B0502040204020203" pitchFamily="34" charset="0"/>
                <a:ea typeface="+mn-ea"/>
                <a:cs typeface="+mn-cs"/>
              </a:rPr>
              <a:t>Microsoft Foundry</a:t>
            </a:r>
            <a:r>
              <a:rPr lang="en-US" sz="882" b="0" i="0" kern="1200" dirty="0">
                <a:solidFill>
                  <a:schemeClr val="tx1"/>
                </a:solidFill>
                <a:effectLst/>
                <a:latin typeface="Segoe UI" panose="020B0502040204020203" pitchFamily="34" charset="0"/>
                <a:ea typeface="+mn-ea"/>
                <a:cs typeface="+mn-cs"/>
              </a:rPr>
              <a:t> — note the v2 GA Q1 2026 timeline, which aligns with this project.</a:t>
            </a:r>
          </a:p>
          <a:p>
            <a:r>
              <a:rPr lang="en-US" sz="882" b="0" i="0" kern="1200" dirty="0">
                <a:solidFill>
                  <a:schemeClr val="tx1"/>
                </a:solidFill>
                <a:effectLst/>
                <a:latin typeface="Segoe UI" panose="020B0502040204020203" pitchFamily="34" charset="0"/>
                <a:ea typeface="+mn-ea"/>
                <a:cs typeface="+mn-cs"/>
              </a:rPr>
              <a:t>At the top, the </a:t>
            </a:r>
            <a:r>
              <a:rPr lang="en-US" sz="882" b="1" i="0" kern="1200" dirty="0">
                <a:solidFill>
                  <a:schemeClr val="tx1"/>
                </a:solidFill>
                <a:effectLst/>
                <a:latin typeface="Segoe UI" panose="020B0502040204020203" pitchFamily="34" charset="0"/>
                <a:ea typeface="+mn-ea"/>
                <a:cs typeface="+mn-cs"/>
              </a:rPr>
              <a:t>Workflow Orchestrator</a:t>
            </a:r>
            <a:r>
              <a:rPr lang="en-US" sz="882" b="0" i="0" kern="1200" dirty="0">
                <a:solidFill>
                  <a:schemeClr val="tx1"/>
                </a:solidFill>
                <a:effectLst/>
                <a:latin typeface="Segoe UI" panose="020B0502040204020203" pitchFamily="34" charset="0"/>
                <a:ea typeface="+mn-ea"/>
                <a:cs typeface="+mn-cs"/>
              </a:rPr>
              <a:t> coordinates agent execution. Below that, the four agents we discussed — plus </a:t>
            </a:r>
            <a:r>
              <a:rPr lang="en-US" sz="882" b="1" i="0" kern="1200" dirty="0">
                <a:solidFill>
                  <a:schemeClr val="tx1"/>
                </a:solidFill>
                <a:effectLst/>
                <a:latin typeface="Segoe UI" panose="020B0502040204020203" pitchFamily="34" charset="0"/>
                <a:ea typeface="+mn-ea"/>
                <a:cs typeface="+mn-cs"/>
              </a:rPr>
              <a:t>Agent </a:t>
            </a:r>
            <a:r>
              <a:rPr lang="en-US" sz="882" b="1" i="1" kern="1200" dirty="0">
                <a:solidFill>
                  <a:schemeClr val="tx1"/>
                </a:solidFill>
                <a:effectLst/>
                <a:latin typeface="Segoe UI" panose="020B0502040204020203" pitchFamily="34" charset="0"/>
                <a:ea typeface="+mn-ea"/>
                <a:cs typeface="+mn-cs"/>
              </a:rPr>
              <a:t>n</a:t>
            </a:r>
            <a:r>
              <a:rPr lang="en-US" sz="882" b="0" i="0" kern="1200" dirty="0">
                <a:solidFill>
                  <a:schemeClr val="tx1"/>
                </a:solidFill>
                <a:effectLst/>
                <a:latin typeface="Segoe UI" panose="020B0502040204020203" pitchFamily="34" charset="0"/>
                <a:ea typeface="+mn-ea"/>
                <a:cs typeface="+mn-cs"/>
              </a:rPr>
              <a:t>, which represents the extensibility. You can add your own agents as needed.</a:t>
            </a:r>
          </a:p>
          <a:p>
            <a:r>
              <a:rPr lang="en-US" sz="882" b="0" i="0" kern="1200" dirty="0">
                <a:solidFill>
                  <a:schemeClr val="tx1"/>
                </a:solidFill>
                <a:effectLst/>
                <a:latin typeface="Segoe UI" panose="020B0502040204020203" pitchFamily="34" charset="0"/>
                <a:ea typeface="+mn-ea"/>
                <a:cs typeface="+mn-cs"/>
              </a:rPr>
              <a:t>Underneath, </a:t>
            </a:r>
            <a:r>
              <a:rPr lang="en-US" sz="882" b="1" i="0" kern="1200" dirty="0">
                <a:solidFill>
                  <a:schemeClr val="tx1"/>
                </a:solidFill>
                <a:effectLst/>
                <a:latin typeface="Segoe UI" panose="020B0502040204020203" pitchFamily="34" charset="0"/>
                <a:ea typeface="+mn-ea"/>
                <a:cs typeface="+mn-cs"/>
              </a:rPr>
              <a:t>Foundry IQ</a:t>
            </a:r>
            <a:r>
              <a:rPr lang="en-US" sz="882" b="0" i="0" kern="1200" dirty="0">
                <a:solidFill>
                  <a:schemeClr val="tx1"/>
                </a:solidFill>
                <a:effectLst/>
                <a:latin typeface="Segoe UI" panose="020B0502040204020203" pitchFamily="34" charset="0"/>
                <a:ea typeface="+mn-ea"/>
                <a:cs typeface="+mn-cs"/>
              </a:rPr>
              <a:t> provides persistent memory and knowledge bases — agents remember context across sessions and share learnings.”</a:t>
            </a:r>
          </a:p>
          <a:p>
            <a:endParaRPr lang="en-US" dirty="0"/>
          </a:p>
        </p:txBody>
      </p:sp>
      <p:sp>
        <p:nvSpPr>
          <p:cNvPr id="4" name="Header Placeholder 3">
            <a:extLst>
              <a:ext uri="{FF2B5EF4-FFF2-40B4-BE49-F238E27FC236}">
                <a16:creationId xmlns:a16="http://schemas.microsoft.com/office/drawing/2014/main" id="{B0F2D4EA-1875-791D-8BCA-2FF3F919D5EC}"/>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409DBA1D-E777-A912-B9A6-FBA2DE54C7C7}"/>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5DCF247C-5242-B98A-C81F-A001ACD6DFAE}"/>
              </a:ext>
            </a:extLst>
          </p:cNvPr>
          <p:cNvSpPr>
            <a:spLocks noGrp="1"/>
          </p:cNvSpPr>
          <p:nvPr>
            <p:ph type="dt" idx="1"/>
          </p:nvPr>
        </p:nvSpPr>
        <p:spPr/>
        <p:txBody>
          <a:bodyPr/>
          <a:lstStyle/>
          <a:p>
            <a:fld id="{386CE63F-9E7F-4C04-9D0D-FCA25A8E9E86}" type="datetime8">
              <a:rPr lang="en-US" smtClean="0"/>
              <a:t>2/23/2026 7:57 PM</a:t>
            </a:fld>
            <a:endParaRPr lang="en-US"/>
          </a:p>
        </p:txBody>
      </p:sp>
      <p:sp>
        <p:nvSpPr>
          <p:cNvPr id="7" name="Slide Number Placeholder 6">
            <a:extLst>
              <a:ext uri="{FF2B5EF4-FFF2-40B4-BE49-F238E27FC236}">
                <a16:creationId xmlns:a16="http://schemas.microsoft.com/office/drawing/2014/main" id="{DD21A08C-A8E8-F46F-F1C3-7C3E3DCEBB3A}"/>
              </a:ext>
            </a:extLst>
          </p:cNvPr>
          <p:cNvSpPr>
            <a:spLocks noGrp="1"/>
          </p:cNvSpPr>
          <p:nvPr>
            <p:ph type="sldNum" sz="quarter" idx="5"/>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4896537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F96415-2FFD-7341-354D-50297B7BFE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2F4B8-0A99-8687-CC0D-8B0CC0A8AC7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060AB53-492D-C61F-740A-5905FD4C7CBF}"/>
              </a:ext>
            </a:extLst>
          </p:cNvPr>
          <p:cNvSpPr>
            <a:spLocks noGrp="1"/>
          </p:cNvSpPr>
          <p:nvPr>
            <p:ph type="body" idx="1"/>
          </p:nvPr>
        </p:nvSpPr>
        <p:spPr/>
        <p:txBody>
          <a:bodyPr/>
          <a:lstStyle/>
          <a:p>
            <a:endParaRPr lang="en-US" sz="882" b="0" i="0" kern="1200" dirty="0">
              <a:solidFill>
                <a:schemeClr val="tx1"/>
              </a:solidFill>
              <a:effectLst/>
              <a:latin typeface="Segoe UI" panose="020B0502040204020203" pitchFamily="34" charset="0"/>
              <a:ea typeface="+mn-ea"/>
              <a:cs typeface="+mn-cs"/>
            </a:endParaRPr>
          </a:p>
          <a:p>
            <a:r>
              <a:rPr lang="en-US" sz="882" b="1" i="0" kern="1200" dirty="0">
                <a:solidFill>
                  <a:schemeClr val="tx1"/>
                </a:solidFill>
                <a:effectLst/>
                <a:latin typeface="Segoe UI" panose="020B0502040204020203" pitchFamily="34" charset="0"/>
                <a:ea typeface="+mn-ea"/>
                <a:cs typeface="+mn-cs"/>
              </a:rPr>
              <a:t>Bottom Layer: Knowledge &amp; Observability (20-25 seconds)</a:t>
            </a:r>
          </a:p>
          <a:p>
            <a:r>
              <a:rPr lang="en-US" sz="882" b="0" i="0" kern="1200" dirty="0">
                <a:solidFill>
                  <a:schemeClr val="tx1"/>
                </a:solidFill>
                <a:effectLst/>
                <a:latin typeface="Segoe UI" panose="020B0502040204020203" pitchFamily="34" charset="0"/>
                <a:ea typeface="+mn-ea"/>
                <a:cs typeface="+mn-cs"/>
              </a:rPr>
              <a:t>"At the foundation — </a:t>
            </a:r>
            <a:r>
              <a:rPr lang="en-US" sz="882" b="1" i="0" kern="1200" dirty="0">
                <a:solidFill>
                  <a:schemeClr val="tx1"/>
                </a:solidFill>
                <a:effectLst/>
                <a:latin typeface="Segoe UI" panose="020B0502040204020203" pitchFamily="34" charset="0"/>
                <a:ea typeface="+mn-ea"/>
                <a:cs typeface="+mn-cs"/>
              </a:rPr>
              <a:t>Azure AI Search</a:t>
            </a:r>
            <a:r>
              <a:rPr lang="en-US" sz="882" b="0" i="0" kern="1200" dirty="0">
                <a:solidFill>
                  <a:schemeClr val="tx1"/>
                </a:solidFill>
                <a:effectLst/>
                <a:latin typeface="Segoe UI" panose="020B0502040204020203" pitchFamily="34" charset="0"/>
                <a:ea typeface="+mn-ea"/>
                <a:cs typeface="+mn-cs"/>
              </a:rPr>
              <a:t> powers the Agentic RAG pattern, retrieving MITRE techniques and playbooks.</a:t>
            </a:r>
          </a:p>
          <a:p>
            <a:r>
              <a:rPr lang="en-US" sz="882" b="1" i="0" kern="1200" dirty="0">
                <a:solidFill>
                  <a:schemeClr val="tx1"/>
                </a:solidFill>
                <a:effectLst/>
                <a:latin typeface="Segoe UI" panose="020B0502040204020203" pitchFamily="34" charset="0"/>
                <a:ea typeface="+mn-ea"/>
                <a:cs typeface="+mn-cs"/>
              </a:rPr>
              <a:t>Blob Storage</a:t>
            </a:r>
            <a:r>
              <a:rPr lang="en-US" sz="882" b="0" i="0" kern="1200" dirty="0">
                <a:solidFill>
                  <a:schemeClr val="tx1"/>
                </a:solidFill>
                <a:effectLst/>
                <a:latin typeface="Segoe UI" panose="020B0502040204020203" pitchFamily="34" charset="0"/>
                <a:ea typeface="+mn-ea"/>
                <a:cs typeface="+mn-cs"/>
              </a:rPr>
              <a:t> is not used in the SDK at this time, but can be easily integrated via Foundry native connectors. And </a:t>
            </a:r>
            <a:r>
              <a:rPr lang="en-US" sz="882" b="1" i="0" kern="1200" dirty="0">
                <a:solidFill>
                  <a:schemeClr val="tx1"/>
                </a:solidFill>
                <a:effectLst/>
                <a:latin typeface="Segoe UI" panose="020B0502040204020203" pitchFamily="34" charset="0"/>
                <a:ea typeface="+mn-ea"/>
                <a:cs typeface="+mn-cs"/>
              </a:rPr>
              <a:t>App Insights</a:t>
            </a:r>
            <a:r>
              <a:rPr lang="en-US" sz="882" b="0" i="0" kern="1200" dirty="0">
                <a:solidFill>
                  <a:schemeClr val="tx1"/>
                </a:solidFill>
                <a:effectLst/>
                <a:latin typeface="Segoe UI" panose="020B0502040204020203" pitchFamily="34" charset="0"/>
                <a:ea typeface="+mn-ea"/>
                <a:cs typeface="+mn-cs"/>
              </a:rPr>
              <a:t> captures every agent action and decision for full traceability. </a:t>
            </a:r>
          </a:p>
          <a:p>
            <a:r>
              <a:rPr lang="en-US" sz="882" b="0" i="0" kern="1200" dirty="0">
                <a:solidFill>
                  <a:schemeClr val="tx1"/>
                </a:solidFill>
                <a:effectLst/>
                <a:latin typeface="Segoe UI" panose="020B0502040204020203" pitchFamily="34" charset="0"/>
                <a:ea typeface="+mn-ea"/>
                <a:cs typeface="+mn-cs"/>
              </a:rPr>
              <a:t>Nothing is a black box. Every action is logged, auditable, and traceable to a specific alert and reasoning chain."</a:t>
            </a:r>
          </a:p>
          <a:p>
            <a:endParaRPr lang="en-US" sz="900" b="1" dirty="0">
              <a:solidFill>
                <a:schemeClr val="accent3"/>
              </a:solidFill>
            </a:endParaRPr>
          </a:p>
          <a:p>
            <a:endParaRPr lang="en-US" sz="900" b="1" dirty="0">
              <a:solidFill>
                <a:schemeClr val="accent3"/>
              </a:solidFill>
            </a:endParaRPr>
          </a:p>
          <a:p>
            <a:r>
              <a:rPr lang="en-US" sz="900" b="1" dirty="0">
                <a:solidFill>
                  <a:schemeClr val="accent3"/>
                </a:solidFill>
              </a:rPr>
              <a:t>---</a:t>
            </a:r>
          </a:p>
          <a:p>
            <a:endParaRPr lang="en-US" sz="900" b="1" dirty="0">
              <a:solidFill>
                <a:schemeClr val="accent3"/>
              </a:solidFill>
            </a:endParaRPr>
          </a:p>
          <a:p>
            <a:r>
              <a:rPr lang="en-US" sz="900" b="1" dirty="0">
                <a:solidFill>
                  <a:schemeClr val="accent3"/>
                </a:solidFill>
              </a:rPr>
              <a:t>Four Starter Agents - Core SOC workflow coverage</a:t>
            </a:r>
          </a:p>
          <a:p>
            <a:r>
              <a:rPr lang="en-US" sz="900" dirty="0"/>
              <a:t>Purpose-built agents for Alert Triage, Threat Hunting, Incident Response, and Threat Intelligence — designed to reduce MTTD by 75% and automating routine triage.</a:t>
            </a:r>
          </a:p>
          <a:p>
            <a:endParaRPr lang="en-US" sz="900" dirty="0"/>
          </a:p>
          <a:p>
            <a:r>
              <a:rPr lang="en-US" sz="900" b="1" dirty="0">
                <a:solidFill>
                  <a:schemeClr val="accent3"/>
                </a:solidFill>
              </a:rPr>
              <a:t>Cybersecurity Research Datasets &amp; Pre-Built Scenarios</a:t>
            </a:r>
          </a:p>
          <a:p>
            <a:r>
              <a:rPr lang="en-US" sz="900" dirty="0"/>
              <a:t>MITRE ATT&amp;CK catalog (14K+ scenarios) + GUIDE dataset (1.17M graded events) ground agents in real attack patterns for validated, repeatable testing.</a:t>
            </a:r>
          </a:p>
          <a:p>
            <a:endParaRPr lang="en-US" sz="900" b="1" dirty="0"/>
          </a:p>
          <a:p>
            <a:r>
              <a:rPr lang="en-US" sz="900" b="1" dirty="0">
                <a:solidFill>
                  <a:schemeClr val="accent3"/>
                </a:solidFill>
              </a:rPr>
              <a:t>Knowledge-Grounded AI (Agentic RAG)</a:t>
            </a:r>
          </a:p>
          <a:p>
            <a:r>
              <a:rPr lang="en-US" sz="900" dirty="0"/>
              <a:t>Agents retrieve MITRE techniques and playbooks via Azure AI Search — responses are grounded in validated security knowledge, not hallucinations.</a:t>
            </a:r>
          </a:p>
          <a:p>
            <a:endParaRPr lang="en-US" sz="900" b="1" dirty="0"/>
          </a:p>
          <a:p>
            <a:r>
              <a:rPr lang="en-US" sz="900" b="1" dirty="0">
                <a:solidFill>
                  <a:schemeClr val="accent3"/>
                </a:solidFill>
              </a:rPr>
              <a:t>Microsoft Foundry-Native Development</a:t>
            </a:r>
            <a:endParaRPr lang="en-US" sz="900" dirty="0">
              <a:solidFill>
                <a:schemeClr val="accent3"/>
              </a:solidFill>
            </a:endParaRPr>
          </a:p>
          <a:p>
            <a:r>
              <a:rPr lang="en-US" sz="900" dirty="0"/>
              <a:t>Foundry SDK manages agent lifecycle, memory, and telemetry so teams focus on agent behavior and rapid experimentation.</a:t>
            </a:r>
          </a:p>
          <a:p>
            <a:endParaRPr lang="en-US" sz="900" dirty="0"/>
          </a:p>
          <a:p>
            <a:r>
              <a:rPr lang="en-US" sz="900" b="1" dirty="0">
                <a:solidFill>
                  <a:schemeClr val="accent3"/>
                </a:solidFill>
              </a:rPr>
              <a:t>Accelerated Deployment and Developer Tools</a:t>
            </a:r>
          </a:p>
          <a:p>
            <a:r>
              <a:rPr lang="en-US" sz="900" dirty="0"/>
              <a:t>Infrastructure-as-code deploys in &lt;15 minutes. The </a:t>
            </a:r>
            <a:r>
              <a:rPr lang="en-US" sz="900" i="1" dirty="0" err="1"/>
              <a:t>asoc</a:t>
            </a:r>
            <a:r>
              <a:rPr lang="en-US" sz="900" i="1" dirty="0"/>
              <a:t> cli</a:t>
            </a:r>
            <a:r>
              <a:rPr lang="en-US" sz="900" b="1" i="1" dirty="0"/>
              <a:t> </a:t>
            </a:r>
            <a:r>
              <a:rPr lang="en-US" sz="900" dirty="0"/>
              <a:t>enables rapid testing, demos, and iteration – with full observability via App Insights.</a:t>
            </a:r>
          </a:p>
          <a:p>
            <a:endParaRPr lang="en-US" dirty="0"/>
          </a:p>
        </p:txBody>
      </p:sp>
      <p:sp>
        <p:nvSpPr>
          <p:cNvPr id="4" name="Header Placeholder 3">
            <a:extLst>
              <a:ext uri="{FF2B5EF4-FFF2-40B4-BE49-F238E27FC236}">
                <a16:creationId xmlns:a16="http://schemas.microsoft.com/office/drawing/2014/main" id="{B5D3B0FF-301A-1C24-9948-CFB788439D88}"/>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866CD3F1-8721-3923-55BE-1CE346619F72}"/>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047263FD-C4D7-45BF-C602-D493F4D4A73B}"/>
              </a:ext>
            </a:extLst>
          </p:cNvPr>
          <p:cNvSpPr>
            <a:spLocks noGrp="1"/>
          </p:cNvSpPr>
          <p:nvPr>
            <p:ph type="dt" idx="1"/>
          </p:nvPr>
        </p:nvSpPr>
        <p:spPr/>
        <p:txBody>
          <a:bodyPr/>
          <a:lstStyle/>
          <a:p>
            <a:fld id="{386CE63F-9E7F-4C04-9D0D-FCA25A8E9E86}" type="datetime8">
              <a:rPr lang="en-US" smtClean="0"/>
              <a:t>2/23/2026 7:57 PM</a:t>
            </a:fld>
            <a:endParaRPr lang="en-US"/>
          </a:p>
        </p:txBody>
      </p:sp>
      <p:sp>
        <p:nvSpPr>
          <p:cNvPr id="7" name="Slide Number Placeholder 6">
            <a:extLst>
              <a:ext uri="{FF2B5EF4-FFF2-40B4-BE49-F238E27FC236}">
                <a16:creationId xmlns:a16="http://schemas.microsoft.com/office/drawing/2014/main" id="{28757348-EF05-8765-1E68-80522819F823}"/>
              </a:ext>
            </a:extLst>
          </p:cNvPr>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266201877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324B1-9ED4-4EA2-36E5-4A21A05A5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F377D1-EBD1-F06A-26E4-4A3159CBAD37}"/>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64E1522-B4A3-7010-CEB9-6F0A920ECE8F}"/>
              </a:ext>
            </a:extLst>
          </p:cNvPr>
          <p:cNvSpPr>
            <a:spLocks noGrp="1"/>
          </p:cNvSpPr>
          <p:nvPr>
            <p:ph type="body" idx="1"/>
          </p:nvPr>
        </p:nvSpPr>
        <p:spPr/>
        <p:txBody>
          <a:bodyPr/>
          <a:lstStyle/>
          <a:p>
            <a:r>
              <a:rPr lang="en-US" sz="882" b="0" i="0" kern="1200" dirty="0">
                <a:solidFill>
                  <a:schemeClr val="tx1"/>
                </a:solidFill>
                <a:effectLst/>
                <a:latin typeface="Segoe UI" panose="020B0502040204020203" pitchFamily="34" charset="0"/>
                <a:ea typeface="+mn-ea"/>
                <a:cs typeface="+mn-cs"/>
              </a:rPr>
              <a:t>"Notice there's no custom infrastructure to manage. It's all Azure-native services composed together, leveraging Azure managed identities in nearly all connections with least-privileged RBAC. (Notable exception is the model connection in the Azure AI Search KB - uses API Auth for now). </a:t>
            </a:r>
            <a:br>
              <a:rPr lang="en-US" sz="882" b="0" i="0" kern="1200" dirty="0">
                <a:solidFill>
                  <a:schemeClr val="tx1"/>
                </a:solidFill>
                <a:effectLst/>
                <a:latin typeface="Segoe UI" panose="020B0502040204020203" pitchFamily="34" charset="0"/>
                <a:ea typeface="+mn-ea"/>
                <a:cs typeface="+mn-cs"/>
              </a:rPr>
            </a:br>
            <a:br>
              <a:rPr lang="en-US" sz="882" b="0" i="0" kern="1200" dirty="0">
                <a:solidFill>
                  <a:schemeClr val="tx1"/>
                </a:solidFill>
                <a:effectLst/>
                <a:latin typeface="Segoe UI" panose="020B0502040204020203" pitchFamily="34" charset="0"/>
                <a:ea typeface="+mn-ea"/>
                <a:cs typeface="+mn-cs"/>
              </a:rPr>
            </a:br>
            <a:r>
              <a:rPr lang="en-US" sz="882" b="0" i="0" kern="1200" dirty="0">
                <a:solidFill>
                  <a:schemeClr val="tx1"/>
                </a:solidFill>
                <a:effectLst/>
                <a:latin typeface="Segoe UI" panose="020B0502040204020203" pitchFamily="34" charset="0"/>
                <a:ea typeface="+mn-ea"/>
                <a:cs typeface="+mn-cs"/>
              </a:rPr>
              <a:t>That's why deployment takes 15 minutes, not 15 days.”</a:t>
            </a:r>
          </a:p>
          <a:p>
            <a:endParaRPr lang="en-US" sz="900" b="1" dirty="0">
              <a:solidFill>
                <a:schemeClr val="accent3"/>
              </a:solidFill>
            </a:endParaRPr>
          </a:p>
          <a:p>
            <a:r>
              <a:rPr lang="en-US" sz="882" b="0" i="0" kern="1200" dirty="0">
                <a:solidFill>
                  <a:schemeClr val="tx1"/>
                </a:solidFill>
                <a:effectLst/>
                <a:latin typeface="Segoe UI" panose="020B0502040204020203" pitchFamily="34" charset="0"/>
                <a:ea typeface="+mn-ea"/>
                <a:cs typeface="+mn-cs"/>
              </a:rPr>
              <a:t>"Let me show you what this looks like when it runs."</a:t>
            </a:r>
          </a:p>
        </p:txBody>
      </p:sp>
      <p:sp>
        <p:nvSpPr>
          <p:cNvPr id="4" name="Header Placeholder 3">
            <a:extLst>
              <a:ext uri="{FF2B5EF4-FFF2-40B4-BE49-F238E27FC236}">
                <a16:creationId xmlns:a16="http://schemas.microsoft.com/office/drawing/2014/main" id="{D9F4125D-F57B-59D1-F648-C72C3CA8A6A3}"/>
              </a:ext>
            </a:extLst>
          </p:cNvPr>
          <p:cNvSpPr>
            <a:spLocks noGrp="1"/>
          </p:cNvSpPr>
          <p:nvPr>
            <p:ph type="hdr" sz="quarter"/>
          </p:nvPr>
        </p:nvSpPr>
        <p:spPr/>
        <p:txBody>
          <a:bodyPr/>
          <a:lstStyle/>
          <a:p>
            <a:endParaRPr lang="en-US"/>
          </a:p>
        </p:txBody>
      </p:sp>
      <p:sp>
        <p:nvSpPr>
          <p:cNvPr id="5" name="Footer Placeholder 4">
            <a:extLst>
              <a:ext uri="{FF2B5EF4-FFF2-40B4-BE49-F238E27FC236}">
                <a16:creationId xmlns:a16="http://schemas.microsoft.com/office/drawing/2014/main" id="{117C24FF-DD36-4A9B-97EF-8B1939CDA5E6}"/>
              </a:ext>
            </a:extLst>
          </p:cNvPr>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a:extLst>
              <a:ext uri="{FF2B5EF4-FFF2-40B4-BE49-F238E27FC236}">
                <a16:creationId xmlns:a16="http://schemas.microsoft.com/office/drawing/2014/main" id="{253ABB53-A7DB-F630-4AE6-068B649EF5A8}"/>
              </a:ext>
            </a:extLst>
          </p:cNvPr>
          <p:cNvSpPr>
            <a:spLocks noGrp="1"/>
          </p:cNvSpPr>
          <p:nvPr>
            <p:ph type="dt" idx="1"/>
          </p:nvPr>
        </p:nvSpPr>
        <p:spPr/>
        <p:txBody>
          <a:bodyPr/>
          <a:lstStyle/>
          <a:p>
            <a:fld id="{386CE63F-9E7F-4C04-9D0D-FCA25A8E9E86}" type="datetime8">
              <a:rPr lang="en-US" smtClean="0"/>
              <a:t>2/23/2026 7:58 PM</a:t>
            </a:fld>
            <a:endParaRPr lang="en-US"/>
          </a:p>
        </p:txBody>
      </p:sp>
      <p:sp>
        <p:nvSpPr>
          <p:cNvPr id="7" name="Slide Number Placeholder 6">
            <a:extLst>
              <a:ext uri="{FF2B5EF4-FFF2-40B4-BE49-F238E27FC236}">
                <a16:creationId xmlns:a16="http://schemas.microsoft.com/office/drawing/2014/main" id="{1679AA9C-02CA-48CA-AD58-B26DCDD7BFC5}"/>
              </a:ext>
            </a:extLst>
          </p:cNvPr>
          <p:cNvSpPr>
            <a:spLocks noGrp="1"/>
          </p:cNvSpPr>
          <p:nvPr>
            <p:ph type="sldNum" sz="quarter" idx="5"/>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7522110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0" i="0" kern="1200" dirty="0">
                <a:solidFill>
                  <a:schemeClr val="tx1"/>
                </a:solidFill>
                <a:effectLst/>
                <a:latin typeface="Segoe UI" panose="020B0502040204020203" pitchFamily="34" charset="0"/>
                <a:ea typeface="+mn-ea"/>
                <a:cs typeface="+mn-cs"/>
              </a:rPr>
              <a:t>"We've covered what we're building and how. Now let's talk about </a:t>
            </a:r>
            <a:r>
              <a:rPr lang="en-US" sz="882" b="1" i="0" kern="1200" dirty="0">
                <a:solidFill>
                  <a:schemeClr val="tx1"/>
                </a:solidFill>
                <a:effectLst/>
                <a:latin typeface="Segoe UI" panose="020B0502040204020203" pitchFamily="34" charset="0"/>
                <a:ea typeface="+mn-ea"/>
                <a:cs typeface="+mn-cs"/>
              </a:rPr>
              <a:t>measurable outcomes</a:t>
            </a:r>
            <a:r>
              <a:rPr lang="en-US" sz="882" b="0" i="0" kern="1200" dirty="0">
                <a:solidFill>
                  <a:schemeClr val="tx1"/>
                </a:solidFill>
                <a:effectLst/>
                <a:latin typeface="Segoe UI" panose="020B0502040204020203" pitchFamily="34" charset="0"/>
                <a:ea typeface="+mn-ea"/>
                <a:cs typeface="+mn-cs"/>
              </a:rPr>
              <a:t> — what you can expect within 90 days."</a:t>
            </a:r>
            <a:br>
              <a:rPr lang="en-US" dirty="0"/>
            </a:br>
            <a:endParaRPr lang="en-US" dirty="0"/>
          </a:p>
          <a:p>
            <a:r>
              <a:rPr lang="en-US" sz="882" b="1" i="0" kern="1200" dirty="0">
                <a:solidFill>
                  <a:schemeClr val="tx1"/>
                </a:solidFill>
                <a:effectLst/>
                <a:latin typeface="Segoe UI" panose="020B0502040204020203" pitchFamily="34" charset="0"/>
                <a:ea typeface="+mn-ea"/>
                <a:cs typeface="+mn-cs"/>
              </a:rPr>
              <a:t>Operational Improvements (40-50 seconds)</a:t>
            </a:r>
          </a:p>
          <a:p>
            <a:r>
              <a:rPr lang="en-US" sz="882" b="0" i="0" kern="1200" dirty="0">
                <a:solidFill>
                  <a:schemeClr val="tx1"/>
                </a:solidFill>
                <a:effectLst/>
                <a:latin typeface="Segoe UI" panose="020B0502040204020203" pitchFamily="34" charset="0"/>
                <a:ea typeface="+mn-ea"/>
                <a:cs typeface="+mn-cs"/>
              </a:rPr>
              <a:t>"Six key metrics, all achievable within 90 days of deployment:</a:t>
            </a:r>
          </a:p>
          <a:p>
            <a:r>
              <a:rPr lang="en-US" sz="882" b="1" i="0" kern="1200" dirty="0">
                <a:solidFill>
                  <a:schemeClr val="tx1"/>
                </a:solidFill>
                <a:effectLst/>
                <a:latin typeface="Segoe UI" panose="020B0502040204020203" pitchFamily="34" charset="0"/>
                <a:ea typeface="+mn-ea"/>
                <a:cs typeface="+mn-cs"/>
              </a:rPr>
              <a:t>MTTD</a:t>
            </a:r>
            <a:r>
              <a:rPr lang="en-US" sz="882" b="0" i="0" kern="1200" dirty="0">
                <a:solidFill>
                  <a:schemeClr val="tx1"/>
                </a:solidFill>
                <a:effectLst/>
                <a:latin typeface="Segoe UI" panose="020B0502040204020203" pitchFamily="34" charset="0"/>
                <a:ea typeface="+mn-ea"/>
                <a:cs typeface="+mn-cs"/>
              </a:rPr>
              <a:t> — the headline number — from 4-6 hours down to </a:t>
            </a:r>
            <a:r>
              <a:rPr lang="en-US" sz="882" b="1" i="0" kern="1200" dirty="0">
                <a:solidFill>
                  <a:schemeClr val="tx1"/>
                </a:solidFill>
                <a:effectLst/>
                <a:latin typeface="Segoe UI" panose="020B0502040204020203" pitchFamily="34" charset="0"/>
                <a:ea typeface="+mn-ea"/>
                <a:cs typeface="+mn-cs"/>
              </a:rPr>
              <a:t>under 15 minutes</a:t>
            </a:r>
            <a:r>
              <a:rPr lang="en-US" sz="882" b="0" i="0" kern="1200" dirty="0">
                <a:solidFill>
                  <a:schemeClr val="tx1"/>
                </a:solidFill>
                <a:effectLst/>
                <a:latin typeface="Segoe UI" panose="020B0502040204020203" pitchFamily="34" charset="0"/>
                <a:ea typeface="+mn-ea"/>
                <a:cs typeface="+mn-cs"/>
              </a:rPr>
              <a:t>. That's a 75% reduction in the window attackers have to operate.</a:t>
            </a:r>
          </a:p>
          <a:p>
            <a:r>
              <a:rPr lang="en-US" sz="882" b="1" i="0" kern="1200" dirty="0">
                <a:solidFill>
                  <a:schemeClr val="tx1"/>
                </a:solidFill>
                <a:effectLst/>
                <a:latin typeface="Segoe UI" panose="020B0502040204020203" pitchFamily="34" charset="0"/>
                <a:ea typeface="+mn-ea"/>
                <a:cs typeface="+mn-cs"/>
              </a:rPr>
              <a:t>Triage accuracy</a:t>
            </a:r>
            <a:r>
              <a:rPr lang="en-US" sz="882" b="0" i="0" kern="1200" dirty="0">
                <a:solidFill>
                  <a:schemeClr val="tx1"/>
                </a:solidFill>
                <a:effectLst/>
                <a:latin typeface="Segoe UI" panose="020B0502040204020203" pitchFamily="34" charset="0"/>
                <a:ea typeface="+mn-ea"/>
                <a:cs typeface="+mn-cs"/>
              </a:rPr>
              <a:t> jumps from around 60% to </a:t>
            </a:r>
            <a:r>
              <a:rPr lang="en-US" sz="882" b="1" i="0" kern="1200" dirty="0">
                <a:solidFill>
                  <a:schemeClr val="tx1"/>
                </a:solidFill>
                <a:effectLst/>
                <a:latin typeface="Segoe UI" panose="020B0502040204020203" pitchFamily="34" charset="0"/>
                <a:ea typeface="+mn-ea"/>
                <a:cs typeface="+mn-cs"/>
              </a:rPr>
              <a:t>over 80%</a:t>
            </a:r>
            <a:r>
              <a:rPr lang="en-US" sz="882" b="0" i="0" kern="1200" dirty="0">
                <a:solidFill>
                  <a:schemeClr val="tx1"/>
                </a:solidFill>
                <a:effectLst/>
                <a:latin typeface="Segoe UI" panose="020B0502040204020203" pitchFamily="34" charset="0"/>
                <a:ea typeface="+mn-ea"/>
                <a:cs typeface="+mn-cs"/>
              </a:rPr>
              <a:t> — validated against ground truth data.</a:t>
            </a:r>
          </a:p>
          <a:p>
            <a:r>
              <a:rPr lang="en-US" sz="882" b="1" i="0" kern="1200" dirty="0">
                <a:solidFill>
                  <a:schemeClr val="tx1"/>
                </a:solidFill>
                <a:effectLst/>
                <a:latin typeface="Segoe UI" panose="020B0502040204020203" pitchFamily="34" charset="0"/>
                <a:ea typeface="+mn-ea"/>
                <a:cs typeface="+mn-cs"/>
              </a:rPr>
              <a:t>False positive rate</a:t>
            </a:r>
            <a:r>
              <a:rPr lang="en-US" sz="882" b="0" i="0" kern="1200" dirty="0">
                <a:solidFill>
                  <a:schemeClr val="tx1"/>
                </a:solidFill>
                <a:effectLst/>
                <a:latin typeface="Segoe UI" panose="020B0502040204020203" pitchFamily="34" charset="0"/>
                <a:ea typeface="+mn-ea"/>
                <a:cs typeface="+mn-cs"/>
              </a:rPr>
              <a:t> drops from 70% to </a:t>
            </a:r>
            <a:r>
              <a:rPr lang="en-US" sz="882" b="1" i="0" kern="1200" dirty="0">
                <a:solidFill>
                  <a:schemeClr val="tx1"/>
                </a:solidFill>
                <a:effectLst/>
                <a:latin typeface="Segoe UI" panose="020B0502040204020203" pitchFamily="34" charset="0"/>
                <a:ea typeface="+mn-ea"/>
                <a:cs typeface="+mn-cs"/>
              </a:rPr>
              <a:t>under 20%</a:t>
            </a:r>
            <a:r>
              <a:rPr lang="en-US" sz="882" b="0" i="0" kern="1200" dirty="0">
                <a:solidFill>
                  <a:schemeClr val="tx1"/>
                </a:solidFill>
                <a:effectLst/>
                <a:latin typeface="Segoe UI" panose="020B0502040204020203" pitchFamily="34" charset="0"/>
                <a:ea typeface="+mn-ea"/>
                <a:cs typeface="+mn-cs"/>
              </a:rPr>
              <a:t>. That's the noise reduction that gives analysts their time back.</a:t>
            </a:r>
          </a:p>
          <a:p>
            <a:r>
              <a:rPr lang="en-US" sz="882" b="1" i="0" kern="1200" dirty="0">
                <a:solidFill>
                  <a:schemeClr val="tx1"/>
                </a:solidFill>
                <a:effectLst/>
                <a:latin typeface="Segoe UI" panose="020B0502040204020203" pitchFamily="34" charset="0"/>
                <a:ea typeface="+mn-ea"/>
                <a:cs typeface="+mn-cs"/>
              </a:rPr>
              <a:t>Mean Time to Contain</a:t>
            </a:r>
            <a:r>
              <a:rPr lang="en-US" sz="882" b="0" i="0" kern="1200" dirty="0">
                <a:solidFill>
                  <a:schemeClr val="tx1"/>
                </a:solidFill>
                <a:effectLst/>
                <a:latin typeface="Segoe UI" panose="020B0502040204020203" pitchFamily="34" charset="0"/>
                <a:ea typeface="+mn-ea"/>
                <a:cs typeface="+mn-cs"/>
              </a:rPr>
              <a:t> — from 30-60 minutes down to </a:t>
            </a:r>
            <a:r>
              <a:rPr lang="en-US" sz="882" b="1" i="0" kern="1200" dirty="0">
                <a:solidFill>
                  <a:schemeClr val="tx1"/>
                </a:solidFill>
                <a:effectLst/>
                <a:latin typeface="Segoe UI" panose="020B0502040204020203" pitchFamily="34" charset="0"/>
                <a:ea typeface="+mn-ea"/>
                <a:cs typeface="+mn-cs"/>
              </a:rPr>
              <a:t>under 5 minutes</a:t>
            </a:r>
            <a:r>
              <a:rPr lang="en-US" sz="882" b="0" i="0" kern="1200" dirty="0">
                <a:solidFill>
                  <a:schemeClr val="tx1"/>
                </a:solidFill>
                <a:effectLst/>
                <a:latin typeface="Segoe UI" panose="020B0502040204020203" pitchFamily="34" charset="0"/>
                <a:ea typeface="+mn-ea"/>
                <a:cs typeface="+mn-cs"/>
              </a:rPr>
              <a:t> for automated response actions.</a:t>
            </a:r>
          </a:p>
          <a:p>
            <a:r>
              <a:rPr lang="en-US" sz="882" b="0" i="0" kern="1200" dirty="0">
                <a:solidFill>
                  <a:schemeClr val="tx1"/>
                </a:solidFill>
                <a:effectLst/>
                <a:latin typeface="Segoe UI" panose="020B0502040204020203" pitchFamily="34" charset="0"/>
                <a:ea typeface="+mn-ea"/>
                <a:cs typeface="+mn-cs"/>
              </a:rPr>
              <a:t>And the human impact: </a:t>
            </a:r>
            <a:r>
              <a:rPr lang="en-US" sz="882" b="1" i="0" kern="1200" dirty="0">
                <a:solidFill>
                  <a:schemeClr val="tx1"/>
                </a:solidFill>
                <a:effectLst/>
                <a:latin typeface="Segoe UI" panose="020B0502040204020203" pitchFamily="34" charset="0"/>
                <a:ea typeface="+mn-ea"/>
                <a:cs typeface="+mn-cs"/>
              </a:rPr>
              <a:t>analysts shift from 30% to 70% of their time on strategic work</a:t>
            </a:r>
            <a:r>
              <a:rPr lang="en-US" sz="882" b="0" i="0" kern="1200" dirty="0">
                <a:solidFill>
                  <a:schemeClr val="tx1"/>
                </a:solidFill>
                <a:effectLst/>
                <a:latin typeface="Segoe UI" panose="020B0502040204020203" pitchFamily="34" charset="0"/>
                <a:ea typeface="+mn-ea"/>
                <a:cs typeface="+mn-cs"/>
              </a:rPr>
              <a:t> — hunting, improving defenses — instead of chasing false alarms.</a:t>
            </a:r>
          </a:p>
          <a:p>
            <a:r>
              <a:rPr lang="en-US" sz="882" b="0" i="0" kern="1200" dirty="0">
                <a:solidFill>
                  <a:schemeClr val="tx1"/>
                </a:solidFill>
                <a:effectLst/>
                <a:latin typeface="Segoe UI" panose="020B0502040204020203" pitchFamily="34" charset="0"/>
                <a:ea typeface="+mn-ea"/>
                <a:cs typeface="+mn-cs"/>
              </a:rPr>
              <a:t>The result: </a:t>
            </a:r>
            <a:r>
              <a:rPr lang="en-US" sz="882" b="1" i="0" kern="1200" dirty="0">
                <a:solidFill>
                  <a:schemeClr val="tx1"/>
                </a:solidFill>
                <a:effectLst/>
                <a:latin typeface="Segoe UI" panose="020B0502040204020203" pitchFamily="34" charset="0"/>
                <a:ea typeface="+mn-ea"/>
                <a:cs typeface="+mn-cs"/>
              </a:rPr>
              <a:t>60% reduction in cost per alert processed</a:t>
            </a:r>
            <a:r>
              <a:rPr lang="en-US" sz="882" b="0" i="0" kern="1200" dirty="0">
                <a:solidFill>
                  <a:schemeClr val="tx1"/>
                </a:solidFill>
                <a:effectLst/>
                <a:latin typeface="Segoe UI" panose="020B0502040204020203" pitchFamily="34" charset="0"/>
                <a:ea typeface="+mn-ea"/>
                <a:cs typeface="+mn-cs"/>
              </a:rPr>
              <a:t>."</a:t>
            </a:r>
            <a:br>
              <a:rPr lang="en-US" dirty="0"/>
            </a:br>
            <a:endParaRPr lang="en-US" dirty="0"/>
          </a:p>
          <a:p>
            <a:r>
              <a:rPr lang="en-US" sz="882" b="1" i="0" kern="1200" dirty="0">
                <a:solidFill>
                  <a:schemeClr val="tx1"/>
                </a:solidFill>
                <a:effectLst/>
                <a:latin typeface="Segoe UI" panose="020B0502040204020203" pitchFamily="34" charset="0"/>
                <a:ea typeface="+mn-ea"/>
                <a:cs typeface="+mn-cs"/>
              </a:rPr>
              <a:t>Cost-Benefit Analysis (30-40 seconds)</a:t>
            </a:r>
          </a:p>
          <a:p>
            <a:r>
              <a:rPr lang="en-US" sz="882" b="0" i="0" kern="1200" dirty="0">
                <a:solidFill>
                  <a:schemeClr val="tx1"/>
                </a:solidFill>
                <a:effectLst/>
                <a:latin typeface="Segoe UI" panose="020B0502040204020203" pitchFamily="34" charset="0"/>
                <a:ea typeface="+mn-ea"/>
                <a:cs typeface="+mn-cs"/>
              </a:rPr>
              <a:t>"Now the financials. After an initial investment of $30K to $45K for the 90-day pilot, you’re looking at an </a:t>
            </a:r>
          </a:p>
          <a:p>
            <a:r>
              <a:rPr lang="en-US" sz="882" b="0" i="0" kern="1200" dirty="0">
                <a:solidFill>
                  <a:schemeClr val="tx1"/>
                </a:solidFill>
                <a:effectLst/>
                <a:latin typeface="Segoe UI" panose="020B0502040204020203" pitchFamily="34" charset="0"/>
                <a:ea typeface="+mn-ea"/>
                <a:cs typeface="+mn-cs"/>
              </a:rPr>
              <a:t>Annual investment: </a:t>
            </a:r>
            <a:r>
              <a:rPr lang="en-US" sz="882" b="1" i="0" kern="1200" dirty="0">
                <a:solidFill>
                  <a:schemeClr val="tx1"/>
                </a:solidFill>
                <a:effectLst/>
                <a:latin typeface="Segoe UI" panose="020B0502040204020203" pitchFamily="34" charset="0"/>
                <a:ea typeface="+mn-ea"/>
                <a:cs typeface="+mn-cs"/>
              </a:rPr>
              <a:t>$113K to $166K</a:t>
            </a:r>
            <a:r>
              <a:rPr lang="en-US" sz="882" b="0" i="0" kern="1200" dirty="0">
                <a:solidFill>
                  <a:schemeClr val="tx1"/>
                </a:solidFill>
                <a:effectLst/>
                <a:latin typeface="Segoe UI" panose="020B0502040204020203" pitchFamily="34" charset="0"/>
                <a:ea typeface="+mn-ea"/>
                <a:cs typeface="+mn-cs"/>
              </a:rPr>
              <a:t> — that covers infrastructure and implementation.</a:t>
            </a:r>
          </a:p>
          <a:p>
            <a:r>
              <a:rPr lang="en-US" sz="882" b="0" i="0" kern="1200" dirty="0">
                <a:solidFill>
                  <a:schemeClr val="tx1"/>
                </a:solidFill>
                <a:effectLst/>
                <a:latin typeface="Segoe UI" panose="020B0502040204020203" pitchFamily="34" charset="0"/>
                <a:ea typeface="+mn-ea"/>
                <a:cs typeface="+mn-cs"/>
              </a:rPr>
              <a:t>Annual benefits: </a:t>
            </a:r>
            <a:r>
              <a:rPr lang="en-US" sz="882" b="1" i="0" kern="1200" dirty="0">
                <a:solidFill>
                  <a:schemeClr val="tx1"/>
                </a:solidFill>
                <a:effectLst/>
                <a:latin typeface="Segoe UI" panose="020B0502040204020203" pitchFamily="34" charset="0"/>
                <a:ea typeface="+mn-ea"/>
                <a:cs typeface="+mn-cs"/>
              </a:rPr>
              <a:t>$800K to $2.6 million</a:t>
            </a:r>
            <a:r>
              <a:rPr lang="en-US" sz="882" b="0" i="0" kern="1200" dirty="0">
                <a:solidFill>
                  <a:schemeClr val="tx1"/>
                </a:solidFill>
                <a:effectLst/>
                <a:latin typeface="Segoe UI" panose="020B0502040204020203" pitchFamily="34" charset="0"/>
                <a:ea typeface="+mn-ea"/>
                <a:cs typeface="+mn-cs"/>
              </a:rPr>
              <a:t> — driven by analyst productivity gains and breach prevention.</a:t>
            </a:r>
          </a:p>
          <a:p>
            <a:r>
              <a:rPr lang="en-US" sz="882" b="1" i="0" kern="1200" dirty="0">
                <a:solidFill>
                  <a:schemeClr val="tx1"/>
                </a:solidFill>
                <a:effectLst/>
                <a:latin typeface="Segoe UI" panose="020B0502040204020203" pitchFamily="34" charset="0"/>
                <a:ea typeface="+mn-ea"/>
                <a:cs typeface="+mn-cs"/>
              </a:rPr>
              <a:t>Net ROI: 510% to 1,460%</a:t>
            </a:r>
            <a:r>
              <a:rPr lang="en-US" sz="882" b="0" i="0" kern="1200" dirty="0">
                <a:solidFill>
                  <a:schemeClr val="tx1"/>
                </a:solidFill>
                <a:effectLst/>
                <a:latin typeface="Segoe UI" panose="020B0502040204020203" pitchFamily="34" charset="0"/>
                <a:ea typeface="+mn-ea"/>
                <a:cs typeface="+mn-cs"/>
              </a:rPr>
              <a:t> — realized within the first 3 to 6 months.</a:t>
            </a:r>
          </a:p>
          <a:p>
            <a:r>
              <a:rPr lang="en-US" sz="882" b="0" i="0" kern="1200" dirty="0">
                <a:solidFill>
                  <a:schemeClr val="tx1"/>
                </a:solidFill>
                <a:effectLst/>
                <a:latin typeface="Segoe UI" panose="020B0502040204020203" pitchFamily="34" charset="0"/>
                <a:ea typeface="+mn-ea"/>
                <a:cs typeface="+mn-cs"/>
              </a:rPr>
              <a:t>Even at the conservative end, you're looking at a 5x return. At the high end, it's nearly 15x."</a:t>
            </a:r>
          </a:p>
          <a:p>
            <a:r>
              <a:rPr lang="en-US" sz="882" b="1" i="0" kern="1200" dirty="0">
                <a:solidFill>
                  <a:schemeClr val="tx1"/>
                </a:solidFill>
                <a:effectLst/>
                <a:latin typeface="Segoe UI" panose="020B0502040204020203" pitchFamily="34" charset="0"/>
                <a:ea typeface="+mn-ea"/>
                <a:cs typeface="+mn-cs"/>
              </a:rPr>
              <a:t>Key phrase to land</a:t>
            </a:r>
            <a:r>
              <a:rPr lang="en-US" sz="882" b="0" i="0" kern="1200" dirty="0">
                <a:solidFill>
                  <a:schemeClr val="tx1"/>
                </a:solidFill>
                <a:effectLst/>
                <a:latin typeface="Segoe UI" panose="020B0502040204020203" pitchFamily="34" charset="0"/>
                <a:ea typeface="+mn-ea"/>
                <a:cs typeface="+mn-cs"/>
              </a:rPr>
              <a:t>: </a:t>
            </a:r>
            <a:r>
              <a:rPr lang="en-US" sz="882" b="0" i="1" kern="1200" dirty="0">
                <a:solidFill>
                  <a:schemeClr val="tx1"/>
                </a:solidFill>
                <a:effectLst/>
                <a:latin typeface="Segoe UI" panose="020B0502040204020203" pitchFamily="34" charset="0"/>
                <a:ea typeface="+mn-ea"/>
                <a:cs typeface="+mn-cs"/>
              </a:rPr>
              <a:t>"This isn't a cost center. It's a force multiplier that pays for itself in the first quarter."</a:t>
            </a:r>
            <a:endParaRPr lang="en-US" sz="882" b="0" i="0" kern="1200" dirty="0">
              <a:solidFill>
                <a:schemeClr val="tx1"/>
              </a:solidFill>
              <a:effectLst/>
              <a:latin typeface="Segoe UI" panose="020B0502040204020203" pitchFamily="34" charset="0"/>
              <a:ea typeface="+mn-ea"/>
              <a:cs typeface="+mn-cs"/>
            </a:endParaRPr>
          </a:p>
          <a:p>
            <a:br>
              <a:rPr lang="en-US" dirty="0"/>
            </a:br>
            <a:endParaRPr lang="en-US" dirty="0"/>
          </a:p>
          <a:p>
            <a:r>
              <a:rPr lang="en-US" sz="882" b="1" i="0" kern="1200" dirty="0">
                <a:solidFill>
                  <a:schemeClr val="tx1"/>
                </a:solidFill>
                <a:effectLst/>
                <a:latin typeface="Segoe UI" panose="020B0502040204020203" pitchFamily="34" charset="0"/>
                <a:ea typeface="+mn-ea"/>
                <a:cs typeface="+mn-cs"/>
              </a:rPr>
              <a:t>Transition (5 seconds)</a:t>
            </a:r>
          </a:p>
          <a:p>
            <a:r>
              <a:rPr lang="en-US" sz="882" b="0" i="0" kern="1200" dirty="0">
                <a:solidFill>
                  <a:schemeClr val="tx1"/>
                </a:solidFill>
                <a:effectLst/>
                <a:latin typeface="Segoe UI" panose="020B0502040204020203" pitchFamily="34" charset="0"/>
                <a:ea typeface="+mn-ea"/>
                <a:cs typeface="+mn-cs"/>
              </a:rPr>
              <a:t>"Let me show you the path to getting there."</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2/23/2026 7:58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19350830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0" i="0" kern="1200" dirty="0">
                <a:solidFill>
                  <a:schemeClr val="tx1"/>
                </a:solidFill>
                <a:effectLst/>
                <a:latin typeface="Segoe UI" panose="020B0502040204020203" pitchFamily="34" charset="0"/>
                <a:ea typeface="+mn-ea"/>
                <a:cs typeface="+mn-cs"/>
              </a:rPr>
              <a:t>"Here's the practical path from pilot to production — what happens in the first 90 days and beyond."</a:t>
            </a:r>
          </a:p>
          <a:p>
            <a:br>
              <a:rPr lang="en-US" dirty="0"/>
            </a:br>
            <a:r>
              <a:rPr lang="en-US" sz="882" b="1" i="0" kern="1200" dirty="0">
                <a:solidFill>
                  <a:schemeClr val="tx1"/>
                </a:solidFill>
                <a:effectLst/>
                <a:latin typeface="Segoe UI" panose="020B0502040204020203" pitchFamily="34" charset="0"/>
                <a:ea typeface="+mn-ea"/>
                <a:cs typeface="+mn-cs"/>
              </a:rPr>
              <a:t>Phase 1: SDK Deployment — Weeks 1-4 (30 seconds)</a:t>
            </a:r>
          </a:p>
          <a:p>
            <a:r>
              <a:rPr lang="en-US" sz="882" b="0" i="0" kern="1200" dirty="0">
                <a:solidFill>
                  <a:schemeClr val="tx1"/>
                </a:solidFill>
                <a:effectLst/>
                <a:latin typeface="Segoe UI" panose="020B0502040204020203" pitchFamily="34" charset="0"/>
                <a:ea typeface="+mn-ea"/>
                <a:cs typeface="+mn-cs"/>
              </a:rPr>
              <a:t>"</a:t>
            </a:r>
            <a:r>
              <a:rPr lang="en-US" sz="882" b="1" i="0" kern="1200" dirty="0">
                <a:solidFill>
                  <a:schemeClr val="tx1"/>
                </a:solidFill>
                <a:effectLst/>
                <a:latin typeface="Segoe UI" panose="020B0502040204020203" pitchFamily="34" charset="0"/>
                <a:ea typeface="+mn-ea"/>
                <a:cs typeface="+mn-cs"/>
              </a:rPr>
              <a:t>First month</a:t>
            </a:r>
            <a:r>
              <a:rPr lang="en-US" sz="882" b="0" i="0" kern="1200" dirty="0">
                <a:solidFill>
                  <a:schemeClr val="tx1"/>
                </a:solidFill>
                <a:effectLst/>
                <a:latin typeface="Segoe UI" panose="020B0502040204020203" pitchFamily="34" charset="0"/>
                <a:ea typeface="+mn-ea"/>
                <a:cs typeface="+mn-cs"/>
              </a:rPr>
              <a:t> — get the </a:t>
            </a:r>
            <a:r>
              <a:rPr lang="en-US" sz="882" b="1" i="0" kern="1200" dirty="0">
                <a:solidFill>
                  <a:schemeClr val="tx1"/>
                </a:solidFill>
                <a:effectLst/>
                <a:latin typeface="Segoe UI" panose="020B0502040204020203" pitchFamily="34" charset="0"/>
                <a:ea typeface="+mn-ea"/>
                <a:cs typeface="+mn-cs"/>
              </a:rPr>
              <a:t>platform</a:t>
            </a:r>
            <a:r>
              <a:rPr lang="en-US" sz="882" b="0" i="0" kern="1200" dirty="0">
                <a:solidFill>
                  <a:schemeClr val="tx1"/>
                </a:solidFill>
                <a:effectLst/>
                <a:latin typeface="Segoe UI" panose="020B0502040204020203" pitchFamily="34" charset="0"/>
                <a:ea typeface="+mn-ea"/>
                <a:cs typeface="+mn-cs"/>
              </a:rPr>
              <a:t> in place.</a:t>
            </a:r>
          </a:p>
          <a:p>
            <a:r>
              <a:rPr lang="en-US" sz="882" b="0" i="0" kern="1200" dirty="0">
                <a:solidFill>
                  <a:schemeClr val="tx1"/>
                </a:solidFill>
                <a:effectLst/>
                <a:latin typeface="Segoe UI" panose="020B0502040204020203" pitchFamily="34" charset="0"/>
                <a:ea typeface="+mn-ea"/>
                <a:cs typeface="+mn-cs"/>
              </a:rPr>
              <a:t>Deploy the core infrastructure: Foundry, AI Search, App Insights. This is the AI backbone. Train your security and dev teams on the toolkit.</a:t>
            </a:r>
          </a:p>
          <a:p>
            <a:r>
              <a:rPr lang="en-US" sz="882" b="0" i="0" kern="1200" dirty="0">
                <a:solidFill>
                  <a:schemeClr val="tx1"/>
                </a:solidFill>
                <a:effectLst/>
                <a:latin typeface="Segoe UI" panose="020B0502040204020203" pitchFamily="34" charset="0"/>
                <a:ea typeface="+mn-ea"/>
                <a:cs typeface="+mn-cs"/>
              </a:rPr>
              <a:t>By week 4, you have </a:t>
            </a:r>
            <a:r>
              <a:rPr lang="en-US" sz="882" b="1" i="0" kern="1200" dirty="0">
                <a:solidFill>
                  <a:schemeClr val="tx1"/>
                </a:solidFill>
                <a:effectLst/>
                <a:latin typeface="Segoe UI" panose="020B0502040204020203" pitchFamily="34" charset="0"/>
                <a:ea typeface="+mn-ea"/>
                <a:cs typeface="+mn-cs"/>
              </a:rPr>
              <a:t>baseline validation</a:t>
            </a:r>
            <a:r>
              <a:rPr lang="en-US" sz="882" b="0" i="0" kern="1200" dirty="0">
                <a:solidFill>
                  <a:schemeClr val="tx1"/>
                </a:solidFill>
                <a:effectLst/>
                <a:latin typeface="Segoe UI" panose="020B0502040204020203" pitchFamily="34" charset="0"/>
                <a:ea typeface="+mn-ea"/>
                <a:cs typeface="+mn-cs"/>
              </a:rPr>
              <a:t> — agents running against the GUIDE dataset, proving the system works in your Azure environment.</a:t>
            </a:r>
          </a:p>
          <a:p>
            <a:r>
              <a:rPr lang="en-US" sz="882" b="0" i="0" kern="1200" dirty="0">
                <a:solidFill>
                  <a:schemeClr val="tx1"/>
                </a:solidFill>
                <a:effectLst/>
                <a:latin typeface="Segoe UI" panose="020B0502040204020203" pitchFamily="34" charset="0"/>
                <a:ea typeface="+mn-ea"/>
                <a:cs typeface="+mn-cs"/>
              </a:rPr>
              <a:t>We're not touching your production security data yet — we're validating the platform first."</a:t>
            </a:r>
          </a:p>
          <a:p>
            <a:br>
              <a:rPr lang="en-US" dirty="0"/>
            </a:br>
            <a:r>
              <a:rPr lang="en-US" sz="882" b="1" i="0" kern="1200" dirty="0">
                <a:solidFill>
                  <a:schemeClr val="tx1"/>
                </a:solidFill>
                <a:effectLst/>
                <a:latin typeface="Segoe UI" panose="020B0502040204020203" pitchFamily="34" charset="0"/>
                <a:ea typeface="+mn-ea"/>
                <a:cs typeface="+mn-cs"/>
              </a:rPr>
              <a:t>Phase 2: SDK Customization — Weeks 5-8 (30-35 seconds)</a:t>
            </a:r>
          </a:p>
          <a:p>
            <a:r>
              <a:rPr lang="en-US" sz="882" b="0" i="0" kern="1200" dirty="0">
                <a:solidFill>
                  <a:schemeClr val="tx1"/>
                </a:solidFill>
                <a:effectLst/>
                <a:latin typeface="Segoe UI" panose="020B0502040204020203" pitchFamily="34" charset="0"/>
                <a:ea typeface="+mn-ea"/>
                <a:cs typeface="+mn-cs"/>
              </a:rPr>
              <a:t>"</a:t>
            </a:r>
            <a:r>
              <a:rPr lang="en-US" sz="882" b="1" i="0" kern="1200" dirty="0">
                <a:solidFill>
                  <a:schemeClr val="tx1"/>
                </a:solidFill>
                <a:effectLst/>
                <a:latin typeface="Segoe UI" panose="020B0502040204020203" pitchFamily="34" charset="0"/>
                <a:ea typeface="+mn-ea"/>
                <a:cs typeface="+mn-cs"/>
              </a:rPr>
              <a:t>Second month</a:t>
            </a:r>
            <a:r>
              <a:rPr lang="en-US" sz="882" b="0" i="0" kern="1200" dirty="0">
                <a:solidFill>
                  <a:schemeClr val="tx1"/>
                </a:solidFill>
                <a:effectLst/>
                <a:latin typeface="Segoe UI" panose="020B0502040204020203" pitchFamily="34" charset="0"/>
                <a:ea typeface="+mn-ea"/>
                <a:cs typeface="+mn-cs"/>
              </a:rPr>
              <a:t> — connect and customize.</a:t>
            </a:r>
          </a:p>
          <a:p>
            <a:r>
              <a:rPr lang="en-US" sz="882" b="1" i="0" kern="1200" dirty="0">
                <a:solidFill>
                  <a:schemeClr val="tx1"/>
                </a:solidFill>
                <a:effectLst/>
                <a:latin typeface="Segoe UI" panose="020B0502040204020203" pitchFamily="34" charset="0"/>
                <a:ea typeface="+mn-ea"/>
                <a:cs typeface="+mn-cs"/>
              </a:rPr>
              <a:t>Now</a:t>
            </a:r>
            <a:r>
              <a:rPr lang="en-US" sz="882" b="0" i="0" kern="1200" dirty="0">
                <a:solidFill>
                  <a:schemeClr val="tx1"/>
                </a:solidFill>
                <a:effectLst/>
                <a:latin typeface="Segoe UI" panose="020B0502040204020203" pitchFamily="34" charset="0"/>
                <a:ea typeface="+mn-ea"/>
                <a:cs typeface="+mn-cs"/>
              </a:rPr>
              <a:t> you integrate with your security sources — Sentinel, Defender, Entra ID. This is the 3-6 week integration effort we discussed.</a:t>
            </a:r>
          </a:p>
          <a:p>
            <a:r>
              <a:rPr lang="en-US" sz="882" b="0" i="0" kern="1200" dirty="0">
                <a:solidFill>
                  <a:schemeClr val="tx1"/>
                </a:solidFill>
                <a:effectLst/>
                <a:latin typeface="Segoe UI" panose="020B0502040204020203" pitchFamily="34" charset="0"/>
                <a:ea typeface="+mn-ea"/>
                <a:cs typeface="+mn-cs"/>
              </a:rPr>
              <a:t>Simultaneously, introduce your </a:t>
            </a:r>
            <a:r>
              <a:rPr lang="en-US" sz="882" b="1" i="0" kern="1200" dirty="0">
                <a:solidFill>
                  <a:schemeClr val="tx1"/>
                </a:solidFill>
                <a:effectLst/>
                <a:latin typeface="Segoe UI" panose="020B0502040204020203" pitchFamily="34" charset="0"/>
                <a:ea typeface="+mn-ea"/>
                <a:cs typeface="+mn-cs"/>
              </a:rPr>
              <a:t>custom runbooks</a:t>
            </a:r>
            <a:r>
              <a:rPr lang="en-US" sz="882" b="0" i="0" kern="1200" dirty="0">
                <a:solidFill>
                  <a:schemeClr val="tx1"/>
                </a:solidFill>
                <a:effectLst/>
                <a:latin typeface="Segoe UI" panose="020B0502040204020203" pitchFamily="34" charset="0"/>
                <a:ea typeface="+mn-ea"/>
                <a:cs typeface="+mn-cs"/>
              </a:rPr>
              <a:t> and iterate on agent behavior. How aggressive should triage be? What's your escalation threshold?</a:t>
            </a:r>
          </a:p>
          <a:p>
            <a:r>
              <a:rPr lang="en-US" sz="882" b="0" i="0" kern="1200" dirty="0">
                <a:solidFill>
                  <a:schemeClr val="tx1"/>
                </a:solidFill>
                <a:effectLst/>
                <a:latin typeface="Segoe UI" panose="020B0502040204020203" pitchFamily="34" charset="0"/>
                <a:ea typeface="+mn-ea"/>
                <a:cs typeface="+mn-cs"/>
              </a:rPr>
              <a:t>This phase also aligns with </a:t>
            </a:r>
            <a:r>
              <a:rPr lang="en-US" sz="882" b="1" i="0" kern="1200" dirty="0">
                <a:solidFill>
                  <a:schemeClr val="tx1"/>
                </a:solidFill>
                <a:effectLst/>
                <a:latin typeface="Segoe UI" panose="020B0502040204020203" pitchFamily="34" charset="0"/>
                <a:ea typeface="+mn-ea"/>
                <a:cs typeface="+mn-cs"/>
              </a:rPr>
              <a:t>Foundry GA</a:t>
            </a:r>
            <a:r>
              <a:rPr lang="en-US" sz="882" b="0" i="0" kern="1200" dirty="0">
                <a:solidFill>
                  <a:schemeClr val="tx1"/>
                </a:solidFill>
                <a:effectLst/>
                <a:latin typeface="Segoe UI" panose="020B0502040204020203" pitchFamily="34" charset="0"/>
                <a:ea typeface="+mn-ea"/>
                <a:cs typeface="+mn-cs"/>
              </a:rPr>
              <a:t> — we update the SDK as new capabilities ship.</a:t>
            </a:r>
          </a:p>
          <a:p>
            <a:r>
              <a:rPr lang="en-US" sz="882" b="0" i="0" kern="1200" dirty="0">
                <a:solidFill>
                  <a:schemeClr val="tx1"/>
                </a:solidFill>
                <a:effectLst/>
                <a:latin typeface="Segoe UI" panose="020B0502040204020203" pitchFamily="34" charset="0"/>
                <a:ea typeface="+mn-ea"/>
                <a:cs typeface="+mn-cs"/>
              </a:rPr>
              <a:t>By week 8, agents are processing </a:t>
            </a:r>
            <a:r>
              <a:rPr lang="en-US" sz="882" b="0" i="1" kern="1200" dirty="0">
                <a:solidFill>
                  <a:schemeClr val="tx1"/>
                </a:solidFill>
                <a:effectLst/>
                <a:latin typeface="Segoe UI" panose="020B0502040204020203" pitchFamily="34" charset="0"/>
                <a:ea typeface="+mn-ea"/>
                <a:cs typeface="+mn-cs"/>
              </a:rPr>
              <a:t>your</a:t>
            </a:r>
            <a:r>
              <a:rPr lang="en-US" sz="882" b="0" i="0" kern="1200" dirty="0">
                <a:solidFill>
                  <a:schemeClr val="tx1"/>
                </a:solidFill>
                <a:effectLst/>
                <a:latin typeface="Segoe UI" panose="020B0502040204020203" pitchFamily="34" charset="0"/>
                <a:ea typeface="+mn-ea"/>
                <a:cs typeface="+mn-cs"/>
              </a:rPr>
              <a:t> data and behaving like </a:t>
            </a:r>
            <a:r>
              <a:rPr lang="en-US" sz="882" b="0" i="1" kern="1200" dirty="0">
                <a:solidFill>
                  <a:schemeClr val="tx1"/>
                </a:solidFill>
                <a:effectLst/>
                <a:latin typeface="Segoe UI" panose="020B0502040204020203" pitchFamily="34" charset="0"/>
                <a:ea typeface="+mn-ea"/>
                <a:cs typeface="+mn-cs"/>
              </a:rPr>
              <a:t>your</a:t>
            </a:r>
            <a:r>
              <a:rPr lang="en-US" sz="882" b="0" i="0" kern="1200" dirty="0">
                <a:solidFill>
                  <a:schemeClr val="tx1"/>
                </a:solidFill>
                <a:effectLst/>
                <a:latin typeface="Segoe UI" panose="020B0502040204020203" pitchFamily="34" charset="0"/>
                <a:ea typeface="+mn-ea"/>
                <a:cs typeface="+mn-cs"/>
              </a:rPr>
              <a:t> analysts."</a:t>
            </a:r>
          </a:p>
          <a:p>
            <a:br>
              <a:rPr lang="en-US" dirty="0"/>
            </a:br>
            <a:r>
              <a:rPr lang="en-US" sz="882" b="1" i="0" kern="1200" dirty="0">
                <a:solidFill>
                  <a:schemeClr val="tx1"/>
                </a:solidFill>
                <a:effectLst/>
                <a:latin typeface="Segoe UI" panose="020B0502040204020203" pitchFamily="34" charset="0"/>
                <a:ea typeface="+mn-ea"/>
                <a:cs typeface="+mn-cs"/>
              </a:rPr>
              <a:t>Phase 3: Measure Success — Weeks 9-12 (25 seconds)</a:t>
            </a:r>
          </a:p>
          <a:p>
            <a:r>
              <a:rPr lang="en-US" sz="882" b="0" i="0" kern="1200" dirty="0">
                <a:solidFill>
                  <a:schemeClr val="tx1"/>
                </a:solidFill>
                <a:effectLst/>
                <a:latin typeface="Segoe UI" panose="020B0502040204020203" pitchFamily="34" charset="0"/>
                <a:ea typeface="+mn-ea"/>
                <a:cs typeface="+mn-cs"/>
              </a:rPr>
              <a:t>"</a:t>
            </a:r>
            <a:r>
              <a:rPr lang="en-US" sz="882" b="1" i="0" kern="1200" dirty="0">
                <a:solidFill>
                  <a:schemeClr val="tx1"/>
                </a:solidFill>
                <a:effectLst/>
                <a:latin typeface="Segoe UI" panose="020B0502040204020203" pitchFamily="34" charset="0"/>
                <a:ea typeface="+mn-ea"/>
                <a:cs typeface="+mn-cs"/>
              </a:rPr>
              <a:t>Third month</a:t>
            </a:r>
            <a:r>
              <a:rPr lang="en-US" sz="882" b="0" i="0" kern="1200" dirty="0">
                <a:solidFill>
                  <a:schemeClr val="tx1"/>
                </a:solidFill>
                <a:effectLst/>
                <a:latin typeface="Segoe UI" panose="020B0502040204020203" pitchFamily="34" charset="0"/>
                <a:ea typeface="+mn-ea"/>
                <a:cs typeface="+mn-cs"/>
              </a:rPr>
              <a:t> — prove the outcomes.</a:t>
            </a:r>
          </a:p>
          <a:p>
            <a:r>
              <a:rPr lang="en-US" sz="882" b="0" i="0" kern="1200" dirty="0">
                <a:solidFill>
                  <a:schemeClr val="tx1"/>
                </a:solidFill>
                <a:effectLst/>
                <a:latin typeface="Segoe UI" panose="020B0502040204020203" pitchFamily="34" charset="0"/>
                <a:ea typeface="+mn-ea"/>
                <a:cs typeface="+mn-cs"/>
              </a:rPr>
              <a:t>Integrate additional tools — MCP servers, custom enrichment. Verify your </a:t>
            </a:r>
            <a:r>
              <a:rPr lang="en-US" sz="882" b="1" i="0" kern="1200" dirty="0">
                <a:solidFill>
                  <a:schemeClr val="tx1"/>
                </a:solidFill>
                <a:effectLst/>
                <a:latin typeface="Segoe UI" panose="020B0502040204020203" pitchFamily="34" charset="0"/>
                <a:ea typeface="+mn-ea"/>
                <a:cs typeface="+mn-cs"/>
              </a:rPr>
              <a:t>human-in-the-loop workflows</a:t>
            </a:r>
            <a:r>
              <a:rPr lang="en-US" sz="882" b="0" i="0" kern="1200" dirty="0">
                <a:solidFill>
                  <a:schemeClr val="tx1"/>
                </a:solidFill>
                <a:effectLst/>
                <a:latin typeface="Segoe UI" panose="020B0502040204020203" pitchFamily="34" charset="0"/>
                <a:ea typeface="+mn-ea"/>
                <a:cs typeface="+mn-cs"/>
              </a:rPr>
              <a:t>.</a:t>
            </a:r>
          </a:p>
          <a:p>
            <a:r>
              <a:rPr lang="en-US" sz="882" b="0" i="0" kern="1200" dirty="0">
                <a:solidFill>
                  <a:schemeClr val="tx1"/>
                </a:solidFill>
                <a:effectLst/>
                <a:latin typeface="Segoe UI" panose="020B0502040204020203" pitchFamily="34" charset="0"/>
                <a:ea typeface="+mn-ea"/>
                <a:cs typeface="+mn-cs"/>
              </a:rPr>
              <a:t>Critical activity: </a:t>
            </a:r>
            <a:r>
              <a:rPr lang="en-US" sz="882" b="1" i="0" kern="1200" dirty="0">
                <a:solidFill>
                  <a:schemeClr val="tx1"/>
                </a:solidFill>
                <a:effectLst/>
                <a:latin typeface="Segoe UI" panose="020B0502040204020203" pitchFamily="34" charset="0"/>
                <a:ea typeface="+mn-ea"/>
                <a:cs typeface="+mn-cs"/>
              </a:rPr>
              <a:t>dial in confidence and tolerance</a:t>
            </a:r>
            <a:r>
              <a:rPr lang="en-US" sz="882" b="0" i="0" kern="1200" dirty="0">
                <a:solidFill>
                  <a:schemeClr val="tx1"/>
                </a:solidFill>
                <a:effectLst/>
                <a:latin typeface="Segoe UI" panose="020B0502040204020203" pitchFamily="34" charset="0"/>
                <a:ea typeface="+mn-ea"/>
                <a:cs typeface="+mn-cs"/>
              </a:rPr>
              <a:t>. When does an agent auto-close? When does it escalate?</a:t>
            </a:r>
          </a:p>
          <a:p>
            <a:r>
              <a:rPr lang="en-US" sz="882" b="0" i="0" kern="1200" dirty="0">
                <a:solidFill>
                  <a:schemeClr val="tx1"/>
                </a:solidFill>
                <a:effectLst/>
                <a:latin typeface="Segoe UI" panose="020B0502040204020203" pitchFamily="34" charset="0"/>
                <a:ea typeface="+mn-ea"/>
                <a:cs typeface="+mn-cs"/>
              </a:rPr>
              <a:t>By week 12, you have hard data: MTTD, accuracy, false positive rates — measured against </a:t>
            </a:r>
            <a:r>
              <a:rPr lang="en-US" sz="882" b="0" i="1" kern="1200" dirty="0">
                <a:solidFill>
                  <a:schemeClr val="tx1"/>
                </a:solidFill>
                <a:effectLst/>
                <a:latin typeface="Segoe UI" panose="020B0502040204020203" pitchFamily="34" charset="0"/>
                <a:ea typeface="+mn-ea"/>
                <a:cs typeface="+mn-cs"/>
              </a:rPr>
              <a:t>your</a:t>
            </a:r>
            <a:r>
              <a:rPr lang="en-US" sz="882" b="0" i="0" kern="1200" dirty="0">
                <a:solidFill>
                  <a:schemeClr val="tx1"/>
                </a:solidFill>
                <a:effectLst/>
                <a:latin typeface="Segoe UI" panose="020B0502040204020203" pitchFamily="34" charset="0"/>
                <a:ea typeface="+mn-ea"/>
                <a:cs typeface="+mn-cs"/>
              </a:rPr>
              <a:t> real alert volume."</a:t>
            </a:r>
          </a:p>
          <a:p>
            <a:endParaRPr lang="en-US" dirty="0"/>
          </a:p>
          <a:p>
            <a:r>
              <a:rPr lang="en-US" sz="882" b="1" i="0" kern="1200" dirty="0">
                <a:solidFill>
                  <a:schemeClr val="tx1"/>
                </a:solidFill>
                <a:effectLst/>
                <a:latin typeface="Segoe UI" panose="020B0502040204020203" pitchFamily="34" charset="0"/>
                <a:ea typeface="+mn-ea"/>
                <a:cs typeface="+mn-cs"/>
              </a:rPr>
              <a:t>Phase 4: Post Pilot — Months 4-12 (30 seconds)</a:t>
            </a:r>
          </a:p>
          <a:p>
            <a:r>
              <a:rPr lang="en-US" sz="882" b="0" i="0" kern="1200" dirty="0">
                <a:solidFill>
                  <a:schemeClr val="tx1"/>
                </a:solidFill>
                <a:effectLst/>
                <a:latin typeface="Segoe UI" panose="020B0502040204020203" pitchFamily="34" charset="0"/>
                <a:ea typeface="+mn-ea"/>
                <a:cs typeface="+mn-cs"/>
              </a:rPr>
              <a:t>"</a:t>
            </a:r>
            <a:r>
              <a:rPr lang="en-US" sz="882" b="1" i="0" kern="1200" dirty="0">
                <a:solidFill>
                  <a:schemeClr val="tx1"/>
                </a:solidFill>
                <a:effectLst/>
                <a:latin typeface="Segoe UI" panose="020B0502040204020203" pitchFamily="34" charset="0"/>
                <a:ea typeface="+mn-ea"/>
                <a:cs typeface="+mn-cs"/>
              </a:rPr>
              <a:t>Beyond the pilot</a:t>
            </a:r>
            <a:r>
              <a:rPr lang="en-US" sz="882" b="0" i="0" kern="1200" dirty="0">
                <a:solidFill>
                  <a:schemeClr val="tx1"/>
                </a:solidFill>
                <a:effectLst/>
                <a:latin typeface="Segoe UI" panose="020B0502040204020203" pitchFamily="34" charset="0"/>
                <a:ea typeface="+mn-ea"/>
                <a:cs typeface="+mn-cs"/>
              </a:rPr>
              <a:t> — scale and operationalize.</a:t>
            </a:r>
          </a:p>
          <a:p>
            <a:r>
              <a:rPr lang="en-US" sz="882" b="0" i="0" kern="1200" dirty="0">
                <a:solidFill>
                  <a:schemeClr val="tx1"/>
                </a:solidFill>
                <a:effectLst/>
                <a:latin typeface="Segoe UI" panose="020B0502040204020203" pitchFamily="34" charset="0"/>
                <a:ea typeface="+mn-ea"/>
                <a:cs typeface="+mn-cs"/>
              </a:rPr>
              <a:t>Assess </a:t>
            </a:r>
            <a:r>
              <a:rPr lang="en-US" sz="882" b="1" i="0" kern="1200" dirty="0">
                <a:solidFill>
                  <a:schemeClr val="tx1"/>
                </a:solidFill>
                <a:effectLst/>
                <a:latin typeface="Segoe UI" panose="020B0502040204020203" pitchFamily="34" charset="0"/>
                <a:ea typeface="+mn-ea"/>
                <a:cs typeface="+mn-cs"/>
              </a:rPr>
              <a:t>throughput</a:t>
            </a:r>
            <a:r>
              <a:rPr lang="en-US" sz="882" b="0" i="0" kern="1200" dirty="0">
                <a:solidFill>
                  <a:schemeClr val="tx1"/>
                </a:solidFill>
                <a:effectLst/>
                <a:latin typeface="Segoe UI" panose="020B0502040204020203" pitchFamily="34" charset="0"/>
                <a:ea typeface="+mn-ea"/>
                <a:cs typeface="+mn-cs"/>
              </a:rPr>
              <a:t>. Build the </a:t>
            </a:r>
            <a:r>
              <a:rPr lang="en-US" sz="882" b="1" i="0" kern="1200" dirty="0">
                <a:solidFill>
                  <a:schemeClr val="tx1"/>
                </a:solidFill>
                <a:effectLst/>
                <a:latin typeface="Segoe UI" panose="020B0502040204020203" pitchFamily="34" charset="0"/>
                <a:ea typeface="+mn-ea"/>
                <a:cs typeface="+mn-cs"/>
              </a:rPr>
              <a:t>user experience</a:t>
            </a:r>
            <a:r>
              <a:rPr lang="en-US" sz="882" b="0" i="0" kern="1200" dirty="0">
                <a:solidFill>
                  <a:schemeClr val="tx1"/>
                </a:solidFill>
                <a:effectLst/>
                <a:latin typeface="Segoe UI" panose="020B0502040204020203" pitchFamily="34" charset="0"/>
                <a:ea typeface="+mn-ea"/>
                <a:cs typeface="+mn-cs"/>
              </a:rPr>
              <a:t>: Copilot integration, Teams, or your existing SOC console.</a:t>
            </a:r>
          </a:p>
          <a:p>
            <a:r>
              <a:rPr lang="en-US" sz="882" b="1" i="0" kern="1200" dirty="0">
                <a:solidFill>
                  <a:schemeClr val="tx1"/>
                </a:solidFill>
                <a:effectLst/>
                <a:latin typeface="Segoe UI" panose="020B0502040204020203" pitchFamily="34" charset="0"/>
                <a:ea typeface="+mn-ea"/>
                <a:cs typeface="+mn-cs"/>
              </a:rPr>
              <a:t>Incrementally onboard</a:t>
            </a:r>
            <a:r>
              <a:rPr lang="en-US" sz="882" b="0" i="0" kern="1200" dirty="0">
                <a:solidFill>
                  <a:schemeClr val="tx1"/>
                </a:solidFill>
                <a:effectLst/>
                <a:latin typeface="Segoe UI" panose="020B0502040204020203" pitchFamily="34" charset="0"/>
                <a:ea typeface="+mn-ea"/>
                <a:cs typeface="+mn-cs"/>
              </a:rPr>
              <a:t> your SOC teams. Don't flip a switch — roll it out shift by shift. Build trust.</a:t>
            </a:r>
          </a:p>
          <a:p>
            <a:r>
              <a:rPr lang="en-US" sz="882" b="0" i="0" kern="1200" dirty="0">
                <a:solidFill>
                  <a:schemeClr val="tx1"/>
                </a:solidFill>
                <a:effectLst/>
                <a:latin typeface="Segoe UI" panose="020B0502040204020203" pitchFamily="34" charset="0"/>
                <a:ea typeface="+mn-ea"/>
                <a:cs typeface="+mn-cs"/>
              </a:rPr>
              <a:t>By year one, this isn't a pilot anymore — it's how your SOC operates."</a:t>
            </a:r>
          </a:p>
          <a:p>
            <a:br>
              <a:rPr lang="en-US" dirty="0"/>
            </a:br>
            <a:r>
              <a:rPr lang="en-US" sz="882" b="1" i="0" kern="1200" dirty="0">
                <a:solidFill>
                  <a:schemeClr val="tx1"/>
                </a:solidFill>
                <a:effectLst/>
                <a:latin typeface="Segoe UI" panose="020B0502040204020203" pitchFamily="34" charset="0"/>
                <a:ea typeface="+mn-ea"/>
                <a:cs typeface="+mn-cs"/>
              </a:rPr>
              <a:t>Key Messaging (10 seconds)</a:t>
            </a:r>
          </a:p>
          <a:p>
            <a:r>
              <a:rPr lang="en-US" sz="882" b="0" i="0" kern="1200" dirty="0">
                <a:solidFill>
                  <a:schemeClr val="tx1"/>
                </a:solidFill>
                <a:effectLst/>
                <a:latin typeface="Segoe UI" panose="020B0502040204020203" pitchFamily="34" charset="0"/>
                <a:ea typeface="+mn-ea"/>
                <a:cs typeface="+mn-cs"/>
              </a:rPr>
              <a:t>"Notice the sequence: </a:t>
            </a:r>
            <a:r>
              <a:rPr lang="en-US" sz="882" b="1" i="0" kern="1200" dirty="0">
                <a:solidFill>
                  <a:schemeClr val="tx1"/>
                </a:solidFill>
                <a:effectLst/>
                <a:latin typeface="Segoe UI" panose="020B0502040204020203" pitchFamily="34" charset="0"/>
                <a:ea typeface="+mn-ea"/>
                <a:cs typeface="+mn-cs"/>
              </a:rPr>
              <a:t>platform first, then data, then measure, then scale</a:t>
            </a:r>
            <a:r>
              <a:rPr lang="en-US" sz="882" b="0" i="0" kern="1200" dirty="0">
                <a:solidFill>
                  <a:schemeClr val="tx1"/>
                </a:solidFill>
                <a:effectLst/>
                <a:latin typeface="Segoe UI" panose="020B0502040204020203" pitchFamily="34" charset="0"/>
                <a:ea typeface="+mn-ea"/>
                <a:cs typeface="+mn-cs"/>
              </a:rPr>
              <a:t>. We validate each layer before building on it."</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2/23/2026 7:58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399561158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2" b="0" i="0" kern="1200" dirty="0">
                <a:solidFill>
                  <a:schemeClr val="tx1"/>
                </a:solidFill>
                <a:effectLst/>
                <a:latin typeface="Segoe UI" panose="020B0502040204020203" pitchFamily="34" charset="0"/>
                <a:ea typeface="+mn-ea"/>
                <a:cs typeface="+mn-cs"/>
              </a:rPr>
              <a:t>"So here's where we are and what comes next. Three steps — and the first one is a decision point."</a:t>
            </a:r>
          </a:p>
          <a:p>
            <a:br>
              <a:rPr lang="en-US" dirty="0"/>
            </a:br>
            <a:endParaRPr lang="en-US" dirty="0"/>
          </a:p>
          <a:p>
            <a:r>
              <a:rPr lang="en-US" sz="882" b="1" i="0" kern="1200" dirty="0">
                <a:solidFill>
                  <a:schemeClr val="tx1"/>
                </a:solidFill>
                <a:effectLst/>
                <a:latin typeface="Segoe UI" panose="020B0502040204020203" pitchFamily="34" charset="0"/>
                <a:ea typeface="+mn-ea"/>
                <a:cs typeface="+mn-cs"/>
              </a:rPr>
              <a:t>Column 1: Go/No Go &amp; Align Stakeholders (30-35 seconds)</a:t>
            </a:r>
          </a:p>
          <a:p>
            <a:r>
              <a:rPr lang="en-US" sz="882" b="0" i="0" kern="1200" dirty="0">
                <a:solidFill>
                  <a:schemeClr val="tx1"/>
                </a:solidFill>
                <a:effectLst/>
                <a:latin typeface="Segoe UI" panose="020B0502040204020203" pitchFamily="34" charset="0"/>
                <a:ea typeface="+mn-ea"/>
                <a:cs typeface="+mn-cs"/>
              </a:rPr>
              <a:t>"</a:t>
            </a:r>
            <a:r>
              <a:rPr lang="en-US" sz="882" b="1" i="0" kern="1200" dirty="0">
                <a:solidFill>
                  <a:schemeClr val="tx1"/>
                </a:solidFill>
                <a:effectLst/>
                <a:latin typeface="Segoe UI" panose="020B0502040204020203" pitchFamily="34" charset="0"/>
                <a:ea typeface="+mn-ea"/>
                <a:cs typeface="+mn-cs"/>
              </a:rPr>
              <a:t>Step one — the decision in front of you.</a:t>
            </a:r>
            <a:endParaRPr lang="en-US" sz="882" b="0" i="0" kern="1200" dirty="0">
              <a:solidFill>
                <a:schemeClr val="tx1"/>
              </a:solidFill>
              <a:effectLst/>
              <a:latin typeface="Segoe UI" panose="020B0502040204020203" pitchFamily="34" charset="0"/>
              <a:ea typeface="+mn-ea"/>
              <a:cs typeface="+mn-cs"/>
            </a:endParaRPr>
          </a:p>
          <a:p>
            <a:r>
              <a:rPr lang="en-US" sz="882" b="0" i="0" kern="1200" dirty="0">
                <a:solidFill>
                  <a:schemeClr val="tx1"/>
                </a:solidFill>
                <a:effectLst/>
                <a:latin typeface="Segoe UI" panose="020B0502040204020203" pitchFamily="34" charset="0"/>
                <a:ea typeface="+mn-ea"/>
                <a:cs typeface="+mn-cs"/>
              </a:rPr>
              <a:t>You've seen the business case: </a:t>
            </a:r>
            <a:r>
              <a:rPr lang="en-US" sz="882" b="1" i="0" kern="1200" dirty="0">
                <a:solidFill>
                  <a:schemeClr val="tx1"/>
                </a:solidFill>
                <a:effectLst/>
                <a:latin typeface="Segoe UI" panose="020B0502040204020203" pitchFamily="34" charset="0"/>
                <a:ea typeface="+mn-ea"/>
                <a:cs typeface="+mn-cs"/>
              </a:rPr>
              <a:t>510-1,460% ROI</a:t>
            </a:r>
            <a:r>
              <a:rPr lang="en-US" sz="882" b="0" i="0" kern="1200" dirty="0">
                <a:solidFill>
                  <a:schemeClr val="tx1"/>
                </a:solidFill>
                <a:effectLst/>
                <a:latin typeface="Segoe UI" panose="020B0502040204020203" pitchFamily="34" charset="0"/>
                <a:ea typeface="+mn-ea"/>
                <a:cs typeface="+mn-cs"/>
              </a:rPr>
              <a:t>. You've seen the architecture, the roadmap, the risk mitigation.</a:t>
            </a:r>
          </a:p>
          <a:p>
            <a:r>
              <a:rPr lang="en-US" sz="882" b="0" i="0" kern="1200" dirty="0">
                <a:solidFill>
                  <a:schemeClr val="tx1"/>
                </a:solidFill>
                <a:effectLst/>
                <a:latin typeface="Segoe UI" panose="020B0502040204020203" pitchFamily="34" charset="0"/>
                <a:ea typeface="+mn-ea"/>
                <a:cs typeface="+mn-cs"/>
              </a:rPr>
              <a:t>What I'm asking for is </a:t>
            </a:r>
            <a:r>
              <a:rPr lang="en-US" sz="882" b="1" i="0" kern="1200" dirty="0">
                <a:solidFill>
                  <a:schemeClr val="tx1"/>
                </a:solidFill>
                <a:effectLst/>
                <a:latin typeface="Segoe UI" panose="020B0502040204020203" pitchFamily="34" charset="0"/>
                <a:ea typeface="+mn-ea"/>
                <a:cs typeface="+mn-cs"/>
              </a:rPr>
              <a:t>approval to move forward with a 90-day pilot</a:t>
            </a:r>
            <a:r>
              <a:rPr lang="en-US" sz="882" b="0" i="0" kern="1200" dirty="0">
                <a:solidFill>
                  <a:schemeClr val="tx1"/>
                </a:solidFill>
                <a:effectLst/>
                <a:latin typeface="Segoe UI" panose="020B0502040204020203" pitchFamily="34" charset="0"/>
                <a:ea typeface="+mn-ea"/>
                <a:cs typeface="+mn-cs"/>
              </a:rPr>
              <a:t>. Not a full production commitment — a controlled evaluation.</a:t>
            </a:r>
          </a:p>
          <a:p>
            <a:r>
              <a:rPr lang="en-US" sz="882" b="0" i="0" kern="1200" dirty="0">
                <a:solidFill>
                  <a:schemeClr val="tx1"/>
                </a:solidFill>
                <a:effectLst/>
                <a:latin typeface="Segoe UI" panose="020B0502040204020203" pitchFamily="34" charset="0"/>
                <a:ea typeface="+mn-ea"/>
                <a:cs typeface="+mn-cs"/>
              </a:rPr>
              <a:t>We can demonstrate the MVP today with pre-built scenarios. From there, we align on success metrics — what does 'working' look like for </a:t>
            </a:r>
            <a:r>
              <a:rPr lang="en-US" sz="882" b="0" i="1" kern="1200" dirty="0">
                <a:solidFill>
                  <a:schemeClr val="tx1"/>
                </a:solidFill>
                <a:effectLst/>
                <a:latin typeface="Segoe UI" panose="020B0502040204020203" pitchFamily="34" charset="0"/>
                <a:ea typeface="+mn-ea"/>
                <a:cs typeface="+mn-cs"/>
              </a:rPr>
              <a:t>your</a:t>
            </a:r>
            <a:r>
              <a:rPr lang="en-US" sz="882" b="0" i="0" kern="1200" dirty="0">
                <a:solidFill>
                  <a:schemeClr val="tx1"/>
                </a:solidFill>
                <a:effectLst/>
                <a:latin typeface="Segoe UI" panose="020B0502040204020203" pitchFamily="34" charset="0"/>
                <a:ea typeface="+mn-ea"/>
                <a:cs typeface="+mn-cs"/>
              </a:rPr>
              <a:t> SOC? That's the criteria we measure against."</a:t>
            </a:r>
          </a:p>
          <a:p>
            <a:r>
              <a:rPr lang="en-US" sz="882" b="1" i="0" kern="1200" dirty="0">
                <a:solidFill>
                  <a:schemeClr val="tx1"/>
                </a:solidFill>
                <a:effectLst/>
                <a:latin typeface="Segoe UI" panose="020B0502040204020203" pitchFamily="34" charset="0"/>
                <a:ea typeface="+mn-ea"/>
                <a:cs typeface="+mn-cs"/>
              </a:rPr>
              <a:t>Key phrase to land</a:t>
            </a:r>
            <a:r>
              <a:rPr lang="en-US" sz="882" b="0" i="0" kern="1200" dirty="0">
                <a:solidFill>
                  <a:schemeClr val="tx1"/>
                </a:solidFill>
                <a:effectLst/>
                <a:latin typeface="Segoe UI" panose="020B0502040204020203" pitchFamily="34" charset="0"/>
                <a:ea typeface="+mn-ea"/>
                <a:cs typeface="+mn-cs"/>
              </a:rPr>
              <a:t>: </a:t>
            </a:r>
            <a:r>
              <a:rPr lang="en-US" sz="882" b="0" i="1" kern="1200" dirty="0">
                <a:solidFill>
                  <a:schemeClr val="tx1"/>
                </a:solidFill>
                <a:effectLst/>
                <a:latin typeface="Segoe UI" panose="020B0502040204020203" pitchFamily="34" charset="0"/>
                <a:ea typeface="+mn-ea"/>
                <a:cs typeface="+mn-cs"/>
              </a:rPr>
              <a:t>"This isn't a bet. It's a $30-45K investment to validate before you scale."</a:t>
            </a:r>
            <a:endParaRPr lang="en-US" sz="882" b="0" i="0" kern="1200" dirty="0">
              <a:solidFill>
                <a:schemeClr val="tx1"/>
              </a:solidFill>
              <a:effectLst/>
              <a:latin typeface="Segoe UI" panose="020B0502040204020203" pitchFamily="34" charset="0"/>
              <a:ea typeface="+mn-ea"/>
              <a:cs typeface="+mn-cs"/>
            </a:endParaRPr>
          </a:p>
          <a:p>
            <a:br>
              <a:rPr lang="en-US" dirty="0"/>
            </a:br>
            <a:endParaRPr lang="en-US" dirty="0"/>
          </a:p>
          <a:p>
            <a:r>
              <a:rPr lang="en-US" sz="882" b="1" i="0" kern="1200" dirty="0">
                <a:solidFill>
                  <a:schemeClr val="tx1"/>
                </a:solidFill>
                <a:effectLst/>
                <a:latin typeface="Segoe UI" panose="020B0502040204020203" pitchFamily="34" charset="0"/>
                <a:ea typeface="+mn-ea"/>
                <a:cs typeface="+mn-cs"/>
              </a:rPr>
              <a:t>Column 2: Launch the 90-Day Pilot (30-35 seconds)</a:t>
            </a:r>
          </a:p>
          <a:p>
            <a:r>
              <a:rPr lang="en-US" sz="882" b="0" i="0" kern="1200" dirty="0">
                <a:solidFill>
                  <a:schemeClr val="tx1"/>
                </a:solidFill>
                <a:effectLst/>
                <a:latin typeface="Segoe UI" panose="020B0502040204020203" pitchFamily="34" charset="0"/>
                <a:ea typeface="+mn-ea"/>
                <a:cs typeface="+mn-cs"/>
              </a:rPr>
              <a:t>"</a:t>
            </a:r>
            <a:r>
              <a:rPr lang="en-US" sz="882" b="1" i="0" kern="1200" dirty="0">
                <a:solidFill>
                  <a:schemeClr val="tx1"/>
                </a:solidFill>
                <a:effectLst/>
                <a:latin typeface="Segoe UI" panose="020B0502040204020203" pitchFamily="34" charset="0"/>
                <a:ea typeface="+mn-ea"/>
                <a:cs typeface="+mn-cs"/>
              </a:rPr>
              <a:t>Step two — the pilot itself.</a:t>
            </a:r>
            <a:endParaRPr lang="en-US" sz="882" b="0" i="0" kern="1200" dirty="0">
              <a:solidFill>
                <a:schemeClr val="tx1"/>
              </a:solidFill>
              <a:effectLst/>
              <a:latin typeface="Segoe UI" panose="020B0502040204020203" pitchFamily="34" charset="0"/>
              <a:ea typeface="+mn-ea"/>
              <a:cs typeface="+mn-cs"/>
            </a:endParaRPr>
          </a:p>
          <a:p>
            <a:r>
              <a:rPr lang="en-US" sz="882" b="0" i="0" kern="1200" dirty="0">
                <a:solidFill>
                  <a:schemeClr val="tx1"/>
                </a:solidFill>
                <a:effectLst/>
                <a:latin typeface="Segoe UI" panose="020B0502040204020203" pitchFamily="34" charset="0"/>
                <a:ea typeface="+mn-ea"/>
                <a:cs typeface="+mn-cs"/>
              </a:rPr>
              <a:t>We select a pilot security team. Weeks 1-4, they're learning the SDK, getting hands-on. Weeks 5-8, they build and test custom workflows tailored to your environment.</a:t>
            </a:r>
          </a:p>
          <a:p>
            <a:r>
              <a:rPr lang="en-US" sz="882" b="0" i="0" kern="1200" dirty="0">
                <a:solidFill>
                  <a:schemeClr val="tx1"/>
                </a:solidFill>
                <a:effectLst/>
                <a:latin typeface="Segoe UI" panose="020B0502040204020203" pitchFamily="34" charset="0"/>
                <a:ea typeface="+mn-ea"/>
                <a:cs typeface="+mn-cs"/>
              </a:rPr>
              <a:t>Weeks 9-12 are about </a:t>
            </a:r>
            <a:r>
              <a:rPr lang="en-US" sz="882" b="1" i="0" kern="1200" dirty="0">
                <a:solidFill>
                  <a:schemeClr val="tx1"/>
                </a:solidFill>
                <a:effectLst/>
                <a:latin typeface="Segoe UI" panose="020B0502040204020203" pitchFamily="34" charset="0"/>
                <a:ea typeface="+mn-ea"/>
                <a:cs typeface="+mn-cs"/>
              </a:rPr>
              <a:t>measurement</a:t>
            </a:r>
            <a:r>
              <a:rPr lang="en-US" sz="882" b="0" i="0" kern="1200" dirty="0">
                <a:solidFill>
                  <a:schemeClr val="tx1"/>
                </a:solidFill>
                <a:effectLst/>
                <a:latin typeface="Segoe UI" panose="020B0502040204020203" pitchFamily="34" charset="0"/>
                <a:ea typeface="+mn-ea"/>
                <a:cs typeface="+mn-cs"/>
              </a:rPr>
              <a:t>: triage accuracy, MTTD improvements, analyst feedback. Hard data, not opinions.</a:t>
            </a:r>
          </a:p>
          <a:p>
            <a:r>
              <a:rPr lang="en-US" sz="882" b="0" i="0" kern="1200" dirty="0">
                <a:solidFill>
                  <a:schemeClr val="tx1"/>
                </a:solidFill>
                <a:effectLst/>
                <a:latin typeface="Segoe UI" panose="020B0502040204020203" pitchFamily="34" charset="0"/>
                <a:ea typeface="+mn-ea"/>
                <a:cs typeface="+mn-cs"/>
              </a:rPr>
              <a:t>By day 90, you have evidence — does this work for us, or doesn't it?"</a:t>
            </a:r>
          </a:p>
          <a:p>
            <a:br>
              <a:rPr lang="en-US" dirty="0"/>
            </a:br>
            <a:endParaRPr lang="en-US" dirty="0"/>
          </a:p>
          <a:p>
            <a:r>
              <a:rPr lang="en-US" sz="882" b="1" i="0" kern="1200" dirty="0">
                <a:solidFill>
                  <a:schemeClr val="tx1"/>
                </a:solidFill>
                <a:effectLst/>
                <a:latin typeface="Segoe UI" panose="020B0502040204020203" pitchFamily="34" charset="0"/>
                <a:ea typeface="+mn-ea"/>
                <a:cs typeface="+mn-cs"/>
              </a:rPr>
              <a:t>Column 3: Plan for Production (25-30 seconds)</a:t>
            </a:r>
          </a:p>
          <a:p>
            <a:r>
              <a:rPr lang="en-US" sz="882" b="0" i="0" kern="1200" dirty="0">
                <a:solidFill>
                  <a:schemeClr val="tx1"/>
                </a:solidFill>
                <a:effectLst/>
                <a:latin typeface="Segoe UI" panose="020B0502040204020203" pitchFamily="34" charset="0"/>
                <a:ea typeface="+mn-ea"/>
                <a:cs typeface="+mn-cs"/>
              </a:rPr>
              <a:t>"</a:t>
            </a:r>
            <a:r>
              <a:rPr lang="en-US" sz="882" b="1" i="0" kern="1200" dirty="0">
                <a:solidFill>
                  <a:schemeClr val="tx1"/>
                </a:solidFill>
                <a:effectLst/>
                <a:latin typeface="Segoe UI" panose="020B0502040204020203" pitchFamily="34" charset="0"/>
                <a:ea typeface="+mn-ea"/>
                <a:cs typeface="+mn-cs"/>
              </a:rPr>
              <a:t>Step three — if the pilot succeeds.</a:t>
            </a:r>
            <a:endParaRPr lang="en-US" sz="882" b="0" i="0" kern="1200" dirty="0">
              <a:solidFill>
                <a:schemeClr val="tx1"/>
              </a:solidFill>
              <a:effectLst/>
              <a:latin typeface="Segoe UI" panose="020B0502040204020203" pitchFamily="34" charset="0"/>
              <a:ea typeface="+mn-ea"/>
              <a:cs typeface="+mn-cs"/>
            </a:endParaRPr>
          </a:p>
          <a:p>
            <a:r>
              <a:rPr lang="en-US" sz="882" b="0" i="0" kern="1200" dirty="0">
                <a:solidFill>
                  <a:schemeClr val="tx1"/>
                </a:solidFill>
                <a:effectLst/>
                <a:latin typeface="Segoe UI" panose="020B0502040204020203" pitchFamily="34" charset="0"/>
                <a:ea typeface="+mn-ea"/>
                <a:cs typeface="+mn-cs"/>
              </a:rPr>
              <a:t>We take pilot learnings and plan production: integrate with Sentinel, Defender XDR, Entra ID. Establish RBAC and approval workflows.</a:t>
            </a:r>
          </a:p>
          <a:p>
            <a:r>
              <a:rPr lang="en-US" sz="882" b="0" i="0" kern="1200" dirty="0">
                <a:solidFill>
                  <a:schemeClr val="tx1"/>
                </a:solidFill>
                <a:effectLst/>
                <a:latin typeface="Segoe UI" panose="020B0502040204020203" pitchFamily="34" charset="0"/>
                <a:ea typeface="+mn-ea"/>
                <a:cs typeface="+mn-cs"/>
              </a:rPr>
              <a:t>Define scalability targets based on </a:t>
            </a:r>
            <a:r>
              <a:rPr lang="en-US" sz="882" b="0" i="1" kern="1200" dirty="0">
                <a:solidFill>
                  <a:schemeClr val="tx1"/>
                </a:solidFill>
                <a:effectLst/>
                <a:latin typeface="Segoe UI" panose="020B0502040204020203" pitchFamily="34" charset="0"/>
                <a:ea typeface="+mn-ea"/>
                <a:cs typeface="+mn-cs"/>
              </a:rPr>
              <a:t>real</a:t>
            </a:r>
            <a:r>
              <a:rPr lang="en-US" sz="882" b="0" i="0" kern="1200" dirty="0">
                <a:solidFill>
                  <a:schemeClr val="tx1"/>
                </a:solidFill>
                <a:effectLst/>
                <a:latin typeface="Segoe UI" panose="020B0502040204020203" pitchFamily="34" charset="0"/>
                <a:ea typeface="+mn-ea"/>
                <a:cs typeface="+mn-cs"/>
              </a:rPr>
              <a:t> pilot data — not assumptions. Then roll out incrementally across the SOC.</a:t>
            </a:r>
          </a:p>
          <a:p>
            <a:r>
              <a:rPr lang="en-US" sz="882" b="0" i="0" kern="1200" dirty="0">
                <a:solidFill>
                  <a:schemeClr val="tx1"/>
                </a:solidFill>
                <a:effectLst/>
                <a:latin typeface="Segoe UI" panose="020B0502040204020203" pitchFamily="34" charset="0"/>
                <a:ea typeface="+mn-ea"/>
                <a:cs typeface="+mn-cs"/>
              </a:rPr>
              <a:t>The pilot de-risks this step. You're not guessing what works; you've already proven it."</a:t>
            </a:r>
          </a:p>
          <a:p>
            <a:br>
              <a:rPr lang="en-US" dirty="0"/>
            </a:br>
            <a:endParaRPr lang="en-US" dirty="0"/>
          </a:p>
          <a:p>
            <a:r>
              <a:rPr lang="en-US" sz="882" b="1" i="0" kern="1200" dirty="0">
                <a:solidFill>
                  <a:schemeClr val="tx1"/>
                </a:solidFill>
                <a:effectLst/>
                <a:latin typeface="Segoe UI" panose="020B0502040204020203" pitchFamily="34" charset="0"/>
                <a:ea typeface="+mn-ea"/>
                <a:cs typeface="+mn-cs"/>
              </a:rPr>
              <a:t>The Close (15-20 seconds)</a:t>
            </a:r>
          </a:p>
          <a:p>
            <a:r>
              <a:rPr lang="en-US" sz="882" b="0" i="0" kern="1200" dirty="0">
                <a:solidFill>
                  <a:schemeClr val="tx1"/>
                </a:solidFill>
                <a:effectLst/>
                <a:latin typeface="Segoe UI" panose="020B0502040204020203" pitchFamily="34" charset="0"/>
                <a:ea typeface="+mn-ea"/>
                <a:cs typeface="+mn-cs"/>
              </a:rPr>
              <a:t>"So the question is: </a:t>
            </a:r>
            <a:r>
              <a:rPr lang="en-US" sz="882" b="1" i="0" kern="1200" dirty="0">
                <a:solidFill>
                  <a:schemeClr val="tx1"/>
                </a:solidFill>
                <a:effectLst/>
                <a:latin typeface="Segoe UI" panose="020B0502040204020203" pitchFamily="34" charset="0"/>
                <a:ea typeface="+mn-ea"/>
                <a:cs typeface="+mn-cs"/>
              </a:rPr>
              <a:t>are you ready to launch the pilot?</a:t>
            </a:r>
            <a:endParaRPr lang="en-US" sz="882" b="0" i="0" kern="1200" dirty="0">
              <a:solidFill>
                <a:schemeClr val="tx1"/>
              </a:solidFill>
              <a:effectLst/>
              <a:latin typeface="Segoe UI" panose="020B0502040204020203" pitchFamily="34" charset="0"/>
              <a:ea typeface="+mn-ea"/>
              <a:cs typeface="+mn-cs"/>
            </a:endParaRPr>
          </a:p>
          <a:p>
            <a:r>
              <a:rPr lang="en-US" sz="882" b="0" i="0" kern="1200" dirty="0">
                <a:solidFill>
                  <a:schemeClr val="tx1"/>
                </a:solidFill>
                <a:effectLst/>
                <a:latin typeface="Segoe UI" panose="020B0502040204020203" pitchFamily="34" charset="0"/>
                <a:ea typeface="+mn-ea"/>
                <a:cs typeface="+mn-cs"/>
              </a:rPr>
              <a:t>$30-45K, 90 days, one team. At the end, you have data to make a production decision with confidence.</a:t>
            </a:r>
          </a:p>
          <a:p>
            <a:r>
              <a:rPr lang="en-US" sz="882" b="0" i="0" kern="1200" dirty="0">
                <a:solidFill>
                  <a:schemeClr val="tx1"/>
                </a:solidFill>
                <a:effectLst/>
                <a:latin typeface="Segoe UI" panose="020B0502040204020203" pitchFamily="34" charset="0"/>
                <a:ea typeface="+mn-ea"/>
                <a:cs typeface="+mn-cs"/>
              </a:rPr>
              <a:t>What questions do you have?"</a:t>
            </a:r>
          </a:p>
          <a:p>
            <a:br>
              <a:rPr lang="en-US" dirty="0"/>
            </a:br>
            <a:r>
              <a:rPr lang="en-US" sz="882" b="1" i="0" kern="1200" dirty="0">
                <a:solidFill>
                  <a:schemeClr val="tx1"/>
                </a:solidFill>
                <a:effectLst/>
                <a:latin typeface="Segoe UI" panose="020B0502040204020203" pitchFamily="34" charset="0"/>
                <a:ea typeface="+mn-ea"/>
                <a:cs typeface="+mn-cs"/>
              </a:rPr>
              <a:t>Anticipated Final Questions</a:t>
            </a:r>
          </a:p>
          <a:p>
            <a:r>
              <a:rPr lang="en-US" sz="882" b="0" i="0" kern="1200" dirty="0" err="1">
                <a:solidFill>
                  <a:schemeClr val="tx1"/>
                </a:solidFill>
                <a:effectLst/>
                <a:latin typeface="Segoe UI" panose="020B0502040204020203" pitchFamily="34" charset="0"/>
                <a:ea typeface="+mn-ea"/>
                <a:cs typeface="+mn-cs"/>
              </a:rPr>
              <a:t>QuestionAnswer</a:t>
            </a:r>
            <a:endParaRPr lang="en-US" sz="882" b="0" i="0" kern="1200" dirty="0">
              <a:solidFill>
                <a:schemeClr val="tx1"/>
              </a:solidFill>
              <a:effectLst/>
              <a:latin typeface="Segoe UI" panose="020B0502040204020203" pitchFamily="34" charset="0"/>
              <a:ea typeface="+mn-ea"/>
              <a:cs typeface="+mn-cs"/>
            </a:endParaRPr>
          </a:p>
          <a:p>
            <a:r>
              <a:rPr lang="en-US" sz="882" b="0" i="1" kern="1200" dirty="0">
                <a:solidFill>
                  <a:schemeClr val="tx1"/>
                </a:solidFill>
                <a:effectLst/>
                <a:latin typeface="Segoe UI" panose="020B0502040204020203" pitchFamily="34" charset="0"/>
                <a:ea typeface="+mn-ea"/>
                <a:cs typeface="+mn-cs"/>
              </a:rPr>
              <a:t>"What do you need from us to </a:t>
            </a:r>
            <a:r>
              <a:rPr lang="en-US" sz="882" b="0" i="1" kern="1200" dirty="0" err="1">
                <a:solidFill>
                  <a:schemeClr val="tx1"/>
                </a:solidFill>
                <a:effectLst/>
                <a:latin typeface="Segoe UI" panose="020B0502040204020203" pitchFamily="34" charset="0"/>
                <a:ea typeface="+mn-ea"/>
                <a:cs typeface="+mn-cs"/>
              </a:rPr>
              <a:t>start?"</a:t>
            </a:r>
            <a:r>
              <a:rPr lang="en-US" sz="882" b="0" i="0" kern="1200" dirty="0" err="1">
                <a:solidFill>
                  <a:schemeClr val="tx1"/>
                </a:solidFill>
                <a:effectLst/>
                <a:latin typeface="Segoe UI" panose="020B0502040204020203" pitchFamily="34" charset="0"/>
                <a:ea typeface="+mn-ea"/>
                <a:cs typeface="+mn-cs"/>
              </a:rPr>
              <a:t>"Executive</a:t>
            </a:r>
            <a:r>
              <a:rPr lang="en-US" sz="882" b="0" i="0" kern="1200" dirty="0">
                <a:solidFill>
                  <a:schemeClr val="tx1"/>
                </a:solidFill>
                <a:effectLst/>
                <a:latin typeface="Segoe UI" panose="020B0502040204020203" pitchFamily="34" charset="0"/>
                <a:ea typeface="+mn-ea"/>
                <a:cs typeface="+mn-cs"/>
              </a:rPr>
              <a:t> sponsorship, a pilot team of 2-3 security engineers, and access to deploy in your Azure tenant. We can kick off within a week.”</a:t>
            </a:r>
          </a:p>
          <a:p>
            <a:r>
              <a:rPr lang="en-US" sz="882" b="0" i="1" kern="1200" dirty="0">
                <a:solidFill>
                  <a:schemeClr val="tx1"/>
                </a:solidFill>
                <a:effectLst/>
                <a:latin typeface="Segoe UI" panose="020B0502040204020203" pitchFamily="34" charset="0"/>
                <a:ea typeface="+mn-ea"/>
                <a:cs typeface="+mn-cs"/>
              </a:rPr>
              <a:t>"What if the pilot </a:t>
            </a:r>
            <a:r>
              <a:rPr lang="en-US" sz="882" b="0" i="1" kern="1200" dirty="0" err="1">
                <a:solidFill>
                  <a:schemeClr val="tx1"/>
                </a:solidFill>
                <a:effectLst/>
                <a:latin typeface="Segoe UI" panose="020B0502040204020203" pitchFamily="34" charset="0"/>
                <a:ea typeface="+mn-ea"/>
                <a:cs typeface="+mn-cs"/>
              </a:rPr>
              <a:t>fails?"</a:t>
            </a:r>
            <a:r>
              <a:rPr lang="en-US" sz="882" b="0" i="0" kern="1200" dirty="0" err="1">
                <a:solidFill>
                  <a:schemeClr val="tx1"/>
                </a:solidFill>
                <a:effectLst/>
                <a:latin typeface="Segoe UI" panose="020B0502040204020203" pitchFamily="34" charset="0"/>
                <a:ea typeface="+mn-ea"/>
                <a:cs typeface="+mn-cs"/>
              </a:rPr>
              <a:t>"Then</a:t>
            </a:r>
            <a:r>
              <a:rPr lang="en-US" sz="882" b="0" i="0" kern="1200" dirty="0">
                <a:solidFill>
                  <a:schemeClr val="tx1"/>
                </a:solidFill>
                <a:effectLst/>
                <a:latin typeface="Segoe UI" panose="020B0502040204020203" pitchFamily="34" charset="0"/>
                <a:ea typeface="+mn-ea"/>
                <a:cs typeface="+mn-cs"/>
              </a:rPr>
              <a:t> you've spent &lt;$50K to learn that — far cheaper than discovering it in production. But our data says &gt;80% accuracy is achievable; the question is tuning for your environment.”</a:t>
            </a:r>
          </a:p>
          <a:p>
            <a:r>
              <a:rPr lang="en-US" sz="882" b="0" i="1" kern="1200" dirty="0">
                <a:solidFill>
                  <a:schemeClr val="tx1"/>
                </a:solidFill>
                <a:effectLst/>
                <a:latin typeface="Segoe UI" panose="020B0502040204020203" pitchFamily="34" charset="0"/>
                <a:ea typeface="+mn-ea"/>
                <a:cs typeface="+mn-cs"/>
              </a:rPr>
              <a:t>"Who owns this </a:t>
            </a:r>
            <a:r>
              <a:rPr lang="en-US" sz="882" b="0" i="1" kern="1200" dirty="0" err="1">
                <a:solidFill>
                  <a:schemeClr val="tx1"/>
                </a:solidFill>
                <a:effectLst/>
                <a:latin typeface="Segoe UI" panose="020B0502040204020203" pitchFamily="34" charset="0"/>
                <a:ea typeface="+mn-ea"/>
                <a:cs typeface="+mn-cs"/>
              </a:rPr>
              <a:t>internally?"</a:t>
            </a:r>
            <a:r>
              <a:rPr lang="en-US" sz="882" b="0" i="0" kern="1200" dirty="0" err="1">
                <a:solidFill>
                  <a:schemeClr val="tx1"/>
                </a:solidFill>
                <a:effectLst/>
                <a:latin typeface="Segoe UI" panose="020B0502040204020203" pitchFamily="34" charset="0"/>
                <a:ea typeface="+mn-ea"/>
                <a:cs typeface="+mn-cs"/>
              </a:rPr>
              <a:t>"Ideally</a:t>
            </a:r>
            <a:r>
              <a:rPr lang="en-US" sz="882" b="0" i="0" kern="1200" dirty="0">
                <a:solidFill>
                  <a:schemeClr val="tx1"/>
                </a:solidFill>
                <a:effectLst/>
                <a:latin typeface="Segoe UI" panose="020B0502040204020203" pitchFamily="34" charset="0"/>
                <a:ea typeface="+mn-ea"/>
                <a:cs typeface="+mn-cs"/>
              </a:rPr>
              <a:t> a security engineering lead who can champion the pilot and translate findings to SOC leadership.”</a:t>
            </a:r>
          </a:p>
          <a:p>
            <a:r>
              <a:rPr lang="en-US" sz="882" b="0" i="1" kern="1200" dirty="0">
                <a:solidFill>
                  <a:schemeClr val="tx1"/>
                </a:solidFill>
                <a:effectLst/>
                <a:latin typeface="Segoe UI" panose="020B0502040204020203" pitchFamily="34" charset="0"/>
                <a:ea typeface="+mn-ea"/>
                <a:cs typeface="+mn-cs"/>
              </a:rPr>
              <a:t>"Can we see a demo </a:t>
            </a:r>
            <a:r>
              <a:rPr lang="en-US" sz="882" b="0" i="1" kern="1200" dirty="0" err="1">
                <a:solidFill>
                  <a:schemeClr val="tx1"/>
                </a:solidFill>
                <a:effectLst/>
                <a:latin typeface="Segoe UI" panose="020B0502040204020203" pitchFamily="34" charset="0"/>
                <a:ea typeface="+mn-ea"/>
                <a:cs typeface="+mn-cs"/>
              </a:rPr>
              <a:t>first?"</a:t>
            </a:r>
            <a:r>
              <a:rPr lang="en-US" sz="882" b="0" i="0" kern="1200" dirty="0" err="1">
                <a:solidFill>
                  <a:schemeClr val="tx1"/>
                </a:solidFill>
                <a:effectLst/>
                <a:latin typeface="Segoe UI" panose="020B0502040204020203" pitchFamily="34" charset="0"/>
                <a:ea typeface="+mn-ea"/>
                <a:cs typeface="+mn-cs"/>
              </a:rPr>
              <a:t>"Absolutely</a:t>
            </a:r>
            <a:r>
              <a:rPr lang="en-US" sz="882" b="0" i="0" kern="1200" dirty="0">
                <a:solidFill>
                  <a:schemeClr val="tx1"/>
                </a:solidFill>
                <a:effectLst/>
                <a:latin typeface="Segoe UI" panose="020B0502040204020203" pitchFamily="34" charset="0"/>
                <a:ea typeface="+mn-ea"/>
                <a:cs typeface="+mn-cs"/>
              </a:rPr>
              <a:t>. I can run through the brute force or phishing scenario right now if you'd like.”</a:t>
            </a:r>
          </a:p>
          <a:p>
            <a:r>
              <a:rPr lang="en-US" sz="882" b="0" i="1" kern="1200" dirty="0">
                <a:solidFill>
                  <a:schemeClr val="tx1"/>
                </a:solidFill>
                <a:effectLst/>
                <a:latin typeface="Segoe UI" panose="020B0502040204020203" pitchFamily="34" charset="0"/>
                <a:ea typeface="+mn-ea"/>
                <a:cs typeface="+mn-cs"/>
              </a:rPr>
              <a:t>"What's the timeline to </a:t>
            </a:r>
            <a:r>
              <a:rPr lang="en-US" sz="882" b="0" i="1" kern="1200" dirty="0" err="1">
                <a:solidFill>
                  <a:schemeClr val="tx1"/>
                </a:solidFill>
                <a:effectLst/>
                <a:latin typeface="Segoe UI" panose="020B0502040204020203" pitchFamily="34" charset="0"/>
                <a:ea typeface="+mn-ea"/>
                <a:cs typeface="+mn-cs"/>
              </a:rPr>
              <a:t>decision?"</a:t>
            </a:r>
            <a:r>
              <a:rPr lang="en-US" sz="882" b="0" i="0" kern="1200" dirty="0" err="1">
                <a:solidFill>
                  <a:schemeClr val="tx1"/>
                </a:solidFill>
                <a:effectLst/>
                <a:latin typeface="Segoe UI" panose="020B0502040204020203" pitchFamily="34" charset="0"/>
                <a:ea typeface="+mn-ea"/>
                <a:cs typeface="+mn-cs"/>
              </a:rPr>
              <a:t>"We</a:t>
            </a:r>
            <a:r>
              <a:rPr lang="en-US" sz="882" b="0" i="0" kern="1200" dirty="0">
                <a:solidFill>
                  <a:schemeClr val="tx1"/>
                </a:solidFill>
                <a:effectLst/>
                <a:latin typeface="Segoe UI" panose="020B0502040204020203" pitchFamily="34" charset="0"/>
                <a:ea typeface="+mn-ea"/>
                <a:cs typeface="+mn-cs"/>
              </a:rPr>
              <a:t> can demo today, align on success criteria this week, and have the pilot running by [date + 1 week]."</a:t>
            </a:r>
          </a:p>
          <a:p>
            <a:br>
              <a:rPr lang="en-US" dirty="0"/>
            </a:br>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2/23/2026 7:58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39091943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2/23/2026 7:58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31521848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2/23/2026 7:58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12506069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2/23/2026 7:58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4284979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882" b="0" i="0" kern="1200" dirty="0" err="1">
                <a:solidFill>
                  <a:schemeClr val="tx1"/>
                </a:solidFill>
                <a:effectLst/>
                <a:latin typeface="Segoe UI" panose="020B0502040204020203" pitchFamily="34" charset="0"/>
                <a:ea typeface="+mn-ea"/>
                <a:cs typeface="+mn-cs"/>
              </a:rPr>
              <a:t>ScaleModel</a:t>
            </a:r>
            <a:r>
              <a:rPr lang="en-US" sz="882" b="0" i="0" kern="1200" dirty="0">
                <a:solidFill>
                  <a:schemeClr val="tx1"/>
                </a:solidFill>
                <a:effectLst/>
                <a:latin typeface="Segoe UI" panose="020B0502040204020203" pitchFamily="34" charset="0"/>
                <a:ea typeface="+mn-ea"/>
                <a:cs typeface="+mn-cs"/>
              </a:rPr>
              <a:t> </a:t>
            </a:r>
            <a:r>
              <a:rPr lang="en-US" sz="882" b="0" i="0" kern="1200" dirty="0" err="1">
                <a:solidFill>
                  <a:schemeClr val="tx1"/>
                </a:solidFill>
                <a:effectLst/>
                <a:latin typeface="Segoe UI" panose="020B0502040204020203" pitchFamily="34" charset="0"/>
                <a:ea typeface="+mn-ea"/>
                <a:cs typeface="+mn-cs"/>
              </a:rPr>
              <a:t>CostInfra</a:t>
            </a:r>
            <a:r>
              <a:rPr lang="en-US" sz="882" b="0" i="0" kern="1200" dirty="0">
                <a:solidFill>
                  <a:schemeClr val="tx1"/>
                </a:solidFill>
                <a:effectLst/>
                <a:latin typeface="Segoe UI" panose="020B0502040204020203" pitchFamily="34" charset="0"/>
                <a:ea typeface="+mn-ea"/>
                <a:cs typeface="+mn-cs"/>
              </a:rPr>
              <a:t> </a:t>
            </a:r>
            <a:r>
              <a:rPr lang="en-US" sz="882" b="0" i="0" kern="1200" dirty="0" err="1">
                <a:solidFill>
                  <a:schemeClr val="tx1"/>
                </a:solidFill>
                <a:effectLst/>
                <a:latin typeface="Segoe UI" panose="020B0502040204020203" pitchFamily="34" charset="0"/>
                <a:ea typeface="+mn-ea"/>
                <a:cs typeface="+mn-cs"/>
              </a:rPr>
              <a:t>CostTotal</a:t>
            </a:r>
            <a:r>
              <a:rPr lang="en-US" sz="882" b="0" i="0" kern="1200" dirty="0">
                <a:solidFill>
                  <a:schemeClr val="tx1"/>
                </a:solidFill>
                <a:effectLst/>
                <a:latin typeface="Segoe UI" panose="020B0502040204020203" pitchFamily="34" charset="0"/>
                <a:ea typeface="+mn-ea"/>
                <a:cs typeface="+mn-cs"/>
              </a:rPr>
              <a:t> </a:t>
            </a:r>
            <a:r>
              <a:rPr lang="en-US" sz="882" b="0" i="0" kern="1200" dirty="0" err="1">
                <a:solidFill>
                  <a:schemeClr val="tx1"/>
                </a:solidFill>
                <a:effectLst/>
                <a:latin typeface="Segoe UI" panose="020B0502040204020203" pitchFamily="34" charset="0"/>
                <a:ea typeface="+mn-ea"/>
                <a:cs typeface="+mn-cs"/>
              </a:rPr>
              <a:t>MonthlyNotes</a:t>
            </a:r>
            <a:endParaRPr lang="en-US" sz="882" b="0" i="0" kern="1200" dirty="0">
              <a:solidFill>
                <a:schemeClr val="tx1"/>
              </a:solidFill>
              <a:effectLst/>
              <a:latin typeface="Segoe UI" panose="020B0502040204020203"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882" b="0" i="0" kern="1200" dirty="0">
              <a:solidFill>
                <a:schemeClr val="tx1"/>
              </a:solidFill>
              <a:effectLst/>
              <a:latin typeface="Segoe UI" panose="020B0502040204020203"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1" i="0" kern="1200" dirty="0">
                <a:solidFill>
                  <a:schemeClr val="tx1"/>
                </a:solidFill>
                <a:effectLst/>
                <a:latin typeface="Segoe UI" panose="020B0502040204020203" pitchFamily="34" charset="0"/>
                <a:ea typeface="+mn-ea"/>
                <a:cs typeface="+mn-cs"/>
              </a:rPr>
              <a:t>MVP/Pilot</a:t>
            </a:r>
            <a:r>
              <a:rPr lang="en-US" sz="882" b="0" i="0" kern="1200" dirty="0">
                <a:solidFill>
                  <a:schemeClr val="tx1"/>
                </a:solidFill>
                <a:effectLst/>
                <a:latin typeface="Segoe UI" panose="020B0502040204020203" pitchFamily="34" charset="0"/>
                <a:ea typeface="+mn-ea"/>
                <a:cs typeface="+mn-cs"/>
              </a:rPr>
              <a:t> (10K alerts/day)~$190~$1,100</a:t>
            </a:r>
            <a:r>
              <a:rPr lang="en-US" sz="882" b="1" i="0" kern="1200" dirty="0">
                <a:solidFill>
                  <a:schemeClr val="tx1"/>
                </a:solidFill>
                <a:effectLst/>
                <a:latin typeface="Segoe UI" panose="020B0502040204020203" pitchFamily="34" charset="0"/>
                <a:ea typeface="+mn-ea"/>
                <a:cs typeface="+mn-cs"/>
              </a:rPr>
              <a:t>~$1,300/mo</a:t>
            </a:r>
            <a:r>
              <a:rPr lang="en-US" sz="882" b="0" i="0" kern="1200" dirty="0">
                <a:solidFill>
                  <a:schemeClr val="tx1"/>
                </a:solidFill>
                <a:effectLst/>
                <a:latin typeface="Segoe UI" panose="020B0502040204020203" pitchFamily="34" charset="0"/>
                <a:ea typeface="+mn-ea"/>
                <a:cs typeface="+mn-cs"/>
              </a:rPr>
              <a:t>GPT-4.1-mini for all agents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1" i="0" kern="1200" dirty="0">
                <a:solidFill>
                  <a:schemeClr val="tx1"/>
                </a:solidFill>
                <a:effectLst/>
                <a:latin typeface="Segoe UI" panose="020B0502040204020203" pitchFamily="34" charset="0"/>
                <a:ea typeface="+mn-ea"/>
                <a:cs typeface="+mn-cs"/>
              </a:rPr>
              <a:t>Production</a:t>
            </a:r>
            <a:r>
              <a:rPr lang="en-US" sz="882" b="0" i="0" kern="1200" dirty="0">
                <a:solidFill>
                  <a:schemeClr val="tx1"/>
                </a:solidFill>
                <a:effectLst/>
                <a:latin typeface="Segoe UI" panose="020B0502040204020203" pitchFamily="34" charset="0"/>
                <a:ea typeface="+mn-ea"/>
                <a:cs typeface="+mn-cs"/>
              </a:rPr>
              <a:t> (10K alerts/day)~$251~$1,100</a:t>
            </a:r>
            <a:r>
              <a:rPr lang="en-US" sz="882" b="1" i="0" kern="1200" dirty="0">
                <a:solidFill>
                  <a:schemeClr val="tx1"/>
                </a:solidFill>
                <a:effectLst/>
                <a:latin typeface="Segoe UI" panose="020B0502040204020203" pitchFamily="34" charset="0"/>
                <a:ea typeface="+mn-ea"/>
                <a:cs typeface="+mn-cs"/>
              </a:rPr>
              <a:t>~$1,350/</a:t>
            </a:r>
            <a:r>
              <a:rPr lang="en-US" sz="882" b="1" i="0" kern="1200" dirty="0" err="1">
                <a:solidFill>
                  <a:schemeClr val="tx1"/>
                </a:solidFill>
                <a:effectLst/>
                <a:latin typeface="Segoe UI" panose="020B0502040204020203" pitchFamily="34" charset="0"/>
                <a:ea typeface="+mn-ea"/>
                <a:cs typeface="+mn-cs"/>
              </a:rPr>
              <a:t>mo</a:t>
            </a:r>
            <a:r>
              <a:rPr lang="en-US" sz="882" b="0" i="0" kern="1200" dirty="0" err="1">
                <a:solidFill>
                  <a:schemeClr val="tx1"/>
                </a:solidFill>
                <a:effectLst/>
                <a:latin typeface="Segoe UI" panose="020B0502040204020203" pitchFamily="34" charset="0"/>
                <a:ea typeface="+mn-ea"/>
                <a:cs typeface="+mn-cs"/>
              </a:rPr>
              <a:t>Differentiated</a:t>
            </a:r>
            <a:r>
              <a:rPr lang="en-US" sz="882" b="0" i="0" kern="1200" dirty="0">
                <a:solidFill>
                  <a:schemeClr val="tx1"/>
                </a:solidFill>
                <a:effectLst/>
                <a:latin typeface="Segoe UI" panose="020B0502040204020203" pitchFamily="34" charset="0"/>
                <a:ea typeface="+mn-ea"/>
                <a:cs typeface="+mn-cs"/>
              </a:rPr>
              <a:t> models (GPT-5 family)</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sz="882" b="1" i="0" kern="1200" dirty="0">
                <a:solidFill>
                  <a:schemeClr val="tx1"/>
                </a:solidFill>
                <a:effectLst/>
                <a:latin typeface="Segoe UI" panose="020B0502040204020203" pitchFamily="34" charset="0"/>
                <a:ea typeface="+mn-ea"/>
                <a:cs typeface="+mn-cs"/>
              </a:rPr>
              <a:t>Enterprise</a:t>
            </a:r>
            <a:r>
              <a:rPr lang="en-US" sz="882" b="0" i="0" kern="1200" dirty="0">
                <a:solidFill>
                  <a:schemeClr val="tx1"/>
                </a:solidFill>
                <a:effectLst/>
                <a:latin typeface="Segoe UI" panose="020B0502040204020203" pitchFamily="34" charset="0"/>
                <a:ea typeface="+mn-ea"/>
                <a:cs typeface="+mn-cs"/>
              </a:rPr>
              <a:t> (50K+ alerts/day)~$1,000-1,500~$2,000-3,000</a:t>
            </a:r>
            <a:r>
              <a:rPr lang="en-US" sz="882" b="1" i="0" kern="1200" dirty="0">
                <a:solidFill>
                  <a:schemeClr val="tx1"/>
                </a:solidFill>
                <a:effectLst/>
                <a:latin typeface="Segoe UI" panose="020B0502040204020203" pitchFamily="34" charset="0"/>
                <a:ea typeface="+mn-ea"/>
                <a:cs typeface="+mn-cs"/>
              </a:rPr>
              <a:t>~$3,000-4,500/</a:t>
            </a:r>
            <a:r>
              <a:rPr lang="en-US" sz="882" b="1" i="0" kern="1200" dirty="0" err="1">
                <a:solidFill>
                  <a:schemeClr val="tx1"/>
                </a:solidFill>
                <a:effectLst/>
                <a:latin typeface="Segoe UI" panose="020B0502040204020203" pitchFamily="34" charset="0"/>
                <a:ea typeface="+mn-ea"/>
                <a:cs typeface="+mn-cs"/>
              </a:rPr>
              <a:t>mo</a:t>
            </a:r>
            <a:r>
              <a:rPr lang="en-US" sz="882" b="0" i="0" kern="1200" dirty="0" err="1">
                <a:solidFill>
                  <a:schemeClr val="tx1"/>
                </a:solidFill>
                <a:effectLst/>
                <a:latin typeface="Segoe UI" panose="020B0502040204020203" pitchFamily="34" charset="0"/>
                <a:ea typeface="+mn-ea"/>
                <a:cs typeface="+mn-cs"/>
              </a:rPr>
              <a:t>Scaled</a:t>
            </a:r>
            <a:r>
              <a:rPr lang="en-US" sz="882" b="0" i="0" kern="1200" dirty="0">
                <a:solidFill>
                  <a:schemeClr val="tx1"/>
                </a:solidFill>
                <a:effectLst/>
                <a:latin typeface="Segoe UI" panose="020B0502040204020203" pitchFamily="34" charset="0"/>
                <a:ea typeface="+mn-ea"/>
                <a:cs typeface="+mn-cs"/>
              </a:rPr>
              <a:t> infrastructure</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2/23/2026 7:58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33</a:t>
            </a:fld>
            <a:endParaRPr lang="en-US"/>
          </a:p>
        </p:txBody>
      </p:sp>
    </p:spTree>
    <p:extLst>
      <p:ext uri="{BB962C8B-B14F-4D97-AF65-F5344CB8AC3E}">
        <p14:creationId xmlns:p14="http://schemas.microsoft.com/office/powerpoint/2010/main" val="306668508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rgbClr val="8DC8E8"/>
        </a:solidFill>
        <a:effectLst/>
      </p:bgPr>
    </p:bg>
    <p:spTree>
      <p:nvGrpSpPr>
        <p:cNvPr id="1" name=""/>
        <p:cNvGrpSpPr/>
        <p:nvPr/>
      </p:nvGrpSpPr>
      <p:grpSpPr>
        <a:xfrm>
          <a:off x="0" y="0"/>
          <a:ext cx="0" cy="0"/>
          <a:chOff x="0" y="0"/>
          <a:chExt cx="0" cy="0"/>
        </a:xfrm>
      </p:grpSpPr>
      <p:pic>
        <p:nvPicPr>
          <p:cNvPr id="3" name="Picture 2" descr="A blue and purple gradient&#10;&#10;AI-generated content may be incorrect.">
            <a:extLst>
              <a:ext uri="{FF2B5EF4-FFF2-40B4-BE49-F238E27FC236}">
                <a16:creationId xmlns:a16="http://schemas.microsoft.com/office/drawing/2014/main" id="{9D34C299-A8B5-1F05-90DB-A9EC230E98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6" name="Rectangle 35">
            <a:extLst>
              <a:ext uri="{FF2B5EF4-FFF2-40B4-BE49-F238E27FC236}">
                <a16:creationId xmlns:a16="http://schemas.microsoft.com/office/drawing/2014/main" id="{3C3578EB-E88C-BC63-2EB9-EBEC98F2D201}"/>
              </a:ext>
            </a:extLst>
          </p:cNvPr>
          <p:cNvSpPr/>
          <p:nvPr userDrawn="1"/>
        </p:nvSpPr>
        <p:spPr bwMode="auto">
          <a:xfrm>
            <a:off x="0" y="1174750"/>
            <a:ext cx="9207500" cy="4508500"/>
          </a:xfrm>
          <a:prstGeom prst="rect">
            <a:avLst/>
          </a:prstGeom>
          <a:gradFill flip="none" rotWithShape="1">
            <a:gsLst>
              <a:gs pos="0">
                <a:schemeClr val="tx1">
                  <a:alpha val="14000"/>
                </a:schemeClr>
              </a:gs>
              <a:gs pos="100000">
                <a:schemeClr val="tx1">
                  <a:alpha val="0"/>
                </a:schemeClr>
              </a:gs>
            </a:gsLst>
            <a:lin ang="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chemeClr val="bg1"/>
              </a:solidFill>
              <a:ea typeface="Segoe UI" pitchFamily="34" charset="0"/>
              <a:cs typeface="Segoe UI" pitchFamily="34" charset="0"/>
            </a:endParaRPr>
          </a:p>
        </p:txBody>
      </p:sp>
      <p:pic>
        <p:nvPicPr>
          <p:cNvPr id="33" name="Picture 32" descr="A silver shield with text and stars&#10;&#10;AI-generated content may be incorrect.">
            <a:extLst>
              <a:ext uri="{FF2B5EF4-FFF2-40B4-BE49-F238E27FC236}">
                <a16:creationId xmlns:a16="http://schemas.microsoft.com/office/drawing/2014/main" id="{7DE39951-E22A-4E5D-3F1B-FC4A3162C280}"/>
              </a:ext>
            </a:extLst>
          </p:cNvPr>
          <p:cNvPicPr>
            <a:picLocks noChangeAspect="1"/>
          </p:cNvPicPr>
          <p:nvPr userDrawn="1"/>
        </p:nvPicPr>
        <p:blipFill>
          <a:blip r:embed="rId3"/>
          <a:srcRect l="3844" t="2514" r="4223" b="5918"/>
          <a:stretch>
            <a:fillRect/>
          </a:stretch>
        </p:blipFill>
        <p:spPr>
          <a:xfrm>
            <a:off x="7323544" y="1295400"/>
            <a:ext cx="4284256" cy="4267200"/>
          </a:xfrm>
          <a:prstGeom prst="rect">
            <a:avLst/>
          </a:prstGeom>
          <a:effectLst>
            <a:outerShdw blurRad="762000" sx="118000" sy="118000" algn="ctr" rotWithShape="0">
              <a:schemeClr val="tx1">
                <a:alpha val="7000"/>
              </a:schemeClr>
            </a:outerShdw>
          </a:effectLst>
        </p:spPr>
      </p:pic>
      <p:sp>
        <p:nvSpPr>
          <p:cNvPr id="6" name="Title 1">
            <a:extLst>
              <a:ext uri="{FF2B5EF4-FFF2-40B4-BE49-F238E27FC236}">
                <a16:creationId xmlns:a16="http://schemas.microsoft.com/office/drawing/2014/main" id="{BBD38F5B-5B2A-C576-8754-00FAD284AFE1}"/>
              </a:ext>
            </a:extLst>
          </p:cNvPr>
          <p:cNvSpPr>
            <a:spLocks noGrp="1"/>
          </p:cNvSpPr>
          <p:nvPr>
            <p:ph type="title"/>
          </p:nvPr>
        </p:nvSpPr>
        <p:spPr>
          <a:xfrm>
            <a:off x="584200" y="2044005"/>
            <a:ext cx="5854700" cy="2769989"/>
          </a:xfrm>
        </p:spPr>
        <p:txBody>
          <a:bodyPr anchor="ctr">
            <a:noAutofit/>
          </a:bodyPr>
          <a:lstStyle>
            <a:lvl1pPr>
              <a:defRPr sz="6000"/>
            </a:lvl1pPr>
          </a:lstStyle>
          <a:p>
            <a:r>
              <a:rPr lang="en-US"/>
              <a:t>Click to edit Master title style</a:t>
            </a:r>
          </a:p>
        </p:txBody>
      </p:sp>
      <p:pic>
        <p:nvPicPr>
          <p:cNvPr id="2" name="Picture 1" descr="A logo on a black background&#10;&#10;AI-generated content may be incorrect.">
            <a:extLst>
              <a:ext uri="{FF2B5EF4-FFF2-40B4-BE49-F238E27FC236}">
                <a16:creationId xmlns:a16="http://schemas.microsoft.com/office/drawing/2014/main" id="{E030E9E4-7722-AAB3-6537-4D3C17CA7C7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81353" y="290130"/>
            <a:ext cx="1972133" cy="883924"/>
          </a:xfrm>
          <a:prstGeom prst="rect">
            <a:avLst/>
          </a:prstGeom>
        </p:spPr>
      </p:pic>
    </p:spTree>
    <p:extLst>
      <p:ext uri="{BB962C8B-B14F-4D97-AF65-F5344CB8AC3E}">
        <p14:creationId xmlns:p14="http://schemas.microsoft.com/office/powerpoint/2010/main" val="362404332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84" userDrawn="1">
          <p15:clr>
            <a:srgbClr val="FBAE40"/>
          </p15:clr>
        </p15:guide>
        <p15:guide id="2" pos="6127">
          <p15:clr>
            <a:srgbClr val="5ACBF0"/>
          </p15:clr>
        </p15:guide>
        <p15:guide id="3" orient="horz" pos="191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Tree>
    <p:extLst>
      <p:ext uri="{BB962C8B-B14F-4D97-AF65-F5344CB8AC3E}">
        <p14:creationId xmlns:p14="http://schemas.microsoft.com/office/powerpoint/2010/main" val="346564987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12" name="Title 3">
            <a:extLst>
              <a:ext uri="{FF2B5EF4-FFF2-40B4-BE49-F238E27FC236}">
                <a16:creationId xmlns:a16="http://schemas.microsoft.com/office/drawing/2014/main" id="{629B222F-D5BC-3163-C07E-28EB281CFAE1}"/>
              </a:ext>
            </a:extLst>
          </p:cNvPr>
          <p:cNvSpPr txBox="1">
            <a:spLocks/>
          </p:cNvSpPr>
          <p:nvPr userDrawn="1"/>
        </p:nvSpPr>
        <p:spPr>
          <a:xfrm>
            <a:off x="1" y="0"/>
            <a:ext cx="1828800" cy="6822179"/>
          </a:xfrm>
          <a:prstGeom prst="rect">
            <a:avLst/>
          </a:pr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vl1pPr defTabSz="932472" fontAlgn="base">
              <a:spcBef>
                <a:spcPct val="0"/>
              </a:spcBef>
              <a:spcAft>
                <a:spcPct val="0"/>
              </a:spcAft>
              <a:defRPr sz="2000">
                <a:solidFill>
                  <a:schemeClr val="bg1"/>
                </a:solidFill>
                <a:cs typeface="Segoe UI"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endParaRPr lang="en-US"/>
          </a:p>
        </p:txBody>
      </p:sp>
      <p:cxnSp>
        <p:nvCxnSpPr>
          <p:cNvPr id="26" name="Straight Connector 25">
            <a:extLst>
              <a:ext uri="{FF2B5EF4-FFF2-40B4-BE49-F238E27FC236}">
                <a16:creationId xmlns:a16="http://schemas.microsoft.com/office/drawing/2014/main" id="{C324C607-9B6E-4620-DEB4-B8FE904A9AE1}"/>
              </a:ext>
            </a:extLst>
          </p:cNvPr>
          <p:cNvCxnSpPr/>
          <p:nvPr userDrawn="1"/>
        </p:nvCxnSpPr>
        <p:spPr>
          <a:xfrm>
            <a:off x="3362142" y="2416111"/>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3E84D50-2045-E06F-7FA3-CBE874CA35A8}"/>
              </a:ext>
            </a:extLst>
          </p:cNvPr>
          <p:cNvCxnSpPr/>
          <p:nvPr userDrawn="1"/>
        </p:nvCxnSpPr>
        <p:spPr>
          <a:xfrm>
            <a:off x="3362142" y="3687762"/>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3BE64CC-2DC9-A95A-C36C-FF452184C3F2}"/>
              </a:ext>
            </a:extLst>
          </p:cNvPr>
          <p:cNvCxnSpPr/>
          <p:nvPr userDrawn="1"/>
        </p:nvCxnSpPr>
        <p:spPr>
          <a:xfrm>
            <a:off x="3362142" y="4959413"/>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D69C647-00FF-9272-2A14-434E60BBDBB4}"/>
              </a:ext>
            </a:extLst>
          </p:cNvPr>
          <p:cNvCxnSpPr/>
          <p:nvPr userDrawn="1"/>
        </p:nvCxnSpPr>
        <p:spPr>
          <a:xfrm>
            <a:off x="8077016" y="2416111"/>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2CE8E4F-D935-36F7-B124-09578B33BD09}"/>
              </a:ext>
            </a:extLst>
          </p:cNvPr>
          <p:cNvCxnSpPr/>
          <p:nvPr userDrawn="1"/>
        </p:nvCxnSpPr>
        <p:spPr>
          <a:xfrm>
            <a:off x="8077016" y="3687762"/>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0B0544D-5F71-0D69-81F1-F41CE9410351}"/>
              </a:ext>
            </a:extLst>
          </p:cNvPr>
          <p:cNvCxnSpPr/>
          <p:nvPr userDrawn="1"/>
        </p:nvCxnSpPr>
        <p:spPr>
          <a:xfrm>
            <a:off x="8077016" y="4959413"/>
            <a:ext cx="3529584"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0AAD849-7CFE-4AF7-A7C5-6BBD50C88C1A}"/>
              </a:ext>
            </a:extLst>
          </p:cNvPr>
          <p:cNvSpPr>
            <a:spLocks noGrp="1"/>
          </p:cNvSpPr>
          <p:nvPr>
            <p:ph type="title" hasCustomPrompt="1"/>
          </p:nvPr>
        </p:nvSpPr>
        <p:spPr>
          <a:xfrm>
            <a:off x="298848" y="704850"/>
            <a:ext cx="1231106" cy="5412478"/>
          </a:xfrm>
        </p:spPr>
        <p:txBody>
          <a:bodyPr vert="vert270">
            <a:noAutofit/>
          </a:bodyPr>
          <a:lstStyle>
            <a:lvl1pPr algn="ctr">
              <a:defRPr sz="8000"/>
            </a:lvl1pPr>
          </a:lstStyle>
          <a:p>
            <a:r>
              <a:rPr lang="en-US"/>
              <a:t>AGENDA</a:t>
            </a:r>
          </a:p>
        </p:txBody>
      </p:sp>
      <p:sp>
        <p:nvSpPr>
          <p:cNvPr id="6" name="Text Placeholder 4">
            <a:extLst>
              <a:ext uri="{FF2B5EF4-FFF2-40B4-BE49-F238E27FC236}">
                <a16:creationId xmlns:a16="http://schemas.microsoft.com/office/drawing/2014/main" id="{BFCAA62A-D727-0272-C605-9B5EE79F92C7}"/>
              </a:ext>
            </a:extLst>
          </p:cNvPr>
          <p:cNvSpPr>
            <a:spLocks noGrp="1"/>
          </p:cNvSpPr>
          <p:nvPr>
            <p:ph type="body" sz="quarter" idx="10" hasCustomPrompt="1"/>
          </p:nvPr>
        </p:nvSpPr>
        <p:spPr>
          <a:xfrm>
            <a:off x="3362142" y="1472509"/>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8" name="Text Placeholder 4">
            <a:extLst>
              <a:ext uri="{FF2B5EF4-FFF2-40B4-BE49-F238E27FC236}">
                <a16:creationId xmlns:a16="http://schemas.microsoft.com/office/drawing/2014/main" id="{EB204ED8-AA53-E68A-BA62-EA3DABFF3CBF}"/>
              </a:ext>
            </a:extLst>
          </p:cNvPr>
          <p:cNvSpPr>
            <a:spLocks noGrp="1"/>
          </p:cNvSpPr>
          <p:nvPr>
            <p:ph type="body" sz="quarter" idx="11" hasCustomPrompt="1"/>
          </p:nvPr>
        </p:nvSpPr>
        <p:spPr>
          <a:xfrm>
            <a:off x="8077016" y="1472509"/>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9" name="Text Placeholder 4">
            <a:extLst>
              <a:ext uri="{FF2B5EF4-FFF2-40B4-BE49-F238E27FC236}">
                <a16:creationId xmlns:a16="http://schemas.microsoft.com/office/drawing/2014/main" id="{521E0D50-C05E-2148-5B4B-CA4C6802702E}"/>
              </a:ext>
            </a:extLst>
          </p:cNvPr>
          <p:cNvSpPr>
            <a:spLocks noGrp="1"/>
          </p:cNvSpPr>
          <p:nvPr>
            <p:ph type="body" sz="quarter" idx="12" hasCustomPrompt="1"/>
          </p:nvPr>
        </p:nvSpPr>
        <p:spPr>
          <a:xfrm>
            <a:off x="3362142" y="2744160"/>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0" name="Text Placeholder 4">
            <a:extLst>
              <a:ext uri="{FF2B5EF4-FFF2-40B4-BE49-F238E27FC236}">
                <a16:creationId xmlns:a16="http://schemas.microsoft.com/office/drawing/2014/main" id="{4BB2511C-FA6B-786F-A4C7-3DC05FBAD19E}"/>
              </a:ext>
            </a:extLst>
          </p:cNvPr>
          <p:cNvSpPr>
            <a:spLocks noGrp="1"/>
          </p:cNvSpPr>
          <p:nvPr>
            <p:ph type="body" sz="quarter" idx="13" hasCustomPrompt="1"/>
          </p:nvPr>
        </p:nvSpPr>
        <p:spPr>
          <a:xfrm>
            <a:off x="8077016" y="2744160"/>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1" name="Text Placeholder 4">
            <a:extLst>
              <a:ext uri="{FF2B5EF4-FFF2-40B4-BE49-F238E27FC236}">
                <a16:creationId xmlns:a16="http://schemas.microsoft.com/office/drawing/2014/main" id="{84401C60-F88F-7DB3-5EDC-F351AA89E476}"/>
              </a:ext>
            </a:extLst>
          </p:cNvPr>
          <p:cNvSpPr>
            <a:spLocks noGrp="1"/>
          </p:cNvSpPr>
          <p:nvPr>
            <p:ph type="body" sz="quarter" idx="14" hasCustomPrompt="1"/>
          </p:nvPr>
        </p:nvSpPr>
        <p:spPr>
          <a:xfrm>
            <a:off x="3362142" y="4015813"/>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3" name="Text Placeholder 4">
            <a:extLst>
              <a:ext uri="{FF2B5EF4-FFF2-40B4-BE49-F238E27FC236}">
                <a16:creationId xmlns:a16="http://schemas.microsoft.com/office/drawing/2014/main" id="{4F0E90F9-865C-2FDD-F964-D0A439FADDE4}"/>
              </a:ext>
            </a:extLst>
          </p:cNvPr>
          <p:cNvSpPr>
            <a:spLocks noGrp="1"/>
          </p:cNvSpPr>
          <p:nvPr>
            <p:ph type="body" sz="quarter" idx="15" hasCustomPrompt="1"/>
          </p:nvPr>
        </p:nvSpPr>
        <p:spPr>
          <a:xfrm>
            <a:off x="8077016" y="4015813"/>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4" name="Text Placeholder 4">
            <a:extLst>
              <a:ext uri="{FF2B5EF4-FFF2-40B4-BE49-F238E27FC236}">
                <a16:creationId xmlns:a16="http://schemas.microsoft.com/office/drawing/2014/main" id="{55A1A458-F1AF-98F6-ACB5-57CF62E96644}"/>
              </a:ext>
            </a:extLst>
          </p:cNvPr>
          <p:cNvSpPr>
            <a:spLocks noGrp="1"/>
          </p:cNvSpPr>
          <p:nvPr>
            <p:ph type="body" sz="quarter" idx="16" hasCustomPrompt="1"/>
          </p:nvPr>
        </p:nvSpPr>
        <p:spPr>
          <a:xfrm>
            <a:off x="3362142" y="5287463"/>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15" name="Text Placeholder 4">
            <a:extLst>
              <a:ext uri="{FF2B5EF4-FFF2-40B4-BE49-F238E27FC236}">
                <a16:creationId xmlns:a16="http://schemas.microsoft.com/office/drawing/2014/main" id="{AEDA8387-0AE1-03F1-FEBA-E00B2A9F1CDA}"/>
              </a:ext>
            </a:extLst>
          </p:cNvPr>
          <p:cNvSpPr>
            <a:spLocks noGrp="1"/>
          </p:cNvSpPr>
          <p:nvPr>
            <p:ph type="body" sz="quarter" idx="17" hasCustomPrompt="1"/>
          </p:nvPr>
        </p:nvSpPr>
        <p:spPr>
          <a:xfrm>
            <a:off x="8077016" y="5287463"/>
            <a:ext cx="3532372" cy="615553"/>
          </a:xfrm>
        </p:spPr>
        <p:txBody>
          <a:bodyPr/>
          <a:lstStyle>
            <a:lvl1pPr marL="0" indent="0">
              <a:buSzPct val="100000"/>
              <a:buFont typeface="Arial" panose="020B0604020202020204" pitchFamily="34" charset="0"/>
              <a:buNone/>
              <a:defRPr sz="20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38" name="Text Placeholder 31">
            <a:extLst>
              <a:ext uri="{FF2B5EF4-FFF2-40B4-BE49-F238E27FC236}">
                <a16:creationId xmlns:a16="http://schemas.microsoft.com/office/drawing/2014/main" id="{82CE9398-7433-9B5B-9954-2F3D03E21ECE}"/>
              </a:ext>
            </a:extLst>
          </p:cNvPr>
          <p:cNvSpPr>
            <a:spLocks noGrp="1"/>
          </p:cNvSpPr>
          <p:nvPr>
            <p:ph type="body" sz="quarter" idx="20" hasCustomPrompt="1"/>
          </p:nvPr>
        </p:nvSpPr>
        <p:spPr>
          <a:xfrm>
            <a:off x="2470150" y="2708339"/>
            <a:ext cx="687196" cy="687196"/>
          </a:xfrm>
          <a:prstGeom prst="ellipse">
            <a:avLst/>
          </a:prstGeom>
          <a:solidFill>
            <a:srgbClr val="091F2C"/>
          </a:solidFill>
          <a:ln w="3175">
            <a:solidFill>
              <a:schemeClr val="tx1">
                <a:alpha val="27000"/>
              </a:schemeClr>
            </a:solidFill>
          </a:ln>
        </p:spPr>
        <p:txBody>
          <a:bodyPr anchor="ctr">
            <a:noAutofit/>
          </a:bodyPr>
          <a:lstStyle>
            <a:lvl1pPr algn="ctr">
              <a:buNone/>
              <a:defRPr sz="3200" b="1">
                <a:solidFill>
                  <a:schemeClr val="accent1"/>
                </a:solidFill>
                <a:latin typeface="+mn-lt"/>
              </a:defRPr>
            </a:lvl1pPr>
          </a:lstStyle>
          <a:p>
            <a:pPr lvl="0"/>
            <a:r>
              <a:rPr lang="en-US"/>
              <a:t>2</a:t>
            </a:r>
          </a:p>
        </p:txBody>
      </p:sp>
      <p:sp>
        <p:nvSpPr>
          <p:cNvPr id="45" name="Oval 44">
            <a:extLst>
              <a:ext uri="{FF2B5EF4-FFF2-40B4-BE49-F238E27FC236}">
                <a16:creationId xmlns:a16="http://schemas.microsoft.com/office/drawing/2014/main" id="{16B77EEF-CF89-3A51-3FB1-DC1BC8FA4938}"/>
              </a:ext>
            </a:extLst>
          </p:cNvPr>
          <p:cNvSpPr/>
          <p:nvPr userDrawn="1"/>
        </p:nvSpPr>
        <p:spPr bwMode="auto">
          <a:xfrm>
            <a:off x="2470150" y="2708339"/>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2</a:t>
            </a:r>
          </a:p>
        </p:txBody>
      </p:sp>
      <p:sp>
        <p:nvSpPr>
          <p:cNvPr id="46" name="Oval 45">
            <a:extLst>
              <a:ext uri="{FF2B5EF4-FFF2-40B4-BE49-F238E27FC236}">
                <a16:creationId xmlns:a16="http://schemas.microsoft.com/office/drawing/2014/main" id="{34EED089-899E-9B4B-1332-84B1B197A37D}"/>
              </a:ext>
            </a:extLst>
          </p:cNvPr>
          <p:cNvSpPr/>
          <p:nvPr userDrawn="1"/>
        </p:nvSpPr>
        <p:spPr bwMode="auto">
          <a:xfrm>
            <a:off x="2470150" y="1436688"/>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1</a:t>
            </a:r>
          </a:p>
        </p:txBody>
      </p:sp>
      <p:sp>
        <p:nvSpPr>
          <p:cNvPr id="47" name="Oval 46">
            <a:extLst>
              <a:ext uri="{FF2B5EF4-FFF2-40B4-BE49-F238E27FC236}">
                <a16:creationId xmlns:a16="http://schemas.microsoft.com/office/drawing/2014/main" id="{2EC0CF99-EFDC-0B15-9717-6A90C25BFE03}"/>
              </a:ext>
            </a:extLst>
          </p:cNvPr>
          <p:cNvSpPr/>
          <p:nvPr userDrawn="1"/>
        </p:nvSpPr>
        <p:spPr bwMode="auto">
          <a:xfrm>
            <a:off x="2470150" y="5251641"/>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4</a:t>
            </a:r>
          </a:p>
        </p:txBody>
      </p:sp>
      <p:sp>
        <p:nvSpPr>
          <p:cNvPr id="48" name="Oval 47">
            <a:extLst>
              <a:ext uri="{FF2B5EF4-FFF2-40B4-BE49-F238E27FC236}">
                <a16:creationId xmlns:a16="http://schemas.microsoft.com/office/drawing/2014/main" id="{7B42A3CF-6F26-8D15-F208-7CEE5DB5E516}"/>
              </a:ext>
            </a:extLst>
          </p:cNvPr>
          <p:cNvSpPr/>
          <p:nvPr userDrawn="1"/>
        </p:nvSpPr>
        <p:spPr bwMode="auto">
          <a:xfrm>
            <a:off x="2470150" y="3979992"/>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3</a:t>
            </a:r>
          </a:p>
        </p:txBody>
      </p:sp>
      <p:sp>
        <p:nvSpPr>
          <p:cNvPr id="49" name="Oval 48">
            <a:extLst>
              <a:ext uri="{FF2B5EF4-FFF2-40B4-BE49-F238E27FC236}">
                <a16:creationId xmlns:a16="http://schemas.microsoft.com/office/drawing/2014/main" id="{9EDD5216-EDDD-0EEB-329E-3B3C7123034B}"/>
              </a:ext>
            </a:extLst>
          </p:cNvPr>
          <p:cNvSpPr/>
          <p:nvPr userDrawn="1"/>
        </p:nvSpPr>
        <p:spPr bwMode="auto">
          <a:xfrm>
            <a:off x="7185024" y="2708339"/>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6</a:t>
            </a:r>
          </a:p>
        </p:txBody>
      </p:sp>
      <p:sp>
        <p:nvSpPr>
          <p:cNvPr id="50" name="Oval 49">
            <a:extLst>
              <a:ext uri="{FF2B5EF4-FFF2-40B4-BE49-F238E27FC236}">
                <a16:creationId xmlns:a16="http://schemas.microsoft.com/office/drawing/2014/main" id="{6387AF57-2674-E5C0-C3AC-36A5F38D2933}"/>
              </a:ext>
            </a:extLst>
          </p:cNvPr>
          <p:cNvSpPr/>
          <p:nvPr userDrawn="1"/>
        </p:nvSpPr>
        <p:spPr bwMode="auto">
          <a:xfrm>
            <a:off x="7185024" y="1436688"/>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5</a:t>
            </a:r>
          </a:p>
        </p:txBody>
      </p:sp>
      <p:sp>
        <p:nvSpPr>
          <p:cNvPr id="51" name="Oval 50">
            <a:extLst>
              <a:ext uri="{FF2B5EF4-FFF2-40B4-BE49-F238E27FC236}">
                <a16:creationId xmlns:a16="http://schemas.microsoft.com/office/drawing/2014/main" id="{429A9B74-E02B-F7CA-8366-8699080EB397}"/>
              </a:ext>
            </a:extLst>
          </p:cNvPr>
          <p:cNvSpPr/>
          <p:nvPr userDrawn="1"/>
        </p:nvSpPr>
        <p:spPr bwMode="auto">
          <a:xfrm>
            <a:off x="7185024" y="5251641"/>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8</a:t>
            </a:r>
          </a:p>
        </p:txBody>
      </p:sp>
      <p:sp>
        <p:nvSpPr>
          <p:cNvPr id="52" name="Oval 51">
            <a:extLst>
              <a:ext uri="{FF2B5EF4-FFF2-40B4-BE49-F238E27FC236}">
                <a16:creationId xmlns:a16="http://schemas.microsoft.com/office/drawing/2014/main" id="{4688EEE8-B1A0-3C9E-589E-EC80C19CC870}"/>
              </a:ext>
            </a:extLst>
          </p:cNvPr>
          <p:cNvSpPr/>
          <p:nvPr userDrawn="1"/>
        </p:nvSpPr>
        <p:spPr bwMode="auto">
          <a:xfrm>
            <a:off x="7185024" y="3979992"/>
            <a:ext cx="687196" cy="687196"/>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3200" b="1" spc="0" baseline="0">
                <a:solidFill>
                  <a:schemeClr val="accent1"/>
                </a:solidFill>
                <a:cs typeface="Segoe UI" panose="020B0502040204020203" pitchFamily="34" charset="0"/>
              </a:rPr>
              <a:t>7</a:t>
            </a:r>
          </a:p>
        </p:txBody>
      </p:sp>
    </p:spTree>
    <p:extLst>
      <p:ext uri="{BB962C8B-B14F-4D97-AF65-F5344CB8AC3E}">
        <p14:creationId xmlns:p14="http://schemas.microsoft.com/office/powerpoint/2010/main" val="159950461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36" userDrawn="1">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genda_2">
    <p:spTree>
      <p:nvGrpSpPr>
        <p:cNvPr id="1" name=""/>
        <p:cNvGrpSpPr/>
        <p:nvPr/>
      </p:nvGrpSpPr>
      <p:grpSpPr>
        <a:xfrm>
          <a:off x="0" y="0"/>
          <a:ext cx="0" cy="0"/>
          <a:chOff x="0" y="0"/>
          <a:chExt cx="0" cy="0"/>
        </a:xfrm>
      </p:grpSpPr>
      <p:sp>
        <p:nvSpPr>
          <p:cNvPr id="63" name="Title 1">
            <a:extLst>
              <a:ext uri="{FF2B5EF4-FFF2-40B4-BE49-F238E27FC236}">
                <a16:creationId xmlns:a16="http://schemas.microsoft.com/office/drawing/2014/main" id="{61837213-2F00-7C5C-F362-8E16E7E5983A}"/>
              </a:ext>
            </a:extLst>
          </p:cNvPr>
          <p:cNvSpPr txBox="1">
            <a:spLocks/>
          </p:cNvSpPr>
          <p:nvPr userDrawn="1"/>
        </p:nvSpPr>
        <p:spPr>
          <a:xfrm>
            <a:off x="584200" y="556959"/>
            <a:ext cx="3390900" cy="877824"/>
          </a:xfrm>
          <a:prstGeom prst="roundRect">
            <a:avLst>
              <a:gd name="adj" fmla="val 50108"/>
            </a:avLst>
          </a:prstGeom>
          <a:gradFill>
            <a:gsLst>
              <a:gs pos="0">
                <a:srgbClr val="8449A9"/>
              </a:gs>
              <a:gs pos="100000">
                <a:srgbClr val="0538BB"/>
              </a:gs>
            </a:gsLst>
            <a:lin ang="2700000" scaled="1"/>
          </a:gradFill>
        </p:spPr>
        <p:txBody>
          <a:bodyPr vert="horz" wrap="square" lIns="0" tIns="0" rIns="0" bIns="0" rtlCol="0" anchor="ctr">
            <a:noAutofit/>
          </a:bodyPr>
          <a:lstStyle>
            <a:lvl1pPr marL="742950" indent="0" algn="l" defTabSz="932742" rtl="0" eaLnBrk="1" latinLnBrk="0" hangingPunct="1">
              <a:lnSpc>
                <a:spcPct val="100000"/>
              </a:lnSpc>
              <a:spcBef>
                <a:spcPct val="0"/>
              </a:spcBef>
              <a:buNone/>
              <a:defRPr lang="en-US" sz="4000" b="0" kern="1200" cap="none" spc="-50" baseline="0" dirty="0" smtClean="0">
                <a:ln w="3175">
                  <a:noFill/>
                </a:ln>
                <a:solidFill>
                  <a:schemeClr val="tx1"/>
                </a:solidFill>
                <a:effectLst/>
                <a:latin typeface="Aptos SemiBold" panose="020B0004020202020204" pitchFamily="34" charset="0"/>
                <a:ea typeface="+mn-ea"/>
                <a:cs typeface="Segoe UI" pitchFamily="34" charset="0"/>
              </a:defRPr>
            </a:lvl1pPr>
          </a:lstStyle>
          <a:p>
            <a:endParaRPr lang="en-US"/>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3" name="Title 1">
            <a:extLst>
              <a:ext uri="{FF2B5EF4-FFF2-40B4-BE49-F238E27FC236}">
                <a16:creationId xmlns:a16="http://schemas.microsoft.com/office/drawing/2014/main" id="{2F6C29B5-D986-9324-FCA9-94495855D843}"/>
              </a:ext>
            </a:extLst>
          </p:cNvPr>
          <p:cNvSpPr>
            <a:spLocks noGrp="1"/>
          </p:cNvSpPr>
          <p:nvPr>
            <p:ph type="title" hasCustomPrompt="1"/>
          </p:nvPr>
        </p:nvSpPr>
        <p:spPr>
          <a:xfrm>
            <a:off x="1609412" y="688094"/>
            <a:ext cx="1943161" cy="615553"/>
          </a:xfrm>
          <a:prstGeom prst="rect">
            <a:avLst/>
          </a:prstGeom>
          <a:noFill/>
        </p:spPr>
        <p:txBody>
          <a:bodyPr wrap="square" anchor="ctr">
            <a:spAutoFit/>
          </a:bodyPr>
          <a:lstStyle>
            <a:lvl1pPr marL="0" indent="0">
              <a:defRPr sz="4000"/>
            </a:lvl1pPr>
          </a:lstStyle>
          <a:p>
            <a:r>
              <a:rPr lang="en-US"/>
              <a:t>AGENDA</a:t>
            </a:r>
          </a:p>
        </p:txBody>
      </p:sp>
      <p:sp>
        <p:nvSpPr>
          <p:cNvPr id="4" name="Rectangle 3">
            <a:extLst>
              <a:ext uri="{FF2B5EF4-FFF2-40B4-BE49-F238E27FC236}">
                <a16:creationId xmlns:a16="http://schemas.microsoft.com/office/drawing/2014/main" id="{1CBDF14E-C1F4-5208-C988-86EEB1382F8C}"/>
              </a:ext>
            </a:extLst>
          </p:cNvPr>
          <p:cNvSpPr/>
          <p:nvPr userDrawn="1"/>
        </p:nvSpPr>
        <p:spPr bwMode="auto">
          <a:xfrm>
            <a:off x="0" y="1711927"/>
            <a:ext cx="12192000" cy="4650773"/>
          </a:xfrm>
          <a:prstGeom prst="rect">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cxnSp>
        <p:nvCxnSpPr>
          <p:cNvPr id="22" name="Straight Connector 21">
            <a:extLst>
              <a:ext uri="{FF2B5EF4-FFF2-40B4-BE49-F238E27FC236}">
                <a16:creationId xmlns:a16="http://schemas.microsoft.com/office/drawing/2014/main" id="{1D79FECC-2080-6B5D-93B4-DB21ABF0A051}"/>
              </a:ext>
            </a:extLst>
          </p:cNvPr>
          <p:cNvCxnSpPr>
            <a:cxnSpLocks/>
          </p:cNvCxnSpPr>
          <p:nvPr userDrawn="1"/>
        </p:nvCxnSpPr>
        <p:spPr>
          <a:xfrm>
            <a:off x="1350962" y="2874621"/>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79834E87-35A9-476B-9068-0B52ADE4E99C}"/>
              </a:ext>
            </a:extLst>
          </p:cNvPr>
          <p:cNvCxnSpPr>
            <a:cxnSpLocks/>
          </p:cNvCxnSpPr>
          <p:nvPr userDrawn="1"/>
        </p:nvCxnSpPr>
        <p:spPr>
          <a:xfrm>
            <a:off x="1350962" y="4037315"/>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69040A5-BC74-BDEA-E89B-C30EB27461EF}"/>
              </a:ext>
            </a:extLst>
          </p:cNvPr>
          <p:cNvCxnSpPr>
            <a:cxnSpLocks/>
          </p:cNvCxnSpPr>
          <p:nvPr userDrawn="1"/>
        </p:nvCxnSpPr>
        <p:spPr>
          <a:xfrm>
            <a:off x="1350962" y="5200009"/>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409E44DC-7CB8-81D8-9C56-277CD9233843}"/>
              </a:ext>
            </a:extLst>
          </p:cNvPr>
          <p:cNvCxnSpPr>
            <a:cxnSpLocks/>
          </p:cNvCxnSpPr>
          <p:nvPr userDrawn="1"/>
        </p:nvCxnSpPr>
        <p:spPr>
          <a:xfrm>
            <a:off x="7010399" y="2874621"/>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89A07A36-634B-1E9A-B2E0-699269172C1C}"/>
              </a:ext>
            </a:extLst>
          </p:cNvPr>
          <p:cNvCxnSpPr>
            <a:cxnSpLocks/>
          </p:cNvCxnSpPr>
          <p:nvPr userDrawn="1"/>
        </p:nvCxnSpPr>
        <p:spPr>
          <a:xfrm>
            <a:off x="7010399" y="4037315"/>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B1BB4B92-84F4-9E22-C1A1-FE19C497EF22}"/>
              </a:ext>
            </a:extLst>
          </p:cNvPr>
          <p:cNvCxnSpPr>
            <a:cxnSpLocks/>
          </p:cNvCxnSpPr>
          <p:nvPr userDrawn="1"/>
        </p:nvCxnSpPr>
        <p:spPr>
          <a:xfrm>
            <a:off x="7010399" y="5200009"/>
            <a:ext cx="4593772"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53" name="Text Placeholder 4">
            <a:extLst>
              <a:ext uri="{FF2B5EF4-FFF2-40B4-BE49-F238E27FC236}">
                <a16:creationId xmlns:a16="http://schemas.microsoft.com/office/drawing/2014/main" id="{BFCAA62A-D727-0272-C605-9B5EE79F92C7}"/>
              </a:ext>
            </a:extLst>
          </p:cNvPr>
          <p:cNvSpPr>
            <a:spLocks noGrp="1"/>
          </p:cNvSpPr>
          <p:nvPr>
            <p:ph type="body" sz="quarter" idx="10" hasCustomPrompt="1"/>
          </p:nvPr>
        </p:nvSpPr>
        <p:spPr>
          <a:xfrm>
            <a:off x="1350962" y="2016275"/>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4" name="Text Placeholder 4">
            <a:extLst>
              <a:ext uri="{FF2B5EF4-FFF2-40B4-BE49-F238E27FC236}">
                <a16:creationId xmlns:a16="http://schemas.microsoft.com/office/drawing/2014/main" id="{EB204ED8-AA53-E68A-BA62-EA3DABFF3CBF}"/>
              </a:ext>
            </a:extLst>
          </p:cNvPr>
          <p:cNvSpPr>
            <a:spLocks noGrp="1"/>
          </p:cNvSpPr>
          <p:nvPr>
            <p:ph type="body" sz="quarter" idx="11" hasCustomPrompt="1"/>
          </p:nvPr>
        </p:nvSpPr>
        <p:spPr>
          <a:xfrm>
            <a:off x="7010399" y="2016275"/>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5" name="Text Placeholder 4">
            <a:extLst>
              <a:ext uri="{FF2B5EF4-FFF2-40B4-BE49-F238E27FC236}">
                <a16:creationId xmlns:a16="http://schemas.microsoft.com/office/drawing/2014/main" id="{22D33420-D41A-87FA-1A50-B913F8753F06}"/>
              </a:ext>
            </a:extLst>
          </p:cNvPr>
          <p:cNvSpPr>
            <a:spLocks noGrp="1"/>
          </p:cNvSpPr>
          <p:nvPr>
            <p:ph type="body" sz="quarter" idx="26" hasCustomPrompt="1"/>
          </p:nvPr>
        </p:nvSpPr>
        <p:spPr>
          <a:xfrm>
            <a:off x="1350962" y="3178969"/>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6" name="Text Placeholder 4">
            <a:extLst>
              <a:ext uri="{FF2B5EF4-FFF2-40B4-BE49-F238E27FC236}">
                <a16:creationId xmlns:a16="http://schemas.microsoft.com/office/drawing/2014/main" id="{D344184C-BD00-5D2D-B837-743B3B8499C0}"/>
              </a:ext>
            </a:extLst>
          </p:cNvPr>
          <p:cNvSpPr>
            <a:spLocks noGrp="1"/>
          </p:cNvSpPr>
          <p:nvPr>
            <p:ph type="body" sz="quarter" idx="27" hasCustomPrompt="1"/>
          </p:nvPr>
        </p:nvSpPr>
        <p:spPr>
          <a:xfrm>
            <a:off x="7010399" y="3178969"/>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7" name="Text Placeholder 4">
            <a:extLst>
              <a:ext uri="{FF2B5EF4-FFF2-40B4-BE49-F238E27FC236}">
                <a16:creationId xmlns:a16="http://schemas.microsoft.com/office/drawing/2014/main" id="{09877C7B-61F8-A6A4-0BC6-9232EF27C831}"/>
              </a:ext>
            </a:extLst>
          </p:cNvPr>
          <p:cNvSpPr>
            <a:spLocks noGrp="1"/>
          </p:cNvSpPr>
          <p:nvPr>
            <p:ph type="body" sz="quarter" idx="28" hasCustomPrompt="1"/>
          </p:nvPr>
        </p:nvSpPr>
        <p:spPr>
          <a:xfrm>
            <a:off x="1350962" y="4341663"/>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8" name="Text Placeholder 4">
            <a:extLst>
              <a:ext uri="{FF2B5EF4-FFF2-40B4-BE49-F238E27FC236}">
                <a16:creationId xmlns:a16="http://schemas.microsoft.com/office/drawing/2014/main" id="{B0E1B07C-0A2D-DF62-01AF-23567A01FB0D}"/>
              </a:ext>
            </a:extLst>
          </p:cNvPr>
          <p:cNvSpPr>
            <a:spLocks noGrp="1"/>
          </p:cNvSpPr>
          <p:nvPr>
            <p:ph type="body" sz="quarter" idx="29" hasCustomPrompt="1"/>
          </p:nvPr>
        </p:nvSpPr>
        <p:spPr>
          <a:xfrm>
            <a:off x="7010399" y="4341663"/>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59" name="Text Placeholder 4">
            <a:extLst>
              <a:ext uri="{FF2B5EF4-FFF2-40B4-BE49-F238E27FC236}">
                <a16:creationId xmlns:a16="http://schemas.microsoft.com/office/drawing/2014/main" id="{2BA4E47C-8268-BDAE-77F6-231FF8E392F0}"/>
              </a:ext>
            </a:extLst>
          </p:cNvPr>
          <p:cNvSpPr>
            <a:spLocks noGrp="1"/>
          </p:cNvSpPr>
          <p:nvPr>
            <p:ph type="body" sz="quarter" idx="30" hasCustomPrompt="1"/>
          </p:nvPr>
        </p:nvSpPr>
        <p:spPr>
          <a:xfrm>
            <a:off x="1350962" y="5504357"/>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60" name="Text Placeholder 4">
            <a:extLst>
              <a:ext uri="{FF2B5EF4-FFF2-40B4-BE49-F238E27FC236}">
                <a16:creationId xmlns:a16="http://schemas.microsoft.com/office/drawing/2014/main" id="{23B5589D-4946-7EC5-347F-9200FEC31C47}"/>
              </a:ext>
            </a:extLst>
          </p:cNvPr>
          <p:cNvSpPr>
            <a:spLocks noGrp="1"/>
          </p:cNvSpPr>
          <p:nvPr>
            <p:ph type="body" sz="quarter" idx="31" hasCustomPrompt="1"/>
          </p:nvPr>
        </p:nvSpPr>
        <p:spPr>
          <a:xfrm>
            <a:off x="7010399" y="5504357"/>
            <a:ext cx="4597401" cy="553998"/>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62" name="Graphic 158">
            <a:extLst>
              <a:ext uri="{FF2B5EF4-FFF2-40B4-BE49-F238E27FC236}">
                <a16:creationId xmlns:a16="http://schemas.microsoft.com/office/drawing/2014/main" id="{C90E6E46-4278-EFAD-A2FA-C632CAFCCD85}"/>
              </a:ext>
              <a:ext uri="{C183D7F6-B498-43B3-948B-1728B52AA6E4}">
                <adec:decorative xmlns:adec="http://schemas.microsoft.com/office/drawing/2017/decorative" val="1"/>
              </a:ext>
            </a:extLst>
          </p:cNvPr>
          <p:cNvSpPr/>
          <p:nvPr userDrawn="1"/>
        </p:nvSpPr>
        <p:spPr>
          <a:xfrm>
            <a:off x="843920" y="705220"/>
            <a:ext cx="539586" cy="581302"/>
          </a:xfrm>
          <a:custGeom>
            <a:avLst/>
            <a:gdLst>
              <a:gd name="connsiteX0" fmla="*/ 161925 w 247650"/>
              <a:gd name="connsiteY0" fmla="*/ 97 h 266796"/>
              <a:gd name="connsiteX1" fmla="*/ 171348 w 247650"/>
              <a:gd name="connsiteY1" fmla="*/ 8326 h 266796"/>
              <a:gd name="connsiteX2" fmla="*/ 171450 w 247650"/>
              <a:gd name="connsiteY2" fmla="*/ 9622 h 266796"/>
              <a:gd name="connsiteX3" fmla="*/ 171450 w 247650"/>
              <a:gd name="connsiteY3" fmla="*/ 19134 h 266796"/>
              <a:gd name="connsiteX4" fmla="*/ 180962 w 247650"/>
              <a:gd name="connsiteY4" fmla="*/ 19134 h 266796"/>
              <a:gd name="connsiteX5" fmla="*/ 209537 w 247650"/>
              <a:gd name="connsiteY5" fmla="*/ 47709 h 266796"/>
              <a:gd name="connsiteX6" fmla="*/ 209537 w 247650"/>
              <a:gd name="connsiteY6" fmla="*/ 102675 h 266796"/>
              <a:gd name="connsiteX7" fmla="*/ 143825 w 247650"/>
              <a:gd name="connsiteY7" fmla="*/ 117610 h 266796"/>
              <a:gd name="connsiteX8" fmla="*/ 139230 w 247650"/>
              <a:gd name="connsiteY8" fmla="*/ 127097 h 266796"/>
              <a:gd name="connsiteX9" fmla="*/ 47600 w 247650"/>
              <a:gd name="connsiteY9" fmla="*/ 127097 h 266796"/>
              <a:gd name="connsiteX10" fmla="*/ 46304 w 247650"/>
              <a:gd name="connsiteY10" fmla="*/ 127186 h 266796"/>
              <a:gd name="connsiteX11" fmla="*/ 38166 w 247650"/>
              <a:gd name="connsiteY11" fmla="*/ 137920 h 266796"/>
              <a:gd name="connsiteX12" fmla="*/ 46304 w 247650"/>
              <a:gd name="connsiteY12" fmla="*/ 146058 h 266796"/>
              <a:gd name="connsiteX13" fmla="*/ 47600 w 247650"/>
              <a:gd name="connsiteY13" fmla="*/ 146147 h 266796"/>
              <a:gd name="connsiteX14" fmla="*/ 136627 w 247650"/>
              <a:gd name="connsiteY14" fmla="*/ 146147 h 266796"/>
              <a:gd name="connsiteX15" fmla="*/ 151765 w 247650"/>
              <a:gd name="connsiteY15" fmla="*/ 177897 h 266796"/>
              <a:gd name="connsiteX16" fmla="*/ 139687 w 247650"/>
              <a:gd name="connsiteY16" fmla="*/ 177897 h 266796"/>
              <a:gd name="connsiteX17" fmla="*/ 107937 w 247650"/>
              <a:gd name="connsiteY17" fmla="*/ 209647 h 266796"/>
              <a:gd name="connsiteX18" fmla="*/ 107937 w 247650"/>
              <a:gd name="connsiteY18" fmla="*/ 215997 h 266796"/>
              <a:gd name="connsiteX19" fmla="*/ 122834 w 247650"/>
              <a:gd name="connsiteY19" fmla="*/ 254160 h 266796"/>
              <a:gd name="connsiteX20" fmla="*/ 28600 w 247650"/>
              <a:gd name="connsiteY20" fmla="*/ 254160 h 266796"/>
              <a:gd name="connsiteX21" fmla="*/ 25 w 247650"/>
              <a:gd name="connsiteY21" fmla="*/ 225585 h 266796"/>
              <a:gd name="connsiteX22" fmla="*/ 0 w 247650"/>
              <a:gd name="connsiteY22" fmla="*/ 47722 h 266796"/>
              <a:gd name="connsiteX23" fmla="*/ 28575 w 247650"/>
              <a:gd name="connsiteY23" fmla="*/ 19147 h 266796"/>
              <a:gd name="connsiteX24" fmla="*/ 38062 w 247650"/>
              <a:gd name="connsiteY24" fmla="*/ 19134 h 266796"/>
              <a:gd name="connsiteX25" fmla="*/ 38062 w 247650"/>
              <a:gd name="connsiteY25" fmla="*/ 9622 h 266796"/>
              <a:gd name="connsiteX26" fmla="*/ 47490 w 247650"/>
              <a:gd name="connsiteY26" fmla="*/ 1 h 266796"/>
              <a:gd name="connsiteX27" fmla="*/ 57036 w 247650"/>
              <a:gd name="connsiteY27" fmla="*/ 8326 h 266796"/>
              <a:gd name="connsiteX28" fmla="*/ 57125 w 247650"/>
              <a:gd name="connsiteY28" fmla="*/ 9622 h 266796"/>
              <a:gd name="connsiteX29" fmla="*/ 57125 w 247650"/>
              <a:gd name="connsiteY29" fmla="*/ 19134 h 266796"/>
              <a:gd name="connsiteX30" fmla="*/ 95250 w 247650"/>
              <a:gd name="connsiteY30" fmla="*/ 19134 h 266796"/>
              <a:gd name="connsiteX31" fmla="*/ 95250 w 247650"/>
              <a:gd name="connsiteY31" fmla="*/ 9622 h 266796"/>
              <a:gd name="connsiteX32" fmla="*/ 104678 w 247650"/>
              <a:gd name="connsiteY32" fmla="*/ 1 h 266796"/>
              <a:gd name="connsiteX33" fmla="*/ 114224 w 247650"/>
              <a:gd name="connsiteY33" fmla="*/ 8326 h 266796"/>
              <a:gd name="connsiteX34" fmla="*/ 114313 w 247650"/>
              <a:gd name="connsiteY34" fmla="*/ 9622 h 266796"/>
              <a:gd name="connsiteX35" fmla="*/ 114313 w 247650"/>
              <a:gd name="connsiteY35" fmla="*/ 19134 h 266796"/>
              <a:gd name="connsiteX36" fmla="*/ 152387 w 247650"/>
              <a:gd name="connsiteY36" fmla="*/ 19134 h 266796"/>
              <a:gd name="connsiteX37" fmla="*/ 152387 w 247650"/>
              <a:gd name="connsiteY37" fmla="*/ 9622 h 266796"/>
              <a:gd name="connsiteX38" fmla="*/ 161912 w 247650"/>
              <a:gd name="connsiteY38" fmla="*/ 97 h 266796"/>
              <a:gd name="connsiteX39" fmla="*/ 98387 w 247650"/>
              <a:gd name="connsiteY39" fmla="*/ 177897 h 266796"/>
              <a:gd name="connsiteX40" fmla="*/ 47600 w 247650"/>
              <a:gd name="connsiteY40" fmla="*/ 177897 h 266796"/>
              <a:gd name="connsiteX41" fmla="*/ 46304 w 247650"/>
              <a:gd name="connsiteY41" fmla="*/ 177986 h 266796"/>
              <a:gd name="connsiteX42" fmla="*/ 38166 w 247650"/>
              <a:gd name="connsiteY42" fmla="*/ 188720 h 266796"/>
              <a:gd name="connsiteX43" fmla="*/ 46304 w 247650"/>
              <a:gd name="connsiteY43" fmla="*/ 196858 h 266796"/>
              <a:gd name="connsiteX44" fmla="*/ 47600 w 247650"/>
              <a:gd name="connsiteY44" fmla="*/ 196947 h 266796"/>
              <a:gd name="connsiteX45" fmla="*/ 98387 w 247650"/>
              <a:gd name="connsiteY45" fmla="*/ 196947 h 266796"/>
              <a:gd name="connsiteX46" fmla="*/ 99682 w 247650"/>
              <a:gd name="connsiteY46" fmla="*/ 196858 h 266796"/>
              <a:gd name="connsiteX47" fmla="*/ 107820 w 247650"/>
              <a:gd name="connsiteY47" fmla="*/ 186124 h 266796"/>
              <a:gd name="connsiteX48" fmla="*/ 99682 w 247650"/>
              <a:gd name="connsiteY48" fmla="*/ 177986 h 266796"/>
              <a:gd name="connsiteX49" fmla="*/ 98387 w 247650"/>
              <a:gd name="connsiteY49" fmla="*/ 177897 h 266796"/>
              <a:gd name="connsiteX50" fmla="*/ 161887 w 247650"/>
              <a:gd name="connsiteY50" fmla="*/ 76297 h 266796"/>
              <a:gd name="connsiteX51" fmla="*/ 47612 w 247650"/>
              <a:gd name="connsiteY51" fmla="*/ 76297 h 266796"/>
              <a:gd name="connsiteX52" fmla="*/ 46317 w 247650"/>
              <a:gd name="connsiteY52" fmla="*/ 76386 h 266796"/>
              <a:gd name="connsiteX53" fmla="*/ 38179 w 247650"/>
              <a:gd name="connsiteY53" fmla="*/ 87120 h 266796"/>
              <a:gd name="connsiteX54" fmla="*/ 46317 w 247650"/>
              <a:gd name="connsiteY54" fmla="*/ 95258 h 266796"/>
              <a:gd name="connsiteX55" fmla="*/ 47612 w 247650"/>
              <a:gd name="connsiteY55" fmla="*/ 95347 h 266796"/>
              <a:gd name="connsiteX56" fmla="*/ 161912 w 247650"/>
              <a:gd name="connsiteY56" fmla="*/ 95347 h 266796"/>
              <a:gd name="connsiteX57" fmla="*/ 163195 w 247650"/>
              <a:gd name="connsiteY57" fmla="*/ 95258 h 266796"/>
              <a:gd name="connsiteX58" fmla="*/ 171333 w 247650"/>
              <a:gd name="connsiteY58" fmla="*/ 84524 h 266796"/>
              <a:gd name="connsiteX59" fmla="*/ 163195 w 247650"/>
              <a:gd name="connsiteY59" fmla="*/ 76386 h 266796"/>
              <a:gd name="connsiteX60" fmla="*/ 161900 w 247650"/>
              <a:gd name="connsiteY60" fmla="*/ 76297 h 266796"/>
              <a:gd name="connsiteX61" fmla="*/ 184150 w 247650"/>
              <a:gd name="connsiteY61" fmla="*/ 108047 h 266796"/>
              <a:gd name="connsiteX62" fmla="*/ 209550 w 247650"/>
              <a:gd name="connsiteY62" fmla="*/ 118982 h 266796"/>
              <a:gd name="connsiteX63" fmla="*/ 219075 w 247650"/>
              <a:gd name="connsiteY63" fmla="*/ 142972 h 266796"/>
              <a:gd name="connsiteX64" fmla="*/ 209550 w 247650"/>
              <a:gd name="connsiteY64" fmla="*/ 166949 h 266796"/>
              <a:gd name="connsiteX65" fmla="*/ 160179 w 247650"/>
              <a:gd name="connsiteY65" fmla="*/ 168365 h 266796"/>
              <a:gd name="connsiteX66" fmla="*/ 158763 w 247650"/>
              <a:gd name="connsiteY66" fmla="*/ 118994 h 266796"/>
              <a:gd name="connsiteX67" fmla="*/ 184150 w 247650"/>
              <a:gd name="connsiteY67" fmla="*/ 108047 h 266796"/>
              <a:gd name="connsiteX68" fmla="*/ 120650 w 247650"/>
              <a:gd name="connsiteY68" fmla="*/ 209647 h 266796"/>
              <a:gd name="connsiteX69" fmla="*/ 139700 w 247650"/>
              <a:gd name="connsiteY69" fmla="*/ 190597 h 266796"/>
              <a:gd name="connsiteX70" fmla="*/ 228600 w 247650"/>
              <a:gd name="connsiteY70" fmla="*/ 190597 h 266796"/>
              <a:gd name="connsiteX71" fmla="*/ 247650 w 247650"/>
              <a:gd name="connsiteY71" fmla="*/ 209647 h 266796"/>
              <a:gd name="connsiteX72" fmla="*/ 247650 w 247650"/>
              <a:gd name="connsiteY72" fmla="*/ 215997 h 266796"/>
              <a:gd name="connsiteX73" fmla="*/ 184150 w 247650"/>
              <a:gd name="connsiteY73" fmla="*/ 266797 h 266796"/>
              <a:gd name="connsiteX74" fmla="*/ 133274 w 247650"/>
              <a:gd name="connsiteY74" fmla="*/ 246731 h 266796"/>
              <a:gd name="connsiteX75" fmla="*/ 120650 w 247650"/>
              <a:gd name="connsiteY75" fmla="*/ 215997 h 266796"/>
              <a:gd name="connsiteX76" fmla="*/ 120650 w 247650"/>
              <a:gd name="connsiteY76" fmla="*/ 209647 h 266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47650" h="266796">
                <a:moveTo>
                  <a:pt x="161925" y="97"/>
                </a:moveTo>
                <a:cubicBezTo>
                  <a:pt x="166680" y="103"/>
                  <a:pt x="170702" y="3616"/>
                  <a:pt x="171348" y="8326"/>
                </a:cubicBezTo>
                <a:lnTo>
                  <a:pt x="171450" y="9622"/>
                </a:lnTo>
                <a:lnTo>
                  <a:pt x="171450" y="19134"/>
                </a:lnTo>
                <a:lnTo>
                  <a:pt x="180962" y="19134"/>
                </a:lnTo>
                <a:cubicBezTo>
                  <a:pt x="196744" y="19134"/>
                  <a:pt x="209537" y="31928"/>
                  <a:pt x="209537" y="47709"/>
                </a:cubicBezTo>
                <a:lnTo>
                  <a:pt x="209537" y="102675"/>
                </a:lnTo>
                <a:cubicBezTo>
                  <a:pt x="187267" y="88653"/>
                  <a:pt x="157847" y="95340"/>
                  <a:pt x="143825" y="117610"/>
                </a:cubicBezTo>
                <a:cubicBezTo>
                  <a:pt x="141947" y="120593"/>
                  <a:pt x="140406" y="123774"/>
                  <a:pt x="139230" y="127097"/>
                </a:cubicBezTo>
                <a:lnTo>
                  <a:pt x="47600" y="127097"/>
                </a:lnTo>
                <a:lnTo>
                  <a:pt x="46304" y="127186"/>
                </a:lnTo>
                <a:cubicBezTo>
                  <a:pt x="41093" y="127903"/>
                  <a:pt x="37449" y="132709"/>
                  <a:pt x="38166" y="137920"/>
                </a:cubicBezTo>
                <a:cubicBezTo>
                  <a:pt x="38748" y="142150"/>
                  <a:pt x="42074" y="145476"/>
                  <a:pt x="46304" y="146058"/>
                </a:cubicBezTo>
                <a:lnTo>
                  <a:pt x="47600" y="146147"/>
                </a:lnTo>
                <a:lnTo>
                  <a:pt x="136627" y="146147"/>
                </a:lnTo>
                <a:cubicBezTo>
                  <a:pt x="137424" y="158278"/>
                  <a:pt x="142842" y="169641"/>
                  <a:pt x="151765" y="177897"/>
                </a:cubicBezTo>
                <a:lnTo>
                  <a:pt x="139687" y="177897"/>
                </a:lnTo>
                <a:cubicBezTo>
                  <a:pt x="122152" y="177897"/>
                  <a:pt x="107937" y="192112"/>
                  <a:pt x="107937" y="209647"/>
                </a:cubicBezTo>
                <a:lnTo>
                  <a:pt x="107937" y="215997"/>
                </a:lnTo>
                <a:cubicBezTo>
                  <a:pt x="107937" y="229967"/>
                  <a:pt x="113297" y="243327"/>
                  <a:pt x="122834" y="254160"/>
                </a:cubicBezTo>
                <a:lnTo>
                  <a:pt x="28600" y="254160"/>
                </a:lnTo>
                <a:cubicBezTo>
                  <a:pt x="12819" y="254160"/>
                  <a:pt x="25" y="241367"/>
                  <a:pt x="25" y="225585"/>
                </a:cubicBezTo>
                <a:lnTo>
                  <a:pt x="0" y="47722"/>
                </a:lnTo>
                <a:cubicBezTo>
                  <a:pt x="0" y="31940"/>
                  <a:pt x="12793" y="19147"/>
                  <a:pt x="28575" y="19147"/>
                </a:cubicBezTo>
                <a:lnTo>
                  <a:pt x="38062" y="19134"/>
                </a:lnTo>
                <a:lnTo>
                  <a:pt x="38062" y="9622"/>
                </a:lnTo>
                <a:cubicBezTo>
                  <a:pt x="38008" y="4362"/>
                  <a:pt x="42229" y="54"/>
                  <a:pt x="47490" y="1"/>
                </a:cubicBezTo>
                <a:cubicBezTo>
                  <a:pt x="52323" y="-49"/>
                  <a:pt x="56427" y="3531"/>
                  <a:pt x="57036" y="8326"/>
                </a:cubicBezTo>
                <a:lnTo>
                  <a:pt x="57125" y="9622"/>
                </a:lnTo>
                <a:lnTo>
                  <a:pt x="57125" y="19134"/>
                </a:lnTo>
                <a:lnTo>
                  <a:pt x="95250" y="19134"/>
                </a:lnTo>
                <a:lnTo>
                  <a:pt x="95250" y="9622"/>
                </a:lnTo>
                <a:cubicBezTo>
                  <a:pt x="95197" y="4362"/>
                  <a:pt x="99417" y="54"/>
                  <a:pt x="104678" y="1"/>
                </a:cubicBezTo>
                <a:cubicBezTo>
                  <a:pt x="109511" y="-49"/>
                  <a:pt x="113616" y="3531"/>
                  <a:pt x="114224" y="8326"/>
                </a:cubicBezTo>
                <a:lnTo>
                  <a:pt x="114313" y="9622"/>
                </a:lnTo>
                <a:lnTo>
                  <a:pt x="114313" y="19134"/>
                </a:lnTo>
                <a:lnTo>
                  <a:pt x="152387" y="19134"/>
                </a:lnTo>
                <a:lnTo>
                  <a:pt x="152387" y="9622"/>
                </a:lnTo>
                <a:cubicBezTo>
                  <a:pt x="152387" y="4361"/>
                  <a:pt x="156652" y="97"/>
                  <a:pt x="161912" y="97"/>
                </a:cubicBezTo>
                <a:close/>
                <a:moveTo>
                  <a:pt x="98387" y="177897"/>
                </a:moveTo>
                <a:lnTo>
                  <a:pt x="47600" y="177897"/>
                </a:lnTo>
                <a:lnTo>
                  <a:pt x="46304" y="177986"/>
                </a:lnTo>
                <a:cubicBezTo>
                  <a:pt x="41093" y="178703"/>
                  <a:pt x="37449" y="183509"/>
                  <a:pt x="38166" y="188720"/>
                </a:cubicBezTo>
                <a:cubicBezTo>
                  <a:pt x="38748" y="192950"/>
                  <a:pt x="42074" y="196276"/>
                  <a:pt x="46304" y="196858"/>
                </a:cubicBezTo>
                <a:lnTo>
                  <a:pt x="47600" y="196947"/>
                </a:lnTo>
                <a:lnTo>
                  <a:pt x="98387" y="196947"/>
                </a:lnTo>
                <a:lnTo>
                  <a:pt x="99682" y="196858"/>
                </a:lnTo>
                <a:cubicBezTo>
                  <a:pt x="104894" y="196141"/>
                  <a:pt x="108537" y="191335"/>
                  <a:pt x="107820" y="186124"/>
                </a:cubicBezTo>
                <a:cubicBezTo>
                  <a:pt x="107238" y="181894"/>
                  <a:pt x="103912" y="178568"/>
                  <a:pt x="99682" y="177986"/>
                </a:cubicBezTo>
                <a:lnTo>
                  <a:pt x="98387" y="177897"/>
                </a:lnTo>
                <a:close/>
                <a:moveTo>
                  <a:pt x="161887" y="76297"/>
                </a:moveTo>
                <a:lnTo>
                  <a:pt x="47612" y="76297"/>
                </a:lnTo>
                <a:lnTo>
                  <a:pt x="46317" y="76386"/>
                </a:lnTo>
                <a:cubicBezTo>
                  <a:pt x="41105" y="77103"/>
                  <a:pt x="37462" y="81909"/>
                  <a:pt x="38179" y="87120"/>
                </a:cubicBezTo>
                <a:cubicBezTo>
                  <a:pt x="38761" y="91350"/>
                  <a:pt x="42087" y="94676"/>
                  <a:pt x="46317" y="95258"/>
                </a:cubicBezTo>
                <a:lnTo>
                  <a:pt x="47612" y="95347"/>
                </a:lnTo>
                <a:lnTo>
                  <a:pt x="161912" y="95347"/>
                </a:lnTo>
                <a:lnTo>
                  <a:pt x="163195" y="95258"/>
                </a:lnTo>
                <a:cubicBezTo>
                  <a:pt x="168406" y="94541"/>
                  <a:pt x="172050" y="89735"/>
                  <a:pt x="171333" y="84524"/>
                </a:cubicBezTo>
                <a:cubicBezTo>
                  <a:pt x="170751" y="80294"/>
                  <a:pt x="167425" y="76968"/>
                  <a:pt x="163195" y="76386"/>
                </a:cubicBezTo>
                <a:lnTo>
                  <a:pt x="161900" y="76297"/>
                </a:lnTo>
                <a:close/>
                <a:moveTo>
                  <a:pt x="184150" y="108047"/>
                </a:moveTo>
                <a:cubicBezTo>
                  <a:pt x="194158" y="108047"/>
                  <a:pt x="203175" y="112251"/>
                  <a:pt x="209550" y="118982"/>
                </a:cubicBezTo>
                <a:cubicBezTo>
                  <a:pt x="215683" y="125462"/>
                  <a:pt x="219093" y="134050"/>
                  <a:pt x="219075" y="142972"/>
                </a:cubicBezTo>
                <a:cubicBezTo>
                  <a:pt x="219090" y="151890"/>
                  <a:pt x="215680" y="160473"/>
                  <a:pt x="209550" y="166949"/>
                </a:cubicBezTo>
                <a:cubicBezTo>
                  <a:pt x="196308" y="180974"/>
                  <a:pt x="174203" y="181608"/>
                  <a:pt x="160179" y="168365"/>
                </a:cubicBezTo>
                <a:cubicBezTo>
                  <a:pt x="146154" y="155123"/>
                  <a:pt x="145521" y="133019"/>
                  <a:pt x="158763" y="118994"/>
                </a:cubicBezTo>
                <a:cubicBezTo>
                  <a:pt x="165359" y="112008"/>
                  <a:pt x="174542" y="108049"/>
                  <a:pt x="184150" y="108047"/>
                </a:cubicBezTo>
                <a:close/>
                <a:moveTo>
                  <a:pt x="120650" y="209647"/>
                </a:moveTo>
                <a:cubicBezTo>
                  <a:pt x="120650" y="199126"/>
                  <a:pt x="129179" y="190597"/>
                  <a:pt x="139700" y="190597"/>
                </a:cubicBezTo>
                <a:lnTo>
                  <a:pt x="228600" y="190597"/>
                </a:lnTo>
                <a:cubicBezTo>
                  <a:pt x="239121" y="190597"/>
                  <a:pt x="247650" y="199126"/>
                  <a:pt x="247650" y="209647"/>
                </a:cubicBezTo>
                <a:lnTo>
                  <a:pt x="247650" y="215997"/>
                </a:lnTo>
                <a:cubicBezTo>
                  <a:pt x="247650" y="241029"/>
                  <a:pt x="224028" y="266797"/>
                  <a:pt x="184150" y="266797"/>
                </a:cubicBezTo>
                <a:cubicBezTo>
                  <a:pt x="161493" y="266797"/>
                  <a:pt x="144094" y="258491"/>
                  <a:pt x="133274" y="246731"/>
                </a:cubicBezTo>
                <a:cubicBezTo>
                  <a:pt x="125044" y="237777"/>
                  <a:pt x="120650" y="226817"/>
                  <a:pt x="120650" y="215997"/>
                </a:cubicBezTo>
                <a:lnTo>
                  <a:pt x="120650" y="209647"/>
                </a:lnTo>
                <a:close/>
              </a:path>
            </a:pathLst>
          </a:cu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chemeClr val="bg1"/>
              </a:solidFill>
              <a:cs typeface="Segoe UI" pitchFamily="34" charset="0"/>
            </a:endParaRPr>
          </a:p>
        </p:txBody>
      </p:sp>
      <p:sp>
        <p:nvSpPr>
          <p:cNvPr id="65" name="Oval 64">
            <a:extLst>
              <a:ext uri="{FF2B5EF4-FFF2-40B4-BE49-F238E27FC236}">
                <a16:creationId xmlns:a16="http://schemas.microsoft.com/office/drawing/2014/main" id="{71BBB3B6-8757-040E-557C-4BEF13683B9E}"/>
              </a:ext>
            </a:extLst>
          </p:cNvPr>
          <p:cNvSpPr>
            <a:spLocks noChangeAspect="1"/>
          </p:cNvSpPr>
          <p:nvPr userDrawn="1"/>
        </p:nvSpPr>
        <p:spPr bwMode="auto">
          <a:xfrm>
            <a:off x="605282" y="3160439"/>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2</a:t>
            </a:r>
          </a:p>
        </p:txBody>
      </p:sp>
      <p:sp>
        <p:nvSpPr>
          <p:cNvPr id="66" name="Oval 65">
            <a:extLst>
              <a:ext uri="{FF2B5EF4-FFF2-40B4-BE49-F238E27FC236}">
                <a16:creationId xmlns:a16="http://schemas.microsoft.com/office/drawing/2014/main" id="{AFADAB87-661B-7D0E-5302-7C5D63BBC1AE}"/>
              </a:ext>
            </a:extLst>
          </p:cNvPr>
          <p:cNvSpPr>
            <a:spLocks noChangeAspect="1"/>
          </p:cNvSpPr>
          <p:nvPr userDrawn="1"/>
        </p:nvSpPr>
        <p:spPr bwMode="auto">
          <a:xfrm>
            <a:off x="605282" y="1997745"/>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1</a:t>
            </a:r>
          </a:p>
        </p:txBody>
      </p:sp>
      <p:sp>
        <p:nvSpPr>
          <p:cNvPr id="67" name="Oval 66">
            <a:extLst>
              <a:ext uri="{FF2B5EF4-FFF2-40B4-BE49-F238E27FC236}">
                <a16:creationId xmlns:a16="http://schemas.microsoft.com/office/drawing/2014/main" id="{5C2FE5DC-7DA1-AC5C-7AD9-85E9A0209120}"/>
              </a:ext>
            </a:extLst>
          </p:cNvPr>
          <p:cNvSpPr>
            <a:spLocks noChangeAspect="1"/>
          </p:cNvSpPr>
          <p:nvPr userDrawn="1"/>
        </p:nvSpPr>
        <p:spPr bwMode="auto">
          <a:xfrm>
            <a:off x="605282" y="5485827"/>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4</a:t>
            </a:r>
          </a:p>
        </p:txBody>
      </p:sp>
      <p:sp>
        <p:nvSpPr>
          <p:cNvPr id="68" name="Oval 67">
            <a:extLst>
              <a:ext uri="{FF2B5EF4-FFF2-40B4-BE49-F238E27FC236}">
                <a16:creationId xmlns:a16="http://schemas.microsoft.com/office/drawing/2014/main" id="{DE6262B0-9FAB-A092-F9D0-C2974D9A8CE2}"/>
              </a:ext>
            </a:extLst>
          </p:cNvPr>
          <p:cNvSpPr>
            <a:spLocks noChangeAspect="1"/>
          </p:cNvSpPr>
          <p:nvPr userDrawn="1"/>
        </p:nvSpPr>
        <p:spPr bwMode="auto">
          <a:xfrm>
            <a:off x="605282" y="4323133"/>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3</a:t>
            </a:r>
          </a:p>
        </p:txBody>
      </p:sp>
      <p:sp>
        <p:nvSpPr>
          <p:cNvPr id="69" name="Oval 68">
            <a:extLst>
              <a:ext uri="{FF2B5EF4-FFF2-40B4-BE49-F238E27FC236}">
                <a16:creationId xmlns:a16="http://schemas.microsoft.com/office/drawing/2014/main" id="{5E0FBF94-353F-D184-5E65-2319B9098A5A}"/>
              </a:ext>
            </a:extLst>
          </p:cNvPr>
          <p:cNvSpPr>
            <a:spLocks noChangeAspect="1"/>
          </p:cNvSpPr>
          <p:nvPr userDrawn="1"/>
        </p:nvSpPr>
        <p:spPr bwMode="auto">
          <a:xfrm>
            <a:off x="6264719" y="3160439"/>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6</a:t>
            </a:r>
          </a:p>
        </p:txBody>
      </p:sp>
      <p:sp>
        <p:nvSpPr>
          <p:cNvPr id="70" name="Oval 69">
            <a:extLst>
              <a:ext uri="{FF2B5EF4-FFF2-40B4-BE49-F238E27FC236}">
                <a16:creationId xmlns:a16="http://schemas.microsoft.com/office/drawing/2014/main" id="{AA40B0BC-0999-7632-5382-181D53A8FB04}"/>
              </a:ext>
            </a:extLst>
          </p:cNvPr>
          <p:cNvSpPr>
            <a:spLocks noChangeAspect="1"/>
          </p:cNvSpPr>
          <p:nvPr userDrawn="1"/>
        </p:nvSpPr>
        <p:spPr bwMode="auto">
          <a:xfrm>
            <a:off x="6264720" y="1997745"/>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5</a:t>
            </a:r>
          </a:p>
        </p:txBody>
      </p:sp>
      <p:sp>
        <p:nvSpPr>
          <p:cNvPr id="71" name="Oval 70">
            <a:extLst>
              <a:ext uri="{FF2B5EF4-FFF2-40B4-BE49-F238E27FC236}">
                <a16:creationId xmlns:a16="http://schemas.microsoft.com/office/drawing/2014/main" id="{5DEA3FD6-A563-29F1-B68B-F0D57561F827}"/>
              </a:ext>
            </a:extLst>
          </p:cNvPr>
          <p:cNvSpPr>
            <a:spLocks noChangeAspect="1"/>
          </p:cNvSpPr>
          <p:nvPr userDrawn="1"/>
        </p:nvSpPr>
        <p:spPr bwMode="auto">
          <a:xfrm>
            <a:off x="6264719" y="5485827"/>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8</a:t>
            </a:r>
          </a:p>
        </p:txBody>
      </p:sp>
      <p:sp>
        <p:nvSpPr>
          <p:cNvPr id="72" name="Oval 71">
            <a:extLst>
              <a:ext uri="{FF2B5EF4-FFF2-40B4-BE49-F238E27FC236}">
                <a16:creationId xmlns:a16="http://schemas.microsoft.com/office/drawing/2014/main" id="{88F031D2-4699-B9E2-9062-573C62D4C123}"/>
              </a:ext>
            </a:extLst>
          </p:cNvPr>
          <p:cNvSpPr>
            <a:spLocks noChangeAspect="1"/>
          </p:cNvSpPr>
          <p:nvPr userDrawn="1"/>
        </p:nvSpPr>
        <p:spPr bwMode="auto">
          <a:xfrm>
            <a:off x="6264719" y="4323133"/>
            <a:ext cx="591058" cy="591058"/>
          </a:xfrm>
          <a:prstGeom prst="ellipse">
            <a:avLst/>
          </a:prstGeom>
          <a:solidFill>
            <a:srgbClr val="091F2C"/>
          </a:solidFill>
          <a:ln w="3175">
            <a:solidFill>
              <a:schemeClr val="tx1">
                <a:alpha val="27000"/>
              </a:schemeClr>
            </a:solidFill>
          </a:ln>
        </p:spPr>
        <p:txBody>
          <a:bodyPr vert="horz" wrap="square" lIns="0" tIns="0" rIns="0" bIns="0" rtlCol="0" anchor="ctr">
            <a:noAutofit/>
          </a:bodyPr>
          <a:lstStyle/>
          <a:p>
            <a:pPr marL="228600" marR="0" lvl="0" indent="-228600" algn="ctr" defTabSz="932742" fontAlgn="auto">
              <a:lnSpc>
                <a:spcPct val="100000"/>
              </a:lnSpc>
              <a:spcBef>
                <a:spcPct val="20000"/>
              </a:spcBef>
              <a:spcAft>
                <a:spcPts val="0"/>
              </a:spcAft>
              <a:buClrTx/>
              <a:buSzPct val="90000"/>
              <a:buFont typeface="Wingdings" panose="05000000000000000000" pitchFamily="2" charset="2"/>
              <a:buNone/>
              <a:tabLst/>
            </a:pPr>
            <a:r>
              <a:rPr lang="en-US" sz="2800" b="1" spc="0" baseline="0">
                <a:solidFill>
                  <a:schemeClr val="accent1"/>
                </a:solidFill>
                <a:cs typeface="Segoe UI" panose="020B0502040204020203" pitchFamily="34" charset="0"/>
              </a:rPr>
              <a:t>7</a:t>
            </a:r>
          </a:p>
        </p:txBody>
      </p:sp>
    </p:spTree>
    <p:extLst>
      <p:ext uri="{BB962C8B-B14F-4D97-AF65-F5344CB8AC3E}">
        <p14:creationId xmlns:p14="http://schemas.microsoft.com/office/powerpoint/2010/main" val="79637190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36" userDrawn="1">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3" name="Rectangle: Rounded Corners 2">
            <a:extLst>
              <a:ext uri="{FF2B5EF4-FFF2-40B4-BE49-F238E27FC236}">
                <a16:creationId xmlns:a16="http://schemas.microsoft.com/office/drawing/2014/main" id="{3CD0CDBD-486B-08B6-B33E-947AC20B8842}"/>
              </a:ext>
            </a:extLst>
          </p:cNvPr>
          <p:cNvSpPr/>
          <p:nvPr userDrawn="1"/>
        </p:nvSpPr>
        <p:spPr bwMode="auto">
          <a:xfrm>
            <a:off x="586740" y="1846019"/>
            <a:ext cx="11018520" cy="4055116"/>
          </a:xfrm>
          <a:prstGeom prst="roundRect">
            <a:avLst>
              <a:gd name="adj" fmla="val 4652"/>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cxnSp>
        <p:nvCxnSpPr>
          <p:cNvPr id="4" name="Straight Connector 3">
            <a:extLst>
              <a:ext uri="{FF2B5EF4-FFF2-40B4-BE49-F238E27FC236}">
                <a16:creationId xmlns:a16="http://schemas.microsoft.com/office/drawing/2014/main" id="{78FBFC18-9BB0-D67E-D0DA-9B44A4A7650A}"/>
              </a:ext>
            </a:extLst>
          </p:cNvPr>
          <p:cNvCxnSpPr/>
          <p:nvPr userDrawn="1"/>
        </p:nvCxnSpPr>
        <p:spPr>
          <a:xfrm>
            <a:off x="4259580" y="2094997"/>
            <a:ext cx="0" cy="3553811"/>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EA9B0A0-B895-DAD9-0DDF-1E5E912DEB49}"/>
              </a:ext>
            </a:extLst>
          </p:cNvPr>
          <p:cNvCxnSpPr/>
          <p:nvPr userDrawn="1"/>
        </p:nvCxnSpPr>
        <p:spPr>
          <a:xfrm>
            <a:off x="7932420" y="2094997"/>
            <a:ext cx="0" cy="3553811"/>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13" name="Oval 12">
            <a:extLst>
              <a:ext uri="{FF2B5EF4-FFF2-40B4-BE49-F238E27FC236}">
                <a16:creationId xmlns:a16="http://schemas.microsoft.com/office/drawing/2014/main" id="{5DEF41EF-FFBA-DFC1-61C6-4F88587F7305}"/>
              </a:ext>
            </a:extLst>
          </p:cNvPr>
          <p:cNvSpPr/>
          <p:nvPr/>
        </p:nvSpPr>
        <p:spPr bwMode="auto">
          <a:xfrm>
            <a:off x="849547" y="2094997"/>
            <a:ext cx="608922" cy="60892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742950" defTabSz="932742" fontAlgn="base">
              <a:spcBef>
                <a:spcPct val="0"/>
              </a:spcBef>
              <a:spcAft>
                <a:spcPct val="0"/>
              </a:spcAft>
            </a:pPr>
            <a:endParaRPr lang="en-US" sz="4000" spc="-50" err="1">
              <a:ln w="3175">
                <a:noFill/>
              </a:ln>
              <a:solidFill>
                <a:schemeClr val="tx1"/>
              </a:solidFill>
              <a:latin typeface="Aptos SemiBold" panose="020B0004020202020204" pitchFamily="34" charset="0"/>
              <a:cs typeface="Segoe UI" pitchFamily="34" charset="0"/>
            </a:endParaRPr>
          </a:p>
        </p:txBody>
      </p:sp>
      <p:sp>
        <p:nvSpPr>
          <p:cNvPr id="16" name="Oval 15">
            <a:extLst>
              <a:ext uri="{FF2B5EF4-FFF2-40B4-BE49-F238E27FC236}">
                <a16:creationId xmlns:a16="http://schemas.microsoft.com/office/drawing/2014/main" id="{31EB9EC8-A884-8284-0AAB-4976403F13D1}"/>
              </a:ext>
            </a:extLst>
          </p:cNvPr>
          <p:cNvSpPr/>
          <p:nvPr/>
        </p:nvSpPr>
        <p:spPr bwMode="auto">
          <a:xfrm>
            <a:off x="4522387" y="2094997"/>
            <a:ext cx="608922" cy="60892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742950" defTabSz="932742" fontAlgn="base">
              <a:spcBef>
                <a:spcPct val="0"/>
              </a:spcBef>
              <a:spcAft>
                <a:spcPct val="0"/>
              </a:spcAft>
            </a:pPr>
            <a:endParaRPr lang="en-US" sz="4000" spc="-50" err="1">
              <a:ln w="3175">
                <a:noFill/>
              </a:ln>
              <a:solidFill>
                <a:schemeClr val="tx1"/>
              </a:solidFill>
              <a:latin typeface="Aptos SemiBold" panose="020B0004020202020204" pitchFamily="34" charset="0"/>
              <a:cs typeface="Segoe UI" pitchFamily="34" charset="0"/>
            </a:endParaRPr>
          </a:p>
        </p:txBody>
      </p:sp>
      <p:sp>
        <p:nvSpPr>
          <p:cNvPr id="19" name="Oval 18">
            <a:extLst>
              <a:ext uri="{FF2B5EF4-FFF2-40B4-BE49-F238E27FC236}">
                <a16:creationId xmlns:a16="http://schemas.microsoft.com/office/drawing/2014/main" id="{04601F06-DEF7-3668-4404-6D919F0EC362}"/>
              </a:ext>
            </a:extLst>
          </p:cNvPr>
          <p:cNvSpPr/>
          <p:nvPr/>
        </p:nvSpPr>
        <p:spPr bwMode="auto">
          <a:xfrm>
            <a:off x="8195227" y="2094997"/>
            <a:ext cx="608922" cy="608922"/>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742950" defTabSz="932742" fontAlgn="base">
              <a:spcBef>
                <a:spcPct val="0"/>
              </a:spcBef>
              <a:spcAft>
                <a:spcPct val="0"/>
              </a:spcAft>
            </a:pPr>
            <a:endParaRPr lang="en-US" sz="4000" spc="-50" err="1">
              <a:ln w="3175">
                <a:noFill/>
              </a:ln>
              <a:solidFill>
                <a:schemeClr val="tx1"/>
              </a:solidFill>
              <a:latin typeface="Aptos SemiBold" panose="020B0004020202020204" pitchFamily="34" charset="0"/>
              <a:cs typeface="Segoe UI" pitchFamily="34" charset="0"/>
            </a:endParaRPr>
          </a:p>
        </p:txBody>
      </p:sp>
      <p:sp>
        <p:nvSpPr>
          <p:cNvPr id="25" name="Text Placeholder 4">
            <a:extLst>
              <a:ext uri="{FF2B5EF4-FFF2-40B4-BE49-F238E27FC236}">
                <a16:creationId xmlns:a16="http://schemas.microsoft.com/office/drawing/2014/main" id="{C49A0E9F-3858-893C-CF35-1DD566F40965}"/>
              </a:ext>
            </a:extLst>
          </p:cNvPr>
          <p:cNvSpPr>
            <a:spLocks noGrp="1"/>
          </p:cNvSpPr>
          <p:nvPr userDrawn="1">
            <p:ph type="body" sz="quarter" idx="10" hasCustomPrompt="1"/>
          </p:nvPr>
        </p:nvSpPr>
        <p:spPr>
          <a:xfrm>
            <a:off x="849547" y="3436166"/>
            <a:ext cx="3147226" cy="2215991"/>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26" name="Text Placeholder 4">
            <a:extLst>
              <a:ext uri="{FF2B5EF4-FFF2-40B4-BE49-F238E27FC236}">
                <a16:creationId xmlns:a16="http://schemas.microsoft.com/office/drawing/2014/main" id="{EC3F2F95-6ED2-1046-914B-4C224F758955}"/>
              </a:ext>
            </a:extLst>
          </p:cNvPr>
          <p:cNvSpPr>
            <a:spLocks noGrp="1"/>
          </p:cNvSpPr>
          <p:nvPr userDrawn="1">
            <p:ph type="body" sz="quarter" idx="11" hasCustomPrompt="1"/>
          </p:nvPr>
        </p:nvSpPr>
        <p:spPr>
          <a:xfrm>
            <a:off x="8195227" y="3436166"/>
            <a:ext cx="3147226" cy="2215991"/>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27" name="Text Placeholder 4">
            <a:extLst>
              <a:ext uri="{FF2B5EF4-FFF2-40B4-BE49-F238E27FC236}">
                <a16:creationId xmlns:a16="http://schemas.microsoft.com/office/drawing/2014/main" id="{7E5CBFBF-4CAD-1F92-0464-5C423F9DA982}"/>
              </a:ext>
            </a:extLst>
          </p:cNvPr>
          <p:cNvSpPr>
            <a:spLocks noGrp="1"/>
          </p:cNvSpPr>
          <p:nvPr userDrawn="1">
            <p:ph type="body" sz="quarter" idx="26" hasCustomPrompt="1"/>
          </p:nvPr>
        </p:nvSpPr>
        <p:spPr>
          <a:xfrm>
            <a:off x="4522387" y="3436166"/>
            <a:ext cx="3147226" cy="2215991"/>
          </a:xfrm>
        </p:spPr>
        <p:txBody>
          <a:bodyPr/>
          <a:lstStyle>
            <a:lvl1pPr marL="0" indent="0">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28" name="Text Placeholder 4">
            <a:extLst>
              <a:ext uri="{FF2B5EF4-FFF2-40B4-BE49-F238E27FC236}">
                <a16:creationId xmlns:a16="http://schemas.microsoft.com/office/drawing/2014/main" id="{CCDCC00D-17ED-8F0B-BBBF-1BA6112B423F}"/>
              </a:ext>
            </a:extLst>
          </p:cNvPr>
          <p:cNvSpPr>
            <a:spLocks noGrp="1"/>
          </p:cNvSpPr>
          <p:nvPr userDrawn="1">
            <p:ph type="body" sz="quarter" idx="27" hasCustomPrompt="1"/>
          </p:nvPr>
        </p:nvSpPr>
        <p:spPr>
          <a:xfrm>
            <a:off x="849547" y="2856765"/>
            <a:ext cx="3145536" cy="369332"/>
          </a:xfrm>
        </p:spPr>
        <p:txBody>
          <a:bodyPr anchor="ctr"/>
          <a:lstStyle>
            <a:lvl1pPr marL="0" indent="0">
              <a:buSzPct val="100000"/>
              <a:buFont typeface="Arial" panose="020B0604020202020204" pitchFamily="34" charset="0"/>
              <a:buNone/>
              <a:defRPr sz="2400">
                <a:solidFill>
                  <a:schemeClr val="accent1"/>
                </a:solidFill>
                <a:latin typeface="+mj-lt"/>
              </a:defRPr>
            </a:lvl1pPr>
          </a:lstStyle>
          <a:p>
            <a:pPr lvl="0"/>
            <a:r>
              <a:rPr lang="en-US"/>
              <a:t>Lorem ipsum</a:t>
            </a:r>
          </a:p>
        </p:txBody>
      </p:sp>
      <p:sp>
        <p:nvSpPr>
          <p:cNvPr id="29" name="Text Placeholder 4">
            <a:extLst>
              <a:ext uri="{FF2B5EF4-FFF2-40B4-BE49-F238E27FC236}">
                <a16:creationId xmlns:a16="http://schemas.microsoft.com/office/drawing/2014/main" id="{87A69CFD-DA45-7D52-4657-984FCD979650}"/>
              </a:ext>
            </a:extLst>
          </p:cNvPr>
          <p:cNvSpPr>
            <a:spLocks noGrp="1"/>
          </p:cNvSpPr>
          <p:nvPr userDrawn="1">
            <p:ph type="body" sz="quarter" idx="28" hasCustomPrompt="1"/>
          </p:nvPr>
        </p:nvSpPr>
        <p:spPr>
          <a:xfrm>
            <a:off x="4522387" y="2856765"/>
            <a:ext cx="3145536" cy="369332"/>
          </a:xfrm>
        </p:spPr>
        <p:txBody>
          <a:bodyPr anchor="ctr"/>
          <a:lstStyle>
            <a:lvl1pPr marL="0" indent="0">
              <a:buSzPct val="100000"/>
              <a:buFont typeface="Arial" panose="020B0604020202020204" pitchFamily="34" charset="0"/>
              <a:buNone/>
              <a:defRPr sz="2400">
                <a:solidFill>
                  <a:schemeClr val="accent1"/>
                </a:solidFill>
                <a:latin typeface="+mj-lt"/>
              </a:defRPr>
            </a:lvl1pPr>
          </a:lstStyle>
          <a:p>
            <a:pPr lvl="0"/>
            <a:r>
              <a:rPr lang="en-US"/>
              <a:t>Lorem ipsum</a:t>
            </a:r>
          </a:p>
        </p:txBody>
      </p:sp>
      <p:sp>
        <p:nvSpPr>
          <p:cNvPr id="30" name="Text Placeholder 4">
            <a:extLst>
              <a:ext uri="{FF2B5EF4-FFF2-40B4-BE49-F238E27FC236}">
                <a16:creationId xmlns:a16="http://schemas.microsoft.com/office/drawing/2014/main" id="{58859C94-ABDB-53E3-8E82-EE100F40EC8A}"/>
              </a:ext>
            </a:extLst>
          </p:cNvPr>
          <p:cNvSpPr>
            <a:spLocks noGrp="1"/>
          </p:cNvSpPr>
          <p:nvPr userDrawn="1">
            <p:ph type="body" sz="quarter" idx="29" hasCustomPrompt="1"/>
          </p:nvPr>
        </p:nvSpPr>
        <p:spPr>
          <a:xfrm>
            <a:off x="8195227" y="2856765"/>
            <a:ext cx="3145536" cy="369332"/>
          </a:xfrm>
        </p:spPr>
        <p:txBody>
          <a:bodyPr anchor="ctr"/>
          <a:lstStyle>
            <a:lvl1pPr marL="0" indent="0">
              <a:buSzPct val="100000"/>
              <a:buFont typeface="Arial" panose="020B0604020202020204" pitchFamily="34" charset="0"/>
              <a:buNone/>
              <a:defRPr sz="2400">
                <a:solidFill>
                  <a:schemeClr val="accent1"/>
                </a:solidFill>
                <a:latin typeface="+mj-lt"/>
              </a:defRPr>
            </a:lvl1pPr>
          </a:lstStyle>
          <a:p>
            <a:pPr lvl="0"/>
            <a:r>
              <a:rPr lang="en-US"/>
              <a:t>Lorem ipsum</a:t>
            </a:r>
          </a:p>
        </p:txBody>
      </p:sp>
    </p:spTree>
    <p:extLst>
      <p:ext uri="{BB962C8B-B14F-4D97-AF65-F5344CB8AC3E}">
        <p14:creationId xmlns:p14="http://schemas.microsoft.com/office/powerpoint/2010/main" val="1281302055"/>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s_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31" name="Rectangle: Rounded Corners 30">
            <a:extLst>
              <a:ext uri="{FF2B5EF4-FFF2-40B4-BE49-F238E27FC236}">
                <a16:creationId xmlns:a16="http://schemas.microsoft.com/office/drawing/2014/main" id="{6645E16D-A6F6-12D4-1B52-72DA2FD4BF7B}"/>
              </a:ext>
            </a:extLst>
          </p:cNvPr>
          <p:cNvSpPr/>
          <p:nvPr userDrawn="1"/>
        </p:nvSpPr>
        <p:spPr bwMode="auto">
          <a:xfrm>
            <a:off x="588263" y="1589627"/>
            <a:ext cx="11018520" cy="4567901"/>
          </a:xfrm>
          <a:prstGeom prst="roundRect">
            <a:avLst>
              <a:gd name="adj" fmla="val 6066"/>
            </a:avLst>
          </a:prstGeom>
          <a:solidFill>
            <a:schemeClr val="bg1"/>
          </a:solidFill>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kern="0" err="1">
              <a:solidFill>
                <a:srgbClr val="091F2C"/>
              </a:solidFill>
              <a:latin typeface="Segoe UI" panose="020B0502040204020203" pitchFamily="34" charset="0"/>
              <a:cs typeface="Segoe UI" panose="020B0502040204020203" pitchFamily="34" charset="0"/>
            </a:endParaRPr>
          </a:p>
        </p:txBody>
      </p:sp>
      <p:sp>
        <p:nvSpPr>
          <p:cNvPr id="14" name="Rectangle: Rounded Corners 13">
            <a:extLst>
              <a:ext uri="{FF2B5EF4-FFF2-40B4-BE49-F238E27FC236}">
                <a16:creationId xmlns:a16="http://schemas.microsoft.com/office/drawing/2014/main" id="{D7CDE501-956F-6601-6FAF-072526D90C33}"/>
              </a:ext>
            </a:extLst>
          </p:cNvPr>
          <p:cNvSpPr>
            <a:spLocks/>
          </p:cNvSpPr>
          <p:nvPr userDrawn="1"/>
        </p:nvSpPr>
        <p:spPr bwMode="auto">
          <a:xfrm>
            <a:off x="765046" y="2077407"/>
            <a:ext cx="3464054" cy="3897558"/>
          </a:xfrm>
          <a:prstGeom prst="roundRect">
            <a:avLst>
              <a:gd name="adj" fmla="val 4652"/>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sp>
        <p:nvSpPr>
          <p:cNvPr id="18" name="Rectangle: Rounded Corners 17">
            <a:extLst>
              <a:ext uri="{FF2B5EF4-FFF2-40B4-BE49-F238E27FC236}">
                <a16:creationId xmlns:a16="http://schemas.microsoft.com/office/drawing/2014/main" id="{00FE743D-A6AF-9359-20C5-5A92376990BA}"/>
              </a:ext>
            </a:extLst>
          </p:cNvPr>
          <p:cNvSpPr>
            <a:spLocks/>
          </p:cNvSpPr>
          <p:nvPr userDrawn="1"/>
        </p:nvSpPr>
        <p:spPr bwMode="auto">
          <a:xfrm>
            <a:off x="4365496" y="2036534"/>
            <a:ext cx="3464054" cy="3938431"/>
          </a:xfrm>
          <a:prstGeom prst="roundRect">
            <a:avLst>
              <a:gd name="adj" fmla="val 4652"/>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sp>
        <p:nvSpPr>
          <p:cNvPr id="24" name="Rectangle: Rounded Corners 23">
            <a:extLst>
              <a:ext uri="{FF2B5EF4-FFF2-40B4-BE49-F238E27FC236}">
                <a16:creationId xmlns:a16="http://schemas.microsoft.com/office/drawing/2014/main" id="{96E01AF0-8759-B771-27B6-2E0ED3E04E87}"/>
              </a:ext>
            </a:extLst>
          </p:cNvPr>
          <p:cNvSpPr>
            <a:spLocks/>
          </p:cNvSpPr>
          <p:nvPr userDrawn="1"/>
        </p:nvSpPr>
        <p:spPr bwMode="auto">
          <a:xfrm>
            <a:off x="7965946" y="2036534"/>
            <a:ext cx="3464054" cy="3938431"/>
          </a:xfrm>
          <a:prstGeom prst="roundRect">
            <a:avLst>
              <a:gd name="adj" fmla="val 4652"/>
            </a:avLst>
          </a:prstGeom>
          <a:solidFill>
            <a:schemeClr val="tx1">
              <a:alpha val="7000"/>
            </a:schemeClr>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44000" tIns="146304" rIns="182880" bIns="146304" numCol="1" spcCol="0" rtlCol="0" fromWordArt="0" anchor="ctr" anchorCtr="0" forceAA="0" compatLnSpc="1">
            <a:prstTxWarp prst="textNoShape">
              <a:avLst/>
            </a:prstTxWarp>
            <a:normAutofit/>
          </a:bodyPr>
          <a:lstStyle/>
          <a:p>
            <a:pPr defTabSz="932114" fontAlgn="base">
              <a:spcBef>
                <a:spcPct val="0"/>
              </a:spcBef>
              <a:spcAft>
                <a:spcPct val="0"/>
              </a:spcAft>
            </a:pPr>
            <a:endParaRPr lang="en-US" sz="1200" err="1">
              <a:solidFill>
                <a:srgbClr val="FFFFFF"/>
              </a:solidFill>
              <a:latin typeface="Segoe UI Semibold"/>
              <a:cs typeface="Segoe UI" pitchFamily="34" charset="0"/>
            </a:endParaRPr>
          </a:p>
        </p:txBody>
      </p:sp>
      <p:sp>
        <p:nvSpPr>
          <p:cNvPr id="9" name="Text Placeholder 4">
            <a:extLst>
              <a:ext uri="{FF2B5EF4-FFF2-40B4-BE49-F238E27FC236}">
                <a16:creationId xmlns:a16="http://schemas.microsoft.com/office/drawing/2014/main" id="{C49A0E9F-3858-893C-CF35-1DD566F40965}"/>
              </a:ext>
            </a:extLst>
          </p:cNvPr>
          <p:cNvSpPr>
            <a:spLocks noGrp="1"/>
          </p:cNvSpPr>
          <p:nvPr>
            <p:ph type="body" sz="quarter" idx="10" hasCustomPrompt="1"/>
          </p:nvPr>
        </p:nvSpPr>
        <p:spPr>
          <a:xfrm>
            <a:off x="923460" y="2686051"/>
            <a:ext cx="3147226" cy="3124200"/>
          </a:xfrm>
        </p:spPr>
        <p:txBody>
          <a:bodyPr>
            <a:noAutofit/>
          </a:bodyPr>
          <a:lstStyle>
            <a:lvl1pPr marL="0" indent="0" algn="ctr">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10" name="Text Placeholder 4">
            <a:extLst>
              <a:ext uri="{FF2B5EF4-FFF2-40B4-BE49-F238E27FC236}">
                <a16:creationId xmlns:a16="http://schemas.microsoft.com/office/drawing/2014/main" id="{EC3F2F95-6ED2-1046-914B-4C224F758955}"/>
              </a:ext>
            </a:extLst>
          </p:cNvPr>
          <p:cNvSpPr>
            <a:spLocks noGrp="1"/>
          </p:cNvSpPr>
          <p:nvPr>
            <p:ph type="body" sz="quarter" idx="11" hasCustomPrompt="1"/>
          </p:nvPr>
        </p:nvSpPr>
        <p:spPr>
          <a:xfrm>
            <a:off x="8124360" y="2686051"/>
            <a:ext cx="3147226" cy="3124200"/>
          </a:xfrm>
        </p:spPr>
        <p:txBody>
          <a:bodyPr>
            <a:noAutofit/>
          </a:bodyPr>
          <a:lstStyle>
            <a:lvl1pPr marL="0" indent="0" algn="ctr">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12" name="Text Placeholder 4">
            <a:extLst>
              <a:ext uri="{FF2B5EF4-FFF2-40B4-BE49-F238E27FC236}">
                <a16:creationId xmlns:a16="http://schemas.microsoft.com/office/drawing/2014/main" id="{7E5CBFBF-4CAD-1F92-0464-5C423F9DA982}"/>
              </a:ext>
            </a:extLst>
          </p:cNvPr>
          <p:cNvSpPr>
            <a:spLocks noGrp="1"/>
          </p:cNvSpPr>
          <p:nvPr>
            <p:ph type="body" sz="quarter" idx="26" hasCustomPrompt="1"/>
          </p:nvPr>
        </p:nvSpPr>
        <p:spPr>
          <a:xfrm>
            <a:off x="4523910" y="2686051"/>
            <a:ext cx="3147226" cy="3124200"/>
          </a:xfrm>
        </p:spPr>
        <p:txBody>
          <a:bodyPr>
            <a:noAutofit/>
          </a:bodyPr>
          <a:lstStyle>
            <a:lvl1pPr marL="0" indent="0" algn="ctr">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 </a:t>
            </a:r>
          </a:p>
        </p:txBody>
      </p:sp>
      <p:sp>
        <p:nvSpPr>
          <p:cNvPr id="28" name="Text Placeholder 4">
            <a:extLst>
              <a:ext uri="{FF2B5EF4-FFF2-40B4-BE49-F238E27FC236}">
                <a16:creationId xmlns:a16="http://schemas.microsoft.com/office/drawing/2014/main" id="{CCDCC00D-17ED-8F0B-BBBF-1BA6112B423F}"/>
              </a:ext>
            </a:extLst>
          </p:cNvPr>
          <p:cNvSpPr>
            <a:spLocks noGrp="1"/>
          </p:cNvSpPr>
          <p:nvPr userDrawn="1">
            <p:ph type="body" sz="quarter" idx="27" hasCustomPrompt="1"/>
          </p:nvPr>
        </p:nvSpPr>
        <p:spPr>
          <a:xfrm>
            <a:off x="880363" y="1770474"/>
            <a:ext cx="3233420" cy="613866"/>
          </a:xfrm>
          <a:prstGeom prst="roundRect">
            <a:avLst>
              <a:gd name="adj" fmla="val 75114"/>
            </a:avLst>
          </a:prstGeom>
          <a:gradFill>
            <a:gsLst>
              <a:gs pos="0">
                <a:srgbClr val="8449A9"/>
              </a:gs>
              <a:gs pos="100000">
                <a:srgbClr val="0538BB"/>
              </a:gs>
            </a:gsLst>
            <a:lin ang="2700000" scaled="1"/>
          </a:gradFill>
        </p:spPr>
        <p:txBody>
          <a:bodyPr lIns="91440" tIns="45720" rIns="91440" bIns="45720" anchor="ctr">
            <a:noAutofit/>
          </a:bodyPr>
          <a:lstStyle>
            <a:lvl1pPr marL="0" indent="0" algn="ctr">
              <a:buSzPct val="100000"/>
              <a:buFont typeface="Arial" panose="020B0604020202020204" pitchFamily="34" charset="0"/>
              <a:buNone/>
              <a:defRPr sz="2400">
                <a:solidFill>
                  <a:schemeClr val="tx1"/>
                </a:solidFill>
                <a:latin typeface="+mj-lt"/>
              </a:defRPr>
            </a:lvl1pPr>
          </a:lstStyle>
          <a:p>
            <a:pPr lvl="0"/>
            <a:r>
              <a:rPr lang="en-US"/>
              <a:t>Lorem ipsum</a:t>
            </a:r>
          </a:p>
        </p:txBody>
      </p:sp>
      <p:sp>
        <p:nvSpPr>
          <p:cNvPr id="29" name="Text Placeholder 4">
            <a:extLst>
              <a:ext uri="{FF2B5EF4-FFF2-40B4-BE49-F238E27FC236}">
                <a16:creationId xmlns:a16="http://schemas.microsoft.com/office/drawing/2014/main" id="{87A69CFD-DA45-7D52-4657-984FCD979650}"/>
              </a:ext>
            </a:extLst>
          </p:cNvPr>
          <p:cNvSpPr>
            <a:spLocks noGrp="1"/>
          </p:cNvSpPr>
          <p:nvPr userDrawn="1">
            <p:ph type="body" sz="quarter" idx="28" hasCustomPrompt="1"/>
          </p:nvPr>
        </p:nvSpPr>
        <p:spPr>
          <a:xfrm>
            <a:off x="4480813" y="1770474"/>
            <a:ext cx="3233420" cy="613866"/>
          </a:xfrm>
          <a:prstGeom prst="roundRect">
            <a:avLst>
              <a:gd name="adj" fmla="val 75114"/>
            </a:avLst>
          </a:prstGeom>
          <a:gradFill>
            <a:gsLst>
              <a:gs pos="0">
                <a:srgbClr val="8449A9"/>
              </a:gs>
              <a:gs pos="100000">
                <a:srgbClr val="0538BB"/>
              </a:gs>
            </a:gsLst>
            <a:lin ang="2700000" scaled="1"/>
          </a:gradFill>
        </p:spPr>
        <p:txBody>
          <a:bodyPr anchor="ctr">
            <a:noAutofit/>
          </a:bodyPr>
          <a:lstStyle>
            <a:lvl1pPr marL="0" indent="0" algn="ctr">
              <a:buSzPct val="100000"/>
              <a:buFont typeface="Arial" panose="020B0604020202020204" pitchFamily="34" charset="0"/>
              <a:buNone/>
              <a:defRPr sz="2400">
                <a:solidFill>
                  <a:schemeClr val="tx1"/>
                </a:solidFill>
                <a:latin typeface="+mj-lt"/>
              </a:defRPr>
            </a:lvl1pPr>
          </a:lstStyle>
          <a:p>
            <a:pPr lvl="0"/>
            <a:r>
              <a:rPr lang="en-US"/>
              <a:t>Lorem ipsum</a:t>
            </a:r>
          </a:p>
        </p:txBody>
      </p:sp>
      <p:sp>
        <p:nvSpPr>
          <p:cNvPr id="30" name="Text Placeholder 4">
            <a:extLst>
              <a:ext uri="{FF2B5EF4-FFF2-40B4-BE49-F238E27FC236}">
                <a16:creationId xmlns:a16="http://schemas.microsoft.com/office/drawing/2014/main" id="{58859C94-ABDB-53E3-8E82-EE100F40EC8A}"/>
              </a:ext>
            </a:extLst>
          </p:cNvPr>
          <p:cNvSpPr>
            <a:spLocks noGrp="1"/>
          </p:cNvSpPr>
          <p:nvPr userDrawn="1">
            <p:ph type="body" sz="quarter" idx="29" hasCustomPrompt="1"/>
          </p:nvPr>
        </p:nvSpPr>
        <p:spPr>
          <a:xfrm>
            <a:off x="8081263" y="1770474"/>
            <a:ext cx="3233420" cy="613866"/>
          </a:xfrm>
          <a:prstGeom prst="roundRect">
            <a:avLst>
              <a:gd name="adj" fmla="val 75114"/>
            </a:avLst>
          </a:prstGeom>
          <a:gradFill>
            <a:gsLst>
              <a:gs pos="0">
                <a:srgbClr val="8449A9"/>
              </a:gs>
              <a:gs pos="100000">
                <a:srgbClr val="0538BB"/>
              </a:gs>
            </a:gsLst>
            <a:lin ang="2700000" scaled="1"/>
          </a:gradFill>
        </p:spPr>
        <p:txBody>
          <a:bodyPr lIns="91440" tIns="45720" rIns="91440" bIns="45720" anchor="ctr">
            <a:noAutofit/>
          </a:bodyPr>
          <a:lstStyle>
            <a:lvl1pPr marL="0" indent="0" algn="ctr">
              <a:buSzPct val="100000"/>
              <a:buFont typeface="Arial" panose="020B0604020202020204" pitchFamily="34" charset="0"/>
              <a:buNone/>
              <a:defRPr sz="2400">
                <a:solidFill>
                  <a:schemeClr val="tx1"/>
                </a:solidFill>
                <a:latin typeface="+mj-lt"/>
              </a:defRPr>
            </a:lvl1pPr>
          </a:lstStyle>
          <a:p>
            <a:pPr lvl="0"/>
            <a:r>
              <a:rPr lang="en-US"/>
              <a:t>Lorem ipsum</a:t>
            </a:r>
          </a:p>
        </p:txBody>
      </p:sp>
    </p:spTree>
    <p:extLst>
      <p:ext uri="{BB962C8B-B14F-4D97-AF65-F5344CB8AC3E}">
        <p14:creationId xmlns:p14="http://schemas.microsoft.com/office/powerpoint/2010/main" val="7224144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ight 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D219CF8-6301-062F-3878-5DD2BC8B11D9}"/>
              </a:ext>
            </a:extLst>
          </p:cNvPr>
          <p:cNvSpPr>
            <a:spLocks/>
          </p:cNvSpPr>
          <p:nvPr userDrawn="1"/>
        </p:nvSpPr>
        <p:spPr bwMode="auto">
          <a:xfrm>
            <a:off x="1" y="0"/>
            <a:ext cx="4065588" cy="6858000"/>
          </a:xfrm>
          <a:prstGeom prst="rect">
            <a:avLst/>
          </a:pr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chemeClr val="bg1"/>
              </a:solidFill>
              <a:cs typeface="Segoe UI" pitchFamily="34" charset="0"/>
            </a:endParaRPr>
          </a:p>
        </p:txBody>
      </p:sp>
      <p:sp>
        <p:nvSpPr>
          <p:cNvPr id="6" name="Oval 5">
            <a:extLst>
              <a:ext uri="{FF2B5EF4-FFF2-40B4-BE49-F238E27FC236}">
                <a16:creationId xmlns:a16="http://schemas.microsoft.com/office/drawing/2014/main" id="{13B417DA-4FE9-DDB4-D474-47CEAD57BA9A}"/>
              </a:ext>
            </a:extLst>
          </p:cNvPr>
          <p:cNvSpPr/>
          <p:nvPr userDrawn="1"/>
        </p:nvSpPr>
        <p:spPr bwMode="auto">
          <a:xfrm>
            <a:off x="4649788" y="1569334"/>
            <a:ext cx="652463" cy="652463"/>
          </a:xfrm>
          <a:prstGeom prst="ellipse">
            <a:avLst/>
          </a:prstGeom>
          <a:solidFill>
            <a:schemeClr val="tx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742950" defTabSz="932742" fontAlgn="base">
              <a:spcBef>
                <a:spcPct val="0"/>
              </a:spcBef>
              <a:spcAft>
                <a:spcPct val="0"/>
              </a:spcAft>
            </a:pPr>
            <a:endParaRPr lang="en-US" sz="4000" spc="-50" err="1">
              <a:ln w="3175">
                <a:noFill/>
              </a:ln>
              <a:solidFill>
                <a:schemeClr val="tx1"/>
              </a:solidFill>
              <a:latin typeface="Aptos SemiBold" panose="020B0004020202020204" pitchFamily="34" charset="0"/>
              <a:cs typeface="Segoe UI" pitchFamily="34" charset="0"/>
            </a:endParaRPr>
          </a:p>
        </p:txBody>
      </p:sp>
      <p:cxnSp>
        <p:nvCxnSpPr>
          <p:cNvPr id="11" name="Straight Connector 10">
            <a:extLst>
              <a:ext uri="{FF2B5EF4-FFF2-40B4-BE49-F238E27FC236}">
                <a16:creationId xmlns:a16="http://schemas.microsoft.com/office/drawing/2014/main" id="{49708FCF-8546-DBA2-A113-19B7FDF6B7BA}"/>
              </a:ext>
            </a:extLst>
          </p:cNvPr>
          <p:cNvCxnSpPr/>
          <p:nvPr userDrawn="1"/>
        </p:nvCxnSpPr>
        <p:spPr>
          <a:xfrm>
            <a:off x="5428343" y="1895565"/>
            <a:ext cx="6181045" cy="0"/>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2444115"/>
            <a:ext cx="2824862" cy="1969770"/>
          </a:xfrm>
        </p:spPr>
        <p:txBody>
          <a:bodyPr anchor="ctr">
            <a:noAutofit/>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13" name="Text Placeholder 4">
            <a:extLst>
              <a:ext uri="{FF2B5EF4-FFF2-40B4-BE49-F238E27FC236}">
                <a16:creationId xmlns:a16="http://schemas.microsoft.com/office/drawing/2014/main" id="{C49A0E9F-3858-893C-CF35-1DD566F40965}"/>
              </a:ext>
            </a:extLst>
          </p:cNvPr>
          <p:cNvSpPr>
            <a:spLocks noGrp="1"/>
          </p:cNvSpPr>
          <p:nvPr>
            <p:ph type="body" sz="quarter" idx="10" hasCustomPrompt="1"/>
          </p:nvPr>
        </p:nvSpPr>
        <p:spPr>
          <a:xfrm>
            <a:off x="4649788" y="2487898"/>
            <a:ext cx="6959600" cy="2800767"/>
          </a:xfrm>
        </p:spPr>
        <p:txBody>
          <a:bodyPr>
            <a:noAutofit/>
          </a:bodyPr>
          <a:lstStyle>
            <a:lvl1pPr marL="0" indent="0" algn="l">
              <a:buSzPct val="100000"/>
              <a:buFont typeface="Arial" panose="020B0604020202020204" pitchFamily="34" charset="0"/>
              <a:buNone/>
              <a:defRPr sz="18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lvl="0"/>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r>
              <a:rPr lang="en-US"/>
              <a:t>.</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p:txBody>
      </p:sp>
    </p:spTree>
    <p:extLst>
      <p:ext uri="{BB962C8B-B14F-4D97-AF65-F5344CB8AC3E}">
        <p14:creationId xmlns:p14="http://schemas.microsoft.com/office/powerpoint/2010/main" val="3959810657"/>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Right Content w/ima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410DD66-BEF5-AD96-BBE3-8DE5EBF9AFF0}"/>
              </a:ext>
            </a:extLst>
          </p:cNvPr>
          <p:cNvSpPr>
            <a:spLocks/>
          </p:cNvSpPr>
          <p:nvPr userDrawn="1"/>
        </p:nvSpPr>
        <p:spPr bwMode="auto">
          <a:xfrm>
            <a:off x="0" y="0"/>
            <a:ext cx="5008563" cy="6858000"/>
          </a:xfrm>
          <a:prstGeom prst="rect">
            <a:avLst/>
          </a:pr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chemeClr val="bg1"/>
              </a:solidFill>
              <a:cs typeface="Segoe UI" pitchFamily="34" charset="0"/>
            </a:endParaRPr>
          </a:p>
        </p:txBody>
      </p:sp>
      <p:sp>
        <p:nvSpPr>
          <p:cNvPr id="5" name="Rectangle: Rounded Corners 4">
            <a:extLst>
              <a:ext uri="{FF2B5EF4-FFF2-40B4-BE49-F238E27FC236}">
                <a16:creationId xmlns:a16="http://schemas.microsoft.com/office/drawing/2014/main" id="{A320564B-5731-3320-C8CA-3A47A25F8901}"/>
              </a:ext>
            </a:extLst>
          </p:cNvPr>
          <p:cNvSpPr/>
          <p:nvPr userDrawn="1"/>
        </p:nvSpPr>
        <p:spPr bwMode="auto">
          <a:xfrm>
            <a:off x="3619500" y="914401"/>
            <a:ext cx="7987282" cy="5029198"/>
          </a:xfrm>
          <a:prstGeom prst="roundRect">
            <a:avLst>
              <a:gd name="adj" fmla="val 6066"/>
            </a:avLst>
          </a:prstGeom>
          <a:solidFill>
            <a:schemeClr val="bg1"/>
          </a:solidFill>
          <a:ln w="1270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kern="0" err="1">
              <a:solidFill>
                <a:srgbClr val="091F2C"/>
              </a:solidFill>
              <a:latin typeface="Segoe UI" panose="020B0502040204020203" pitchFamily="34" charset="0"/>
              <a:cs typeface="Segoe UI" panose="020B0502040204020203" pitchFamily="34" charset="0"/>
            </a:endParaRPr>
          </a:p>
        </p:txBody>
      </p:sp>
      <p:cxnSp>
        <p:nvCxnSpPr>
          <p:cNvPr id="15" name="Straight Connector 14">
            <a:extLst>
              <a:ext uri="{FF2B5EF4-FFF2-40B4-BE49-F238E27FC236}">
                <a16:creationId xmlns:a16="http://schemas.microsoft.com/office/drawing/2014/main" id="{F0CDE4F4-7637-A3B9-AE34-A62C85748D27}"/>
              </a:ext>
            </a:extLst>
          </p:cNvPr>
          <p:cNvCxnSpPr/>
          <p:nvPr userDrawn="1"/>
        </p:nvCxnSpPr>
        <p:spPr>
          <a:xfrm>
            <a:off x="6306803" y="3305889"/>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E248FCFE-C510-1CB5-C187-2B33129616FB}"/>
              </a:ext>
            </a:extLst>
          </p:cNvPr>
          <p:cNvCxnSpPr/>
          <p:nvPr userDrawn="1"/>
        </p:nvCxnSpPr>
        <p:spPr>
          <a:xfrm>
            <a:off x="8919481" y="3305889"/>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3" y="2444115"/>
            <a:ext cx="2824862" cy="1969770"/>
          </a:xfrm>
        </p:spPr>
        <p:txBody>
          <a:bodyPr anchor="ctr">
            <a:noAutofit/>
          </a:bodyPr>
          <a:lstStyle>
            <a:lvl1pPr>
              <a:defRPr sz="3200"/>
            </a:lvl1pPr>
          </a:lstStyle>
          <a:p>
            <a:r>
              <a:rPr lang="en-US"/>
              <a:t>Click to edit Master title style</a:t>
            </a:r>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24" name="Text Placeholder 4">
            <a:extLst>
              <a:ext uri="{FF2B5EF4-FFF2-40B4-BE49-F238E27FC236}">
                <a16:creationId xmlns:a16="http://schemas.microsoft.com/office/drawing/2014/main" id="{D60C2E20-61E5-BBC7-39EB-725601DC7112}"/>
              </a:ext>
            </a:extLst>
          </p:cNvPr>
          <p:cNvSpPr>
            <a:spLocks noGrp="1"/>
          </p:cNvSpPr>
          <p:nvPr>
            <p:ph type="body" sz="quarter" idx="11" hasCustomPrompt="1"/>
          </p:nvPr>
        </p:nvSpPr>
        <p:spPr>
          <a:xfrm>
            <a:off x="6456537" y="3695700"/>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25" name="Text Placeholder 4">
            <a:extLst>
              <a:ext uri="{FF2B5EF4-FFF2-40B4-BE49-F238E27FC236}">
                <a16:creationId xmlns:a16="http://schemas.microsoft.com/office/drawing/2014/main" id="{3C84EC4A-7494-5FEF-0C8D-CA5524840EA2}"/>
              </a:ext>
            </a:extLst>
          </p:cNvPr>
          <p:cNvSpPr>
            <a:spLocks noGrp="1"/>
          </p:cNvSpPr>
          <p:nvPr>
            <p:ph type="body" sz="quarter" idx="12" hasCustomPrompt="1"/>
          </p:nvPr>
        </p:nvSpPr>
        <p:spPr>
          <a:xfrm>
            <a:off x="9069214" y="3695700"/>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26" name="Text Placeholder 4">
            <a:extLst>
              <a:ext uri="{FF2B5EF4-FFF2-40B4-BE49-F238E27FC236}">
                <a16:creationId xmlns:a16="http://schemas.microsoft.com/office/drawing/2014/main" id="{7E4553E0-0909-E795-4581-D517C4E25FA7}"/>
              </a:ext>
            </a:extLst>
          </p:cNvPr>
          <p:cNvSpPr>
            <a:spLocks noGrp="1"/>
          </p:cNvSpPr>
          <p:nvPr>
            <p:ph type="body" sz="quarter" idx="10" hasCustomPrompt="1"/>
          </p:nvPr>
        </p:nvSpPr>
        <p:spPr>
          <a:xfrm>
            <a:off x="3843859" y="3695700"/>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27" name="Text Placeholder 4">
            <a:extLst>
              <a:ext uri="{FF2B5EF4-FFF2-40B4-BE49-F238E27FC236}">
                <a16:creationId xmlns:a16="http://schemas.microsoft.com/office/drawing/2014/main" id="{C51A41B7-DAA5-FB6A-0384-21E000A9E7BA}"/>
              </a:ext>
            </a:extLst>
          </p:cNvPr>
          <p:cNvSpPr>
            <a:spLocks noGrp="1"/>
          </p:cNvSpPr>
          <p:nvPr>
            <p:ph type="body" sz="quarter" idx="13" hasCustomPrompt="1"/>
          </p:nvPr>
        </p:nvSpPr>
        <p:spPr>
          <a:xfrm>
            <a:off x="3843859" y="3279527"/>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28" name="Text Placeholder 4">
            <a:extLst>
              <a:ext uri="{FF2B5EF4-FFF2-40B4-BE49-F238E27FC236}">
                <a16:creationId xmlns:a16="http://schemas.microsoft.com/office/drawing/2014/main" id="{90CC8220-519E-0158-8039-E66ED6F5C94C}"/>
              </a:ext>
            </a:extLst>
          </p:cNvPr>
          <p:cNvSpPr>
            <a:spLocks noGrp="1"/>
          </p:cNvSpPr>
          <p:nvPr>
            <p:ph type="body" sz="quarter" idx="14" hasCustomPrompt="1"/>
          </p:nvPr>
        </p:nvSpPr>
        <p:spPr>
          <a:xfrm>
            <a:off x="6456537" y="3279527"/>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29" name="Text Placeholder 4">
            <a:extLst>
              <a:ext uri="{FF2B5EF4-FFF2-40B4-BE49-F238E27FC236}">
                <a16:creationId xmlns:a16="http://schemas.microsoft.com/office/drawing/2014/main" id="{923F7EEB-42B1-67A4-209A-D406C1BA9321}"/>
              </a:ext>
            </a:extLst>
          </p:cNvPr>
          <p:cNvSpPr>
            <a:spLocks noGrp="1"/>
          </p:cNvSpPr>
          <p:nvPr>
            <p:ph type="body" sz="quarter" idx="15" hasCustomPrompt="1"/>
          </p:nvPr>
        </p:nvSpPr>
        <p:spPr>
          <a:xfrm>
            <a:off x="9069214" y="3279527"/>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39" name="Picture Placeholder 38">
            <a:extLst>
              <a:ext uri="{FF2B5EF4-FFF2-40B4-BE49-F238E27FC236}">
                <a16:creationId xmlns:a16="http://schemas.microsoft.com/office/drawing/2014/main" id="{31D98E28-0CAD-035F-2E2B-3A739CB2D11D}"/>
              </a:ext>
            </a:extLst>
          </p:cNvPr>
          <p:cNvSpPr>
            <a:spLocks noGrp="1"/>
          </p:cNvSpPr>
          <p:nvPr>
            <p:ph type="pic" sz="quarter" idx="16"/>
          </p:nvPr>
        </p:nvSpPr>
        <p:spPr>
          <a:xfrm>
            <a:off x="3768751" y="1059121"/>
            <a:ext cx="2463426" cy="2052069"/>
          </a:xfrm>
          <a:custGeom>
            <a:avLst/>
            <a:gdLst>
              <a:gd name="connsiteX0" fmla="*/ 182614 w 2463426"/>
              <a:gd name="connsiteY0" fmla="*/ 0 h 2052069"/>
              <a:gd name="connsiteX1" fmla="*/ 2280812 w 2463426"/>
              <a:gd name="connsiteY1" fmla="*/ 0 h 2052069"/>
              <a:gd name="connsiteX2" fmla="*/ 2463426 w 2463426"/>
              <a:gd name="connsiteY2" fmla="*/ 182614 h 2052069"/>
              <a:gd name="connsiteX3" fmla="*/ 2463426 w 2463426"/>
              <a:gd name="connsiteY3" fmla="*/ 1869455 h 2052069"/>
              <a:gd name="connsiteX4" fmla="*/ 2280812 w 2463426"/>
              <a:gd name="connsiteY4" fmla="*/ 2052069 h 2052069"/>
              <a:gd name="connsiteX5" fmla="*/ 1653356 w 2463426"/>
              <a:gd name="connsiteY5" fmla="*/ 2052069 h 2052069"/>
              <a:gd name="connsiteX6" fmla="*/ 1624193 w 2463426"/>
              <a:gd name="connsiteY6" fmla="*/ 2022906 h 2052069"/>
              <a:gd name="connsiteX7" fmla="*/ 839233 w 2463426"/>
              <a:gd name="connsiteY7" fmla="*/ 2022906 h 2052069"/>
              <a:gd name="connsiteX8" fmla="*/ 810070 w 2463426"/>
              <a:gd name="connsiteY8" fmla="*/ 2052069 h 2052069"/>
              <a:gd name="connsiteX9" fmla="*/ 182614 w 2463426"/>
              <a:gd name="connsiteY9" fmla="*/ 2052069 h 2052069"/>
              <a:gd name="connsiteX10" fmla="*/ 0 w 2463426"/>
              <a:gd name="connsiteY10" fmla="*/ 1869455 h 2052069"/>
              <a:gd name="connsiteX11" fmla="*/ 0 w 2463426"/>
              <a:gd name="connsiteY11" fmla="*/ 182614 h 2052069"/>
              <a:gd name="connsiteX12" fmla="*/ 182614 w 2463426"/>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63426" h="2052069">
                <a:moveTo>
                  <a:pt x="182614" y="0"/>
                </a:moveTo>
                <a:lnTo>
                  <a:pt x="2280812" y="0"/>
                </a:lnTo>
                <a:cubicBezTo>
                  <a:pt x="2381667" y="0"/>
                  <a:pt x="2463426" y="81759"/>
                  <a:pt x="2463426" y="182614"/>
                </a:cubicBezTo>
                <a:lnTo>
                  <a:pt x="2463426" y="1869455"/>
                </a:lnTo>
                <a:cubicBezTo>
                  <a:pt x="2463426" y="1970310"/>
                  <a:pt x="2381667" y="2052069"/>
                  <a:pt x="2280812" y="2052069"/>
                </a:cubicBezTo>
                <a:lnTo>
                  <a:pt x="1653356" y="2052069"/>
                </a:lnTo>
                <a:cubicBezTo>
                  <a:pt x="1653356" y="2035963"/>
                  <a:pt x="1640299" y="2022906"/>
                  <a:pt x="1624193" y="2022906"/>
                </a:cubicBezTo>
                <a:lnTo>
                  <a:pt x="839233" y="2022906"/>
                </a:lnTo>
                <a:cubicBezTo>
                  <a:pt x="823127" y="2022906"/>
                  <a:pt x="810070" y="2035963"/>
                  <a:pt x="810070"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40" name="Picture Placeholder 39">
            <a:extLst>
              <a:ext uri="{FF2B5EF4-FFF2-40B4-BE49-F238E27FC236}">
                <a16:creationId xmlns:a16="http://schemas.microsoft.com/office/drawing/2014/main" id="{8B396C93-33F3-A84C-9C20-9AF3D574F973}"/>
              </a:ext>
            </a:extLst>
          </p:cNvPr>
          <p:cNvSpPr>
            <a:spLocks noGrp="1"/>
          </p:cNvSpPr>
          <p:nvPr>
            <p:ph type="pic" sz="quarter" idx="17"/>
          </p:nvPr>
        </p:nvSpPr>
        <p:spPr>
          <a:xfrm>
            <a:off x="6381428" y="1059121"/>
            <a:ext cx="2463426" cy="2052069"/>
          </a:xfrm>
          <a:custGeom>
            <a:avLst/>
            <a:gdLst>
              <a:gd name="connsiteX0" fmla="*/ 182614 w 2463426"/>
              <a:gd name="connsiteY0" fmla="*/ 0 h 2052069"/>
              <a:gd name="connsiteX1" fmla="*/ 2280812 w 2463426"/>
              <a:gd name="connsiteY1" fmla="*/ 0 h 2052069"/>
              <a:gd name="connsiteX2" fmla="*/ 2463426 w 2463426"/>
              <a:gd name="connsiteY2" fmla="*/ 182614 h 2052069"/>
              <a:gd name="connsiteX3" fmla="*/ 2463426 w 2463426"/>
              <a:gd name="connsiteY3" fmla="*/ 1869455 h 2052069"/>
              <a:gd name="connsiteX4" fmla="*/ 2280812 w 2463426"/>
              <a:gd name="connsiteY4" fmla="*/ 2052069 h 2052069"/>
              <a:gd name="connsiteX5" fmla="*/ 1653355 w 2463426"/>
              <a:gd name="connsiteY5" fmla="*/ 2052069 h 2052069"/>
              <a:gd name="connsiteX6" fmla="*/ 1624192 w 2463426"/>
              <a:gd name="connsiteY6" fmla="*/ 2022906 h 2052069"/>
              <a:gd name="connsiteX7" fmla="*/ 839232 w 2463426"/>
              <a:gd name="connsiteY7" fmla="*/ 2022906 h 2052069"/>
              <a:gd name="connsiteX8" fmla="*/ 810069 w 2463426"/>
              <a:gd name="connsiteY8" fmla="*/ 2052069 h 2052069"/>
              <a:gd name="connsiteX9" fmla="*/ 182614 w 2463426"/>
              <a:gd name="connsiteY9" fmla="*/ 2052069 h 2052069"/>
              <a:gd name="connsiteX10" fmla="*/ 0 w 2463426"/>
              <a:gd name="connsiteY10" fmla="*/ 1869455 h 2052069"/>
              <a:gd name="connsiteX11" fmla="*/ 0 w 2463426"/>
              <a:gd name="connsiteY11" fmla="*/ 182614 h 2052069"/>
              <a:gd name="connsiteX12" fmla="*/ 182614 w 2463426"/>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63426" h="2052069">
                <a:moveTo>
                  <a:pt x="182614" y="0"/>
                </a:moveTo>
                <a:lnTo>
                  <a:pt x="2280812" y="0"/>
                </a:lnTo>
                <a:cubicBezTo>
                  <a:pt x="2381667" y="0"/>
                  <a:pt x="2463426" y="81759"/>
                  <a:pt x="2463426" y="182614"/>
                </a:cubicBezTo>
                <a:lnTo>
                  <a:pt x="2463426" y="1869455"/>
                </a:lnTo>
                <a:cubicBezTo>
                  <a:pt x="2463426" y="1970310"/>
                  <a:pt x="2381667" y="2052069"/>
                  <a:pt x="2280812" y="2052069"/>
                </a:cubicBezTo>
                <a:lnTo>
                  <a:pt x="1653355" y="2052069"/>
                </a:lnTo>
                <a:cubicBezTo>
                  <a:pt x="1653355" y="2035963"/>
                  <a:pt x="1640298" y="2022906"/>
                  <a:pt x="1624192" y="2022906"/>
                </a:cubicBezTo>
                <a:lnTo>
                  <a:pt x="839232" y="2022906"/>
                </a:lnTo>
                <a:cubicBezTo>
                  <a:pt x="823126" y="2022906"/>
                  <a:pt x="810069" y="2035963"/>
                  <a:pt x="810069"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41" name="Picture Placeholder 40">
            <a:extLst>
              <a:ext uri="{FF2B5EF4-FFF2-40B4-BE49-F238E27FC236}">
                <a16:creationId xmlns:a16="http://schemas.microsoft.com/office/drawing/2014/main" id="{DF35B82B-21E8-F822-97E1-9D6F9F9C7863}"/>
              </a:ext>
            </a:extLst>
          </p:cNvPr>
          <p:cNvSpPr>
            <a:spLocks noGrp="1"/>
          </p:cNvSpPr>
          <p:nvPr>
            <p:ph type="pic" sz="quarter" idx="18"/>
          </p:nvPr>
        </p:nvSpPr>
        <p:spPr>
          <a:xfrm>
            <a:off x="8994106" y="1059121"/>
            <a:ext cx="2463426" cy="2052069"/>
          </a:xfrm>
          <a:custGeom>
            <a:avLst/>
            <a:gdLst>
              <a:gd name="connsiteX0" fmla="*/ 182614 w 2463426"/>
              <a:gd name="connsiteY0" fmla="*/ 0 h 2052069"/>
              <a:gd name="connsiteX1" fmla="*/ 2280812 w 2463426"/>
              <a:gd name="connsiteY1" fmla="*/ 0 h 2052069"/>
              <a:gd name="connsiteX2" fmla="*/ 2463426 w 2463426"/>
              <a:gd name="connsiteY2" fmla="*/ 182614 h 2052069"/>
              <a:gd name="connsiteX3" fmla="*/ 2463426 w 2463426"/>
              <a:gd name="connsiteY3" fmla="*/ 1869455 h 2052069"/>
              <a:gd name="connsiteX4" fmla="*/ 2280812 w 2463426"/>
              <a:gd name="connsiteY4" fmla="*/ 2052069 h 2052069"/>
              <a:gd name="connsiteX5" fmla="*/ 1653355 w 2463426"/>
              <a:gd name="connsiteY5" fmla="*/ 2052069 h 2052069"/>
              <a:gd name="connsiteX6" fmla="*/ 1624192 w 2463426"/>
              <a:gd name="connsiteY6" fmla="*/ 2022906 h 2052069"/>
              <a:gd name="connsiteX7" fmla="*/ 839232 w 2463426"/>
              <a:gd name="connsiteY7" fmla="*/ 2022906 h 2052069"/>
              <a:gd name="connsiteX8" fmla="*/ 810069 w 2463426"/>
              <a:gd name="connsiteY8" fmla="*/ 2052069 h 2052069"/>
              <a:gd name="connsiteX9" fmla="*/ 182614 w 2463426"/>
              <a:gd name="connsiteY9" fmla="*/ 2052069 h 2052069"/>
              <a:gd name="connsiteX10" fmla="*/ 0 w 2463426"/>
              <a:gd name="connsiteY10" fmla="*/ 1869455 h 2052069"/>
              <a:gd name="connsiteX11" fmla="*/ 0 w 2463426"/>
              <a:gd name="connsiteY11" fmla="*/ 182614 h 2052069"/>
              <a:gd name="connsiteX12" fmla="*/ 182614 w 2463426"/>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463426" h="2052069">
                <a:moveTo>
                  <a:pt x="182614" y="0"/>
                </a:moveTo>
                <a:lnTo>
                  <a:pt x="2280812" y="0"/>
                </a:lnTo>
                <a:cubicBezTo>
                  <a:pt x="2381667" y="0"/>
                  <a:pt x="2463426" y="81759"/>
                  <a:pt x="2463426" y="182614"/>
                </a:cubicBezTo>
                <a:lnTo>
                  <a:pt x="2463426" y="1869455"/>
                </a:lnTo>
                <a:cubicBezTo>
                  <a:pt x="2463426" y="1970310"/>
                  <a:pt x="2381667" y="2052069"/>
                  <a:pt x="2280812" y="2052069"/>
                </a:cubicBezTo>
                <a:lnTo>
                  <a:pt x="1653355" y="2052069"/>
                </a:lnTo>
                <a:cubicBezTo>
                  <a:pt x="1653355" y="2035963"/>
                  <a:pt x="1640298" y="2022906"/>
                  <a:pt x="1624192" y="2022906"/>
                </a:cubicBezTo>
                <a:lnTo>
                  <a:pt x="839232" y="2022906"/>
                </a:lnTo>
                <a:cubicBezTo>
                  <a:pt x="823126" y="2022906"/>
                  <a:pt x="810069" y="2035963"/>
                  <a:pt x="810069"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17" name="Title 3">
            <a:extLst>
              <a:ext uri="{FF2B5EF4-FFF2-40B4-BE49-F238E27FC236}">
                <a16:creationId xmlns:a16="http://schemas.microsoft.com/office/drawing/2014/main" id="{36D4A3A3-E4CC-9EEE-5852-9D0EC5427E69}"/>
              </a:ext>
            </a:extLst>
          </p:cNvPr>
          <p:cNvSpPr txBox="1">
            <a:spLocks/>
          </p:cNvSpPr>
          <p:nvPr userDrawn="1"/>
        </p:nvSpPr>
        <p:spPr>
          <a:xfrm>
            <a:off x="4578821" y="3082027"/>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18" name="Title 3">
            <a:extLst>
              <a:ext uri="{FF2B5EF4-FFF2-40B4-BE49-F238E27FC236}">
                <a16:creationId xmlns:a16="http://schemas.microsoft.com/office/drawing/2014/main" id="{35E95D88-BE15-D1B5-3587-4D1C0BE8698A}"/>
              </a:ext>
            </a:extLst>
          </p:cNvPr>
          <p:cNvSpPr txBox="1">
            <a:spLocks/>
          </p:cNvSpPr>
          <p:nvPr userDrawn="1"/>
        </p:nvSpPr>
        <p:spPr>
          <a:xfrm>
            <a:off x="7191497" y="3082027"/>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19" name="Title 3">
            <a:extLst>
              <a:ext uri="{FF2B5EF4-FFF2-40B4-BE49-F238E27FC236}">
                <a16:creationId xmlns:a16="http://schemas.microsoft.com/office/drawing/2014/main" id="{1E9ED040-91EC-F2A0-4756-0C60255EB35D}"/>
              </a:ext>
            </a:extLst>
          </p:cNvPr>
          <p:cNvSpPr txBox="1">
            <a:spLocks/>
          </p:cNvSpPr>
          <p:nvPr userDrawn="1"/>
        </p:nvSpPr>
        <p:spPr>
          <a:xfrm>
            <a:off x="9804175" y="3082027"/>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Tree>
    <p:extLst>
      <p:ext uri="{BB962C8B-B14F-4D97-AF65-F5344CB8AC3E}">
        <p14:creationId xmlns:p14="http://schemas.microsoft.com/office/powerpoint/2010/main" val="237411665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w/image">
    <p:spTree>
      <p:nvGrpSpPr>
        <p:cNvPr id="1" name=""/>
        <p:cNvGrpSpPr/>
        <p:nvPr/>
      </p:nvGrpSpPr>
      <p:grpSpPr>
        <a:xfrm>
          <a:off x="0" y="0"/>
          <a:ext cx="0" cy="0"/>
          <a:chOff x="0" y="0"/>
          <a:chExt cx="0" cy="0"/>
        </a:xfrm>
      </p:grpSpPr>
      <p:sp>
        <p:nvSpPr>
          <p:cNvPr id="55" name="Picture Placeholder 54">
            <a:extLst>
              <a:ext uri="{FF2B5EF4-FFF2-40B4-BE49-F238E27FC236}">
                <a16:creationId xmlns:a16="http://schemas.microsoft.com/office/drawing/2014/main" id="{6C081ABA-A597-9549-34F5-4F80C3640D42}"/>
              </a:ext>
            </a:extLst>
          </p:cNvPr>
          <p:cNvSpPr>
            <a:spLocks noGrp="1"/>
          </p:cNvSpPr>
          <p:nvPr>
            <p:ph type="pic" sz="quarter" idx="18"/>
          </p:nvPr>
        </p:nvSpPr>
        <p:spPr>
          <a:xfrm>
            <a:off x="588963" y="1457138"/>
            <a:ext cx="2651442" cy="2052069"/>
          </a:xfrm>
          <a:custGeom>
            <a:avLst/>
            <a:gdLst>
              <a:gd name="connsiteX0" fmla="*/ 182614 w 2651442"/>
              <a:gd name="connsiteY0" fmla="*/ 0 h 2052069"/>
              <a:gd name="connsiteX1" fmla="*/ 2468828 w 2651442"/>
              <a:gd name="connsiteY1" fmla="*/ 0 h 2052069"/>
              <a:gd name="connsiteX2" fmla="*/ 2651442 w 2651442"/>
              <a:gd name="connsiteY2" fmla="*/ 182614 h 2052069"/>
              <a:gd name="connsiteX3" fmla="*/ 2651442 w 2651442"/>
              <a:gd name="connsiteY3" fmla="*/ 1869455 h 2052069"/>
              <a:gd name="connsiteX4" fmla="*/ 2468828 w 2651442"/>
              <a:gd name="connsiteY4" fmla="*/ 2052069 h 2052069"/>
              <a:gd name="connsiteX5" fmla="*/ 1747364 w 2651442"/>
              <a:gd name="connsiteY5" fmla="*/ 2052069 h 2052069"/>
              <a:gd name="connsiteX6" fmla="*/ 1718201 w 2651442"/>
              <a:gd name="connsiteY6" fmla="*/ 2022906 h 2052069"/>
              <a:gd name="connsiteX7" fmla="*/ 933241 w 2651442"/>
              <a:gd name="connsiteY7" fmla="*/ 2022906 h 2052069"/>
              <a:gd name="connsiteX8" fmla="*/ 904078 w 2651442"/>
              <a:gd name="connsiteY8" fmla="*/ 2052069 h 2052069"/>
              <a:gd name="connsiteX9" fmla="*/ 182614 w 2651442"/>
              <a:gd name="connsiteY9" fmla="*/ 2052069 h 2052069"/>
              <a:gd name="connsiteX10" fmla="*/ 0 w 2651442"/>
              <a:gd name="connsiteY10" fmla="*/ 1869455 h 2052069"/>
              <a:gd name="connsiteX11" fmla="*/ 0 w 2651442"/>
              <a:gd name="connsiteY11" fmla="*/ 182614 h 2052069"/>
              <a:gd name="connsiteX12" fmla="*/ 182614 w 2651442"/>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1442" h="2052069">
                <a:moveTo>
                  <a:pt x="182614" y="0"/>
                </a:moveTo>
                <a:lnTo>
                  <a:pt x="2468828" y="0"/>
                </a:lnTo>
                <a:cubicBezTo>
                  <a:pt x="2569683" y="0"/>
                  <a:pt x="2651442" y="81759"/>
                  <a:pt x="2651442" y="182614"/>
                </a:cubicBezTo>
                <a:lnTo>
                  <a:pt x="2651442" y="1869455"/>
                </a:lnTo>
                <a:cubicBezTo>
                  <a:pt x="2651442" y="1970310"/>
                  <a:pt x="2569683" y="2052069"/>
                  <a:pt x="2468828" y="2052069"/>
                </a:cubicBezTo>
                <a:lnTo>
                  <a:pt x="1747364" y="2052069"/>
                </a:lnTo>
                <a:cubicBezTo>
                  <a:pt x="1747364" y="2035963"/>
                  <a:pt x="1734307" y="2022906"/>
                  <a:pt x="1718201" y="2022906"/>
                </a:cubicBezTo>
                <a:lnTo>
                  <a:pt x="933241" y="2022906"/>
                </a:lnTo>
                <a:cubicBezTo>
                  <a:pt x="917135" y="2022906"/>
                  <a:pt x="904078" y="2035963"/>
                  <a:pt x="904078"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cxnSp>
        <p:nvCxnSpPr>
          <p:cNvPr id="11" name="Straight Connector 10">
            <a:extLst>
              <a:ext uri="{FF2B5EF4-FFF2-40B4-BE49-F238E27FC236}">
                <a16:creationId xmlns:a16="http://schemas.microsoft.com/office/drawing/2014/main" id="{028AB74D-4A1E-30CF-6252-AA0A6D599481}"/>
              </a:ext>
            </a:extLst>
          </p:cNvPr>
          <p:cNvCxnSpPr/>
          <p:nvPr userDrawn="1"/>
        </p:nvCxnSpPr>
        <p:spPr>
          <a:xfrm>
            <a:off x="6097428" y="3703906"/>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7A8FC3A-8535-819D-6A2A-005CD7B82DB8}"/>
              </a:ext>
            </a:extLst>
          </p:cNvPr>
          <p:cNvCxnSpPr/>
          <p:nvPr userDrawn="1"/>
        </p:nvCxnSpPr>
        <p:spPr>
          <a:xfrm>
            <a:off x="8886030" y="3703906"/>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13" name="Title 3">
            <a:extLst>
              <a:ext uri="{FF2B5EF4-FFF2-40B4-BE49-F238E27FC236}">
                <a16:creationId xmlns:a16="http://schemas.microsoft.com/office/drawing/2014/main" id="{0395D3DA-E0C0-1D0F-378E-219FE7BE6171}"/>
              </a:ext>
            </a:extLst>
          </p:cNvPr>
          <p:cNvSpPr txBox="1">
            <a:spLocks/>
          </p:cNvSpPr>
          <p:nvPr userDrawn="1"/>
        </p:nvSpPr>
        <p:spPr>
          <a:xfrm>
            <a:off x="4281484" y="3480044"/>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14" name="Title 3">
            <a:extLst>
              <a:ext uri="{FF2B5EF4-FFF2-40B4-BE49-F238E27FC236}">
                <a16:creationId xmlns:a16="http://schemas.microsoft.com/office/drawing/2014/main" id="{DC774EE1-0811-3DE7-3075-F46CF3CEB48B}"/>
              </a:ext>
            </a:extLst>
          </p:cNvPr>
          <p:cNvSpPr txBox="1">
            <a:spLocks/>
          </p:cNvSpPr>
          <p:nvPr userDrawn="1"/>
        </p:nvSpPr>
        <p:spPr>
          <a:xfrm>
            <a:off x="7070086" y="3480044"/>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20" name="Title 3">
            <a:extLst>
              <a:ext uri="{FF2B5EF4-FFF2-40B4-BE49-F238E27FC236}">
                <a16:creationId xmlns:a16="http://schemas.microsoft.com/office/drawing/2014/main" id="{10A1A648-845E-8F85-C44E-905D4AAB1C92}"/>
              </a:ext>
            </a:extLst>
          </p:cNvPr>
          <p:cNvSpPr txBox="1">
            <a:spLocks/>
          </p:cNvSpPr>
          <p:nvPr userDrawn="1"/>
        </p:nvSpPr>
        <p:spPr>
          <a:xfrm>
            <a:off x="9858689" y="3480044"/>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sp>
        <p:nvSpPr>
          <p:cNvPr id="32" name="Title 3">
            <a:extLst>
              <a:ext uri="{FF2B5EF4-FFF2-40B4-BE49-F238E27FC236}">
                <a16:creationId xmlns:a16="http://schemas.microsoft.com/office/drawing/2014/main" id="{48DDDF4A-FE17-1102-A124-218F87FABE26}"/>
              </a:ext>
            </a:extLst>
          </p:cNvPr>
          <p:cNvSpPr txBox="1">
            <a:spLocks/>
          </p:cNvSpPr>
          <p:nvPr userDrawn="1"/>
        </p:nvSpPr>
        <p:spPr>
          <a:xfrm>
            <a:off x="1493041" y="3480044"/>
            <a:ext cx="843286" cy="58326"/>
          </a:xfrm>
          <a:prstGeom prst="roundRect">
            <a:avLst>
              <a:gd name="adj" fmla="val 313091"/>
            </a:avLst>
          </a:prstGeom>
          <a:solidFill>
            <a:schemeClr val="accent1"/>
          </a:solidFill>
          <a:ln w="9525" cap="flat" cmpd="sng" algn="ctr">
            <a:noFill/>
            <a:prstDash val="solid"/>
            <a:headEnd type="none" w="med" len="med"/>
            <a:tailEnd type="none" w="med" len="med"/>
          </a:ln>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lgn="l" defTabSz="932742" rtl="0" eaLnBrk="1" latinLnBrk="0" hangingPunct="1">
              <a:lnSpc>
                <a:spcPct val="100000"/>
              </a:lnSpc>
              <a:spcBef>
                <a:spcPct val="0"/>
              </a:spcBef>
              <a:buNone/>
              <a:defRPr lang="en-US" sz="3200" b="0" kern="1200" cap="none" spc="-50" baseline="0" dirty="0" smtClean="0">
                <a:ln w="3175">
                  <a:noFill/>
                </a:ln>
                <a:solidFill>
                  <a:schemeClr val="lt1"/>
                </a:solidFill>
                <a:effectLst/>
                <a:latin typeface="+mn-lt"/>
                <a:ea typeface="+mn-ea"/>
                <a:cs typeface="+mn-cs"/>
              </a:defRPr>
            </a:lvl1pPr>
            <a:lvl2pPr>
              <a:defRPr>
                <a:solidFill>
                  <a:schemeClr val="lt1"/>
                </a:solidFill>
                <a:latin typeface="+mn-lt"/>
                <a:ea typeface="+mn-ea"/>
                <a:cs typeface="+mn-cs"/>
              </a:defRPr>
            </a:lvl2pPr>
            <a:lvl3pPr>
              <a:defRPr>
                <a:solidFill>
                  <a:schemeClr val="lt1"/>
                </a:solidFill>
                <a:latin typeface="+mn-lt"/>
                <a:ea typeface="+mn-ea"/>
                <a:cs typeface="+mn-cs"/>
              </a:defRPr>
            </a:lvl3pPr>
            <a:lvl4pPr>
              <a:defRPr>
                <a:solidFill>
                  <a:schemeClr val="lt1"/>
                </a:solidFill>
                <a:latin typeface="+mn-lt"/>
                <a:ea typeface="+mn-ea"/>
                <a:cs typeface="+mn-cs"/>
              </a:defRPr>
            </a:lvl4pPr>
            <a:lvl5pPr>
              <a:defRPr>
                <a:solidFill>
                  <a:schemeClr val="lt1"/>
                </a:solidFill>
                <a:latin typeface="+mn-lt"/>
                <a:ea typeface="+mn-ea"/>
                <a:cs typeface="+mn-cs"/>
              </a:defRPr>
            </a:lvl5pPr>
            <a:lvl6pPr>
              <a:defRPr>
                <a:solidFill>
                  <a:schemeClr val="lt1"/>
                </a:solidFill>
                <a:latin typeface="+mn-lt"/>
                <a:ea typeface="+mn-ea"/>
                <a:cs typeface="+mn-cs"/>
              </a:defRPr>
            </a:lvl6pPr>
            <a:lvl7pPr>
              <a:defRPr>
                <a:solidFill>
                  <a:schemeClr val="lt1"/>
                </a:solidFill>
                <a:latin typeface="+mn-lt"/>
                <a:ea typeface="+mn-ea"/>
                <a:cs typeface="+mn-cs"/>
              </a:defRPr>
            </a:lvl7pPr>
            <a:lvl8pPr>
              <a:defRPr>
                <a:solidFill>
                  <a:schemeClr val="lt1"/>
                </a:solidFill>
                <a:latin typeface="+mn-lt"/>
                <a:ea typeface="+mn-ea"/>
                <a:cs typeface="+mn-cs"/>
              </a:defRPr>
            </a:lvl8pPr>
            <a:lvl9pPr>
              <a:defRPr>
                <a:solidFill>
                  <a:schemeClr val="lt1"/>
                </a:solidFill>
                <a:latin typeface="+mn-lt"/>
                <a:ea typeface="+mn-ea"/>
                <a:cs typeface="+mn-cs"/>
              </a:defRPr>
            </a:lvl9pPr>
          </a:lstStyle>
          <a:p>
            <a:pPr algn="ctr" defTabSz="914367" fontAlgn="base">
              <a:spcAft>
                <a:spcPts val="1200"/>
              </a:spcAft>
            </a:pPr>
            <a:endParaRPr lang="en-US" sz="2400">
              <a:solidFill>
                <a:schemeClr val="tx1"/>
              </a:solidFill>
              <a:latin typeface="+mj-lt"/>
            </a:endParaRPr>
          </a:p>
        </p:txBody>
      </p:sp>
      <p:cxnSp>
        <p:nvCxnSpPr>
          <p:cNvPr id="34" name="Straight Connector 33">
            <a:extLst>
              <a:ext uri="{FF2B5EF4-FFF2-40B4-BE49-F238E27FC236}">
                <a16:creationId xmlns:a16="http://schemas.microsoft.com/office/drawing/2014/main" id="{6C190A52-AF71-7BFE-4108-B88156B2CA21}"/>
              </a:ext>
            </a:extLst>
          </p:cNvPr>
          <p:cNvCxnSpPr/>
          <p:nvPr userDrawn="1"/>
        </p:nvCxnSpPr>
        <p:spPr>
          <a:xfrm>
            <a:off x="3308826" y="3703906"/>
            <a:ext cx="0" cy="2496312"/>
          </a:xfrm>
          <a:prstGeom prst="line">
            <a:avLst/>
          </a:prstGeom>
          <a:ln w="6350" cap="rnd">
            <a:solidFill>
              <a:srgbClr val="3A4953"/>
            </a:solidFill>
            <a:headEnd type="none" w="lg" len="sm"/>
            <a:tailEnd type="none" w="lg" len="sm"/>
          </a:ln>
          <a:effectLst/>
        </p:spPr>
        <p:style>
          <a:lnRef idx="1">
            <a:schemeClr val="accent1"/>
          </a:lnRef>
          <a:fillRef idx="0">
            <a:schemeClr val="accent1"/>
          </a:fillRef>
          <a:effectRef idx="0">
            <a:schemeClr val="accent1"/>
          </a:effectRef>
          <a:fontRef idx="minor">
            <a:schemeClr val="tx1"/>
          </a:fontRef>
        </p:style>
      </p:cxnSp>
      <p:sp>
        <p:nvSpPr>
          <p:cNvPr id="37" name="Text Placeholder 4">
            <a:extLst>
              <a:ext uri="{FF2B5EF4-FFF2-40B4-BE49-F238E27FC236}">
                <a16:creationId xmlns:a16="http://schemas.microsoft.com/office/drawing/2014/main" id="{1D6BF4B2-A0E0-B93E-2319-7092F951884B}"/>
              </a:ext>
            </a:extLst>
          </p:cNvPr>
          <p:cNvSpPr>
            <a:spLocks noGrp="1"/>
          </p:cNvSpPr>
          <p:nvPr>
            <p:ph type="body" sz="quarter" idx="11" hasCustomPrompt="1"/>
          </p:nvPr>
        </p:nvSpPr>
        <p:spPr>
          <a:xfrm>
            <a:off x="3546522" y="4093717"/>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38" name="Text Placeholder 4">
            <a:extLst>
              <a:ext uri="{FF2B5EF4-FFF2-40B4-BE49-F238E27FC236}">
                <a16:creationId xmlns:a16="http://schemas.microsoft.com/office/drawing/2014/main" id="{7B35FEB3-BD4C-043B-7CE0-2D7413A8E832}"/>
              </a:ext>
            </a:extLst>
          </p:cNvPr>
          <p:cNvSpPr>
            <a:spLocks noGrp="1"/>
          </p:cNvSpPr>
          <p:nvPr>
            <p:ph type="body" sz="quarter" idx="10" hasCustomPrompt="1"/>
          </p:nvPr>
        </p:nvSpPr>
        <p:spPr>
          <a:xfrm>
            <a:off x="758079" y="4093717"/>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42" name="Text Placeholder 4">
            <a:extLst>
              <a:ext uri="{FF2B5EF4-FFF2-40B4-BE49-F238E27FC236}">
                <a16:creationId xmlns:a16="http://schemas.microsoft.com/office/drawing/2014/main" id="{D738A791-9107-15D1-867C-838379840095}"/>
              </a:ext>
            </a:extLst>
          </p:cNvPr>
          <p:cNvSpPr>
            <a:spLocks noGrp="1"/>
          </p:cNvSpPr>
          <p:nvPr>
            <p:ph type="body" sz="quarter" idx="12" hasCustomPrompt="1"/>
          </p:nvPr>
        </p:nvSpPr>
        <p:spPr>
          <a:xfrm>
            <a:off x="9123727" y="4093717"/>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43" name="Text Placeholder 4">
            <a:extLst>
              <a:ext uri="{FF2B5EF4-FFF2-40B4-BE49-F238E27FC236}">
                <a16:creationId xmlns:a16="http://schemas.microsoft.com/office/drawing/2014/main" id="{BEDEF4E4-3611-CA6F-3F1C-94341F49E373}"/>
              </a:ext>
            </a:extLst>
          </p:cNvPr>
          <p:cNvSpPr>
            <a:spLocks noGrp="1"/>
          </p:cNvSpPr>
          <p:nvPr>
            <p:ph type="body" sz="quarter" idx="13" hasCustomPrompt="1"/>
          </p:nvPr>
        </p:nvSpPr>
        <p:spPr>
          <a:xfrm>
            <a:off x="6335124" y="4093717"/>
            <a:ext cx="2313210" cy="2103178"/>
          </a:xfrm>
        </p:spPr>
        <p:txBody>
          <a:bodyPr>
            <a:noAutofit/>
          </a:bodyPr>
          <a:lstStyle>
            <a:lvl1pPr marL="0" indent="0" algn="ctr">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a:t>
            </a:r>
          </a:p>
        </p:txBody>
      </p:sp>
      <p:sp>
        <p:nvSpPr>
          <p:cNvPr id="44" name="Text Placeholder 4">
            <a:extLst>
              <a:ext uri="{FF2B5EF4-FFF2-40B4-BE49-F238E27FC236}">
                <a16:creationId xmlns:a16="http://schemas.microsoft.com/office/drawing/2014/main" id="{45EB059A-358A-2FFF-2F7F-A0999E707683}"/>
              </a:ext>
            </a:extLst>
          </p:cNvPr>
          <p:cNvSpPr>
            <a:spLocks noGrp="1"/>
          </p:cNvSpPr>
          <p:nvPr>
            <p:ph type="body" sz="quarter" idx="14" hasCustomPrompt="1"/>
          </p:nvPr>
        </p:nvSpPr>
        <p:spPr>
          <a:xfrm>
            <a:off x="758079" y="3677544"/>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45" name="Text Placeholder 4">
            <a:extLst>
              <a:ext uri="{FF2B5EF4-FFF2-40B4-BE49-F238E27FC236}">
                <a16:creationId xmlns:a16="http://schemas.microsoft.com/office/drawing/2014/main" id="{EF5AAB1A-8DDA-1173-61AB-FF7B2149BB0F}"/>
              </a:ext>
            </a:extLst>
          </p:cNvPr>
          <p:cNvSpPr>
            <a:spLocks noGrp="1"/>
          </p:cNvSpPr>
          <p:nvPr>
            <p:ph type="body" sz="quarter" idx="15" hasCustomPrompt="1"/>
          </p:nvPr>
        </p:nvSpPr>
        <p:spPr>
          <a:xfrm>
            <a:off x="3546522" y="3677544"/>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46" name="Text Placeholder 4">
            <a:extLst>
              <a:ext uri="{FF2B5EF4-FFF2-40B4-BE49-F238E27FC236}">
                <a16:creationId xmlns:a16="http://schemas.microsoft.com/office/drawing/2014/main" id="{040DC17D-500B-3268-EB51-32F3EBCCD34A}"/>
              </a:ext>
            </a:extLst>
          </p:cNvPr>
          <p:cNvSpPr>
            <a:spLocks noGrp="1"/>
          </p:cNvSpPr>
          <p:nvPr>
            <p:ph type="body" sz="quarter" idx="16" hasCustomPrompt="1"/>
          </p:nvPr>
        </p:nvSpPr>
        <p:spPr>
          <a:xfrm>
            <a:off x="6335124" y="3677544"/>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47" name="Text Placeholder 4">
            <a:extLst>
              <a:ext uri="{FF2B5EF4-FFF2-40B4-BE49-F238E27FC236}">
                <a16:creationId xmlns:a16="http://schemas.microsoft.com/office/drawing/2014/main" id="{79BF6730-D396-1214-46CA-0690745DC949}"/>
              </a:ext>
            </a:extLst>
          </p:cNvPr>
          <p:cNvSpPr>
            <a:spLocks noGrp="1"/>
          </p:cNvSpPr>
          <p:nvPr>
            <p:ph type="body" sz="quarter" idx="17" hasCustomPrompt="1"/>
          </p:nvPr>
        </p:nvSpPr>
        <p:spPr>
          <a:xfrm>
            <a:off x="9123727" y="3677544"/>
            <a:ext cx="2313210" cy="276999"/>
          </a:xfrm>
        </p:spPr>
        <p:txBody>
          <a:bodyPr>
            <a:spAutoFit/>
          </a:bodyPr>
          <a:lstStyle>
            <a:lvl1pPr marL="0" indent="0" algn="ctr">
              <a:buSzPct val="100000"/>
              <a:buFont typeface="Arial" panose="020B0604020202020204" pitchFamily="34" charset="0"/>
              <a:buNone/>
              <a:defRPr sz="1800">
                <a:solidFill>
                  <a:schemeClr val="accent1"/>
                </a:solidFill>
                <a:latin typeface="+mj-lt"/>
              </a:defRPr>
            </a:lvl1pPr>
          </a:lstStyle>
          <a:p>
            <a:pPr lvl="0"/>
            <a:r>
              <a:rPr lang="en-US"/>
              <a:t>Lorem ipsum</a:t>
            </a:r>
          </a:p>
        </p:txBody>
      </p:sp>
      <p:sp>
        <p:nvSpPr>
          <p:cNvPr id="48" name="Title 1">
            <a:extLst>
              <a:ext uri="{FF2B5EF4-FFF2-40B4-BE49-F238E27FC236}">
                <a16:creationId xmlns:a16="http://schemas.microsoft.com/office/drawing/2014/main" id="{AD4D7402-B83D-6A0C-30F5-B0C66EFAE971}"/>
              </a:ext>
            </a:extLst>
          </p:cNvPr>
          <p:cNvSpPr>
            <a:spLocks noGrp="1"/>
          </p:cNvSpPr>
          <p:nvPr>
            <p:ph type="title"/>
          </p:nvPr>
        </p:nvSpPr>
        <p:spPr>
          <a:xfrm>
            <a:off x="588263" y="457200"/>
            <a:ext cx="11018520" cy="492443"/>
          </a:xfrm>
        </p:spPr>
        <p:txBody>
          <a:bodyPr/>
          <a:lstStyle>
            <a:lvl1pPr>
              <a:defRPr sz="3200"/>
            </a:lvl1pPr>
          </a:lstStyle>
          <a:p>
            <a:r>
              <a:rPr lang="en-US"/>
              <a:t>Click to edit Master title style</a:t>
            </a:r>
          </a:p>
        </p:txBody>
      </p:sp>
      <p:sp>
        <p:nvSpPr>
          <p:cNvPr id="56" name="Picture Placeholder 55">
            <a:extLst>
              <a:ext uri="{FF2B5EF4-FFF2-40B4-BE49-F238E27FC236}">
                <a16:creationId xmlns:a16="http://schemas.microsoft.com/office/drawing/2014/main" id="{89BB5E4B-ECCB-89F3-38BD-F38184A39D0D}"/>
              </a:ext>
            </a:extLst>
          </p:cNvPr>
          <p:cNvSpPr>
            <a:spLocks noGrp="1"/>
          </p:cNvSpPr>
          <p:nvPr>
            <p:ph type="pic" sz="quarter" idx="19"/>
          </p:nvPr>
        </p:nvSpPr>
        <p:spPr>
          <a:xfrm>
            <a:off x="8954612" y="1457138"/>
            <a:ext cx="2651442" cy="2052069"/>
          </a:xfrm>
          <a:custGeom>
            <a:avLst/>
            <a:gdLst>
              <a:gd name="connsiteX0" fmla="*/ 182614 w 2651442"/>
              <a:gd name="connsiteY0" fmla="*/ 0 h 2052069"/>
              <a:gd name="connsiteX1" fmla="*/ 2468828 w 2651442"/>
              <a:gd name="connsiteY1" fmla="*/ 0 h 2052069"/>
              <a:gd name="connsiteX2" fmla="*/ 2651442 w 2651442"/>
              <a:gd name="connsiteY2" fmla="*/ 182614 h 2052069"/>
              <a:gd name="connsiteX3" fmla="*/ 2651442 w 2651442"/>
              <a:gd name="connsiteY3" fmla="*/ 1869455 h 2052069"/>
              <a:gd name="connsiteX4" fmla="*/ 2468828 w 2651442"/>
              <a:gd name="connsiteY4" fmla="*/ 2052069 h 2052069"/>
              <a:gd name="connsiteX5" fmla="*/ 1747364 w 2651442"/>
              <a:gd name="connsiteY5" fmla="*/ 2052069 h 2052069"/>
              <a:gd name="connsiteX6" fmla="*/ 1718201 w 2651442"/>
              <a:gd name="connsiteY6" fmla="*/ 2022906 h 2052069"/>
              <a:gd name="connsiteX7" fmla="*/ 933241 w 2651442"/>
              <a:gd name="connsiteY7" fmla="*/ 2022906 h 2052069"/>
              <a:gd name="connsiteX8" fmla="*/ 904078 w 2651442"/>
              <a:gd name="connsiteY8" fmla="*/ 2052069 h 2052069"/>
              <a:gd name="connsiteX9" fmla="*/ 182614 w 2651442"/>
              <a:gd name="connsiteY9" fmla="*/ 2052069 h 2052069"/>
              <a:gd name="connsiteX10" fmla="*/ 0 w 2651442"/>
              <a:gd name="connsiteY10" fmla="*/ 1869455 h 2052069"/>
              <a:gd name="connsiteX11" fmla="*/ 0 w 2651442"/>
              <a:gd name="connsiteY11" fmla="*/ 182614 h 2052069"/>
              <a:gd name="connsiteX12" fmla="*/ 182614 w 2651442"/>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1442" h="2052069">
                <a:moveTo>
                  <a:pt x="182614" y="0"/>
                </a:moveTo>
                <a:lnTo>
                  <a:pt x="2468828" y="0"/>
                </a:lnTo>
                <a:cubicBezTo>
                  <a:pt x="2569683" y="0"/>
                  <a:pt x="2651442" y="81759"/>
                  <a:pt x="2651442" y="182614"/>
                </a:cubicBezTo>
                <a:lnTo>
                  <a:pt x="2651442" y="1869455"/>
                </a:lnTo>
                <a:cubicBezTo>
                  <a:pt x="2651442" y="1970310"/>
                  <a:pt x="2569683" y="2052069"/>
                  <a:pt x="2468828" y="2052069"/>
                </a:cubicBezTo>
                <a:lnTo>
                  <a:pt x="1747364" y="2052069"/>
                </a:lnTo>
                <a:cubicBezTo>
                  <a:pt x="1747364" y="2035963"/>
                  <a:pt x="1734307" y="2022906"/>
                  <a:pt x="1718201" y="2022906"/>
                </a:cubicBezTo>
                <a:lnTo>
                  <a:pt x="933241" y="2022906"/>
                </a:lnTo>
                <a:cubicBezTo>
                  <a:pt x="917135" y="2022906"/>
                  <a:pt x="904078" y="2035963"/>
                  <a:pt x="904078"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57" name="Picture Placeholder 56">
            <a:extLst>
              <a:ext uri="{FF2B5EF4-FFF2-40B4-BE49-F238E27FC236}">
                <a16:creationId xmlns:a16="http://schemas.microsoft.com/office/drawing/2014/main" id="{29DDA1D4-E2BC-D14D-14FB-E9664C30E8CC}"/>
              </a:ext>
            </a:extLst>
          </p:cNvPr>
          <p:cNvSpPr>
            <a:spLocks noGrp="1"/>
          </p:cNvSpPr>
          <p:nvPr>
            <p:ph type="pic" sz="quarter" idx="20"/>
          </p:nvPr>
        </p:nvSpPr>
        <p:spPr>
          <a:xfrm>
            <a:off x="6166008" y="1457138"/>
            <a:ext cx="2651442" cy="2052069"/>
          </a:xfrm>
          <a:custGeom>
            <a:avLst/>
            <a:gdLst>
              <a:gd name="connsiteX0" fmla="*/ 182614 w 2651442"/>
              <a:gd name="connsiteY0" fmla="*/ 0 h 2052069"/>
              <a:gd name="connsiteX1" fmla="*/ 2468828 w 2651442"/>
              <a:gd name="connsiteY1" fmla="*/ 0 h 2052069"/>
              <a:gd name="connsiteX2" fmla="*/ 2651442 w 2651442"/>
              <a:gd name="connsiteY2" fmla="*/ 182614 h 2052069"/>
              <a:gd name="connsiteX3" fmla="*/ 2651442 w 2651442"/>
              <a:gd name="connsiteY3" fmla="*/ 1869455 h 2052069"/>
              <a:gd name="connsiteX4" fmla="*/ 2468828 w 2651442"/>
              <a:gd name="connsiteY4" fmla="*/ 2052069 h 2052069"/>
              <a:gd name="connsiteX5" fmla="*/ 1747364 w 2651442"/>
              <a:gd name="connsiteY5" fmla="*/ 2052069 h 2052069"/>
              <a:gd name="connsiteX6" fmla="*/ 1718201 w 2651442"/>
              <a:gd name="connsiteY6" fmla="*/ 2022906 h 2052069"/>
              <a:gd name="connsiteX7" fmla="*/ 933241 w 2651442"/>
              <a:gd name="connsiteY7" fmla="*/ 2022906 h 2052069"/>
              <a:gd name="connsiteX8" fmla="*/ 904078 w 2651442"/>
              <a:gd name="connsiteY8" fmla="*/ 2052069 h 2052069"/>
              <a:gd name="connsiteX9" fmla="*/ 182614 w 2651442"/>
              <a:gd name="connsiteY9" fmla="*/ 2052069 h 2052069"/>
              <a:gd name="connsiteX10" fmla="*/ 0 w 2651442"/>
              <a:gd name="connsiteY10" fmla="*/ 1869455 h 2052069"/>
              <a:gd name="connsiteX11" fmla="*/ 0 w 2651442"/>
              <a:gd name="connsiteY11" fmla="*/ 182614 h 2052069"/>
              <a:gd name="connsiteX12" fmla="*/ 182614 w 2651442"/>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1442" h="2052069">
                <a:moveTo>
                  <a:pt x="182614" y="0"/>
                </a:moveTo>
                <a:lnTo>
                  <a:pt x="2468828" y="0"/>
                </a:lnTo>
                <a:cubicBezTo>
                  <a:pt x="2569683" y="0"/>
                  <a:pt x="2651442" y="81759"/>
                  <a:pt x="2651442" y="182614"/>
                </a:cubicBezTo>
                <a:lnTo>
                  <a:pt x="2651442" y="1869455"/>
                </a:lnTo>
                <a:cubicBezTo>
                  <a:pt x="2651442" y="1970310"/>
                  <a:pt x="2569683" y="2052069"/>
                  <a:pt x="2468828" y="2052069"/>
                </a:cubicBezTo>
                <a:lnTo>
                  <a:pt x="1747364" y="2052069"/>
                </a:lnTo>
                <a:cubicBezTo>
                  <a:pt x="1747364" y="2035963"/>
                  <a:pt x="1734307" y="2022906"/>
                  <a:pt x="1718201" y="2022906"/>
                </a:cubicBezTo>
                <a:lnTo>
                  <a:pt x="933241" y="2022906"/>
                </a:lnTo>
                <a:cubicBezTo>
                  <a:pt x="917135" y="2022906"/>
                  <a:pt x="904078" y="2035963"/>
                  <a:pt x="904078"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
        <p:nvSpPr>
          <p:cNvPr id="58" name="Picture Placeholder 57">
            <a:extLst>
              <a:ext uri="{FF2B5EF4-FFF2-40B4-BE49-F238E27FC236}">
                <a16:creationId xmlns:a16="http://schemas.microsoft.com/office/drawing/2014/main" id="{3424BFD4-4318-C1DE-F0B1-570927E9E20E}"/>
              </a:ext>
            </a:extLst>
          </p:cNvPr>
          <p:cNvSpPr>
            <a:spLocks noGrp="1"/>
          </p:cNvSpPr>
          <p:nvPr>
            <p:ph type="pic" sz="quarter" idx="21"/>
          </p:nvPr>
        </p:nvSpPr>
        <p:spPr>
          <a:xfrm>
            <a:off x="3377406" y="1457138"/>
            <a:ext cx="2651442" cy="2052069"/>
          </a:xfrm>
          <a:custGeom>
            <a:avLst/>
            <a:gdLst>
              <a:gd name="connsiteX0" fmla="*/ 182614 w 2651442"/>
              <a:gd name="connsiteY0" fmla="*/ 0 h 2052069"/>
              <a:gd name="connsiteX1" fmla="*/ 2468828 w 2651442"/>
              <a:gd name="connsiteY1" fmla="*/ 0 h 2052069"/>
              <a:gd name="connsiteX2" fmla="*/ 2651442 w 2651442"/>
              <a:gd name="connsiteY2" fmla="*/ 182614 h 2052069"/>
              <a:gd name="connsiteX3" fmla="*/ 2651442 w 2651442"/>
              <a:gd name="connsiteY3" fmla="*/ 1869455 h 2052069"/>
              <a:gd name="connsiteX4" fmla="*/ 2468828 w 2651442"/>
              <a:gd name="connsiteY4" fmla="*/ 2052069 h 2052069"/>
              <a:gd name="connsiteX5" fmla="*/ 1747364 w 2651442"/>
              <a:gd name="connsiteY5" fmla="*/ 2052069 h 2052069"/>
              <a:gd name="connsiteX6" fmla="*/ 1718201 w 2651442"/>
              <a:gd name="connsiteY6" fmla="*/ 2022906 h 2052069"/>
              <a:gd name="connsiteX7" fmla="*/ 933241 w 2651442"/>
              <a:gd name="connsiteY7" fmla="*/ 2022906 h 2052069"/>
              <a:gd name="connsiteX8" fmla="*/ 904078 w 2651442"/>
              <a:gd name="connsiteY8" fmla="*/ 2052069 h 2052069"/>
              <a:gd name="connsiteX9" fmla="*/ 182614 w 2651442"/>
              <a:gd name="connsiteY9" fmla="*/ 2052069 h 2052069"/>
              <a:gd name="connsiteX10" fmla="*/ 0 w 2651442"/>
              <a:gd name="connsiteY10" fmla="*/ 1869455 h 2052069"/>
              <a:gd name="connsiteX11" fmla="*/ 0 w 2651442"/>
              <a:gd name="connsiteY11" fmla="*/ 182614 h 2052069"/>
              <a:gd name="connsiteX12" fmla="*/ 182614 w 2651442"/>
              <a:gd name="connsiteY12" fmla="*/ 0 h 20520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51442" h="2052069">
                <a:moveTo>
                  <a:pt x="182614" y="0"/>
                </a:moveTo>
                <a:lnTo>
                  <a:pt x="2468828" y="0"/>
                </a:lnTo>
                <a:cubicBezTo>
                  <a:pt x="2569683" y="0"/>
                  <a:pt x="2651442" y="81759"/>
                  <a:pt x="2651442" y="182614"/>
                </a:cubicBezTo>
                <a:lnTo>
                  <a:pt x="2651442" y="1869455"/>
                </a:lnTo>
                <a:cubicBezTo>
                  <a:pt x="2651442" y="1970310"/>
                  <a:pt x="2569683" y="2052069"/>
                  <a:pt x="2468828" y="2052069"/>
                </a:cubicBezTo>
                <a:lnTo>
                  <a:pt x="1747364" y="2052069"/>
                </a:lnTo>
                <a:cubicBezTo>
                  <a:pt x="1747364" y="2035963"/>
                  <a:pt x="1734307" y="2022906"/>
                  <a:pt x="1718201" y="2022906"/>
                </a:cubicBezTo>
                <a:lnTo>
                  <a:pt x="933241" y="2022906"/>
                </a:lnTo>
                <a:cubicBezTo>
                  <a:pt x="917135" y="2022906"/>
                  <a:pt x="904078" y="2035963"/>
                  <a:pt x="904078" y="2052069"/>
                </a:cubicBezTo>
                <a:lnTo>
                  <a:pt x="182614" y="2052069"/>
                </a:lnTo>
                <a:cubicBezTo>
                  <a:pt x="81759" y="2052069"/>
                  <a:pt x="0" y="1970310"/>
                  <a:pt x="0" y="1869455"/>
                </a:cubicBezTo>
                <a:lnTo>
                  <a:pt x="0" y="182614"/>
                </a:lnTo>
                <a:cubicBezTo>
                  <a:pt x="0" y="81759"/>
                  <a:pt x="81759" y="0"/>
                  <a:pt x="182614" y="0"/>
                </a:cubicBezTo>
                <a:close/>
              </a:path>
            </a:pathLst>
          </a:custGeom>
          <a:solidFill>
            <a:schemeClr val="tx1"/>
          </a:solidFill>
        </p:spPr>
        <p:txBody>
          <a:bodyPr wrap="square">
            <a:noAutofit/>
          </a:bodyPr>
          <a:lstStyle/>
          <a:p>
            <a:endParaRPr lang="en-US"/>
          </a:p>
        </p:txBody>
      </p:sp>
    </p:spTree>
    <p:extLst>
      <p:ext uri="{BB962C8B-B14F-4D97-AF65-F5344CB8AC3E}">
        <p14:creationId xmlns:p14="http://schemas.microsoft.com/office/powerpoint/2010/main" val="375326033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w/image_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5D2AD6C-62DD-326E-4471-0D7041BF8A5F}"/>
              </a:ext>
            </a:extLst>
          </p:cNvPr>
          <p:cNvSpPr>
            <a:spLocks/>
          </p:cNvSpPr>
          <p:nvPr userDrawn="1"/>
        </p:nvSpPr>
        <p:spPr bwMode="auto">
          <a:xfrm>
            <a:off x="0" y="0"/>
            <a:ext cx="12191999" cy="2554514"/>
          </a:xfrm>
          <a:prstGeom prst="rect">
            <a:avLst/>
          </a:pr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err="1">
              <a:solidFill>
                <a:schemeClr val="bg1"/>
              </a:solidFill>
              <a:cs typeface="Segoe UI" pitchFamily="34" charset="0"/>
            </a:endParaRPr>
          </a:p>
        </p:txBody>
      </p:sp>
      <p:pic>
        <p:nvPicPr>
          <p:cNvPr id="7" name="Picture 6" descr="A silver shield with text and stars&#10;&#10;AI-generated content may be incorrect.">
            <a:extLst>
              <a:ext uri="{FF2B5EF4-FFF2-40B4-BE49-F238E27FC236}">
                <a16:creationId xmlns:a16="http://schemas.microsoft.com/office/drawing/2014/main" id="{0D876B40-D15D-C715-A49D-E4102F02F601}"/>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pic>
        <p:nvPicPr>
          <p:cNvPr id="36" name="Picture 35" descr="A silver shield with text and stars&#10;&#10;AI-generated content may be incorrect.">
            <a:extLst>
              <a:ext uri="{FF2B5EF4-FFF2-40B4-BE49-F238E27FC236}">
                <a16:creationId xmlns:a16="http://schemas.microsoft.com/office/drawing/2014/main" id="{74FF1801-287D-2733-9928-4E90A7D39335}"/>
              </a:ext>
            </a:extLst>
          </p:cNvPr>
          <p:cNvPicPr>
            <a:picLocks noChangeAspect="1"/>
          </p:cNvPicPr>
          <p:nvPr userDrawn="1"/>
        </p:nvPicPr>
        <p:blipFill>
          <a:blip r:embed="rId2">
            <a:alphaModFix/>
          </a:blip>
          <a:srcRect l="3844" t="2514" r="4223" b="5918"/>
          <a:stretch>
            <a:fillRect/>
          </a:stretch>
        </p:blipFill>
        <p:spPr>
          <a:xfrm>
            <a:off x="11385550" y="288925"/>
            <a:ext cx="512761" cy="510720"/>
          </a:xfrm>
          <a:prstGeom prst="rect">
            <a:avLst/>
          </a:prstGeom>
          <a:effectLst/>
        </p:spPr>
      </p:pic>
      <p:sp>
        <p:nvSpPr>
          <p:cNvPr id="6" name="Title 1">
            <a:extLst>
              <a:ext uri="{FF2B5EF4-FFF2-40B4-BE49-F238E27FC236}">
                <a16:creationId xmlns:a16="http://schemas.microsoft.com/office/drawing/2014/main" id="{AD4D7402-B83D-6A0C-30F5-B0C66EFAE971}"/>
              </a:ext>
            </a:extLst>
          </p:cNvPr>
          <p:cNvSpPr>
            <a:spLocks noGrp="1"/>
          </p:cNvSpPr>
          <p:nvPr>
            <p:ph type="title"/>
          </p:nvPr>
        </p:nvSpPr>
        <p:spPr>
          <a:xfrm>
            <a:off x="588962" y="457200"/>
            <a:ext cx="5013551" cy="1969770"/>
          </a:xfrm>
        </p:spPr>
        <p:txBody>
          <a:bodyPr anchor="ctr">
            <a:noAutofit/>
          </a:bodyPr>
          <a:lstStyle>
            <a:lvl1pPr>
              <a:defRPr sz="3200"/>
            </a:lvl1pPr>
          </a:lstStyle>
          <a:p>
            <a:r>
              <a:rPr lang="en-US"/>
              <a:t>Click to edit Master title style</a:t>
            </a:r>
          </a:p>
        </p:txBody>
      </p:sp>
      <p:sp>
        <p:nvSpPr>
          <p:cNvPr id="8" name="Picture Placeholder 7">
            <a:extLst>
              <a:ext uri="{FF2B5EF4-FFF2-40B4-BE49-F238E27FC236}">
                <a16:creationId xmlns:a16="http://schemas.microsoft.com/office/drawing/2014/main" id="{DBF25F7E-90DE-53E5-6AF2-028A9766FEC7}"/>
              </a:ext>
            </a:extLst>
          </p:cNvPr>
          <p:cNvSpPr>
            <a:spLocks noGrp="1"/>
          </p:cNvSpPr>
          <p:nvPr>
            <p:ph type="pic" sz="quarter" idx="18"/>
          </p:nvPr>
        </p:nvSpPr>
        <p:spPr>
          <a:xfrm>
            <a:off x="5951538" y="914399"/>
            <a:ext cx="5651499" cy="5448301"/>
          </a:xfrm>
          <a:prstGeom prst="roundRect">
            <a:avLst>
              <a:gd name="adj" fmla="val 4628"/>
            </a:avLst>
          </a:prstGeom>
          <a:solidFill>
            <a:schemeClr val="tx1"/>
          </a:solidFill>
        </p:spPr>
        <p:txBody>
          <a:bodyPr wrap="square">
            <a:noAutofit/>
          </a:bodyPr>
          <a:lstStyle/>
          <a:p>
            <a:endParaRPr lang="en-US"/>
          </a:p>
        </p:txBody>
      </p:sp>
      <p:sp>
        <p:nvSpPr>
          <p:cNvPr id="10" name="Text Placeholder 4">
            <a:extLst>
              <a:ext uri="{FF2B5EF4-FFF2-40B4-BE49-F238E27FC236}">
                <a16:creationId xmlns:a16="http://schemas.microsoft.com/office/drawing/2014/main" id="{0FD73285-18EC-21BC-10D1-EA49A3081FB2}"/>
              </a:ext>
            </a:extLst>
          </p:cNvPr>
          <p:cNvSpPr>
            <a:spLocks noGrp="1"/>
          </p:cNvSpPr>
          <p:nvPr>
            <p:ph type="body" sz="quarter" idx="10" hasCustomPrompt="1"/>
          </p:nvPr>
        </p:nvSpPr>
        <p:spPr>
          <a:xfrm>
            <a:off x="588962" y="2843711"/>
            <a:ext cx="5013552" cy="3077766"/>
          </a:xfrm>
        </p:spPr>
        <p:txBody>
          <a:bodyPr>
            <a:noAutofit/>
          </a:bodyPr>
          <a:lstStyle>
            <a:lvl1pPr marL="0" indent="0" algn="l">
              <a:buSzPct val="100000"/>
              <a:buFont typeface="Arial" panose="020B0604020202020204" pitchFamily="34" charset="0"/>
              <a:buNone/>
              <a:defRPr sz="1600">
                <a:latin typeface="+mn-lt"/>
              </a:defRPr>
            </a:lvl1pPr>
          </a:lstStyle>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r>
              <a:rPr lang="en-US" err="1"/>
              <a:t>purus</a:t>
            </a:r>
            <a:r>
              <a:rPr lang="en-US"/>
              <a:t> </a:t>
            </a:r>
            <a:r>
              <a:rPr lang="en-US" err="1"/>
              <a:t>lectus</a:t>
            </a:r>
            <a:r>
              <a:rPr lang="en-US"/>
              <a:t> </a:t>
            </a:r>
            <a:r>
              <a:rPr lang="en-US" err="1"/>
              <a:t>malesuada</a:t>
            </a:r>
            <a:r>
              <a:rPr lang="en-US"/>
              <a:t> libero, sit </a:t>
            </a:r>
            <a:r>
              <a:rPr lang="en-US" err="1"/>
              <a:t>amet</a:t>
            </a:r>
            <a:r>
              <a:rPr lang="en-US"/>
              <a:t> </a:t>
            </a:r>
            <a:r>
              <a:rPr lang="en-US" err="1"/>
              <a:t>commodo</a:t>
            </a:r>
            <a:r>
              <a:rPr lang="en-US"/>
              <a:t> magna eros </a:t>
            </a:r>
            <a:r>
              <a:rPr lang="en-US" err="1"/>
              <a:t>quis</a:t>
            </a:r>
            <a:r>
              <a:rPr lang="en-US"/>
              <a:t> </a:t>
            </a:r>
            <a:r>
              <a:rPr lang="en-US" err="1"/>
              <a:t>urna</a:t>
            </a:r>
            <a:r>
              <a:rPr lang="en-US"/>
              <a:t>.</a:t>
            </a:r>
          </a:p>
          <a:p>
            <a:pPr lvl="0"/>
            <a:r>
              <a:rPr lang="en-US"/>
              <a:t>Nunc </a:t>
            </a:r>
            <a:r>
              <a:rPr lang="en-US" err="1"/>
              <a:t>viverra</a:t>
            </a:r>
            <a:r>
              <a:rPr lang="en-US"/>
              <a:t> </a:t>
            </a:r>
            <a:r>
              <a:rPr lang="en-US" err="1"/>
              <a:t>imperdiet</a:t>
            </a:r>
            <a:r>
              <a:rPr lang="en-US"/>
              <a:t> </a:t>
            </a:r>
            <a:r>
              <a:rPr lang="en-US" err="1"/>
              <a:t>enim</a:t>
            </a:r>
            <a:r>
              <a:rPr lang="en-US"/>
              <a:t>. </a:t>
            </a:r>
            <a:r>
              <a:rPr lang="en-US" err="1"/>
              <a:t>Fusce</a:t>
            </a:r>
            <a:r>
              <a:rPr lang="en-US"/>
              <a:t> est. </a:t>
            </a:r>
            <a:r>
              <a:rPr lang="en-US" err="1"/>
              <a:t>Vivamus</a:t>
            </a:r>
            <a:r>
              <a:rPr lang="en-US"/>
              <a:t> a </a:t>
            </a:r>
            <a:r>
              <a:rPr lang="en-US" err="1"/>
              <a:t>tellus</a:t>
            </a:r>
            <a:r>
              <a:rPr lang="en-US"/>
              <a:t>.</a:t>
            </a:r>
          </a:p>
          <a:p>
            <a:pPr lvl="0"/>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Maecenas </a:t>
            </a:r>
            <a:r>
              <a:rPr lang="en-US" err="1"/>
              <a:t>porttitor</a:t>
            </a:r>
            <a:r>
              <a:rPr lang="en-US"/>
              <a:t> </a:t>
            </a:r>
            <a:r>
              <a:rPr lang="en-US" err="1"/>
              <a:t>congue</a:t>
            </a:r>
            <a:r>
              <a:rPr lang="en-US"/>
              <a:t> </a:t>
            </a:r>
            <a:r>
              <a:rPr lang="en-US" err="1"/>
              <a:t>massa</a:t>
            </a:r>
            <a:r>
              <a:rPr lang="en-US"/>
              <a:t>. </a:t>
            </a:r>
            <a:r>
              <a:rPr lang="en-US" err="1"/>
              <a:t>Fusce</a:t>
            </a:r>
            <a:r>
              <a:rPr lang="en-US"/>
              <a:t> </a:t>
            </a:r>
            <a:r>
              <a:rPr lang="en-US" err="1"/>
              <a:t>posuere</a:t>
            </a:r>
            <a:r>
              <a:rPr lang="en-US"/>
              <a:t>, magna sed pulvinar </a:t>
            </a:r>
            <a:r>
              <a:rPr lang="en-US" err="1"/>
              <a:t>ultricies</a:t>
            </a:r>
            <a:r>
              <a:rPr lang="en-US"/>
              <a:t>, </a:t>
            </a:r>
          </a:p>
        </p:txBody>
      </p:sp>
    </p:spTree>
    <p:extLst>
      <p:ext uri="{BB962C8B-B14F-4D97-AF65-F5344CB8AC3E}">
        <p14:creationId xmlns:p14="http://schemas.microsoft.com/office/powerpoint/2010/main" val="25603212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Background">
    <p:bg>
      <p:bgPr>
        <a:solidFill>
          <a:srgbClr val="8DC8E8"/>
        </a:solidFill>
        <a:effectLst/>
      </p:bgPr>
    </p:bg>
    <p:spTree>
      <p:nvGrpSpPr>
        <p:cNvPr id="1" name=""/>
        <p:cNvGrpSpPr/>
        <p:nvPr/>
      </p:nvGrpSpPr>
      <p:grpSpPr>
        <a:xfrm>
          <a:off x="0" y="0"/>
          <a:ext cx="0" cy="0"/>
          <a:chOff x="0" y="0"/>
          <a:chExt cx="0" cy="0"/>
        </a:xfrm>
      </p:grpSpPr>
      <p:pic>
        <p:nvPicPr>
          <p:cNvPr id="3" name="Picture 2" descr="A blue and purple gradient&#10;&#10;AI-generated content may be incorrect.">
            <a:extLst>
              <a:ext uri="{FF2B5EF4-FFF2-40B4-BE49-F238E27FC236}">
                <a16:creationId xmlns:a16="http://schemas.microsoft.com/office/drawing/2014/main" id="{9D34C299-A8B5-1F05-90DB-A9EC230E988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266592459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2_Closing logo slide">
    <p:bg>
      <p:bgRef idx="1001">
        <a:schemeClr val="bg1"/>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Picture 4" descr="A logo on a black background&#10;&#10;AI-generated content may be incorrect.">
            <a:extLst>
              <a:ext uri="{FF2B5EF4-FFF2-40B4-BE49-F238E27FC236}">
                <a16:creationId xmlns:a16="http://schemas.microsoft.com/office/drawing/2014/main" id="{54C58BD3-CDE2-2472-5B17-4AA60F1F084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81353" y="290130"/>
            <a:ext cx="1972133" cy="883924"/>
          </a:xfrm>
          <a:prstGeom prst="rect">
            <a:avLst/>
          </a:prstGeom>
        </p:spPr>
      </p:pic>
    </p:spTree>
    <p:extLst>
      <p:ext uri="{BB962C8B-B14F-4D97-AF65-F5344CB8AC3E}">
        <p14:creationId xmlns:p14="http://schemas.microsoft.com/office/powerpoint/2010/main" val="3772285275"/>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Closing logo slide">
    <p:bg>
      <p:bgPr>
        <a:solidFill>
          <a:srgbClr val="8DC8E8"/>
        </a:solidFill>
        <a:effectLst/>
      </p:bgPr>
    </p:bg>
    <p:spTree>
      <p:nvGrpSpPr>
        <p:cNvPr id="1" name=""/>
        <p:cNvGrpSpPr/>
        <p:nvPr/>
      </p:nvGrpSpPr>
      <p:grpSpPr>
        <a:xfrm>
          <a:off x="0" y="0"/>
          <a:ext cx="0" cy="0"/>
          <a:chOff x="0" y="0"/>
          <a:chExt cx="0" cy="0"/>
        </a:xfrm>
      </p:grpSpPr>
      <p:pic>
        <p:nvPicPr>
          <p:cNvPr id="4" name="Picture 3" descr="A blue and purple gradient&#10;&#10;AI-generated content may be incorrect.">
            <a:extLst>
              <a:ext uri="{FF2B5EF4-FFF2-40B4-BE49-F238E27FC236}">
                <a16:creationId xmlns:a16="http://schemas.microsoft.com/office/drawing/2014/main" id="{62FC192E-09BB-FE87-78D1-A92D398174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ext Box 3" descr="This is a copyright notice that should be included on the final slide."/>
          <p:cNvSpPr txBox="1">
            <a:spLocks noChangeArrowheads="1"/>
          </p:cNvSpPr>
          <p:nvPr/>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7" name="Picture 6" descr="A logo on a black background&#10;&#10;AI-generated content may be incorrect.">
            <a:extLst>
              <a:ext uri="{FF2B5EF4-FFF2-40B4-BE49-F238E27FC236}">
                <a16:creationId xmlns:a16="http://schemas.microsoft.com/office/drawing/2014/main" id="{E7C4D62F-7870-ABCC-2805-88859CA8EE8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281353" y="290130"/>
            <a:ext cx="1972133" cy="883924"/>
          </a:xfrm>
          <a:prstGeom prst="rect">
            <a:avLst/>
          </a:prstGeom>
        </p:spPr>
      </p:pic>
    </p:spTree>
    <p:extLst>
      <p:ext uri="{BB962C8B-B14F-4D97-AF65-F5344CB8AC3E}">
        <p14:creationId xmlns:p14="http://schemas.microsoft.com/office/powerpoint/2010/main" val="1909341843"/>
      </p:ext>
    </p:extLst>
  </p:cSld>
  <p:clrMapOvr>
    <a:overrideClrMapping bg1="dk1" tx1="lt1" bg2="dk2" tx2="lt2" accent1="accent1" accent2="accent2" accent3="accent3" accent4="accent4" accent5="accent5" accent6="accent6" hlink="hlink" folHlink="folHlink"/>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144" name="Graphic 143">
            <a:extLst>
              <a:ext uri="{FF2B5EF4-FFF2-40B4-BE49-F238E27FC236}">
                <a16:creationId xmlns:a16="http://schemas.microsoft.com/office/drawing/2014/main" id="{55FCE7D5-5796-0746-3173-EB75FBE85E45}"/>
              </a:ext>
            </a:extLst>
          </p:cNvPr>
          <p:cNvPicPr>
            <a:picLocks noChangeAspect="1"/>
          </p:cNvPicPr>
          <p:nvPr/>
        </p:nvPicPr>
        <p:blipFill>
          <a:blip r:embed="rId15">
            <a:extLst>
              <a:ext uri="{96DAC541-7B7A-43D3-8B79-37D633B846F1}">
                <asvg:svgBlip xmlns:asvg="http://schemas.microsoft.com/office/drawing/2016/SVG/main" r:embed="rId16"/>
              </a:ext>
            </a:extLst>
          </a:blip>
          <a:srcRect/>
          <a:stretch/>
        </p:blipFill>
        <p:spPr>
          <a:xfrm rot="5400000">
            <a:off x="9509919" y="2743200"/>
            <a:ext cx="6858000" cy="1371600"/>
          </a:xfrm>
          <a:prstGeom prst="rect">
            <a:avLst/>
          </a:prstGeom>
        </p:spPr>
      </p:pic>
    </p:spTree>
    <p:extLst>
      <p:ext uri="{BB962C8B-B14F-4D97-AF65-F5344CB8AC3E}">
        <p14:creationId xmlns:p14="http://schemas.microsoft.com/office/powerpoint/2010/main" val="2869620834"/>
      </p:ext>
    </p:extLst>
  </p:cSld>
  <p:clrMap bg1="dk1" tx1="lt1" bg2="dk2" tx2="lt2" accent1="accent1" accent2="accent2" accent3="accent3" accent4="accent4" accent5="accent5" accent6="accent6" hlink="hlink" folHlink="folHlink"/>
  <p:sldLayoutIdLst>
    <p:sldLayoutId id="2147486123" r:id="rId1"/>
    <p:sldLayoutId id="2147486035" r:id="rId2"/>
    <p:sldLayoutId id="2147486134" r:id="rId3"/>
    <p:sldLayoutId id="2147486135" r:id="rId4"/>
    <p:sldLayoutId id="2147486136" r:id="rId5"/>
    <p:sldLayoutId id="2147486137" r:id="rId6"/>
    <p:sldLayoutId id="2147486138" r:id="rId7"/>
    <p:sldLayoutId id="2147486139" r:id="rId8"/>
    <p:sldLayoutId id="2147486140" r:id="rId9"/>
    <p:sldLayoutId id="2147486141" r:id="rId10"/>
    <p:sldLayoutId id="2147486142" r:id="rId11"/>
    <p:sldLayoutId id="2147486132" r:id="rId12"/>
    <p:sldLayoutId id="2147486133" r:id="rId1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Aptos SemiBold" panose="020B0004020202020204" pitchFamily="34" charset="0"/>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Aptos" panose="020B0004020202020204" pitchFamily="34" charset="0"/>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Aptos" panose="020B0004020202020204" pitchFamily="34" charset="0"/>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Aptos" panose="020B0004020202020204" pitchFamily="34" charset="0"/>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Aptos" panose="020B0004020202020204" pitchFamily="34" charset="0"/>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Aptos" panose="020B0004020202020204" pitchFamily="34" charset="0"/>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p15:clr>
            <a:srgbClr val="C35EA4"/>
          </p15:clr>
        </p15:guide>
        <p15:guide id="17" pos="7313">
          <p15:clr>
            <a:srgbClr val="C35EA4"/>
          </p15:clr>
        </p15:guide>
        <p15:guide id="25" orient="horz" pos="369">
          <p15:clr>
            <a:srgbClr val="C35EA4"/>
          </p15:clr>
        </p15:guide>
        <p15:guide id="26" orient="horz" pos="3949">
          <p15:clr>
            <a:srgbClr val="C35EA4"/>
          </p15:clr>
        </p15:guide>
        <p15:guide id="27" orient="horz" pos="184">
          <p15:clr>
            <a:srgbClr val="A4A3A4"/>
          </p15:clr>
        </p15:guide>
        <p15:guide id="28" pos="185">
          <p15:clr>
            <a:srgbClr val="A4A3A4"/>
          </p15:clr>
        </p15:guide>
        <p15:guide id="29" orient="horz" pos="4135">
          <p15:clr>
            <a:srgbClr val="A4A3A4"/>
          </p15:clr>
        </p15:guide>
        <p15:guide id="30" pos="7495">
          <p15:clr>
            <a:srgbClr val="A4A3A4"/>
          </p15:clr>
        </p15:guide>
        <p15:guide id="31" orient="horz" pos="400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7.svg"/></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8" Type="http://schemas.openxmlformats.org/officeDocument/2006/relationships/slide" Target="slide22.xml"/><Relationship Id="rId3" Type="http://schemas.openxmlformats.org/officeDocument/2006/relationships/image" Target="../media/image10.png"/><Relationship Id="rId7" Type="http://schemas.openxmlformats.org/officeDocument/2006/relationships/slide" Target="slide19.xml"/><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slide" Target="slide18.xml"/><Relationship Id="rId5" Type="http://schemas.openxmlformats.org/officeDocument/2006/relationships/image" Target="../media/image12.png"/><Relationship Id="rId4" Type="http://schemas.openxmlformats.org/officeDocument/2006/relationships/image" Target="../media/image11.png"/><Relationship Id="rId9" Type="http://schemas.openxmlformats.org/officeDocument/2006/relationships/slide" Target="slide3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diagramData" Target="../diagrams/data3.xml"/><Relationship Id="rId3" Type="http://schemas.openxmlformats.org/officeDocument/2006/relationships/diagramData" Target="../diagrams/data2.xml"/><Relationship Id="rId7" Type="http://schemas.microsoft.com/office/2007/relationships/diagramDrawing" Target="../diagrams/drawing2.xml"/><Relationship Id="rId12" Type="http://schemas.microsoft.com/office/2007/relationships/diagramDrawing" Target="../diagrams/drawing3.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diagramColors" Target="../diagrams/colors3.xml"/><Relationship Id="rId5" Type="http://schemas.openxmlformats.org/officeDocument/2006/relationships/diagramQuickStyle" Target="../diagrams/quickStyle2.xml"/><Relationship Id="rId10" Type="http://schemas.openxmlformats.org/officeDocument/2006/relationships/diagramQuickStyle" Target="../diagrams/quickStyle3.xml"/><Relationship Id="rId4" Type="http://schemas.openxmlformats.org/officeDocument/2006/relationships/diagramLayout" Target="../diagrams/layout2.xml"/><Relationship Id="rId9" Type="http://schemas.openxmlformats.org/officeDocument/2006/relationships/diagramLayout" Target="../diagrams/layout3.xml"/></Relationships>
</file>

<file path=ppt/slides/_rels/slide21.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2.xml.rels><?xml version="1.0" encoding="UTF-8" standalone="yes"?>
<Relationships xmlns="http://schemas.openxmlformats.org/package/2006/relationships"><Relationship Id="rId2" Type="http://schemas.openxmlformats.org/officeDocument/2006/relationships/hyperlink" Target="https://github.com/timothymeyers/zte-agentic-soc/blob/main/docs/AgenticSOC_Architecture.md" TargetMode="Externa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6FFDE-1E40-ABAF-5F22-C160565EAF20}"/>
            </a:ext>
          </a:extLst>
        </p:cNvPr>
        <p:cNvGrpSpPr/>
        <p:nvPr/>
      </p:nvGrpSpPr>
      <p:grpSpPr>
        <a:xfrm>
          <a:off x="0" y="0"/>
          <a:ext cx="0" cy="0"/>
          <a:chOff x="0" y="0"/>
          <a:chExt cx="0" cy="0"/>
        </a:xfrm>
      </p:grpSpPr>
      <p:sp>
        <p:nvSpPr>
          <p:cNvPr id="41" name="Title 40">
            <a:extLst>
              <a:ext uri="{FF2B5EF4-FFF2-40B4-BE49-F238E27FC236}">
                <a16:creationId xmlns:a16="http://schemas.microsoft.com/office/drawing/2014/main" id="{BB02588D-8817-3C9E-6750-F06A7D33A774}"/>
              </a:ext>
            </a:extLst>
          </p:cNvPr>
          <p:cNvSpPr>
            <a:spLocks noGrp="1"/>
          </p:cNvSpPr>
          <p:nvPr>
            <p:ph type="title"/>
          </p:nvPr>
        </p:nvSpPr>
        <p:spPr>
          <a:xfrm>
            <a:off x="572626" y="960701"/>
            <a:ext cx="6540500" cy="2338086"/>
          </a:xfrm>
        </p:spPr>
        <p:txBody>
          <a:bodyPr anchor="b"/>
          <a:lstStyle/>
          <a:p>
            <a:r>
              <a:rPr lang="en-US" sz="4400" b="1" dirty="0">
                <a:latin typeface="Aptos Display" panose="020B0004020202020204" pitchFamily="34" charset="0"/>
              </a:rPr>
              <a:t>Towards an Agentic Security Operations Center</a:t>
            </a:r>
          </a:p>
        </p:txBody>
      </p:sp>
      <p:sp>
        <p:nvSpPr>
          <p:cNvPr id="2" name="Title 40">
            <a:extLst>
              <a:ext uri="{FF2B5EF4-FFF2-40B4-BE49-F238E27FC236}">
                <a16:creationId xmlns:a16="http://schemas.microsoft.com/office/drawing/2014/main" id="{A8D6F8AF-D516-AED2-4FA4-94419DB55DAF}"/>
              </a:ext>
            </a:extLst>
          </p:cNvPr>
          <p:cNvSpPr txBox="1">
            <a:spLocks/>
          </p:cNvSpPr>
          <p:nvPr/>
        </p:nvSpPr>
        <p:spPr>
          <a:xfrm>
            <a:off x="572626" y="3298787"/>
            <a:ext cx="6540500" cy="682906"/>
          </a:xfrm>
          <a:prstGeom prst="rect">
            <a:avLst/>
          </a:prstGeom>
        </p:spPr>
        <p:txBody>
          <a:bodyPr vert="horz" wrap="square" lIns="0" tIns="0" rIns="0" bIns="0" rtlCol="0" anchor="ctr">
            <a:noAutofit/>
          </a:bodyPr>
          <a:lstStyle>
            <a:lvl1pPr algn="l" defTabSz="932742" rtl="0" eaLnBrk="1" latinLnBrk="0" hangingPunct="1">
              <a:lnSpc>
                <a:spcPct val="100000"/>
              </a:lnSpc>
              <a:spcBef>
                <a:spcPct val="0"/>
              </a:spcBef>
              <a:buNone/>
              <a:defRPr lang="en-US" sz="6000" b="0" kern="1200" cap="none" spc="-50" baseline="0">
                <a:ln w="3175">
                  <a:noFill/>
                </a:ln>
                <a:solidFill>
                  <a:schemeClr val="tx1"/>
                </a:solidFill>
                <a:effectLst/>
                <a:latin typeface="Aptos SemiBold" panose="020B0004020202020204" pitchFamily="34" charset="0"/>
                <a:ea typeface="+mn-ea"/>
                <a:cs typeface="Segoe UI" pitchFamily="34" charset="0"/>
              </a:defRPr>
            </a:lvl1pPr>
          </a:lstStyle>
          <a:p>
            <a:r>
              <a:rPr lang="en-US" sz="3200" dirty="0">
                <a:latin typeface="Aptos Display" panose="020B0004020202020204" pitchFamily="34" charset="0"/>
              </a:rPr>
              <a:t>AI-Enhanced Zero Trust Security at Scale</a:t>
            </a:r>
          </a:p>
        </p:txBody>
      </p:sp>
      <p:sp>
        <p:nvSpPr>
          <p:cNvPr id="3" name="Title 40">
            <a:extLst>
              <a:ext uri="{FF2B5EF4-FFF2-40B4-BE49-F238E27FC236}">
                <a16:creationId xmlns:a16="http://schemas.microsoft.com/office/drawing/2014/main" id="{14F95234-1DD0-5F67-4D6D-C97A946841E1}"/>
              </a:ext>
            </a:extLst>
          </p:cNvPr>
          <p:cNvSpPr txBox="1">
            <a:spLocks/>
          </p:cNvSpPr>
          <p:nvPr/>
        </p:nvSpPr>
        <p:spPr>
          <a:xfrm>
            <a:off x="572626" y="4450465"/>
            <a:ext cx="6540500" cy="1076445"/>
          </a:xfrm>
          <a:prstGeom prst="rect">
            <a:avLst/>
          </a:prstGeom>
        </p:spPr>
        <p:txBody>
          <a:bodyPr vert="horz" wrap="square" lIns="0" tIns="0" rIns="0" bIns="0" rtlCol="0" anchor="ctr">
            <a:noAutofit/>
          </a:bodyPr>
          <a:lstStyle>
            <a:lvl1pPr algn="l" defTabSz="932742" rtl="0" eaLnBrk="1" latinLnBrk="0" hangingPunct="1">
              <a:lnSpc>
                <a:spcPct val="100000"/>
              </a:lnSpc>
              <a:spcBef>
                <a:spcPct val="0"/>
              </a:spcBef>
              <a:buNone/>
              <a:defRPr lang="en-US" sz="6000" b="0" kern="1200" cap="none" spc="-50" baseline="0">
                <a:ln w="3175">
                  <a:noFill/>
                </a:ln>
                <a:solidFill>
                  <a:schemeClr val="tx1"/>
                </a:solidFill>
                <a:effectLst/>
                <a:latin typeface="Aptos SemiBold" panose="020B0004020202020204" pitchFamily="34" charset="0"/>
                <a:ea typeface="+mn-ea"/>
                <a:cs typeface="Segoe UI" pitchFamily="34" charset="0"/>
              </a:defRPr>
            </a:lvl1pPr>
          </a:lstStyle>
          <a:p>
            <a:r>
              <a:rPr lang="en-US" sz="2000" dirty="0">
                <a:latin typeface="Aptos Display" panose="020B0004020202020204" pitchFamily="34" charset="0"/>
              </a:rPr>
              <a:t>Azure Master Architect Capstone Project</a:t>
            </a:r>
          </a:p>
          <a:p>
            <a:r>
              <a:rPr lang="en-US" sz="2000" dirty="0">
                <a:latin typeface="Aptos Display" panose="020B0004020202020204" pitchFamily="34" charset="0"/>
              </a:rPr>
              <a:t>Zero Trust Enterprise – January 2026</a:t>
            </a:r>
          </a:p>
          <a:p>
            <a:r>
              <a:rPr lang="en-US" sz="2000" dirty="0">
                <a:latin typeface="Aptos Display" panose="020B0004020202020204" pitchFamily="34" charset="0"/>
              </a:rPr>
              <a:t>Timothy Meyers</a:t>
            </a:r>
          </a:p>
        </p:txBody>
      </p:sp>
    </p:spTree>
    <p:extLst>
      <p:ext uri="{BB962C8B-B14F-4D97-AF65-F5344CB8AC3E}">
        <p14:creationId xmlns:p14="http://schemas.microsoft.com/office/powerpoint/2010/main" val="10594470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1" name="Title 40">
            <a:extLst>
              <a:ext uri="{FF2B5EF4-FFF2-40B4-BE49-F238E27FC236}">
                <a16:creationId xmlns:a16="http://schemas.microsoft.com/office/drawing/2014/main" id="{11C0D73F-560B-74B9-C1C4-65991E9D18C0}"/>
              </a:ext>
            </a:extLst>
          </p:cNvPr>
          <p:cNvSpPr>
            <a:spLocks noGrp="1"/>
          </p:cNvSpPr>
          <p:nvPr>
            <p:ph type="title"/>
          </p:nvPr>
        </p:nvSpPr>
        <p:spPr/>
        <p:txBody>
          <a:bodyPr/>
          <a:lstStyle/>
          <a:p>
            <a:r>
              <a:rPr lang="en-US"/>
              <a:t>AGENDA</a:t>
            </a:r>
          </a:p>
        </p:txBody>
      </p:sp>
      <p:sp>
        <p:nvSpPr>
          <p:cNvPr id="42" name="Text Placeholder 41">
            <a:extLst>
              <a:ext uri="{FF2B5EF4-FFF2-40B4-BE49-F238E27FC236}">
                <a16:creationId xmlns:a16="http://schemas.microsoft.com/office/drawing/2014/main" id="{200464D1-667E-4589-E9C9-0520F737214E}"/>
              </a:ext>
            </a:extLst>
          </p:cNvPr>
          <p:cNvSpPr>
            <a:spLocks noGrp="1"/>
          </p:cNvSpPr>
          <p:nvPr>
            <p:ph type="body" sz="quarter" idx="10"/>
          </p:nvPr>
        </p:nvSpPr>
        <p:spPr/>
        <p:txBody>
          <a:body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43" name="Text Placeholder 42">
            <a:extLst>
              <a:ext uri="{FF2B5EF4-FFF2-40B4-BE49-F238E27FC236}">
                <a16:creationId xmlns:a16="http://schemas.microsoft.com/office/drawing/2014/main" id="{DEDC1464-BAFB-18FC-0DEE-E7B212015EA1}"/>
              </a:ext>
            </a:extLst>
          </p:cNvPr>
          <p:cNvSpPr>
            <a:spLocks noGrp="1"/>
          </p:cNvSpPr>
          <p:nvPr>
            <p:ph type="body" sz="quarter" idx="11"/>
          </p:nvPr>
        </p:nvSpPr>
        <p:spPr/>
        <p:txBody>
          <a:body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44" name="Text Placeholder 43">
            <a:extLst>
              <a:ext uri="{FF2B5EF4-FFF2-40B4-BE49-F238E27FC236}">
                <a16:creationId xmlns:a16="http://schemas.microsoft.com/office/drawing/2014/main" id="{4FB1E7C1-A12F-3160-BFB5-70BE5DFAC77E}"/>
              </a:ext>
            </a:extLst>
          </p:cNvPr>
          <p:cNvSpPr>
            <a:spLocks noGrp="1"/>
          </p:cNvSpPr>
          <p:nvPr>
            <p:ph type="body" sz="quarter" idx="12"/>
          </p:nvPr>
        </p:nvSpPr>
        <p:spPr>
          <a:xfrm>
            <a:off x="3362142" y="2744160"/>
            <a:ext cx="3532372" cy="615553"/>
          </a:xfrm>
        </p:spPr>
        <p:txBody>
          <a:body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45" name="Text Placeholder 44">
            <a:extLst>
              <a:ext uri="{FF2B5EF4-FFF2-40B4-BE49-F238E27FC236}">
                <a16:creationId xmlns:a16="http://schemas.microsoft.com/office/drawing/2014/main" id="{04001271-D98F-B29E-2737-A05C151D724B}"/>
              </a:ext>
            </a:extLst>
          </p:cNvPr>
          <p:cNvSpPr>
            <a:spLocks noGrp="1"/>
          </p:cNvSpPr>
          <p:nvPr>
            <p:ph type="body" sz="quarter" idx="13"/>
          </p:nvPr>
        </p:nvSpPr>
        <p:spPr>
          <a:xfrm>
            <a:off x="8077016" y="2744160"/>
            <a:ext cx="3532372" cy="615553"/>
          </a:xfrm>
        </p:spPr>
        <p:txBody>
          <a:body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46" name="Text Placeholder 45">
            <a:extLst>
              <a:ext uri="{FF2B5EF4-FFF2-40B4-BE49-F238E27FC236}">
                <a16:creationId xmlns:a16="http://schemas.microsoft.com/office/drawing/2014/main" id="{09B2B421-888C-DD70-1C03-2AE1240F10C7}"/>
              </a:ext>
            </a:extLst>
          </p:cNvPr>
          <p:cNvSpPr>
            <a:spLocks noGrp="1"/>
          </p:cNvSpPr>
          <p:nvPr>
            <p:ph type="body" sz="quarter" idx="14"/>
          </p:nvPr>
        </p:nvSpPr>
        <p:spPr>
          <a:xfrm>
            <a:off x="3362142" y="4015813"/>
            <a:ext cx="3532372" cy="615553"/>
          </a:xfrm>
        </p:spPr>
        <p:txBody>
          <a:body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47" name="Text Placeholder 46">
            <a:extLst>
              <a:ext uri="{FF2B5EF4-FFF2-40B4-BE49-F238E27FC236}">
                <a16:creationId xmlns:a16="http://schemas.microsoft.com/office/drawing/2014/main" id="{DB35EB53-9EAA-721F-85C4-4904F6137039}"/>
              </a:ext>
            </a:extLst>
          </p:cNvPr>
          <p:cNvSpPr>
            <a:spLocks noGrp="1"/>
          </p:cNvSpPr>
          <p:nvPr>
            <p:ph type="body" sz="quarter" idx="15"/>
          </p:nvPr>
        </p:nvSpPr>
        <p:spPr>
          <a:xfrm>
            <a:off x="8077016" y="4015813"/>
            <a:ext cx="3532372" cy="615553"/>
          </a:xfrm>
        </p:spPr>
        <p:txBody>
          <a:body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48" name="Text Placeholder 47">
            <a:extLst>
              <a:ext uri="{FF2B5EF4-FFF2-40B4-BE49-F238E27FC236}">
                <a16:creationId xmlns:a16="http://schemas.microsoft.com/office/drawing/2014/main" id="{EDA3BD0A-E130-7221-0363-A355852197D2}"/>
              </a:ext>
            </a:extLst>
          </p:cNvPr>
          <p:cNvSpPr>
            <a:spLocks noGrp="1"/>
          </p:cNvSpPr>
          <p:nvPr>
            <p:ph type="body" sz="quarter" idx="16"/>
          </p:nvPr>
        </p:nvSpPr>
        <p:spPr>
          <a:xfrm>
            <a:off x="3362142" y="5287463"/>
            <a:ext cx="3532372" cy="615553"/>
          </a:xfrm>
        </p:spPr>
        <p:txBody>
          <a:body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
        <p:nvSpPr>
          <p:cNvPr id="49" name="Text Placeholder 48">
            <a:extLst>
              <a:ext uri="{FF2B5EF4-FFF2-40B4-BE49-F238E27FC236}">
                <a16:creationId xmlns:a16="http://schemas.microsoft.com/office/drawing/2014/main" id="{AB4E40D1-29CF-4FDB-F116-071431197B15}"/>
              </a:ext>
            </a:extLst>
          </p:cNvPr>
          <p:cNvSpPr>
            <a:spLocks noGrp="1"/>
          </p:cNvSpPr>
          <p:nvPr>
            <p:ph type="body" sz="quarter" idx="17"/>
          </p:nvPr>
        </p:nvSpPr>
        <p:spPr>
          <a:xfrm>
            <a:off x="8077016" y="5287463"/>
            <a:ext cx="3532372" cy="615553"/>
          </a:xfrm>
        </p:spPr>
        <p:txBody>
          <a:bodyPr/>
          <a:lstStyle/>
          <a:p>
            <a:r>
              <a:rPr lang="en-US"/>
              <a:t>Lorem ipsum dolor sit </a:t>
            </a:r>
            <a:r>
              <a:rPr lang="en-US" err="1"/>
              <a:t>amet</a:t>
            </a:r>
            <a:r>
              <a:rPr lang="en-US"/>
              <a:t>, </a:t>
            </a:r>
            <a:r>
              <a:rPr lang="en-US" err="1"/>
              <a:t>consectetuer</a:t>
            </a:r>
            <a:r>
              <a:rPr lang="en-US"/>
              <a:t> </a:t>
            </a:r>
            <a:r>
              <a:rPr lang="en-US" err="1"/>
              <a:t>adipiscing</a:t>
            </a:r>
            <a:r>
              <a:rPr lang="en-US"/>
              <a:t> </a:t>
            </a:r>
            <a:r>
              <a:rPr lang="en-US" err="1"/>
              <a:t>elit</a:t>
            </a:r>
            <a:r>
              <a:rPr lang="en-US"/>
              <a:t>. </a:t>
            </a:r>
          </a:p>
        </p:txBody>
      </p:sp>
    </p:spTree>
    <p:extLst>
      <p:ext uri="{BB962C8B-B14F-4D97-AF65-F5344CB8AC3E}">
        <p14:creationId xmlns:p14="http://schemas.microsoft.com/office/powerpoint/2010/main" val="210711047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07E7C-BE29-9FB4-78FE-077272CC7C5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E557E04-E70A-AB47-13C3-4097CB54C800}"/>
              </a:ext>
            </a:extLst>
          </p:cNvPr>
          <p:cNvSpPr>
            <a:spLocks noGrp="1"/>
          </p:cNvSpPr>
          <p:nvPr>
            <p:ph type="title"/>
          </p:nvPr>
        </p:nvSpPr>
        <p:spPr>
          <a:xfrm>
            <a:off x="588263" y="457200"/>
            <a:ext cx="11018520" cy="492443"/>
          </a:xfrm>
        </p:spPr>
        <p:txBody>
          <a:bodyPr>
            <a:spAutoFit/>
          </a:bodyPr>
          <a:lstStyle/>
          <a:p>
            <a:r>
              <a:rPr lang="en-US" dirty="0"/>
              <a:t>Critical business outcomes driving security</a:t>
            </a:r>
          </a:p>
        </p:txBody>
      </p:sp>
      <p:sp>
        <p:nvSpPr>
          <p:cNvPr id="47" name="Text Placeholder 46">
            <a:extLst>
              <a:ext uri="{FF2B5EF4-FFF2-40B4-BE49-F238E27FC236}">
                <a16:creationId xmlns:a16="http://schemas.microsoft.com/office/drawing/2014/main" id="{372C3F18-2618-E235-9089-AEC5E82A850A}"/>
              </a:ext>
            </a:extLst>
          </p:cNvPr>
          <p:cNvSpPr>
            <a:spLocks noGrp="1"/>
          </p:cNvSpPr>
          <p:nvPr>
            <p:ph type="body" sz="quarter" idx="10"/>
          </p:nvPr>
        </p:nvSpPr>
        <p:spPr>
          <a:xfrm>
            <a:off x="849547" y="3436166"/>
            <a:ext cx="3147226" cy="2092881"/>
          </a:xfrm>
        </p:spPr>
        <p:txBody>
          <a:bodyPr/>
          <a:lstStyle/>
          <a:p>
            <a:pPr fontAlgn="t"/>
            <a:r>
              <a:rPr lang="en-US" sz="1700" dirty="0"/>
              <a:t>Security teams currently spend </a:t>
            </a:r>
            <a:r>
              <a:rPr lang="en-US" sz="1700" b="1" dirty="0">
                <a:solidFill>
                  <a:schemeClr val="accent3"/>
                </a:solidFill>
              </a:rPr>
              <a:t>4–6 hours </a:t>
            </a:r>
            <a:r>
              <a:rPr lang="en-US" sz="1700" dirty="0"/>
              <a:t>manually triaging alerts, driving up risk and cost. AI-driven triage cuts this to </a:t>
            </a:r>
            <a:r>
              <a:rPr lang="en-US" sz="1700" b="1" dirty="0">
                <a:solidFill>
                  <a:schemeClr val="accent3"/>
                </a:solidFill>
              </a:rPr>
              <a:t>under 15 minutes</a:t>
            </a:r>
            <a:r>
              <a:rPr lang="en-US" sz="1700" dirty="0"/>
              <a:t>, enabling earlier threat detection, reducing containment costs, and freeing analysts for higher‑value work.</a:t>
            </a:r>
          </a:p>
        </p:txBody>
      </p:sp>
      <p:sp>
        <p:nvSpPr>
          <p:cNvPr id="48" name="Text Placeholder 47">
            <a:extLst>
              <a:ext uri="{FF2B5EF4-FFF2-40B4-BE49-F238E27FC236}">
                <a16:creationId xmlns:a16="http://schemas.microsoft.com/office/drawing/2014/main" id="{813B09F3-BA1D-1730-8671-F784943BEB8D}"/>
              </a:ext>
            </a:extLst>
          </p:cNvPr>
          <p:cNvSpPr>
            <a:spLocks noGrp="1"/>
          </p:cNvSpPr>
          <p:nvPr>
            <p:ph type="body" sz="quarter" idx="11"/>
          </p:nvPr>
        </p:nvSpPr>
        <p:spPr>
          <a:xfrm>
            <a:off x="8195227" y="3436166"/>
            <a:ext cx="3147226" cy="2354491"/>
          </a:xfrm>
        </p:spPr>
        <p:txBody>
          <a:bodyPr/>
          <a:lstStyle/>
          <a:p>
            <a:pPr fontAlgn="t"/>
            <a:r>
              <a:rPr lang="en-US" sz="1700" dirty="0"/>
              <a:t>By lowering the barrier to AI development, </a:t>
            </a:r>
            <a:r>
              <a:rPr lang="en-US" sz="1700" b="1" dirty="0">
                <a:solidFill>
                  <a:schemeClr val="accent3"/>
                </a:solidFill>
              </a:rPr>
              <a:t>security analysts can rapidly experiment </a:t>
            </a:r>
            <a:r>
              <a:rPr lang="en-US" sz="1700" dirty="0"/>
              <a:t>with new agents and workflows, validate ideas in minutes instead of weeks, </a:t>
            </a:r>
            <a:r>
              <a:rPr lang="en-US" sz="1700" b="1" dirty="0">
                <a:solidFill>
                  <a:schemeClr val="accent3"/>
                </a:solidFill>
              </a:rPr>
              <a:t>and deliver meaningful security outcomes in under a day </a:t>
            </a:r>
            <a:r>
              <a:rPr lang="en-US" sz="1700" dirty="0"/>
              <a:t>rather than the typical 4–8‑week cycle.</a:t>
            </a:r>
          </a:p>
        </p:txBody>
      </p:sp>
      <p:sp>
        <p:nvSpPr>
          <p:cNvPr id="49" name="Text Placeholder 48">
            <a:extLst>
              <a:ext uri="{FF2B5EF4-FFF2-40B4-BE49-F238E27FC236}">
                <a16:creationId xmlns:a16="http://schemas.microsoft.com/office/drawing/2014/main" id="{659F07F1-561A-C74E-1A7B-78BDB52F9237}"/>
              </a:ext>
            </a:extLst>
          </p:cNvPr>
          <p:cNvSpPr>
            <a:spLocks noGrp="1"/>
          </p:cNvSpPr>
          <p:nvPr>
            <p:ph type="body" sz="quarter" idx="26"/>
          </p:nvPr>
        </p:nvSpPr>
        <p:spPr>
          <a:xfrm>
            <a:off x="4522387" y="3436166"/>
            <a:ext cx="3147226" cy="2092881"/>
          </a:xfrm>
        </p:spPr>
        <p:txBody>
          <a:bodyPr/>
          <a:lstStyle/>
          <a:p>
            <a:pPr fontAlgn="t"/>
            <a:r>
              <a:rPr lang="en-US" sz="1700" dirty="0"/>
              <a:t>With </a:t>
            </a:r>
            <a:r>
              <a:rPr lang="en-US" sz="1700" b="1" dirty="0">
                <a:solidFill>
                  <a:schemeClr val="accent3"/>
                </a:solidFill>
              </a:rPr>
              <a:t>up to 70% of alerts being false positives</a:t>
            </a:r>
            <a:r>
              <a:rPr lang="en-US" sz="1700" dirty="0"/>
              <a:t>, analysts waste much of their time chasing noise. AI-assisted enrichment and triage can </a:t>
            </a:r>
            <a:r>
              <a:rPr lang="en-US" sz="1700" b="1" dirty="0">
                <a:solidFill>
                  <a:schemeClr val="accent3"/>
                </a:solidFill>
              </a:rPr>
              <a:t>reduce false positives to under 20%, </a:t>
            </a:r>
            <a:r>
              <a:rPr lang="en-US" sz="1700" dirty="0"/>
              <a:t>freeing teams for proactive threat-hunting.</a:t>
            </a:r>
          </a:p>
        </p:txBody>
      </p:sp>
      <p:sp>
        <p:nvSpPr>
          <p:cNvPr id="50" name="Text Placeholder 49">
            <a:extLst>
              <a:ext uri="{FF2B5EF4-FFF2-40B4-BE49-F238E27FC236}">
                <a16:creationId xmlns:a16="http://schemas.microsoft.com/office/drawing/2014/main" id="{9EA4883A-4A5B-D576-2BAE-A16D0BD63C1B}"/>
              </a:ext>
            </a:extLst>
          </p:cNvPr>
          <p:cNvSpPr>
            <a:spLocks noGrp="1"/>
          </p:cNvSpPr>
          <p:nvPr>
            <p:ph type="body" sz="quarter" idx="27"/>
          </p:nvPr>
        </p:nvSpPr>
        <p:spPr/>
        <p:txBody>
          <a:bodyPr/>
          <a:lstStyle/>
          <a:p>
            <a:r>
              <a:rPr lang="en-US" dirty="0"/>
              <a:t>Reducing MTTD</a:t>
            </a:r>
          </a:p>
        </p:txBody>
      </p:sp>
      <p:sp>
        <p:nvSpPr>
          <p:cNvPr id="51" name="Text Placeholder 50">
            <a:extLst>
              <a:ext uri="{FF2B5EF4-FFF2-40B4-BE49-F238E27FC236}">
                <a16:creationId xmlns:a16="http://schemas.microsoft.com/office/drawing/2014/main" id="{EA9F7D7F-4636-FCD7-F0C4-FBA90F79CF81}"/>
              </a:ext>
            </a:extLst>
          </p:cNvPr>
          <p:cNvSpPr>
            <a:spLocks noGrp="1"/>
          </p:cNvSpPr>
          <p:nvPr>
            <p:ph type="body" sz="quarter" idx="28"/>
          </p:nvPr>
        </p:nvSpPr>
        <p:spPr/>
        <p:txBody>
          <a:bodyPr/>
          <a:lstStyle/>
          <a:p>
            <a:r>
              <a:rPr lang="en-US" dirty="0"/>
              <a:t>Improving Triage </a:t>
            </a:r>
          </a:p>
        </p:txBody>
      </p:sp>
      <p:sp>
        <p:nvSpPr>
          <p:cNvPr id="52" name="Text Placeholder 51">
            <a:extLst>
              <a:ext uri="{FF2B5EF4-FFF2-40B4-BE49-F238E27FC236}">
                <a16:creationId xmlns:a16="http://schemas.microsoft.com/office/drawing/2014/main" id="{BE406E26-A98C-7DE1-A331-6E1F49E80B9B}"/>
              </a:ext>
            </a:extLst>
          </p:cNvPr>
          <p:cNvSpPr>
            <a:spLocks noGrp="1"/>
          </p:cNvSpPr>
          <p:nvPr>
            <p:ph type="body" sz="quarter" idx="29"/>
          </p:nvPr>
        </p:nvSpPr>
        <p:spPr/>
        <p:txBody>
          <a:bodyPr/>
          <a:lstStyle/>
          <a:p>
            <a:r>
              <a:rPr lang="en-US" dirty="0"/>
              <a:t>Accelerate </a:t>
            </a:r>
            <a:r>
              <a:rPr lang="en-US" dirty="0" err="1"/>
              <a:t>SecAI</a:t>
            </a:r>
            <a:r>
              <a:rPr lang="en-US" dirty="0"/>
              <a:t> Dev</a:t>
            </a:r>
          </a:p>
        </p:txBody>
      </p:sp>
      <p:sp>
        <p:nvSpPr>
          <p:cNvPr id="29" name="Graphic 56">
            <a:extLst>
              <a:ext uri="{FF2B5EF4-FFF2-40B4-BE49-F238E27FC236}">
                <a16:creationId xmlns:a16="http://schemas.microsoft.com/office/drawing/2014/main" id="{8C4C1647-1915-A143-1386-04B59D7CAF70}"/>
              </a:ext>
              <a:ext uri="{C183D7F6-B498-43B3-948B-1728B52AA6E4}">
                <adec:decorative xmlns:adec="http://schemas.microsoft.com/office/drawing/2017/decorative" val="1"/>
              </a:ext>
            </a:extLst>
          </p:cNvPr>
          <p:cNvSpPr>
            <a:spLocks/>
          </p:cNvSpPr>
          <p:nvPr/>
        </p:nvSpPr>
        <p:spPr>
          <a:xfrm>
            <a:off x="942503" y="2209054"/>
            <a:ext cx="423010" cy="380808"/>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chemeClr val="bg1"/>
              </a:solidFill>
              <a:cs typeface="Segoe UI" pitchFamily="34" charset="0"/>
            </a:endParaRPr>
          </a:p>
        </p:txBody>
      </p:sp>
      <p:sp>
        <p:nvSpPr>
          <p:cNvPr id="33" name="Graphic 56">
            <a:extLst>
              <a:ext uri="{FF2B5EF4-FFF2-40B4-BE49-F238E27FC236}">
                <a16:creationId xmlns:a16="http://schemas.microsoft.com/office/drawing/2014/main" id="{9EFC9AEA-D3CD-0DEC-E6D6-532790A18519}"/>
              </a:ext>
              <a:ext uri="{C183D7F6-B498-43B3-948B-1728B52AA6E4}">
                <adec:decorative xmlns:adec="http://schemas.microsoft.com/office/drawing/2017/decorative" val="1"/>
              </a:ext>
            </a:extLst>
          </p:cNvPr>
          <p:cNvSpPr>
            <a:spLocks/>
          </p:cNvSpPr>
          <p:nvPr/>
        </p:nvSpPr>
        <p:spPr>
          <a:xfrm>
            <a:off x="4615343" y="2209054"/>
            <a:ext cx="423010" cy="380808"/>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chemeClr val="bg1"/>
              </a:solidFill>
              <a:cs typeface="Segoe UI" pitchFamily="34" charset="0"/>
            </a:endParaRPr>
          </a:p>
        </p:txBody>
      </p:sp>
      <p:sp>
        <p:nvSpPr>
          <p:cNvPr id="36" name="Graphic 56">
            <a:extLst>
              <a:ext uri="{FF2B5EF4-FFF2-40B4-BE49-F238E27FC236}">
                <a16:creationId xmlns:a16="http://schemas.microsoft.com/office/drawing/2014/main" id="{1CFC96E4-41F5-B32D-A3B9-D0FE1EA18D49}"/>
              </a:ext>
              <a:ext uri="{C183D7F6-B498-43B3-948B-1728B52AA6E4}">
                <adec:decorative xmlns:adec="http://schemas.microsoft.com/office/drawing/2017/decorative" val="1"/>
              </a:ext>
            </a:extLst>
          </p:cNvPr>
          <p:cNvSpPr>
            <a:spLocks/>
          </p:cNvSpPr>
          <p:nvPr/>
        </p:nvSpPr>
        <p:spPr>
          <a:xfrm>
            <a:off x="8288183" y="2209054"/>
            <a:ext cx="423010" cy="380808"/>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chemeClr val="bg1"/>
              </a:solidFill>
              <a:cs typeface="Segoe UI" pitchFamily="34" charset="0"/>
            </a:endParaRPr>
          </a:p>
        </p:txBody>
      </p:sp>
    </p:spTree>
    <p:extLst>
      <p:ext uri="{BB962C8B-B14F-4D97-AF65-F5344CB8AC3E}">
        <p14:creationId xmlns:p14="http://schemas.microsoft.com/office/powerpoint/2010/main" val="298961528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2C5A7-DAD3-1ECB-4827-F6436CFF59D5}"/>
            </a:ext>
          </a:extLst>
        </p:cNvPr>
        <p:cNvGrpSpPr/>
        <p:nvPr/>
      </p:nvGrpSpPr>
      <p:grpSpPr>
        <a:xfrm>
          <a:off x="0" y="0"/>
          <a:ext cx="0" cy="0"/>
          <a:chOff x="0" y="0"/>
          <a:chExt cx="0" cy="0"/>
        </a:xfrm>
      </p:grpSpPr>
      <p:sp>
        <p:nvSpPr>
          <p:cNvPr id="13" name="Graphic 56">
            <a:extLst>
              <a:ext uri="{FF2B5EF4-FFF2-40B4-BE49-F238E27FC236}">
                <a16:creationId xmlns:a16="http://schemas.microsoft.com/office/drawing/2014/main" id="{820B4330-9238-7015-E490-AA0A6B9BF342}"/>
              </a:ext>
              <a:ext uri="{C183D7F6-B498-43B3-948B-1728B52AA6E4}">
                <adec:decorative xmlns:adec="http://schemas.microsoft.com/office/drawing/2017/decorative" val="1"/>
              </a:ext>
            </a:extLst>
          </p:cNvPr>
          <p:cNvSpPr>
            <a:spLocks/>
          </p:cNvSpPr>
          <p:nvPr/>
        </p:nvSpPr>
        <p:spPr>
          <a:xfrm>
            <a:off x="4749391" y="1691547"/>
            <a:ext cx="453257" cy="408038"/>
          </a:xfrm>
          <a:custGeom>
            <a:avLst/>
            <a:gdLst>
              <a:gd name="connsiteX0" fmla="*/ 121444 w 190546"/>
              <a:gd name="connsiteY0" fmla="*/ 114300 h 171535"/>
              <a:gd name="connsiteX1" fmla="*/ 138113 w 190546"/>
              <a:gd name="connsiteY1" fmla="*/ 130969 h 171535"/>
              <a:gd name="connsiteX2" fmla="*/ 138103 w 190546"/>
              <a:gd name="connsiteY2" fmla="*/ 140132 h 171535"/>
              <a:gd name="connsiteX3" fmla="*/ 95888 w 190546"/>
              <a:gd name="connsiteY3" fmla="*/ 171536 h 171535"/>
              <a:gd name="connsiteX4" fmla="*/ 52388 w 190546"/>
              <a:gd name="connsiteY4" fmla="*/ 140494 h 171535"/>
              <a:gd name="connsiteX5" fmla="*/ 52388 w 190546"/>
              <a:gd name="connsiteY5" fmla="*/ 130969 h 171535"/>
              <a:gd name="connsiteX6" fmla="*/ 69056 w 190546"/>
              <a:gd name="connsiteY6" fmla="*/ 114300 h 171535"/>
              <a:gd name="connsiteX7" fmla="*/ 121444 w 190546"/>
              <a:gd name="connsiteY7" fmla="*/ 114300 h 171535"/>
              <a:gd name="connsiteX8" fmla="*/ 16669 w 190546"/>
              <a:gd name="connsiteY8" fmla="*/ 66675 h 171535"/>
              <a:gd name="connsiteX9" fmla="*/ 58350 w 190546"/>
              <a:gd name="connsiteY9" fmla="*/ 66675 h 171535"/>
              <a:gd name="connsiteX10" fmla="*/ 68513 w 190546"/>
              <a:gd name="connsiteY10" fmla="*/ 103346 h 171535"/>
              <a:gd name="connsiteX11" fmla="*/ 70056 w 190546"/>
              <a:gd name="connsiteY11" fmla="*/ 104785 h 171535"/>
              <a:gd name="connsiteX12" fmla="*/ 69056 w 190546"/>
              <a:gd name="connsiteY12" fmla="*/ 104775 h 171535"/>
              <a:gd name="connsiteX13" fmla="*/ 43825 w 190546"/>
              <a:gd name="connsiteY13" fmla="*/ 123901 h 171535"/>
              <a:gd name="connsiteX14" fmla="*/ 43501 w 190546"/>
              <a:gd name="connsiteY14" fmla="*/ 123911 h 171535"/>
              <a:gd name="connsiteX15" fmla="*/ 0 w 190546"/>
              <a:gd name="connsiteY15" fmla="*/ 92869 h 171535"/>
              <a:gd name="connsiteX16" fmla="*/ 0 w 190546"/>
              <a:gd name="connsiteY16" fmla="*/ 83344 h 171535"/>
              <a:gd name="connsiteX17" fmla="*/ 16669 w 190546"/>
              <a:gd name="connsiteY17" fmla="*/ 66675 h 171535"/>
              <a:gd name="connsiteX18" fmla="*/ 173831 w 190546"/>
              <a:gd name="connsiteY18" fmla="*/ 66675 h 171535"/>
              <a:gd name="connsiteX19" fmla="*/ 190500 w 190546"/>
              <a:gd name="connsiteY19" fmla="*/ 83344 h 171535"/>
              <a:gd name="connsiteX20" fmla="*/ 190490 w 190546"/>
              <a:gd name="connsiteY20" fmla="*/ 92507 h 171535"/>
              <a:gd name="connsiteX21" fmla="*/ 148276 w 190546"/>
              <a:gd name="connsiteY21" fmla="*/ 123911 h 171535"/>
              <a:gd name="connsiteX22" fmla="*/ 146666 w 190546"/>
              <a:gd name="connsiteY22" fmla="*/ 123892 h 171535"/>
              <a:gd name="connsiteX23" fmla="*/ 123320 w 190546"/>
              <a:gd name="connsiteY23" fmla="*/ 104842 h 171535"/>
              <a:gd name="connsiteX24" fmla="*/ 121444 w 190546"/>
              <a:gd name="connsiteY24" fmla="*/ 104775 h 171535"/>
              <a:gd name="connsiteX25" fmla="*/ 120444 w 190546"/>
              <a:gd name="connsiteY25" fmla="*/ 104785 h 171535"/>
              <a:gd name="connsiteX26" fmla="*/ 132150 w 190546"/>
              <a:gd name="connsiteY26" fmla="*/ 66685 h 171535"/>
              <a:gd name="connsiteX27" fmla="*/ 173831 w 190546"/>
              <a:gd name="connsiteY27" fmla="*/ 66675 h 171535"/>
              <a:gd name="connsiteX28" fmla="*/ 95250 w 190546"/>
              <a:gd name="connsiteY28" fmla="*/ 47625 h 171535"/>
              <a:gd name="connsiteX29" fmla="*/ 123825 w 190546"/>
              <a:gd name="connsiteY29" fmla="*/ 76200 h 171535"/>
              <a:gd name="connsiteX30" fmla="*/ 95250 w 190546"/>
              <a:gd name="connsiteY30" fmla="*/ 104775 h 171535"/>
              <a:gd name="connsiteX31" fmla="*/ 66675 w 190546"/>
              <a:gd name="connsiteY31" fmla="*/ 76200 h 171535"/>
              <a:gd name="connsiteX32" fmla="*/ 95250 w 190546"/>
              <a:gd name="connsiteY32" fmla="*/ 47625 h 171535"/>
              <a:gd name="connsiteX33" fmla="*/ 42863 w 190546"/>
              <a:gd name="connsiteY33" fmla="*/ 0 h 171535"/>
              <a:gd name="connsiteX34" fmla="*/ 71438 w 190546"/>
              <a:gd name="connsiteY34" fmla="*/ 28575 h 171535"/>
              <a:gd name="connsiteX35" fmla="*/ 42863 w 190546"/>
              <a:gd name="connsiteY35" fmla="*/ 57150 h 171535"/>
              <a:gd name="connsiteX36" fmla="*/ 14288 w 190546"/>
              <a:gd name="connsiteY36" fmla="*/ 28575 h 171535"/>
              <a:gd name="connsiteX37" fmla="*/ 42863 w 190546"/>
              <a:gd name="connsiteY37" fmla="*/ 0 h 171535"/>
              <a:gd name="connsiteX38" fmla="*/ 147638 w 190546"/>
              <a:gd name="connsiteY38" fmla="*/ 0 h 171535"/>
              <a:gd name="connsiteX39" fmla="*/ 176213 w 190546"/>
              <a:gd name="connsiteY39" fmla="*/ 28575 h 171535"/>
              <a:gd name="connsiteX40" fmla="*/ 147638 w 190546"/>
              <a:gd name="connsiteY40" fmla="*/ 57150 h 171535"/>
              <a:gd name="connsiteX41" fmla="*/ 119063 w 190546"/>
              <a:gd name="connsiteY41" fmla="*/ 28575 h 171535"/>
              <a:gd name="connsiteX42" fmla="*/ 147638 w 190546"/>
              <a:gd name="connsiteY42" fmla="*/ 0 h 171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190546" h="171535">
                <a:moveTo>
                  <a:pt x="121444" y="114300"/>
                </a:moveTo>
                <a:cubicBezTo>
                  <a:pt x="130645" y="114300"/>
                  <a:pt x="138113" y="121768"/>
                  <a:pt x="138113" y="130969"/>
                </a:cubicBezTo>
                <a:lnTo>
                  <a:pt x="138103" y="140132"/>
                </a:lnTo>
                <a:cubicBezTo>
                  <a:pt x="139217" y="160992"/>
                  <a:pt x="123711" y="171536"/>
                  <a:pt x="95888" y="171536"/>
                </a:cubicBezTo>
                <a:cubicBezTo>
                  <a:pt x="68170" y="171536"/>
                  <a:pt x="52388" y="161153"/>
                  <a:pt x="52388" y="140494"/>
                </a:cubicBezTo>
                <a:lnTo>
                  <a:pt x="52388" y="130969"/>
                </a:lnTo>
                <a:cubicBezTo>
                  <a:pt x="52388" y="121768"/>
                  <a:pt x="59855" y="114300"/>
                  <a:pt x="69056" y="114300"/>
                </a:cubicBezTo>
                <a:lnTo>
                  <a:pt x="121444" y="114300"/>
                </a:lnTo>
                <a:close/>
                <a:moveTo>
                  <a:pt x="16669" y="66675"/>
                </a:moveTo>
                <a:lnTo>
                  <a:pt x="58350" y="66675"/>
                </a:lnTo>
                <a:cubicBezTo>
                  <a:pt x="54968" y="79837"/>
                  <a:pt x="58839" y="93803"/>
                  <a:pt x="68513" y="103346"/>
                </a:cubicBezTo>
                <a:lnTo>
                  <a:pt x="70056" y="104785"/>
                </a:lnTo>
                <a:lnTo>
                  <a:pt x="69056" y="104775"/>
                </a:lnTo>
                <a:cubicBezTo>
                  <a:pt x="57308" y="104771"/>
                  <a:pt x="46994" y="112589"/>
                  <a:pt x="43825" y="123901"/>
                </a:cubicBezTo>
                <a:lnTo>
                  <a:pt x="43501" y="123911"/>
                </a:lnTo>
                <a:cubicBezTo>
                  <a:pt x="15783" y="123911"/>
                  <a:pt x="0" y="113528"/>
                  <a:pt x="0" y="92869"/>
                </a:cubicBezTo>
                <a:lnTo>
                  <a:pt x="0" y="83344"/>
                </a:lnTo>
                <a:cubicBezTo>
                  <a:pt x="0" y="74143"/>
                  <a:pt x="7468" y="66675"/>
                  <a:pt x="16669" y="66675"/>
                </a:cubicBezTo>
                <a:close/>
                <a:moveTo>
                  <a:pt x="173831" y="66675"/>
                </a:moveTo>
                <a:cubicBezTo>
                  <a:pt x="183032" y="66675"/>
                  <a:pt x="190500" y="74143"/>
                  <a:pt x="190500" y="83344"/>
                </a:cubicBezTo>
                <a:lnTo>
                  <a:pt x="190490" y="92507"/>
                </a:lnTo>
                <a:cubicBezTo>
                  <a:pt x="191605" y="113367"/>
                  <a:pt x="176098" y="123911"/>
                  <a:pt x="148276" y="123911"/>
                </a:cubicBezTo>
                <a:lnTo>
                  <a:pt x="146666" y="123892"/>
                </a:lnTo>
                <a:cubicBezTo>
                  <a:pt x="143666" y="113263"/>
                  <a:pt x="134335" y="105648"/>
                  <a:pt x="123320" y="104842"/>
                </a:cubicBezTo>
                <a:lnTo>
                  <a:pt x="121444" y="104775"/>
                </a:lnTo>
                <a:lnTo>
                  <a:pt x="120444" y="104785"/>
                </a:lnTo>
                <a:cubicBezTo>
                  <a:pt x="131227" y="95314"/>
                  <a:pt x="135755" y="80576"/>
                  <a:pt x="132150" y="66685"/>
                </a:cubicBezTo>
                <a:lnTo>
                  <a:pt x="173831" y="66675"/>
                </a:lnTo>
                <a:close/>
                <a:moveTo>
                  <a:pt x="95250" y="47625"/>
                </a:moveTo>
                <a:cubicBezTo>
                  <a:pt x="111032" y="47625"/>
                  <a:pt x="123825" y="60419"/>
                  <a:pt x="123825" y="76200"/>
                </a:cubicBezTo>
                <a:cubicBezTo>
                  <a:pt x="123825" y="91982"/>
                  <a:pt x="111032" y="104775"/>
                  <a:pt x="95250" y="104775"/>
                </a:cubicBezTo>
                <a:cubicBezTo>
                  <a:pt x="79468" y="104775"/>
                  <a:pt x="66675" y="91982"/>
                  <a:pt x="66675" y="76200"/>
                </a:cubicBezTo>
                <a:cubicBezTo>
                  <a:pt x="66675" y="60419"/>
                  <a:pt x="79468" y="47625"/>
                  <a:pt x="95250" y="47625"/>
                </a:cubicBezTo>
                <a:close/>
                <a:moveTo>
                  <a:pt x="42863" y="0"/>
                </a:moveTo>
                <a:cubicBezTo>
                  <a:pt x="58644" y="0"/>
                  <a:pt x="71438" y="12794"/>
                  <a:pt x="71438" y="28575"/>
                </a:cubicBezTo>
                <a:cubicBezTo>
                  <a:pt x="71438" y="44356"/>
                  <a:pt x="58644" y="57150"/>
                  <a:pt x="42863" y="57150"/>
                </a:cubicBezTo>
                <a:cubicBezTo>
                  <a:pt x="27081" y="57150"/>
                  <a:pt x="14288" y="44356"/>
                  <a:pt x="14288" y="28575"/>
                </a:cubicBezTo>
                <a:cubicBezTo>
                  <a:pt x="14288" y="12794"/>
                  <a:pt x="27081" y="0"/>
                  <a:pt x="42863" y="0"/>
                </a:cubicBezTo>
                <a:close/>
                <a:moveTo>
                  <a:pt x="147638" y="0"/>
                </a:moveTo>
                <a:cubicBezTo>
                  <a:pt x="163419" y="0"/>
                  <a:pt x="176213" y="12794"/>
                  <a:pt x="176213" y="28575"/>
                </a:cubicBezTo>
                <a:cubicBezTo>
                  <a:pt x="176213" y="44356"/>
                  <a:pt x="163419" y="57150"/>
                  <a:pt x="147638" y="57150"/>
                </a:cubicBezTo>
                <a:cubicBezTo>
                  <a:pt x="131856" y="57150"/>
                  <a:pt x="119063" y="44356"/>
                  <a:pt x="119063" y="28575"/>
                </a:cubicBezTo>
                <a:cubicBezTo>
                  <a:pt x="119063" y="12794"/>
                  <a:pt x="131856" y="0"/>
                  <a:pt x="147638" y="0"/>
                </a:cubicBezTo>
                <a:close/>
              </a:path>
            </a:pathLst>
          </a:custGeom>
          <a:gradFill flip="none" rotWithShape="1">
            <a:gsLst>
              <a:gs pos="0">
                <a:srgbClr val="8449A9"/>
              </a:gs>
              <a:gs pos="100000">
                <a:srgbClr val="0538BB"/>
              </a:gs>
            </a:gsLst>
            <a:lin ang="2700000" scaled="1"/>
            <a:tileRect/>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endParaRPr lang="en-US" sz="2000">
              <a:solidFill>
                <a:schemeClr val="bg1"/>
              </a:solidFill>
              <a:cs typeface="Segoe UI" pitchFamily="34" charset="0"/>
            </a:endParaRPr>
          </a:p>
        </p:txBody>
      </p:sp>
      <p:sp>
        <p:nvSpPr>
          <p:cNvPr id="28" name="Title 27">
            <a:extLst>
              <a:ext uri="{FF2B5EF4-FFF2-40B4-BE49-F238E27FC236}">
                <a16:creationId xmlns:a16="http://schemas.microsoft.com/office/drawing/2014/main" id="{1C95349F-E0D4-B557-099F-FDA22CB7BB1F}"/>
              </a:ext>
            </a:extLst>
          </p:cNvPr>
          <p:cNvSpPr>
            <a:spLocks noGrp="1"/>
          </p:cNvSpPr>
          <p:nvPr>
            <p:ph type="title"/>
          </p:nvPr>
        </p:nvSpPr>
        <p:spPr/>
        <p:txBody>
          <a:bodyPr/>
          <a:lstStyle/>
          <a:p>
            <a:r>
              <a:rPr lang="en-US" sz="2200" b="1" dirty="0">
                <a:latin typeface="Aptos Display" panose="020B0004020202020204" pitchFamily="34" charset="0"/>
              </a:rPr>
              <a:t>Towards an Agentic SOC:</a:t>
            </a:r>
            <a:br>
              <a:rPr lang="en-US" sz="2200" b="1" dirty="0">
                <a:latin typeface="Aptos Display" panose="020B0004020202020204" pitchFamily="34" charset="0"/>
              </a:rPr>
            </a:br>
            <a:br>
              <a:rPr lang="en-US" dirty="0">
                <a:latin typeface="Aptos Display" panose="020B0004020202020204" pitchFamily="34" charset="0"/>
              </a:rPr>
            </a:br>
            <a:r>
              <a:rPr lang="en-US" b="1" dirty="0">
                <a:latin typeface="Aptos Display" panose="020B0004020202020204" pitchFamily="34" charset="0"/>
              </a:rPr>
              <a:t>A Security-Focused AI Development Kit</a:t>
            </a:r>
          </a:p>
        </p:txBody>
      </p:sp>
      <p:sp>
        <p:nvSpPr>
          <p:cNvPr id="32" name="Text Placeholder 31">
            <a:extLst>
              <a:ext uri="{FF2B5EF4-FFF2-40B4-BE49-F238E27FC236}">
                <a16:creationId xmlns:a16="http://schemas.microsoft.com/office/drawing/2014/main" id="{977D70FB-FA0E-49AB-B4BA-9925C3FC50BA}"/>
              </a:ext>
            </a:extLst>
          </p:cNvPr>
          <p:cNvSpPr>
            <a:spLocks noGrp="1"/>
          </p:cNvSpPr>
          <p:nvPr>
            <p:ph type="body" sz="quarter" idx="10"/>
          </p:nvPr>
        </p:nvSpPr>
        <p:spPr/>
        <p:txBody>
          <a:bodyPr/>
          <a:lstStyle/>
          <a:p>
            <a:pPr fontAlgn="t"/>
            <a:r>
              <a:rPr lang="en-US" dirty="0"/>
              <a:t>The </a:t>
            </a:r>
            <a:r>
              <a:rPr lang="en-US" b="1" dirty="0">
                <a:solidFill>
                  <a:schemeClr val="accent3"/>
                </a:solidFill>
              </a:rPr>
              <a:t>Agentic SOC is a Microsoft Foundry–ready development kit</a:t>
            </a:r>
            <a:r>
              <a:rPr lang="en-US" dirty="0"/>
              <a:t> that improves security outcomes by operationalizing agentic AI across core SOC workflows. It provides a unified framework for autonomous agents that enhance detection, investigation, and response. The kit includes </a:t>
            </a:r>
            <a:r>
              <a:rPr lang="en-US" b="1" dirty="0">
                <a:solidFill>
                  <a:schemeClr val="accent3"/>
                </a:solidFill>
              </a:rPr>
              <a:t>four starter agents</a:t>
            </a:r>
            <a:r>
              <a:rPr lang="en-US" dirty="0"/>
              <a:t>—Alert Triage, Threat Hunting, Incident Response, and Threat Intelligence—</a:t>
            </a:r>
            <a:r>
              <a:rPr lang="en-US" b="1" dirty="0">
                <a:solidFill>
                  <a:schemeClr val="accent3"/>
                </a:solidFill>
              </a:rPr>
              <a:t>grounded in 14,000+ MITRE ATT&amp;CK scenarios</a:t>
            </a:r>
            <a:r>
              <a:rPr lang="en-US" dirty="0"/>
              <a:t> and </a:t>
            </a:r>
            <a:r>
              <a:rPr lang="en-US" b="1" dirty="0">
                <a:solidFill>
                  <a:schemeClr val="accent3"/>
                </a:solidFill>
              </a:rPr>
              <a:t>tested against the MSR GUIDE dataset</a:t>
            </a:r>
            <a:r>
              <a:rPr lang="en-US" dirty="0">
                <a:solidFill>
                  <a:schemeClr val="accent3"/>
                </a:solidFill>
              </a:rPr>
              <a:t> </a:t>
            </a:r>
            <a:r>
              <a:rPr lang="en-US" dirty="0"/>
              <a:t>for high‑fidelity performance. With Foundry integration, a rich CLI, Infrastructure‑as‑Code, and pre‑built threat scenarios, organizations can rapidly deploy agentic solutions at enterprise scale that boost detection accuracy and reduce response times.</a:t>
            </a:r>
          </a:p>
        </p:txBody>
      </p:sp>
      <p:sp>
        <p:nvSpPr>
          <p:cNvPr id="3" name="TextBox 2">
            <a:extLst>
              <a:ext uri="{FF2B5EF4-FFF2-40B4-BE49-F238E27FC236}">
                <a16:creationId xmlns:a16="http://schemas.microsoft.com/office/drawing/2014/main" id="{8E54CB27-4862-6BD2-B213-0BBE21718328}"/>
              </a:ext>
            </a:extLst>
          </p:cNvPr>
          <p:cNvSpPr txBox="1"/>
          <p:nvPr/>
        </p:nvSpPr>
        <p:spPr>
          <a:xfrm>
            <a:off x="588263" y="5956753"/>
            <a:ext cx="2195312" cy="635559"/>
          </a:xfrm>
          <a:prstGeom prst="rect">
            <a:avLst/>
          </a:prstGeom>
          <a:noFill/>
        </p:spPr>
        <p:txBody>
          <a:bodyPr wrap="square">
            <a:spAutoFit/>
          </a:bodyPr>
          <a:lstStyle/>
          <a:p>
            <a:r>
              <a:rPr lang="en-US" dirty="0">
                <a:latin typeface="Aptos Display" panose="020B0004020202020204" pitchFamily="34" charset="0"/>
              </a:rPr>
              <a:t>powered by </a:t>
            </a:r>
            <a:br>
              <a:rPr lang="en-US" dirty="0">
                <a:latin typeface="Aptos Display" panose="020B0004020202020204" pitchFamily="34" charset="0"/>
              </a:rPr>
            </a:br>
            <a:r>
              <a:rPr lang="en-US" dirty="0">
                <a:latin typeface="Aptos Display" panose="020B0004020202020204" pitchFamily="34" charset="0"/>
              </a:rPr>
              <a:t>Microsoft Foundry</a:t>
            </a:r>
            <a:endParaRPr lang="en-US" dirty="0"/>
          </a:p>
        </p:txBody>
      </p:sp>
    </p:spTree>
    <p:extLst>
      <p:ext uri="{BB962C8B-B14F-4D97-AF65-F5344CB8AC3E}">
        <p14:creationId xmlns:p14="http://schemas.microsoft.com/office/powerpoint/2010/main" val="311206897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04294-6075-B2A9-FB9B-4F79C4AC496B}"/>
              </a:ext>
            </a:extLst>
          </p:cNvPr>
          <p:cNvSpPr>
            <a:spLocks noGrp="1"/>
          </p:cNvSpPr>
          <p:nvPr>
            <p:ph type="title"/>
          </p:nvPr>
        </p:nvSpPr>
        <p:spPr/>
        <p:txBody>
          <a:bodyPr/>
          <a:lstStyle/>
          <a:p>
            <a:r>
              <a:rPr lang="en-US" sz="2400" b="1" dirty="0">
                <a:latin typeface="Aptos Display" panose="020B0004020202020204" pitchFamily="34" charset="0"/>
              </a:rPr>
              <a:t>The </a:t>
            </a:r>
            <a:br>
              <a:rPr lang="en-US" sz="2400" b="1" dirty="0">
                <a:latin typeface="Aptos Display" panose="020B0004020202020204" pitchFamily="34" charset="0"/>
              </a:rPr>
            </a:br>
            <a:r>
              <a:rPr lang="en-US" sz="2400" b="1" dirty="0">
                <a:latin typeface="Aptos Display" panose="020B0004020202020204" pitchFamily="34" charset="0"/>
              </a:rPr>
              <a:t>Development Kit:</a:t>
            </a:r>
            <a:br>
              <a:rPr lang="en-US" sz="2400" b="1" dirty="0">
                <a:latin typeface="Aptos Display" panose="020B0004020202020204" pitchFamily="34" charset="0"/>
              </a:rPr>
            </a:br>
            <a:br>
              <a:rPr lang="en-US" sz="2400" b="1" dirty="0">
                <a:latin typeface="Aptos Display" panose="020B0004020202020204" pitchFamily="34" charset="0"/>
              </a:rPr>
            </a:br>
            <a:r>
              <a:rPr lang="en-US" b="1" dirty="0">
                <a:latin typeface="Aptos Display" panose="020B0004020202020204" pitchFamily="34" charset="0"/>
              </a:rPr>
              <a:t>Key Components</a:t>
            </a:r>
            <a:endParaRPr lang="en-US" sz="2400" b="1" dirty="0">
              <a:latin typeface="Aptos Display" panose="020B0004020202020204" pitchFamily="34" charset="0"/>
            </a:endParaRPr>
          </a:p>
        </p:txBody>
      </p:sp>
      <p:sp>
        <p:nvSpPr>
          <p:cNvPr id="3" name="Text Placeholder 2">
            <a:extLst>
              <a:ext uri="{FF2B5EF4-FFF2-40B4-BE49-F238E27FC236}">
                <a16:creationId xmlns:a16="http://schemas.microsoft.com/office/drawing/2014/main" id="{671B0BAC-E5DF-27E1-41AB-91A668E0598D}"/>
              </a:ext>
            </a:extLst>
          </p:cNvPr>
          <p:cNvSpPr>
            <a:spLocks noGrp="1"/>
          </p:cNvSpPr>
          <p:nvPr>
            <p:ph type="body" sz="quarter" idx="10"/>
          </p:nvPr>
        </p:nvSpPr>
        <p:spPr>
          <a:xfrm>
            <a:off x="4649788" y="791633"/>
            <a:ext cx="6959600" cy="5274733"/>
          </a:xfrm>
          <a:solidFill>
            <a:schemeClr val="bg1"/>
          </a:solidFill>
        </p:spPr>
        <p:txBody>
          <a:bodyPr anchor="ctr"/>
          <a:lstStyle/>
          <a:p>
            <a:r>
              <a:rPr lang="en-US" sz="1400" b="1" dirty="0">
                <a:solidFill>
                  <a:schemeClr val="accent3"/>
                </a:solidFill>
              </a:rPr>
              <a:t>Four Starter Agents - Core SOC workflow coverage</a:t>
            </a:r>
          </a:p>
          <a:p>
            <a:r>
              <a:rPr lang="en-US" sz="1400" dirty="0"/>
              <a:t>Purpose-built agents for Alert Triage, Threat Hunting, Incident Response, and Threat Intelligence — designed to reduce MTTD by 75% and automating routine triage.</a:t>
            </a:r>
          </a:p>
          <a:p>
            <a:endParaRPr lang="en-US" sz="1400" dirty="0"/>
          </a:p>
          <a:p>
            <a:r>
              <a:rPr lang="en-US" sz="1400" b="1" dirty="0">
                <a:solidFill>
                  <a:schemeClr val="accent3"/>
                </a:solidFill>
              </a:rPr>
              <a:t>Cybersecurity Research Datasets &amp; Pre-Built Scenarios</a:t>
            </a:r>
          </a:p>
          <a:p>
            <a:r>
              <a:rPr lang="en-US" sz="1400" dirty="0"/>
              <a:t>MITRE ATT&amp;CK catalog (14K+ scenarios) + GUIDE dataset (1.17M graded events) ground agents in real attack patterns for validated, repeatable testing.</a:t>
            </a:r>
          </a:p>
          <a:p>
            <a:endParaRPr lang="en-US" sz="1400" b="1" dirty="0"/>
          </a:p>
          <a:p>
            <a:r>
              <a:rPr lang="en-US" sz="1400" b="1" dirty="0">
                <a:solidFill>
                  <a:schemeClr val="accent3"/>
                </a:solidFill>
              </a:rPr>
              <a:t>Knowledge-Grounded AI (Agentic RAG)</a:t>
            </a:r>
          </a:p>
          <a:p>
            <a:r>
              <a:rPr lang="en-US" sz="1400" dirty="0"/>
              <a:t>Agents retrieve MITRE techniques and playbooks via Azure AI Search — responses are grounded in validated security knowledge, not hallucinations.</a:t>
            </a:r>
          </a:p>
          <a:p>
            <a:endParaRPr lang="en-US" sz="1400" b="1" dirty="0"/>
          </a:p>
          <a:p>
            <a:r>
              <a:rPr lang="en-US" sz="1400" b="1" dirty="0">
                <a:solidFill>
                  <a:schemeClr val="accent3"/>
                </a:solidFill>
              </a:rPr>
              <a:t>Microsoft Foundry-Native Development</a:t>
            </a:r>
            <a:endParaRPr lang="en-US" sz="1400" dirty="0">
              <a:solidFill>
                <a:schemeClr val="accent3"/>
              </a:solidFill>
            </a:endParaRPr>
          </a:p>
          <a:p>
            <a:r>
              <a:rPr lang="en-US" sz="1400" dirty="0"/>
              <a:t>Foundry SDK manages agent lifecycle, memory, and telemetry so teams focus on agent behavior and rapid experimentation.</a:t>
            </a:r>
          </a:p>
          <a:p>
            <a:endParaRPr lang="en-US" sz="1400" dirty="0"/>
          </a:p>
          <a:p>
            <a:r>
              <a:rPr lang="en-US" sz="1400" b="1" dirty="0">
                <a:solidFill>
                  <a:schemeClr val="accent3"/>
                </a:solidFill>
              </a:rPr>
              <a:t>Accelerated Deployment and Developer Tools</a:t>
            </a:r>
          </a:p>
          <a:p>
            <a:r>
              <a:rPr lang="en-US" sz="1400" dirty="0"/>
              <a:t>Infrastructure-as-code deploys in &lt;15 minutes. The </a:t>
            </a:r>
            <a:r>
              <a:rPr lang="en-US" sz="1400" i="1" dirty="0" err="1"/>
              <a:t>asoc</a:t>
            </a:r>
            <a:r>
              <a:rPr lang="en-US" sz="1400" i="1" dirty="0"/>
              <a:t> cli</a:t>
            </a:r>
            <a:r>
              <a:rPr lang="en-US" sz="1400" b="1" i="1" dirty="0"/>
              <a:t> </a:t>
            </a:r>
            <a:r>
              <a:rPr lang="en-US" sz="1400" dirty="0"/>
              <a:t>enables rapid testing, demos, and iteration – with full observability via App Insights.</a:t>
            </a:r>
          </a:p>
        </p:txBody>
      </p:sp>
    </p:spTree>
    <p:extLst>
      <p:ext uri="{BB962C8B-B14F-4D97-AF65-F5344CB8AC3E}">
        <p14:creationId xmlns:p14="http://schemas.microsoft.com/office/powerpoint/2010/main" val="1706370811"/>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DFEF84-FA26-8516-D82B-BD9DC1A8071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B48CA7E-7A3D-C2F7-A7CF-CB3F36F54ECE}"/>
              </a:ext>
            </a:extLst>
          </p:cNvPr>
          <p:cNvSpPr>
            <a:spLocks noGrp="1"/>
          </p:cNvSpPr>
          <p:nvPr>
            <p:ph type="title"/>
          </p:nvPr>
        </p:nvSpPr>
        <p:spPr/>
        <p:txBody>
          <a:bodyPr>
            <a:spAutoFit/>
          </a:bodyPr>
          <a:lstStyle/>
          <a:p>
            <a:r>
              <a:rPr lang="en-US" dirty="0"/>
              <a:t>Solution Architecture</a:t>
            </a:r>
          </a:p>
        </p:txBody>
      </p:sp>
      <p:grpSp>
        <p:nvGrpSpPr>
          <p:cNvPr id="81" name="Group 80">
            <a:extLst>
              <a:ext uri="{FF2B5EF4-FFF2-40B4-BE49-F238E27FC236}">
                <a16:creationId xmlns:a16="http://schemas.microsoft.com/office/drawing/2014/main" id="{DFAD116E-E0B0-5E5C-BE67-61C1576FBB1E}"/>
              </a:ext>
            </a:extLst>
          </p:cNvPr>
          <p:cNvGrpSpPr/>
          <p:nvPr/>
        </p:nvGrpSpPr>
        <p:grpSpPr>
          <a:xfrm>
            <a:off x="1384304" y="1089375"/>
            <a:ext cx="9419166" cy="5554134"/>
            <a:chOff x="2434171" y="1089375"/>
            <a:chExt cx="9419166" cy="5554134"/>
          </a:xfrm>
        </p:grpSpPr>
        <p:grpSp>
          <p:nvGrpSpPr>
            <p:cNvPr id="26" name="Group 25">
              <a:extLst>
                <a:ext uri="{FF2B5EF4-FFF2-40B4-BE49-F238E27FC236}">
                  <a16:creationId xmlns:a16="http://schemas.microsoft.com/office/drawing/2014/main" id="{235B05F2-390C-C611-9F78-B280AC036593}"/>
                </a:ext>
              </a:extLst>
            </p:cNvPr>
            <p:cNvGrpSpPr/>
            <p:nvPr/>
          </p:nvGrpSpPr>
          <p:grpSpPr>
            <a:xfrm>
              <a:off x="2434171" y="1576209"/>
              <a:ext cx="2209800" cy="4660900"/>
              <a:chOff x="368300" y="1790700"/>
              <a:chExt cx="2209800" cy="4660900"/>
            </a:xfrm>
          </p:grpSpPr>
          <p:sp>
            <p:nvSpPr>
              <p:cNvPr id="23" name="Rectangle 22">
                <a:extLst>
                  <a:ext uri="{FF2B5EF4-FFF2-40B4-BE49-F238E27FC236}">
                    <a16:creationId xmlns:a16="http://schemas.microsoft.com/office/drawing/2014/main" id="{6B4B4126-D75A-9431-696C-17FBC3FA4991}"/>
                  </a:ext>
                </a:extLst>
              </p:cNvPr>
              <p:cNvSpPr/>
              <p:nvPr/>
            </p:nvSpPr>
            <p:spPr bwMode="auto">
              <a:xfrm>
                <a:off x="368300" y="2667000"/>
                <a:ext cx="2209800" cy="3784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solidFill>
                    <a:ea typeface="Segoe UI" pitchFamily="34" charset="0"/>
                    <a:cs typeface="Segoe UI" pitchFamily="34" charset="0"/>
                  </a:rPr>
                  <a:t>Security Sources</a:t>
                </a:r>
              </a:p>
            </p:txBody>
          </p:sp>
          <p:sp>
            <p:nvSpPr>
              <p:cNvPr id="17" name="Rectangle 16">
                <a:extLst>
                  <a:ext uri="{FF2B5EF4-FFF2-40B4-BE49-F238E27FC236}">
                    <a16:creationId xmlns:a16="http://schemas.microsoft.com/office/drawing/2014/main" id="{D6FDEB55-FBF3-E3BC-1C93-A26F378FC760}"/>
                  </a:ext>
                </a:extLst>
              </p:cNvPr>
              <p:cNvSpPr/>
              <p:nvPr/>
            </p:nvSpPr>
            <p:spPr bwMode="auto">
              <a:xfrm>
                <a:off x="368300" y="1790700"/>
                <a:ext cx="2209800" cy="5842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CLI</a:t>
                </a:r>
                <a:br>
                  <a:rPr lang="en-US" sz="1200" dirty="0">
                    <a:solidFill>
                      <a:schemeClr val="tx1"/>
                    </a:solidFill>
                    <a:ea typeface="Segoe UI" pitchFamily="34" charset="0"/>
                    <a:cs typeface="Segoe UI" pitchFamily="34" charset="0"/>
                  </a:rPr>
                </a:br>
                <a:r>
                  <a:rPr lang="en-US" sz="1200" dirty="0">
                    <a:solidFill>
                      <a:schemeClr val="tx1"/>
                    </a:solidFill>
                    <a:ea typeface="Segoe UI" pitchFamily="34" charset="0"/>
                    <a:cs typeface="Segoe UI" pitchFamily="34" charset="0"/>
                  </a:rPr>
                  <a:t>Jupyter Notebooks (future)</a:t>
                </a:r>
              </a:p>
            </p:txBody>
          </p:sp>
          <p:sp>
            <p:nvSpPr>
              <p:cNvPr id="19" name="Rectangle 18">
                <a:extLst>
                  <a:ext uri="{FF2B5EF4-FFF2-40B4-BE49-F238E27FC236}">
                    <a16:creationId xmlns:a16="http://schemas.microsoft.com/office/drawing/2014/main" id="{C63650A7-0677-1258-3E5A-08C1C9CFF6D6}"/>
                  </a:ext>
                </a:extLst>
              </p:cNvPr>
              <p:cNvSpPr/>
              <p:nvPr/>
            </p:nvSpPr>
            <p:spPr bwMode="auto">
              <a:xfrm>
                <a:off x="628650" y="31877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Microsoft Entra ID</a:t>
                </a:r>
              </a:p>
            </p:txBody>
          </p:sp>
          <p:sp>
            <p:nvSpPr>
              <p:cNvPr id="20" name="Rectangle 19">
                <a:extLst>
                  <a:ext uri="{FF2B5EF4-FFF2-40B4-BE49-F238E27FC236}">
                    <a16:creationId xmlns:a16="http://schemas.microsoft.com/office/drawing/2014/main" id="{BC8B85A8-FB01-52FB-ABBA-337D4DF7585C}"/>
                  </a:ext>
                </a:extLst>
              </p:cNvPr>
              <p:cNvSpPr/>
              <p:nvPr/>
            </p:nvSpPr>
            <p:spPr bwMode="auto">
              <a:xfrm>
                <a:off x="628650" y="39370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Microsoft Sentinel</a:t>
                </a:r>
              </a:p>
            </p:txBody>
          </p:sp>
          <p:sp>
            <p:nvSpPr>
              <p:cNvPr id="21" name="Rectangle 20">
                <a:extLst>
                  <a:ext uri="{FF2B5EF4-FFF2-40B4-BE49-F238E27FC236}">
                    <a16:creationId xmlns:a16="http://schemas.microsoft.com/office/drawing/2014/main" id="{1FAD9072-29FC-14FD-0AE8-8639E1ADA18C}"/>
                  </a:ext>
                </a:extLst>
              </p:cNvPr>
              <p:cNvSpPr/>
              <p:nvPr/>
            </p:nvSpPr>
            <p:spPr bwMode="auto">
              <a:xfrm>
                <a:off x="628650" y="46863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Microsoft Defender &amp; Defender XDR</a:t>
                </a:r>
              </a:p>
            </p:txBody>
          </p:sp>
          <p:sp>
            <p:nvSpPr>
              <p:cNvPr id="22" name="Rectangle 21">
                <a:extLst>
                  <a:ext uri="{FF2B5EF4-FFF2-40B4-BE49-F238E27FC236}">
                    <a16:creationId xmlns:a16="http://schemas.microsoft.com/office/drawing/2014/main" id="{D8CBCC48-1AB8-E3CC-0E90-C4B5D6476A44}"/>
                  </a:ext>
                </a:extLst>
              </p:cNvPr>
              <p:cNvSpPr/>
              <p:nvPr/>
            </p:nvSpPr>
            <p:spPr bwMode="auto">
              <a:xfrm>
                <a:off x="628650" y="56134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3P Security Solutions</a:t>
                </a:r>
              </a:p>
            </p:txBody>
          </p:sp>
          <p:cxnSp>
            <p:nvCxnSpPr>
              <p:cNvPr id="25" name="Straight Arrow Connector 24">
                <a:extLst>
                  <a:ext uri="{FF2B5EF4-FFF2-40B4-BE49-F238E27FC236}">
                    <a16:creationId xmlns:a16="http://schemas.microsoft.com/office/drawing/2014/main" id="{B7850C01-8070-0773-B6C1-54D5F5973046}"/>
                  </a:ext>
                </a:extLst>
              </p:cNvPr>
              <p:cNvCxnSpPr>
                <a:stCxn id="22" idx="0"/>
                <a:endCxn id="21" idx="2"/>
              </p:cNvCxnSpPr>
              <p:nvPr/>
            </p:nvCxnSpPr>
            <p:spPr>
              <a:xfrm flipV="1">
                <a:off x="1473200" y="5270500"/>
                <a:ext cx="0" cy="342900"/>
              </a:xfrm>
              <a:prstGeom prst="straightConnector1">
                <a:avLst/>
              </a:prstGeom>
              <a:ln w="25400">
                <a:solidFill>
                  <a:schemeClr val="bg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grpSp>
        <p:cxnSp>
          <p:nvCxnSpPr>
            <p:cNvPr id="59" name="Elbow Connector 58">
              <a:extLst>
                <a:ext uri="{FF2B5EF4-FFF2-40B4-BE49-F238E27FC236}">
                  <a16:creationId xmlns:a16="http://schemas.microsoft.com/office/drawing/2014/main" id="{CC176B07-FBF8-BB41-5110-A08332F0830A}"/>
                </a:ext>
              </a:extLst>
            </p:cNvPr>
            <p:cNvCxnSpPr>
              <a:cxnSpLocks/>
              <a:stCxn id="22" idx="3"/>
              <a:endCxn id="31" idx="1"/>
            </p:cNvCxnSpPr>
            <p:nvPr/>
          </p:nvCxnSpPr>
          <p:spPr>
            <a:xfrm flipV="1">
              <a:off x="4383621" y="3333044"/>
              <a:ext cx="1486607" cy="2357965"/>
            </a:xfrm>
            <a:prstGeom prst="bentConnector3">
              <a:avLst>
                <a:gd name="adj1" fmla="val 61391"/>
              </a:avLst>
            </a:prstGeom>
            <a:ln w="25400">
              <a:solidFill>
                <a:schemeClr val="accent4"/>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765FCE2B-CA15-3BFB-4BA7-F1BA2629BA30}"/>
                </a:ext>
              </a:extLst>
            </p:cNvPr>
            <p:cNvSpPr/>
            <p:nvPr/>
          </p:nvSpPr>
          <p:spPr bwMode="auto">
            <a:xfrm>
              <a:off x="4989692" y="1089375"/>
              <a:ext cx="6863645" cy="5554134"/>
            </a:xfrm>
            <a:prstGeom prst="rect">
              <a:avLst/>
            </a:prstGeom>
            <a:noFill/>
            <a:ln w="19050">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en-US" sz="1200" b="1" dirty="0">
                  <a:solidFill>
                    <a:schemeClr val="tx1"/>
                  </a:solidFill>
                  <a:ea typeface="Segoe UI" pitchFamily="34" charset="0"/>
                  <a:cs typeface="Segoe UI" pitchFamily="34" charset="0"/>
                </a:rPr>
                <a:t>Azure</a:t>
              </a:r>
            </a:p>
          </p:txBody>
        </p:sp>
        <p:sp>
          <p:nvSpPr>
            <p:cNvPr id="27" name="Rectangle 26">
              <a:extLst>
                <a:ext uri="{FF2B5EF4-FFF2-40B4-BE49-F238E27FC236}">
                  <a16:creationId xmlns:a16="http://schemas.microsoft.com/office/drawing/2014/main" id="{0DC2C8A0-288D-5F4A-BD1F-58032E29BB16}"/>
                </a:ext>
              </a:extLst>
            </p:cNvPr>
            <p:cNvSpPr/>
            <p:nvPr/>
          </p:nvSpPr>
          <p:spPr bwMode="auto">
            <a:xfrm>
              <a:off x="5488521" y="1576209"/>
              <a:ext cx="5845528" cy="308364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solidFill>
                  <a:ea typeface="Segoe UI" pitchFamily="34" charset="0"/>
                  <a:cs typeface="Segoe UI" pitchFamily="34" charset="0"/>
                </a:rPr>
                <a:t>Microsoft Foundry </a:t>
              </a:r>
              <a:br>
                <a:rPr lang="en-US" sz="1200" b="1" dirty="0">
                  <a:solidFill>
                    <a:schemeClr val="bg1"/>
                  </a:solidFill>
                  <a:ea typeface="Segoe UI" pitchFamily="34" charset="0"/>
                  <a:cs typeface="Segoe UI" pitchFamily="34" charset="0"/>
                </a:rPr>
              </a:br>
              <a:r>
                <a:rPr lang="en-US" sz="1000" dirty="0">
                  <a:solidFill>
                    <a:schemeClr val="bg1"/>
                  </a:solidFill>
                  <a:ea typeface="Segoe UI" pitchFamily="34" charset="0"/>
                  <a:cs typeface="Segoe UI" pitchFamily="34" charset="0"/>
                </a:rPr>
                <a:t>(v2 GA Q1 2026)</a:t>
              </a:r>
              <a:endParaRPr lang="en-US" sz="1200" dirty="0">
                <a:solidFill>
                  <a:schemeClr val="bg1"/>
                </a:solidFill>
                <a:ea typeface="Segoe UI" pitchFamily="34" charset="0"/>
                <a:cs typeface="Segoe UI" pitchFamily="34" charset="0"/>
              </a:endParaRPr>
            </a:p>
          </p:txBody>
        </p:sp>
        <p:sp>
          <p:nvSpPr>
            <p:cNvPr id="28" name="Rectangle 27">
              <a:extLst>
                <a:ext uri="{FF2B5EF4-FFF2-40B4-BE49-F238E27FC236}">
                  <a16:creationId xmlns:a16="http://schemas.microsoft.com/office/drawing/2014/main" id="{89A2872A-940A-FB4A-9310-FF8FB60ADF5C}"/>
                </a:ext>
              </a:extLst>
            </p:cNvPr>
            <p:cNvSpPr/>
            <p:nvPr/>
          </p:nvSpPr>
          <p:spPr bwMode="auto">
            <a:xfrm>
              <a:off x="5488521" y="5098098"/>
              <a:ext cx="5845528" cy="118582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solidFill>
                  <a:ea typeface="Segoe UI" pitchFamily="34" charset="0"/>
                  <a:cs typeface="Segoe UI" pitchFamily="34" charset="0"/>
                </a:rPr>
                <a:t>Knowledge &amp; Observability</a:t>
              </a:r>
              <a:endParaRPr lang="en-US" sz="1200" dirty="0">
                <a:solidFill>
                  <a:schemeClr val="bg1"/>
                </a:solidFill>
                <a:ea typeface="Segoe UI" pitchFamily="34" charset="0"/>
                <a:cs typeface="Segoe UI" pitchFamily="34" charset="0"/>
              </a:endParaRPr>
            </a:p>
          </p:txBody>
        </p:sp>
        <p:sp>
          <p:nvSpPr>
            <p:cNvPr id="30" name="Rectangle 29">
              <a:extLst>
                <a:ext uri="{FF2B5EF4-FFF2-40B4-BE49-F238E27FC236}">
                  <a16:creationId xmlns:a16="http://schemas.microsoft.com/office/drawing/2014/main" id="{BA883767-DA91-0684-C3EF-F34E78C5BC67}"/>
                </a:ext>
              </a:extLst>
            </p:cNvPr>
            <p:cNvSpPr/>
            <p:nvPr/>
          </p:nvSpPr>
          <p:spPr bwMode="auto">
            <a:xfrm>
              <a:off x="5870226" y="2301520"/>
              <a:ext cx="5102577" cy="306213"/>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Workflow Orchestrator(s)</a:t>
              </a:r>
            </a:p>
          </p:txBody>
        </p:sp>
        <p:sp>
          <p:nvSpPr>
            <p:cNvPr id="31" name="Rectangle 30">
              <a:extLst>
                <a:ext uri="{FF2B5EF4-FFF2-40B4-BE49-F238E27FC236}">
                  <a16:creationId xmlns:a16="http://schemas.microsoft.com/office/drawing/2014/main" id="{AC03B16C-04B6-E4E4-301C-0ADCA20127A2}"/>
                </a:ext>
              </a:extLst>
            </p:cNvPr>
            <p:cNvSpPr/>
            <p:nvPr/>
          </p:nvSpPr>
          <p:spPr bwMode="auto">
            <a:xfrm>
              <a:off x="5870228"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Alert Triage</a:t>
              </a:r>
            </a:p>
          </p:txBody>
        </p:sp>
        <p:sp>
          <p:nvSpPr>
            <p:cNvPr id="32" name="Rectangle 31">
              <a:extLst>
                <a:ext uri="{FF2B5EF4-FFF2-40B4-BE49-F238E27FC236}">
                  <a16:creationId xmlns:a16="http://schemas.microsoft.com/office/drawing/2014/main" id="{13AC36AC-B396-D0CD-A0AB-672E569BFA07}"/>
                </a:ext>
              </a:extLst>
            </p:cNvPr>
            <p:cNvSpPr/>
            <p:nvPr/>
          </p:nvSpPr>
          <p:spPr bwMode="auto">
            <a:xfrm>
              <a:off x="10058403" y="2843436"/>
              <a:ext cx="914400" cy="979216"/>
            </a:xfrm>
            <a:prstGeom prst="rect">
              <a:avLst/>
            </a:prstGeom>
            <a:solidFill>
              <a:srgbClr val="091F2C">
                <a:alpha val="29020"/>
              </a:srgb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Agent</a:t>
              </a:r>
              <a:br>
                <a:rPr lang="en-US" sz="1200" dirty="0">
                  <a:solidFill>
                    <a:schemeClr val="tx1"/>
                  </a:solidFill>
                  <a:ea typeface="Segoe UI" pitchFamily="34" charset="0"/>
                  <a:cs typeface="Segoe UI" pitchFamily="34" charset="0"/>
                </a:rPr>
              </a:br>
              <a:r>
                <a:rPr lang="en-US" sz="1200" i="1" dirty="0">
                  <a:solidFill>
                    <a:schemeClr val="tx1"/>
                  </a:solidFill>
                  <a:ea typeface="Segoe UI" pitchFamily="34" charset="0"/>
                  <a:cs typeface="Segoe UI" pitchFamily="34" charset="0"/>
                </a:rPr>
                <a:t>n</a:t>
              </a:r>
              <a:endParaRPr lang="en-US" sz="1200" dirty="0">
                <a:solidFill>
                  <a:schemeClr val="tx1"/>
                </a:solidFill>
                <a:ea typeface="Segoe UI" pitchFamily="34" charset="0"/>
                <a:cs typeface="Segoe UI" pitchFamily="34" charset="0"/>
              </a:endParaRPr>
            </a:p>
          </p:txBody>
        </p:sp>
        <p:sp>
          <p:nvSpPr>
            <p:cNvPr id="34" name="Rectangle 33">
              <a:extLst>
                <a:ext uri="{FF2B5EF4-FFF2-40B4-BE49-F238E27FC236}">
                  <a16:creationId xmlns:a16="http://schemas.microsoft.com/office/drawing/2014/main" id="{0E7E22CE-582A-3187-6AAE-9A33AA3CCED7}"/>
                </a:ext>
              </a:extLst>
            </p:cNvPr>
            <p:cNvSpPr/>
            <p:nvPr/>
          </p:nvSpPr>
          <p:spPr bwMode="auto">
            <a:xfrm>
              <a:off x="6917272"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Threat Hunting</a:t>
              </a:r>
            </a:p>
          </p:txBody>
        </p:sp>
        <p:sp>
          <p:nvSpPr>
            <p:cNvPr id="35" name="Rectangle 34">
              <a:extLst>
                <a:ext uri="{FF2B5EF4-FFF2-40B4-BE49-F238E27FC236}">
                  <a16:creationId xmlns:a16="http://schemas.microsoft.com/office/drawing/2014/main" id="{B8ACB516-D39A-0AEA-0645-C1E7BF5CA6EA}"/>
                </a:ext>
              </a:extLst>
            </p:cNvPr>
            <p:cNvSpPr/>
            <p:nvPr/>
          </p:nvSpPr>
          <p:spPr bwMode="auto">
            <a:xfrm>
              <a:off x="7964316"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Threat Intel</a:t>
              </a:r>
            </a:p>
          </p:txBody>
        </p:sp>
        <p:sp>
          <p:nvSpPr>
            <p:cNvPr id="37" name="Rectangle 36">
              <a:extLst>
                <a:ext uri="{FF2B5EF4-FFF2-40B4-BE49-F238E27FC236}">
                  <a16:creationId xmlns:a16="http://schemas.microsoft.com/office/drawing/2014/main" id="{466E0F9F-BEFB-F642-A296-EAE6D908BB2E}"/>
                </a:ext>
              </a:extLst>
            </p:cNvPr>
            <p:cNvSpPr/>
            <p:nvPr/>
          </p:nvSpPr>
          <p:spPr bwMode="auto">
            <a:xfrm>
              <a:off x="9011360"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Incident Resp.</a:t>
              </a:r>
            </a:p>
          </p:txBody>
        </p:sp>
        <p:sp>
          <p:nvSpPr>
            <p:cNvPr id="38" name="Rectangle 37">
              <a:extLst>
                <a:ext uri="{FF2B5EF4-FFF2-40B4-BE49-F238E27FC236}">
                  <a16:creationId xmlns:a16="http://schemas.microsoft.com/office/drawing/2014/main" id="{2DA3D4ED-55B2-146B-4EA8-0AEA95F273A6}"/>
                </a:ext>
              </a:extLst>
            </p:cNvPr>
            <p:cNvSpPr/>
            <p:nvPr/>
          </p:nvSpPr>
          <p:spPr bwMode="auto">
            <a:xfrm>
              <a:off x="5870225" y="4165596"/>
              <a:ext cx="5102577" cy="306213"/>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Foundry IQ – Agent Memory and Knowledge Bases</a:t>
              </a:r>
            </a:p>
          </p:txBody>
        </p:sp>
        <p:sp>
          <p:nvSpPr>
            <p:cNvPr id="39" name="Rectangle 38">
              <a:extLst>
                <a:ext uri="{FF2B5EF4-FFF2-40B4-BE49-F238E27FC236}">
                  <a16:creationId xmlns:a16="http://schemas.microsoft.com/office/drawing/2014/main" id="{B7137C2A-B4BF-95F4-01C3-688C605EF9F1}"/>
                </a:ext>
              </a:extLst>
            </p:cNvPr>
            <p:cNvSpPr/>
            <p:nvPr/>
          </p:nvSpPr>
          <p:spPr bwMode="auto">
            <a:xfrm>
              <a:off x="5859996" y="5281791"/>
              <a:ext cx="1554480" cy="48683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Azure AI Search</a:t>
              </a:r>
            </a:p>
          </p:txBody>
        </p:sp>
        <p:sp>
          <p:nvSpPr>
            <p:cNvPr id="40" name="Rectangle 39">
              <a:extLst>
                <a:ext uri="{FF2B5EF4-FFF2-40B4-BE49-F238E27FC236}">
                  <a16:creationId xmlns:a16="http://schemas.microsoft.com/office/drawing/2014/main" id="{CD0B305A-7260-6E11-4DB3-FB577EA7CC86}"/>
                </a:ext>
              </a:extLst>
            </p:cNvPr>
            <p:cNvSpPr/>
            <p:nvPr/>
          </p:nvSpPr>
          <p:spPr bwMode="auto">
            <a:xfrm>
              <a:off x="7639159" y="5281791"/>
              <a:ext cx="1554480" cy="486834"/>
            </a:xfrm>
            <a:prstGeom prst="rect">
              <a:avLst/>
            </a:prstGeom>
            <a:solidFill>
              <a:schemeClr val="dk1">
                <a:alpha val="29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Azure Blob Storage</a:t>
              </a:r>
            </a:p>
          </p:txBody>
        </p:sp>
        <p:sp>
          <p:nvSpPr>
            <p:cNvPr id="41" name="Rectangle 40">
              <a:extLst>
                <a:ext uri="{FF2B5EF4-FFF2-40B4-BE49-F238E27FC236}">
                  <a16:creationId xmlns:a16="http://schemas.microsoft.com/office/drawing/2014/main" id="{5BD4C5D9-4CC3-F242-376E-60508579CC58}"/>
                </a:ext>
              </a:extLst>
            </p:cNvPr>
            <p:cNvSpPr/>
            <p:nvPr/>
          </p:nvSpPr>
          <p:spPr bwMode="auto">
            <a:xfrm>
              <a:off x="9418322" y="5281791"/>
              <a:ext cx="1554480" cy="48683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App Insights / Azure Monitor</a:t>
              </a:r>
            </a:p>
          </p:txBody>
        </p:sp>
        <p:cxnSp>
          <p:nvCxnSpPr>
            <p:cNvPr id="43" name="Elbow Connector 42">
              <a:extLst>
                <a:ext uri="{FF2B5EF4-FFF2-40B4-BE49-F238E27FC236}">
                  <a16:creationId xmlns:a16="http://schemas.microsoft.com/office/drawing/2014/main" id="{DE2D7435-09A2-8D43-5E77-6991D100088D}"/>
                </a:ext>
              </a:extLst>
            </p:cNvPr>
            <p:cNvCxnSpPr>
              <a:stCxn id="17" idx="3"/>
            </p:cNvCxnSpPr>
            <p:nvPr/>
          </p:nvCxnSpPr>
          <p:spPr>
            <a:xfrm>
              <a:off x="4643971" y="1868309"/>
              <a:ext cx="1216025" cy="584200"/>
            </a:xfrm>
            <a:prstGeom prst="bentConnector3">
              <a:avLst/>
            </a:prstGeom>
            <a:ln w="25400">
              <a:solidFill>
                <a:schemeClr val="tx1"/>
              </a:solidFill>
              <a:headEnd type="triangle" w="lg" len="med"/>
              <a:tailEnd type="triangle"/>
            </a:ln>
          </p:spPr>
          <p:style>
            <a:lnRef idx="1">
              <a:schemeClr val="accent1"/>
            </a:lnRef>
            <a:fillRef idx="0">
              <a:schemeClr val="accent1"/>
            </a:fillRef>
            <a:effectRef idx="0">
              <a:schemeClr val="accent1"/>
            </a:effectRef>
            <a:fontRef idx="minor">
              <a:schemeClr val="tx1"/>
            </a:fontRef>
          </p:style>
        </p:cxnSp>
        <p:cxnSp>
          <p:nvCxnSpPr>
            <p:cNvPr id="44" name="Elbow Connector 43">
              <a:extLst>
                <a:ext uri="{FF2B5EF4-FFF2-40B4-BE49-F238E27FC236}">
                  <a16:creationId xmlns:a16="http://schemas.microsoft.com/office/drawing/2014/main" id="{DA2F5168-94F3-2188-1C94-DD813D71255D}"/>
                </a:ext>
              </a:extLst>
            </p:cNvPr>
            <p:cNvCxnSpPr>
              <a:cxnSpLocks/>
              <a:endCxn id="31" idx="1"/>
            </p:cNvCxnSpPr>
            <p:nvPr/>
          </p:nvCxnSpPr>
          <p:spPr>
            <a:xfrm>
              <a:off x="4383621" y="3264080"/>
              <a:ext cx="1486607" cy="68964"/>
            </a:xfrm>
            <a:prstGeom prst="bentConnector3">
              <a:avLst/>
            </a:prstGeom>
            <a:ln w="254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52">
              <a:extLst>
                <a:ext uri="{FF2B5EF4-FFF2-40B4-BE49-F238E27FC236}">
                  <a16:creationId xmlns:a16="http://schemas.microsoft.com/office/drawing/2014/main" id="{E3B59E26-5D6A-5574-D7F5-215318EA7175}"/>
                </a:ext>
              </a:extLst>
            </p:cNvPr>
            <p:cNvCxnSpPr>
              <a:cxnSpLocks/>
              <a:stCxn id="20" idx="3"/>
            </p:cNvCxnSpPr>
            <p:nvPr/>
          </p:nvCxnSpPr>
          <p:spPr>
            <a:xfrm flipV="1">
              <a:off x="4383621" y="3333044"/>
              <a:ext cx="1476375" cy="681565"/>
            </a:xfrm>
            <a:prstGeom prst="bentConnector3">
              <a:avLst/>
            </a:prstGeom>
            <a:ln w="254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6" name="Elbow Connector 55">
              <a:extLst>
                <a:ext uri="{FF2B5EF4-FFF2-40B4-BE49-F238E27FC236}">
                  <a16:creationId xmlns:a16="http://schemas.microsoft.com/office/drawing/2014/main" id="{CF36DAFC-62FF-1144-15AE-12862296F97F}"/>
                </a:ext>
              </a:extLst>
            </p:cNvPr>
            <p:cNvCxnSpPr>
              <a:cxnSpLocks/>
              <a:stCxn id="21" idx="3"/>
            </p:cNvCxnSpPr>
            <p:nvPr/>
          </p:nvCxnSpPr>
          <p:spPr>
            <a:xfrm flipV="1">
              <a:off x="4383621" y="3329470"/>
              <a:ext cx="1476375" cy="1434439"/>
            </a:xfrm>
            <a:prstGeom prst="bentConnector3">
              <a:avLst/>
            </a:prstGeom>
            <a:ln w="254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F836CCFA-C148-2F9B-9176-203811978F31}"/>
                </a:ext>
              </a:extLst>
            </p:cNvPr>
            <p:cNvCxnSpPr>
              <a:cxnSpLocks/>
            </p:cNvCxnSpPr>
            <p:nvPr/>
          </p:nvCxnSpPr>
          <p:spPr>
            <a:xfrm flipV="1">
              <a:off x="6318961"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A26A8FF2-CCE3-092F-FE08-719E2E318574}"/>
                </a:ext>
              </a:extLst>
            </p:cNvPr>
            <p:cNvCxnSpPr>
              <a:cxnSpLocks/>
            </p:cNvCxnSpPr>
            <p:nvPr/>
          </p:nvCxnSpPr>
          <p:spPr>
            <a:xfrm flipV="1">
              <a:off x="10490205"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CE33FF7-2276-384D-1CF5-3D3267458DEF}"/>
                </a:ext>
              </a:extLst>
            </p:cNvPr>
            <p:cNvCxnSpPr>
              <a:cxnSpLocks/>
            </p:cNvCxnSpPr>
            <p:nvPr/>
          </p:nvCxnSpPr>
          <p:spPr>
            <a:xfrm flipV="1">
              <a:off x="7361772"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910E47DA-C266-6A3A-A30D-1C49CAD756E7}"/>
                </a:ext>
              </a:extLst>
            </p:cNvPr>
            <p:cNvCxnSpPr>
              <a:cxnSpLocks/>
            </p:cNvCxnSpPr>
            <p:nvPr/>
          </p:nvCxnSpPr>
          <p:spPr>
            <a:xfrm flipV="1">
              <a:off x="8404583"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D06010EF-5A20-4D25-9385-635175F325EB}"/>
                </a:ext>
              </a:extLst>
            </p:cNvPr>
            <p:cNvCxnSpPr>
              <a:cxnSpLocks/>
            </p:cNvCxnSpPr>
            <p:nvPr/>
          </p:nvCxnSpPr>
          <p:spPr>
            <a:xfrm flipV="1">
              <a:off x="9447394"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3D28279A-D4C7-E917-241D-B55B6C36EACE}"/>
                </a:ext>
              </a:extLst>
            </p:cNvPr>
            <p:cNvCxnSpPr>
              <a:cxnSpLocks/>
            </p:cNvCxnSpPr>
            <p:nvPr/>
          </p:nvCxnSpPr>
          <p:spPr>
            <a:xfrm flipV="1">
              <a:off x="6318961"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27202D03-64A6-DD64-E2C8-AC005A2DAF88}"/>
                </a:ext>
              </a:extLst>
            </p:cNvPr>
            <p:cNvCxnSpPr>
              <a:cxnSpLocks/>
            </p:cNvCxnSpPr>
            <p:nvPr/>
          </p:nvCxnSpPr>
          <p:spPr>
            <a:xfrm flipV="1">
              <a:off x="10490205"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EAB9E125-B547-B646-2CC6-E3B663C7D949}"/>
                </a:ext>
              </a:extLst>
            </p:cNvPr>
            <p:cNvCxnSpPr>
              <a:cxnSpLocks/>
            </p:cNvCxnSpPr>
            <p:nvPr/>
          </p:nvCxnSpPr>
          <p:spPr>
            <a:xfrm flipV="1">
              <a:off x="7361772"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0A615611-33C4-EFC2-132C-8B308273CB9B}"/>
                </a:ext>
              </a:extLst>
            </p:cNvPr>
            <p:cNvCxnSpPr>
              <a:cxnSpLocks/>
            </p:cNvCxnSpPr>
            <p:nvPr/>
          </p:nvCxnSpPr>
          <p:spPr>
            <a:xfrm flipV="1">
              <a:off x="8404583"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0372CBCC-E0C7-0E76-B317-4B3557132575}"/>
                </a:ext>
              </a:extLst>
            </p:cNvPr>
            <p:cNvCxnSpPr>
              <a:cxnSpLocks/>
            </p:cNvCxnSpPr>
            <p:nvPr/>
          </p:nvCxnSpPr>
          <p:spPr>
            <a:xfrm flipV="1">
              <a:off x="9447394"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855C320C-47F2-98B3-899A-32DBEDB81A40}"/>
                </a:ext>
              </a:extLst>
            </p:cNvPr>
            <p:cNvCxnSpPr>
              <a:cxnSpLocks/>
            </p:cNvCxnSpPr>
            <p:nvPr/>
          </p:nvCxnSpPr>
          <p:spPr>
            <a:xfrm flipH="1" flipV="1">
              <a:off x="6585660" y="4490563"/>
              <a:ext cx="15521" cy="809982"/>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DE9A6902-041D-1DCD-B6F4-02F7A6495CEA}"/>
                </a:ext>
              </a:extLst>
            </p:cNvPr>
            <p:cNvCxnSpPr>
              <a:cxnSpLocks/>
            </p:cNvCxnSpPr>
            <p:nvPr/>
          </p:nvCxnSpPr>
          <p:spPr>
            <a:xfrm flipV="1">
              <a:off x="8404583" y="4476971"/>
              <a:ext cx="0" cy="8048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7D487F92-376A-F510-747A-8E77AD7B20DF}"/>
                </a:ext>
              </a:extLst>
            </p:cNvPr>
            <p:cNvCxnSpPr>
              <a:cxnSpLocks/>
            </p:cNvCxnSpPr>
            <p:nvPr/>
          </p:nvCxnSpPr>
          <p:spPr>
            <a:xfrm flipV="1">
              <a:off x="10195562" y="4659851"/>
              <a:ext cx="0" cy="616778"/>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grpSp>
      <p:pic>
        <p:nvPicPr>
          <p:cNvPr id="84" name="Graphic 83" descr="User with solid fill">
            <a:extLst>
              <a:ext uri="{FF2B5EF4-FFF2-40B4-BE49-F238E27FC236}">
                <a16:creationId xmlns:a16="http://schemas.microsoft.com/office/drawing/2014/main" id="{56E287E2-1CD0-CAE7-C8CB-307EF702892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983" y="1639709"/>
            <a:ext cx="457200" cy="457200"/>
          </a:xfrm>
          <a:prstGeom prst="rect">
            <a:avLst/>
          </a:prstGeom>
        </p:spPr>
      </p:pic>
    </p:spTree>
    <p:extLst>
      <p:ext uri="{BB962C8B-B14F-4D97-AF65-F5344CB8AC3E}">
        <p14:creationId xmlns:p14="http://schemas.microsoft.com/office/powerpoint/2010/main" val="137927404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5640F2-B050-B458-969B-654E87AB1DD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44C2B32-A459-7DD9-C92F-A7763F154F89}"/>
              </a:ext>
            </a:extLst>
          </p:cNvPr>
          <p:cNvSpPr>
            <a:spLocks noGrp="1"/>
          </p:cNvSpPr>
          <p:nvPr>
            <p:ph type="title"/>
          </p:nvPr>
        </p:nvSpPr>
        <p:spPr/>
        <p:txBody>
          <a:bodyPr>
            <a:spAutoFit/>
          </a:bodyPr>
          <a:lstStyle/>
          <a:p>
            <a:r>
              <a:rPr lang="en-US" dirty="0"/>
              <a:t>Solution Architecture</a:t>
            </a:r>
          </a:p>
        </p:txBody>
      </p:sp>
      <p:grpSp>
        <p:nvGrpSpPr>
          <p:cNvPr id="81" name="Group 80">
            <a:extLst>
              <a:ext uri="{FF2B5EF4-FFF2-40B4-BE49-F238E27FC236}">
                <a16:creationId xmlns:a16="http://schemas.microsoft.com/office/drawing/2014/main" id="{84A81726-9E26-F300-8588-C70DA7C2206D}"/>
              </a:ext>
            </a:extLst>
          </p:cNvPr>
          <p:cNvGrpSpPr/>
          <p:nvPr/>
        </p:nvGrpSpPr>
        <p:grpSpPr>
          <a:xfrm>
            <a:off x="1384304" y="1089375"/>
            <a:ext cx="9419166" cy="5554134"/>
            <a:chOff x="2434171" y="1089375"/>
            <a:chExt cx="9419166" cy="5554134"/>
          </a:xfrm>
        </p:grpSpPr>
        <p:grpSp>
          <p:nvGrpSpPr>
            <p:cNvPr id="26" name="Group 25">
              <a:extLst>
                <a:ext uri="{FF2B5EF4-FFF2-40B4-BE49-F238E27FC236}">
                  <a16:creationId xmlns:a16="http://schemas.microsoft.com/office/drawing/2014/main" id="{34719724-87F6-916E-AB91-A38C11BF4A5A}"/>
                </a:ext>
              </a:extLst>
            </p:cNvPr>
            <p:cNvGrpSpPr/>
            <p:nvPr/>
          </p:nvGrpSpPr>
          <p:grpSpPr>
            <a:xfrm>
              <a:off x="2434171" y="1576209"/>
              <a:ext cx="2209800" cy="4660900"/>
              <a:chOff x="368300" y="1790700"/>
              <a:chExt cx="2209800" cy="4660900"/>
            </a:xfrm>
          </p:grpSpPr>
          <p:sp>
            <p:nvSpPr>
              <p:cNvPr id="23" name="Rectangle 22">
                <a:extLst>
                  <a:ext uri="{FF2B5EF4-FFF2-40B4-BE49-F238E27FC236}">
                    <a16:creationId xmlns:a16="http://schemas.microsoft.com/office/drawing/2014/main" id="{B10FC3DF-4440-ECDE-6418-1972D68AFF42}"/>
                  </a:ext>
                </a:extLst>
              </p:cNvPr>
              <p:cNvSpPr/>
              <p:nvPr/>
            </p:nvSpPr>
            <p:spPr bwMode="auto">
              <a:xfrm>
                <a:off x="368300" y="2667000"/>
                <a:ext cx="2209800" cy="3784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solidFill>
                    <a:ea typeface="Segoe UI" pitchFamily="34" charset="0"/>
                    <a:cs typeface="Segoe UI" pitchFamily="34" charset="0"/>
                  </a:rPr>
                  <a:t>Security Sources</a:t>
                </a:r>
              </a:p>
            </p:txBody>
          </p:sp>
          <p:sp>
            <p:nvSpPr>
              <p:cNvPr id="17" name="Rectangle 16">
                <a:extLst>
                  <a:ext uri="{FF2B5EF4-FFF2-40B4-BE49-F238E27FC236}">
                    <a16:creationId xmlns:a16="http://schemas.microsoft.com/office/drawing/2014/main" id="{F906A97D-AD96-11B8-7329-842A7F49F9D9}"/>
                  </a:ext>
                </a:extLst>
              </p:cNvPr>
              <p:cNvSpPr/>
              <p:nvPr/>
            </p:nvSpPr>
            <p:spPr bwMode="auto">
              <a:xfrm>
                <a:off x="368300" y="1790700"/>
                <a:ext cx="2209800" cy="5842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CLI</a:t>
                </a:r>
                <a:br>
                  <a:rPr lang="en-US" sz="1200" dirty="0">
                    <a:solidFill>
                      <a:schemeClr val="tx1"/>
                    </a:solidFill>
                    <a:ea typeface="Segoe UI" pitchFamily="34" charset="0"/>
                    <a:cs typeface="Segoe UI" pitchFamily="34" charset="0"/>
                  </a:rPr>
                </a:br>
                <a:r>
                  <a:rPr lang="en-US" sz="1200" dirty="0">
                    <a:solidFill>
                      <a:schemeClr val="tx1"/>
                    </a:solidFill>
                    <a:ea typeface="Segoe UI" pitchFamily="34" charset="0"/>
                    <a:cs typeface="Segoe UI" pitchFamily="34" charset="0"/>
                  </a:rPr>
                  <a:t>Jupyter Notebooks (future)</a:t>
                </a:r>
              </a:p>
            </p:txBody>
          </p:sp>
          <p:sp>
            <p:nvSpPr>
              <p:cNvPr id="19" name="Rectangle 18">
                <a:extLst>
                  <a:ext uri="{FF2B5EF4-FFF2-40B4-BE49-F238E27FC236}">
                    <a16:creationId xmlns:a16="http://schemas.microsoft.com/office/drawing/2014/main" id="{4C15DBFB-EA7B-04F5-C554-962CF4758F43}"/>
                  </a:ext>
                </a:extLst>
              </p:cNvPr>
              <p:cNvSpPr/>
              <p:nvPr/>
            </p:nvSpPr>
            <p:spPr bwMode="auto">
              <a:xfrm>
                <a:off x="628650" y="31877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Microsoft Entra ID</a:t>
                </a:r>
              </a:p>
            </p:txBody>
          </p:sp>
          <p:sp>
            <p:nvSpPr>
              <p:cNvPr id="20" name="Rectangle 19">
                <a:extLst>
                  <a:ext uri="{FF2B5EF4-FFF2-40B4-BE49-F238E27FC236}">
                    <a16:creationId xmlns:a16="http://schemas.microsoft.com/office/drawing/2014/main" id="{9FEA73B1-9642-ECB5-EB62-502DFE123090}"/>
                  </a:ext>
                </a:extLst>
              </p:cNvPr>
              <p:cNvSpPr/>
              <p:nvPr/>
            </p:nvSpPr>
            <p:spPr bwMode="auto">
              <a:xfrm>
                <a:off x="628650" y="39370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Microsoft Sentinel</a:t>
                </a:r>
              </a:p>
            </p:txBody>
          </p:sp>
          <p:sp>
            <p:nvSpPr>
              <p:cNvPr id="21" name="Rectangle 20">
                <a:extLst>
                  <a:ext uri="{FF2B5EF4-FFF2-40B4-BE49-F238E27FC236}">
                    <a16:creationId xmlns:a16="http://schemas.microsoft.com/office/drawing/2014/main" id="{6FEA2C75-6035-A4A5-F0EC-DE81EB6577FD}"/>
                  </a:ext>
                </a:extLst>
              </p:cNvPr>
              <p:cNvSpPr/>
              <p:nvPr/>
            </p:nvSpPr>
            <p:spPr bwMode="auto">
              <a:xfrm>
                <a:off x="628650" y="46863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Microsoft Defender &amp; Defender XDR</a:t>
                </a:r>
              </a:p>
            </p:txBody>
          </p:sp>
          <p:sp>
            <p:nvSpPr>
              <p:cNvPr id="22" name="Rectangle 21">
                <a:extLst>
                  <a:ext uri="{FF2B5EF4-FFF2-40B4-BE49-F238E27FC236}">
                    <a16:creationId xmlns:a16="http://schemas.microsoft.com/office/drawing/2014/main" id="{D46D9230-7D38-8D31-A517-2FFDD636E1CB}"/>
                  </a:ext>
                </a:extLst>
              </p:cNvPr>
              <p:cNvSpPr/>
              <p:nvPr/>
            </p:nvSpPr>
            <p:spPr bwMode="auto">
              <a:xfrm>
                <a:off x="628650" y="56134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3P Security Solutions</a:t>
                </a:r>
              </a:p>
            </p:txBody>
          </p:sp>
          <p:cxnSp>
            <p:nvCxnSpPr>
              <p:cNvPr id="25" name="Straight Arrow Connector 24">
                <a:extLst>
                  <a:ext uri="{FF2B5EF4-FFF2-40B4-BE49-F238E27FC236}">
                    <a16:creationId xmlns:a16="http://schemas.microsoft.com/office/drawing/2014/main" id="{A87AEFC7-F66D-186C-2D03-3C9EB4FE4322}"/>
                  </a:ext>
                </a:extLst>
              </p:cNvPr>
              <p:cNvCxnSpPr>
                <a:stCxn id="22" idx="0"/>
                <a:endCxn id="21" idx="2"/>
              </p:cNvCxnSpPr>
              <p:nvPr/>
            </p:nvCxnSpPr>
            <p:spPr>
              <a:xfrm flipV="1">
                <a:off x="1473200" y="5270500"/>
                <a:ext cx="0" cy="342900"/>
              </a:xfrm>
              <a:prstGeom prst="straightConnector1">
                <a:avLst/>
              </a:prstGeom>
              <a:ln w="25400">
                <a:solidFill>
                  <a:schemeClr val="bg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grpSp>
        <p:cxnSp>
          <p:nvCxnSpPr>
            <p:cNvPr id="59" name="Elbow Connector 58">
              <a:extLst>
                <a:ext uri="{FF2B5EF4-FFF2-40B4-BE49-F238E27FC236}">
                  <a16:creationId xmlns:a16="http://schemas.microsoft.com/office/drawing/2014/main" id="{0EBF30C2-B5E5-1D89-D0DD-24573FABA3D8}"/>
                </a:ext>
              </a:extLst>
            </p:cNvPr>
            <p:cNvCxnSpPr>
              <a:cxnSpLocks/>
              <a:stCxn id="22" idx="3"/>
              <a:endCxn id="31" idx="1"/>
            </p:cNvCxnSpPr>
            <p:nvPr/>
          </p:nvCxnSpPr>
          <p:spPr>
            <a:xfrm flipV="1">
              <a:off x="4383621" y="3333044"/>
              <a:ext cx="1486607" cy="2357965"/>
            </a:xfrm>
            <a:prstGeom prst="bentConnector3">
              <a:avLst>
                <a:gd name="adj1" fmla="val 61391"/>
              </a:avLst>
            </a:prstGeom>
            <a:ln w="25400">
              <a:solidFill>
                <a:schemeClr val="accent4"/>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B8887943-D161-B664-9B8A-030506793B46}"/>
                </a:ext>
              </a:extLst>
            </p:cNvPr>
            <p:cNvSpPr/>
            <p:nvPr/>
          </p:nvSpPr>
          <p:spPr bwMode="auto">
            <a:xfrm>
              <a:off x="4989692" y="1089375"/>
              <a:ext cx="6863645" cy="5554134"/>
            </a:xfrm>
            <a:prstGeom prst="rect">
              <a:avLst/>
            </a:prstGeom>
            <a:noFill/>
            <a:ln w="19050">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en-US" sz="1200" b="1" dirty="0">
                  <a:solidFill>
                    <a:schemeClr val="tx1"/>
                  </a:solidFill>
                  <a:ea typeface="Segoe UI" pitchFamily="34" charset="0"/>
                  <a:cs typeface="Segoe UI" pitchFamily="34" charset="0"/>
                </a:rPr>
                <a:t>Azure</a:t>
              </a:r>
            </a:p>
          </p:txBody>
        </p:sp>
        <p:sp>
          <p:nvSpPr>
            <p:cNvPr id="27" name="Rectangle 26">
              <a:extLst>
                <a:ext uri="{FF2B5EF4-FFF2-40B4-BE49-F238E27FC236}">
                  <a16:creationId xmlns:a16="http://schemas.microsoft.com/office/drawing/2014/main" id="{87C41C21-687F-7A5B-C11A-374132079572}"/>
                </a:ext>
              </a:extLst>
            </p:cNvPr>
            <p:cNvSpPr/>
            <p:nvPr/>
          </p:nvSpPr>
          <p:spPr bwMode="auto">
            <a:xfrm>
              <a:off x="5488521" y="1576209"/>
              <a:ext cx="5845528" cy="308364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solidFill>
                  <a:ea typeface="Segoe UI" pitchFamily="34" charset="0"/>
                  <a:cs typeface="Segoe UI" pitchFamily="34" charset="0"/>
                </a:rPr>
                <a:t>Microsoft Foundry </a:t>
              </a:r>
              <a:br>
                <a:rPr lang="en-US" sz="1200" b="1" dirty="0">
                  <a:solidFill>
                    <a:schemeClr val="bg1"/>
                  </a:solidFill>
                  <a:ea typeface="Segoe UI" pitchFamily="34" charset="0"/>
                  <a:cs typeface="Segoe UI" pitchFamily="34" charset="0"/>
                </a:rPr>
              </a:br>
              <a:r>
                <a:rPr lang="en-US" sz="1000" dirty="0">
                  <a:solidFill>
                    <a:schemeClr val="bg1"/>
                  </a:solidFill>
                  <a:ea typeface="Segoe UI" pitchFamily="34" charset="0"/>
                  <a:cs typeface="Segoe UI" pitchFamily="34" charset="0"/>
                </a:rPr>
                <a:t>(v2 GA Q1 2026)</a:t>
              </a:r>
              <a:endParaRPr lang="en-US" sz="1200" dirty="0">
                <a:solidFill>
                  <a:schemeClr val="bg1"/>
                </a:solidFill>
                <a:ea typeface="Segoe UI" pitchFamily="34" charset="0"/>
                <a:cs typeface="Segoe UI" pitchFamily="34" charset="0"/>
              </a:endParaRPr>
            </a:p>
          </p:txBody>
        </p:sp>
        <p:sp>
          <p:nvSpPr>
            <p:cNvPr id="28" name="Rectangle 27">
              <a:extLst>
                <a:ext uri="{FF2B5EF4-FFF2-40B4-BE49-F238E27FC236}">
                  <a16:creationId xmlns:a16="http://schemas.microsoft.com/office/drawing/2014/main" id="{336F0E97-6BD6-692A-682A-EB50EA36E019}"/>
                </a:ext>
              </a:extLst>
            </p:cNvPr>
            <p:cNvSpPr/>
            <p:nvPr/>
          </p:nvSpPr>
          <p:spPr bwMode="auto">
            <a:xfrm>
              <a:off x="5488521" y="5098098"/>
              <a:ext cx="5845528" cy="118582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solidFill>
                  <a:ea typeface="Segoe UI" pitchFamily="34" charset="0"/>
                  <a:cs typeface="Segoe UI" pitchFamily="34" charset="0"/>
                </a:rPr>
                <a:t>Knowledge &amp; Observability</a:t>
              </a:r>
              <a:endParaRPr lang="en-US" sz="1200" dirty="0">
                <a:solidFill>
                  <a:schemeClr val="bg1"/>
                </a:solidFill>
                <a:ea typeface="Segoe UI" pitchFamily="34" charset="0"/>
                <a:cs typeface="Segoe UI" pitchFamily="34" charset="0"/>
              </a:endParaRPr>
            </a:p>
          </p:txBody>
        </p:sp>
        <p:sp>
          <p:nvSpPr>
            <p:cNvPr id="30" name="Rectangle 29">
              <a:extLst>
                <a:ext uri="{FF2B5EF4-FFF2-40B4-BE49-F238E27FC236}">
                  <a16:creationId xmlns:a16="http://schemas.microsoft.com/office/drawing/2014/main" id="{C518CE44-0BA8-A896-FD5F-843D0BB1A188}"/>
                </a:ext>
              </a:extLst>
            </p:cNvPr>
            <p:cNvSpPr/>
            <p:nvPr/>
          </p:nvSpPr>
          <p:spPr bwMode="auto">
            <a:xfrm>
              <a:off x="5870226" y="2301520"/>
              <a:ext cx="5102577" cy="306213"/>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Workflow Orchestrator(s)</a:t>
              </a:r>
            </a:p>
          </p:txBody>
        </p:sp>
        <p:sp>
          <p:nvSpPr>
            <p:cNvPr id="31" name="Rectangle 30">
              <a:extLst>
                <a:ext uri="{FF2B5EF4-FFF2-40B4-BE49-F238E27FC236}">
                  <a16:creationId xmlns:a16="http://schemas.microsoft.com/office/drawing/2014/main" id="{F52B6F4E-88F6-6048-228D-7E044E750BA8}"/>
                </a:ext>
              </a:extLst>
            </p:cNvPr>
            <p:cNvSpPr/>
            <p:nvPr/>
          </p:nvSpPr>
          <p:spPr bwMode="auto">
            <a:xfrm>
              <a:off x="5870228"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Alert Triage</a:t>
              </a:r>
            </a:p>
          </p:txBody>
        </p:sp>
        <p:sp>
          <p:nvSpPr>
            <p:cNvPr id="32" name="Rectangle 31">
              <a:extLst>
                <a:ext uri="{FF2B5EF4-FFF2-40B4-BE49-F238E27FC236}">
                  <a16:creationId xmlns:a16="http://schemas.microsoft.com/office/drawing/2014/main" id="{812AFCA9-E87E-5DC6-8308-EF081D4FC3EF}"/>
                </a:ext>
              </a:extLst>
            </p:cNvPr>
            <p:cNvSpPr/>
            <p:nvPr/>
          </p:nvSpPr>
          <p:spPr bwMode="auto">
            <a:xfrm>
              <a:off x="10058403" y="2843436"/>
              <a:ext cx="914400" cy="979216"/>
            </a:xfrm>
            <a:prstGeom prst="rect">
              <a:avLst/>
            </a:prstGeom>
            <a:solidFill>
              <a:srgbClr val="091F2C">
                <a:alpha val="29020"/>
              </a:srgb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Agent</a:t>
              </a:r>
              <a:br>
                <a:rPr lang="en-US" sz="1200" dirty="0">
                  <a:solidFill>
                    <a:schemeClr val="tx1"/>
                  </a:solidFill>
                  <a:ea typeface="Segoe UI" pitchFamily="34" charset="0"/>
                  <a:cs typeface="Segoe UI" pitchFamily="34" charset="0"/>
                </a:rPr>
              </a:br>
              <a:r>
                <a:rPr lang="en-US" sz="1200" i="1" dirty="0">
                  <a:solidFill>
                    <a:schemeClr val="tx1"/>
                  </a:solidFill>
                  <a:ea typeface="Segoe UI" pitchFamily="34" charset="0"/>
                  <a:cs typeface="Segoe UI" pitchFamily="34" charset="0"/>
                </a:rPr>
                <a:t>n</a:t>
              </a:r>
              <a:endParaRPr lang="en-US" sz="1200" dirty="0">
                <a:solidFill>
                  <a:schemeClr val="tx1"/>
                </a:solidFill>
                <a:ea typeface="Segoe UI" pitchFamily="34" charset="0"/>
                <a:cs typeface="Segoe UI" pitchFamily="34" charset="0"/>
              </a:endParaRPr>
            </a:p>
          </p:txBody>
        </p:sp>
        <p:sp>
          <p:nvSpPr>
            <p:cNvPr id="34" name="Rectangle 33">
              <a:extLst>
                <a:ext uri="{FF2B5EF4-FFF2-40B4-BE49-F238E27FC236}">
                  <a16:creationId xmlns:a16="http://schemas.microsoft.com/office/drawing/2014/main" id="{C65F1F41-B122-96BA-88AA-8A477BB128F1}"/>
                </a:ext>
              </a:extLst>
            </p:cNvPr>
            <p:cNvSpPr/>
            <p:nvPr/>
          </p:nvSpPr>
          <p:spPr bwMode="auto">
            <a:xfrm>
              <a:off x="6917272"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Threat Hunting</a:t>
              </a:r>
            </a:p>
          </p:txBody>
        </p:sp>
        <p:sp>
          <p:nvSpPr>
            <p:cNvPr id="35" name="Rectangle 34">
              <a:extLst>
                <a:ext uri="{FF2B5EF4-FFF2-40B4-BE49-F238E27FC236}">
                  <a16:creationId xmlns:a16="http://schemas.microsoft.com/office/drawing/2014/main" id="{F91D3E41-798C-1CDF-46F7-4867E4401449}"/>
                </a:ext>
              </a:extLst>
            </p:cNvPr>
            <p:cNvSpPr/>
            <p:nvPr/>
          </p:nvSpPr>
          <p:spPr bwMode="auto">
            <a:xfrm>
              <a:off x="7964316"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Threat Intel</a:t>
              </a:r>
            </a:p>
          </p:txBody>
        </p:sp>
        <p:sp>
          <p:nvSpPr>
            <p:cNvPr id="37" name="Rectangle 36">
              <a:extLst>
                <a:ext uri="{FF2B5EF4-FFF2-40B4-BE49-F238E27FC236}">
                  <a16:creationId xmlns:a16="http://schemas.microsoft.com/office/drawing/2014/main" id="{89327D42-588C-65FE-D8B1-7059150CDC83}"/>
                </a:ext>
              </a:extLst>
            </p:cNvPr>
            <p:cNvSpPr/>
            <p:nvPr/>
          </p:nvSpPr>
          <p:spPr bwMode="auto">
            <a:xfrm>
              <a:off x="9011360"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Incident Resp.</a:t>
              </a:r>
            </a:p>
          </p:txBody>
        </p:sp>
        <p:sp>
          <p:nvSpPr>
            <p:cNvPr id="38" name="Rectangle 37">
              <a:extLst>
                <a:ext uri="{FF2B5EF4-FFF2-40B4-BE49-F238E27FC236}">
                  <a16:creationId xmlns:a16="http://schemas.microsoft.com/office/drawing/2014/main" id="{3CDEFAF0-8988-1789-C595-7CB866438D43}"/>
                </a:ext>
              </a:extLst>
            </p:cNvPr>
            <p:cNvSpPr/>
            <p:nvPr/>
          </p:nvSpPr>
          <p:spPr bwMode="auto">
            <a:xfrm>
              <a:off x="5870225" y="4165596"/>
              <a:ext cx="5102577" cy="306213"/>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Foundry IQ – Agent Memory and Knowledge Bases</a:t>
              </a:r>
            </a:p>
          </p:txBody>
        </p:sp>
        <p:sp>
          <p:nvSpPr>
            <p:cNvPr id="39" name="Rectangle 38">
              <a:extLst>
                <a:ext uri="{FF2B5EF4-FFF2-40B4-BE49-F238E27FC236}">
                  <a16:creationId xmlns:a16="http://schemas.microsoft.com/office/drawing/2014/main" id="{FBEDBBCB-0677-E7FE-F005-DC78B1B368AB}"/>
                </a:ext>
              </a:extLst>
            </p:cNvPr>
            <p:cNvSpPr/>
            <p:nvPr/>
          </p:nvSpPr>
          <p:spPr bwMode="auto">
            <a:xfrm>
              <a:off x="5859996" y="5281791"/>
              <a:ext cx="1554480" cy="48683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Azure AI Search</a:t>
              </a:r>
            </a:p>
          </p:txBody>
        </p:sp>
        <p:sp>
          <p:nvSpPr>
            <p:cNvPr id="40" name="Rectangle 39">
              <a:extLst>
                <a:ext uri="{FF2B5EF4-FFF2-40B4-BE49-F238E27FC236}">
                  <a16:creationId xmlns:a16="http://schemas.microsoft.com/office/drawing/2014/main" id="{3934C1C9-BD2D-B8F7-74DC-27C94468FDD4}"/>
                </a:ext>
              </a:extLst>
            </p:cNvPr>
            <p:cNvSpPr/>
            <p:nvPr/>
          </p:nvSpPr>
          <p:spPr bwMode="auto">
            <a:xfrm>
              <a:off x="7639159" y="5281791"/>
              <a:ext cx="1554480" cy="486834"/>
            </a:xfrm>
            <a:prstGeom prst="rect">
              <a:avLst/>
            </a:prstGeom>
            <a:solidFill>
              <a:schemeClr val="dk1">
                <a:alpha val="29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Azure Blob Storage</a:t>
              </a:r>
            </a:p>
          </p:txBody>
        </p:sp>
        <p:sp>
          <p:nvSpPr>
            <p:cNvPr id="41" name="Rectangle 40">
              <a:extLst>
                <a:ext uri="{FF2B5EF4-FFF2-40B4-BE49-F238E27FC236}">
                  <a16:creationId xmlns:a16="http://schemas.microsoft.com/office/drawing/2014/main" id="{E61E0171-599D-9A6F-8A77-4386330DF44A}"/>
                </a:ext>
              </a:extLst>
            </p:cNvPr>
            <p:cNvSpPr/>
            <p:nvPr/>
          </p:nvSpPr>
          <p:spPr bwMode="auto">
            <a:xfrm>
              <a:off x="9418322" y="5281791"/>
              <a:ext cx="1554480" cy="48683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App Insights / Azure Monitor</a:t>
              </a:r>
            </a:p>
          </p:txBody>
        </p:sp>
        <p:cxnSp>
          <p:nvCxnSpPr>
            <p:cNvPr id="43" name="Elbow Connector 42">
              <a:extLst>
                <a:ext uri="{FF2B5EF4-FFF2-40B4-BE49-F238E27FC236}">
                  <a16:creationId xmlns:a16="http://schemas.microsoft.com/office/drawing/2014/main" id="{5A82C71E-09E1-3957-E126-4E4F22A20355}"/>
                </a:ext>
              </a:extLst>
            </p:cNvPr>
            <p:cNvCxnSpPr>
              <a:stCxn id="17" idx="3"/>
            </p:cNvCxnSpPr>
            <p:nvPr/>
          </p:nvCxnSpPr>
          <p:spPr>
            <a:xfrm>
              <a:off x="4643971" y="1868309"/>
              <a:ext cx="1216025" cy="584200"/>
            </a:xfrm>
            <a:prstGeom prst="bentConnector3">
              <a:avLst/>
            </a:prstGeom>
            <a:ln w="25400">
              <a:solidFill>
                <a:schemeClr val="tx1"/>
              </a:solidFill>
              <a:headEnd type="triangle" w="lg" len="med"/>
              <a:tailEnd type="triangle"/>
            </a:ln>
          </p:spPr>
          <p:style>
            <a:lnRef idx="1">
              <a:schemeClr val="accent1"/>
            </a:lnRef>
            <a:fillRef idx="0">
              <a:schemeClr val="accent1"/>
            </a:fillRef>
            <a:effectRef idx="0">
              <a:schemeClr val="accent1"/>
            </a:effectRef>
            <a:fontRef idx="minor">
              <a:schemeClr val="tx1"/>
            </a:fontRef>
          </p:style>
        </p:cxnSp>
        <p:cxnSp>
          <p:nvCxnSpPr>
            <p:cNvPr id="44" name="Elbow Connector 43">
              <a:extLst>
                <a:ext uri="{FF2B5EF4-FFF2-40B4-BE49-F238E27FC236}">
                  <a16:creationId xmlns:a16="http://schemas.microsoft.com/office/drawing/2014/main" id="{7CEFDD17-62FC-6BF4-849B-6F47B1BDD2CB}"/>
                </a:ext>
              </a:extLst>
            </p:cNvPr>
            <p:cNvCxnSpPr>
              <a:cxnSpLocks/>
              <a:endCxn id="31" idx="1"/>
            </p:cNvCxnSpPr>
            <p:nvPr/>
          </p:nvCxnSpPr>
          <p:spPr>
            <a:xfrm>
              <a:off x="4383621" y="3264080"/>
              <a:ext cx="1486607" cy="68964"/>
            </a:xfrm>
            <a:prstGeom prst="bentConnector3">
              <a:avLst/>
            </a:prstGeom>
            <a:ln w="254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52">
              <a:extLst>
                <a:ext uri="{FF2B5EF4-FFF2-40B4-BE49-F238E27FC236}">
                  <a16:creationId xmlns:a16="http://schemas.microsoft.com/office/drawing/2014/main" id="{55E0128B-67E3-BD2F-CBB0-C3BC09CB520A}"/>
                </a:ext>
              </a:extLst>
            </p:cNvPr>
            <p:cNvCxnSpPr>
              <a:cxnSpLocks/>
              <a:stCxn id="20" idx="3"/>
            </p:cNvCxnSpPr>
            <p:nvPr/>
          </p:nvCxnSpPr>
          <p:spPr>
            <a:xfrm flipV="1">
              <a:off x="4383621" y="3333044"/>
              <a:ext cx="1476375" cy="681565"/>
            </a:xfrm>
            <a:prstGeom prst="bentConnector3">
              <a:avLst/>
            </a:prstGeom>
            <a:ln w="254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6" name="Elbow Connector 55">
              <a:extLst>
                <a:ext uri="{FF2B5EF4-FFF2-40B4-BE49-F238E27FC236}">
                  <a16:creationId xmlns:a16="http://schemas.microsoft.com/office/drawing/2014/main" id="{734DAA6B-B658-3F66-48EC-B3C5865A172F}"/>
                </a:ext>
              </a:extLst>
            </p:cNvPr>
            <p:cNvCxnSpPr>
              <a:cxnSpLocks/>
              <a:stCxn id="21" idx="3"/>
            </p:cNvCxnSpPr>
            <p:nvPr/>
          </p:nvCxnSpPr>
          <p:spPr>
            <a:xfrm flipV="1">
              <a:off x="4383621" y="3329470"/>
              <a:ext cx="1476375" cy="1434439"/>
            </a:xfrm>
            <a:prstGeom prst="bentConnector3">
              <a:avLst/>
            </a:prstGeom>
            <a:ln w="254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99B9D994-6C3D-3E21-29F6-BACC6405F16C}"/>
                </a:ext>
              </a:extLst>
            </p:cNvPr>
            <p:cNvCxnSpPr>
              <a:cxnSpLocks/>
            </p:cNvCxnSpPr>
            <p:nvPr/>
          </p:nvCxnSpPr>
          <p:spPr>
            <a:xfrm flipV="1">
              <a:off x="6318961"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B85397C1-E277-0356-ECB6-18315AC41DE1}"/>
                </a:ext>
              </a:extLst>
            </p:cNvPr>
            <p:cNvCxnSpPr>
              <a:cxnSpLocks/>
            </p:cNvCxnSpPr>
            <p:nvPr/>
          </p:nvCxnSpPr>
          <p:spPr>
            <a:xfrm flipV="1">
              <a:off x="10490205"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68979E66-A70E-BC7B-CF6B-14B7D5245127}"/>
                </a:ext>
              </a:extLst>
            </p:cNvPr>
            <p:cNvCxnSpPr>
              <a:cxnSpLocks/>
            </p:cNvCxnSpPr>
            <p:nvPr/>
          </p:nvCxnSpPr>
          <p:spPr>
            <a:xfrm flipV="1">
              <a:off x="7361772"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A1A444C9-F478-F937-449B-BD0546B7AACA}"/>
                </a:ext>
              </a:extLst>
            </p:cNvPr>
            <p:cNvCxnSpPr>
              <a:cxnSpLocks/>
            </p:cNvCxnSpPr>
            <p:nvPr/>
          </p:nvCxnSpPr>
          <p:spPr>
            <a:xfrm flipV="1">
              <a:off x="8404583"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7CA6ED50-71FD-9B73-03BC-8F55C812A1FE}"/>
                </a:ext>
              </a:extLst>
            </p:cNvPr>
            <p:cNvCxnSpPr>
              <a:cxnSpLocks/>
            </p:cNvCxnSpPr>
            <p:nvPr/>
          </p:nvCxnSpPr>
          <p:spPr>
            <a:xfrm flipV="1">
              <a:off x="9447394"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2C304DCF-AA17-866D-E292-9BD4B84D5BF3}"/>
                </a:ext>
              </a:extLst>
            </p:cNvPr>
            <p:cNvCxnSpPr>
              <a:cxnSpLocks/>
            </p:cNvCxnSpPr>
            <p:nvPr/>
          </p:nvCxnSpPr>
          <p:spPr>
            <a:xfrm flipV="1">
              <a:off x="6318961"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0AEC63D0-C569-DA29-36AE-E25D5DA9AD7E}"/>
                </a:ext>
              </a:extLst>
            </p:cNvPr>
            <p:cNvCxnSpPr>
              <a:cxnSpLocks/>
            </p:cNvCxnSpPr>
            <p:nvPr/>
          </p:nvCxnSpPr>
          <p:spPr>
            <a:xfrm flipV="1">
              <a:off x="10490205"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98F02C01-B4AC-6B66-4FAE-D1E7D4F9037D}"/>
                </a:ext>
              </a:extLst>
            </p:cNvPr>
            <p:cNvCxnSpPr>
              <a:cxnSpLocks/>
            </p:cNvCxnSpPr>
            <p:nvPr/>
          </p:nvCxnSpPr>
          <p:spPr>
            <a:xfrm flipV="1">
              <a:off x="7361772"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DE1BCC1D-DD06-50BD-53FD-DCFB48E870B6}"/>
                </a:ext>
              </a:extLst>
            </p:cNvPr>
            <p:cNvCxnSpPr>
              <a:cxnSpLocks/>
            </p:cNvCxnSpPr>
            <p:nvPr/>
          </p:nvCxnSpPr>
          <p:spPr>
            <a:xfrm flipV="1">
              <a:off x="8404583"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360DBB36-078E-FB16-9285-DE36A66761B2}"/>
                </a:ext>
              </a:extLst>
            </p:cNvPr>
            <p:cNvCxnSpPr>
              <a:cxnSpLocks/>
            </p:cNvCxnSpPr>
            <p:nvPr/>
          </p:nvCxnSpPr>
          <p:spPr>
            <a:xfrm flipV="1">
              <a:off x="9447394"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B6F39EF1-C0ED-8ABD-6204-C6B3F3A3B0EF}"/>
                </a:ext>
              </a:extLst>
            </p:cNvPr>
            <p:cNvCxnSpPr>
              <a:cxnSpLocks/>
            </p:cNvCxnSpPr>
            <p:nvPr/>
          </p:nvCxnSpPr>
          <p:spPr>
            <a:xfrm flipH="1" flipV="1">
              <a:off x="6585660" y="4490563"/>
              <a:ext cx="15521" cy="809982"/>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1662E5DE-8A68-0AD0-3DE4-359F40F3D7B4}"/>
                </a:ext>
              </a:extLst>
            </p:cNvPr>
            <p:cNvCxnSpPr>
              <a:cxnSpLocks/>
            </p:cNvCxnSpPr>
            <p:nvPr/>
          </p:nvCxnSpPr>
          <p:spPr>
            <a:xfrm flipV="1">
              <a:off x="8404583" y="4476971"/>
              <a:ext cx="0" cy="8048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2C2D1FF1-A03B-1477-7380-ECC2D4AD74EB}"/>
                </a:ext>
              </a:extLst>
            </p:cNvPr>
            <p:cNvCxnSpPr>
              <a:cxnSpLocks/>
            </p:cNvCxnSpPr>
            <p:nvPr/>
          </p:nvCxnSpPr>
          <p:spPr>
            <a:xfrm flipV="1">
              <a:off x="10195562" y="4659851"/>
              <a:ext cx="0" cy="616778"/>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grpSp>
      <p:pic>
        <p:nvPicPr>
          <p:cNvPr id="84" name="Graphic 83" descr="User with solid fill">
            <a:extLst>
              <a:ext uri="{FF2B5EF4-FFF2-40B4-BE49-F238E27FC236}">
                <a16:creationId xmlns:a16="http://schemas.microsoft.com/office/drawing/2014/main" id="{615E8159-C776-D28C-AA95-38883527C7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983" y="1639709"/>
            <a:ext cx="457200" cy="457200"/>
          </a:xfrm>
          <a:prstGeom prst="rect">
            <a:avLst/>
          </a:prstGeom>
        </p:spPr>
      </p:pic>
      <p:sp>
        <p:nvSpPr>
          <p:cNvPr id="2" name="Rectangle 1">
            <a:extLst>
              <a:ext uri="{FF2B5EF4-FFF2-40B4-BE49-F238E27FC236}">
                <a16:creationId xmlns:a16="http://schemas.microsoft.com/office/drawing/2014/main" id="{B189C860-E650-21AE-09F6-51B7C4E59D00}"/>
              </a:ext>
            </a:extLst>
          </p:cNvPr>
          <p:cNvSpPr/>
          <p:nvPr/>
        </p:nvSpPr>
        <p:spPr bwMode="auto">
          <a:xfrm>
            <a:off x="464262" y="949643"/>
            <a:ext cx="10917755" cy="1358933"/>
          </a:xfrm>
          <a:prstGeom prst="rect">
            <a:avLst/>
          </a:prstGeom>
          <a:solidFill>
            <a:schemeClr val="bg1">
              <a:alpha val="64724"/>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4" name="Rectangle 3">
            <a:extLst>
              <a:ext uri="{FF2B5EF4-FFF2-40B4-BE49-F238E27FC236}">
                <a16:creationId xmlns:a16="http://schemas.microsoft.com/office/drawing/2014/main" id="{DE280A3C-6B06-284B-DB5A-F86AB4B729A4}"/>
              </a:ext>
            </a:extLst>
          </p:cNvPr>
          <p:cNvSpPr/>
          <p:nvPr/>
        </p:nvSpPr>
        <p:spPr bwMode="auto">
          <a:xfrm>
            <a:off x="3684830" y="2309232"/>
            <a:ext cx="7339771" cy="4538010"/>
          </a:xfrm>
          <a:prstGeom prst="rect">
            <a:avLst/>
          </a:prstGeom>
          <a:solidFill>
            <a:schemeClr val="bg1">
              <a:alpha val="64724"/>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Tree>
    <p:extLst>
      <p:ext uri="{BB962C8B-B14F-4D97-AF65-F5344CB8AC3E}">
        <p14:creationId xmlns:p14="http://schemas.microsoft.com/office/powerpoint/2010/main" val="72976223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20836-D004-3AE1-D02E-4607C41F8F0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150434F-BB44-8DBC-4B33-EB4CBCDC6355}"/>
              </a:ext>
            </a:extLst>
          </p:cNvPr>
          <p:cNvSpPr>
            <a:spLocks noGrp="1"/>
          </p:cNvSpPr>
          <p:nvPr>
            <p:ph type="title"/>
          </p:nvPr>
        </p:nvSpPr>
        <p:spPr/>
        <p:txBody>
          <a:bodyPr>
            <a:spAutoFit/>
          </a:bodyPr>
          <a:lstStyle/>
          <a:p>
            <a:r>
              <a:rPr lang="en-US" dirty="0"/>
              <a:t>Solution Architecture</a:t>
            </a:r>
          </a:p>
        </p:txBody>
      </p:sp>
      <p:grpSp>
        <p:nvGrpSpPr>
          <p:cNvPr id="81" name="Group 80">
            <a:extLst>
              <a:ext uri="{FF2B5EF4-FFF2-40B4-BE49-F238E27FC236}">
                <a16:creationId xmlns:a16="http://schemas.microsoft.com/office/drawing/2014/main" id="{4582AD00-6B14-B687-7BE5-FA962267984B}"/>
              </a:ext>
            </a:extLst>
          </p:cNvPr>
          <p:cNvGrpSpPr/>
          <p:nvPr/>
        </p:nvGrpSpPr>
        <p:grpSpPr>
          <a:xfrm>
            <a:off x="1384304" y="1089375"/>
            <a:ext cx="9419166" cy="5554134"/>
            <a:chOff x="2434171" y="1089375"/>
            <a:chExt cx="9419166" cy="5554134"/>
          </a:xfrm>
        </p:grpSpPr>
        <p:grpSp>
          <p:nvGrpSpPr>
            <p:cNvPr id="26" name="Group 25">
              <a:extLst>
                <a:ext uri="{FF2B5EF4-FFF2-40B4-BE49-F238E27FC236}">
                  <a16:creationId xmlns:a16="http://schemas.microsoft.com/office/drawing/2014/main" id="{9890B4C0-B8AF-B210-3C59-66A781EEBA0C}"/>
                </a:ext>
              </a:extLst>
            </p:cNvPr>
            <p:cNvGrpSpPr/>
            <p:nvPr/>
          </p:nvGrpSpPr>
          <p:grpSpPr>
            <a:xfrm>
              <a:off x="2434171" y="1576209"/>
              <a:ext cx="2209800" cy="4660900"/>
              <a:chOff x="368300" y="1790700"/>
              <a:chExt cx="2209800" cy="4660900"/>
            </a:xfrm>
          </p:grpSpPr>
          <p:sp>
            <p:nvSpPr>
              <p:cNvPr id="23" name="Rectangle 22">
                <a:extLst>
                  <a:ext uri="{FF2B5EF4-FFF2-40B4-BE49-F238E27FC236}">
                    <a16:creationId xmlns:a16="http://schemas.microsoft.com/office/drawing/2014/main" id="{79F5F60D-2CFE-8F14-F80F-25334837CC56}"/>
                  </a:ext>
                </a:extLst>
              </p:cNvPr>
              <p:cNvSpPr/>
              <p:nvPr/>
            </p:nvSpPr>
            <p:spPr bwMode="auto">
              <a:xfrm>
                <a:off x="368300" y="2667000"/>
                <a:ext cx="2209800" cy="3784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solidFill>
                    <a:ea typeface="Segoe UI" pitchFamily="34" charset="0"/>
                    <a:cs typeface="Segoe UI" pitchFamily="34" charset="0"/>
                  </a:rPr>
                  <a:t>Security Sources</a:t>
                </a:r>
              </a:p>
            </p:txBody>
          </p:sp>
          <p:sp>
            <p:nvSpPr>
              <p:cNvPr id="17" name="Rectangle 16">
                <a:extLst>
                  <a:ext uri="{FF2B5EF4-FFF2-40B4-BE49-F238E27FC236}">
                    <a16:creationId xmlns:a16="http://schemas.microsoft.com/office/drawing/2014/main" id="{C00A896F-1909-A188-1F63-D080C8B978E3}"/>
                  </a:ext>
                </a:extLst>
              </p:cNvPr>
              <p:cNvSpPr/>
              <p:nvPr/>
            </p:nvSpPr>
            <p:spPr bwMode="auto">
              <a:xfrm>
                <a:off x="368300" y="1790700"/>
                <a:ext cx="2209800" cy="5842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CLI</a:t>
                </a:r>
                <a:br>
                  <a:rPr lang="en-US" sz="1200" dirty="0">
                    <a:solidFill>
                      <a:schemeClr val="tx1"/>
                    </a:solidFill>
                    <a:ea typeface="Segoe UI" pitchFamily="34" charset="0"/>
                    <a:cs typeface="Segoe UI" pitchFamily="34" charset="0"/>
                  </a:rPr>
                </a:br>
                <a:r>
                  <a:rPr lang="en-US" sz="1200" dirty="0">
                    <a:solidFill>
                      <a:schemeClr val="tx1"/>
                    </a:solidFill>
                    <a:ea typeface="Segoe UI" pitchFamily="34" charset="0"/>
                    <a:cs typeface="Segoe UI" pitchFamily="34" charset="0"/>
                  </a:rPr>
                  <a:t>Jupyter Notebooks (future)</a:t>
                </a:r>
              </a:p>
            </p:txBody>
          </p:sp>
          <p:sp>
            <p:nvSpPr>
              <p:cNvPr id="19" name="Rectangle 18">
                <a:extLst>
                  <a:ext uri="{FF2B5EF4-FFF2-40B4-BE49-F238E27FC236}">
                    <a16:creationId xmlns:a16="http://schemas.microsoft.com/office/drawing/2014/main" id="{DFFE14C5-5E3F-B42B-AC75-FBF6B2EDF14C}"/>
                  </a:ext>
                </a:extLst>
              </p:cNvPr>
              <p:cNvSpPr/>
              <p:nvPr/>
            </p:nvSpPr>
            <p:spPr bwMode="auto">
              <a:xfrm>
                <a:off x="628650" y="31877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Microsoft Entra ID</a:t>
                </a:r>
              </a:p>
            </p:txBody>
          </p:sp>
          <p:sp>
            <p:nvSpPr>
              <p:cNvPr id="20" name="Rectangle 19">
                <a:extLst>
                  <a:ext uri="{FF2B5EF4-FFF2-40B4-BE49-F238E27FC236}">
                    <a16:creationId xmlns:a16="http://schemas.microsoft.com/office/drawing/2014/main" id="{9F487087-9344-1A25-0ADE-9C53E7469479}"/>
                  </a:ext>
                </a:extLst>
              </p:cNvPr>
              <p:cNvSpPr/>
              <p:nvPr/>
            </p:nvSpPr>
            <p:spPr bwMode="auto">
              <a:xfrm>
                <a:off x="628650" y="39370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Microsoft Sentinel</a:t>
                </a:r>
              </a:p>
            </p:txBody>
          </p:sp>
          <p:sp>
            <p:nvSpPr>
              <p:cNvPr id="21" name="Rectangle 20">
                <a:extLst>
                  <a:ext uri="{FF2B5EF4-FFF2-40B4-BE49-F238E27FC236}">
                    <a16:creationId xmlns:a16="http://schemas.microsoft.com/office/drawing/2014/main" id="{709F845A-E38A-D801-C58A-5286729F43A7}"/>
                  </a:ext>
                </a:extLst>
              </p:cNvPr>
              <p:cNvSpPr/>
              <p:nvPr/>
            </p:nvSpPr>
            <p:spPr bwMode="auto">
              <a:xfrm>
                <a:off x="628650" y="46863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Microsoft Defender &amp; Defender XDR</a:t>
                </a:r>
              </a:p>
            </p:txBody>
          </p:sp>
          <p:sp>
            <p:nvSpPr>
              <p:cNvPr id="22" name="Rectangle 21">
                <a:extLst>
                  <a:ext uri="{FF2B5EF4-FFF2-40B4-BE49-F238E27FC236}">
                    <a16:creationId xmlns:a16="http://schemas.microsoft.com/office/drawing/2014/main" id="{5510A2DD-EDC2-0272-21EC-F78790B1352D}"/>
                  </a:ext>
                </a:extLst>
              </p:cNvPr>
              <p:cNvSpPr/>
              <p:nvPr/>
            </p:nvSpPr>
            <p:spPr bwMode="auto">
              <a:xfrm>
                <a:off x="628650" y="56134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3P Security Solutions</a:t>
                </a:r>
              </a:p>
            </p:txBody>
          </p:sp>
          <p:cxnSp>
            <p:nvCxnSpPr>
              <p:cNvPr id="25" name="Straight Arrow Connector 24">
                <a:extLst>
                  <a:ext uri="{FF2B5EF4-FFF2-40B4-BE49-F238E27FC236}">
                    <a16:creationId xmlns:a16="http://schemas.microsoft.com/office/drawing/2014/main" id="{FD56D2A6-791F-65D1-BE61-AAD2A0999F1F}"/>
                  </a:ext>
                </a:extLst>
              </p:cNvPr>
              <p:cNvCxnSpPr>
                <a:stCxn id="22" idx="0"/>
                <a:endCxn id="21" idx="2"/>
              </p:cNvCxnSpPr>
              <p:nvPr/>
            </p:nvCxnSpPr>
            <p:spPr>
              <a:xfrm flipV="1">
                <a:off x="1473200" y="5270500"/>
                <a:ext cx="0" cy="342900"/>
              </a:xfrm>
              <a:prstGeom prst="straightConnector1">
                <a:avLst/>
              </a:prstGeom>
              <a:ln w="25400">
                <a:solidFill>
                  <a:schemeClr val="bg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grpSp>
        <p:cxnSp>
          <p:nvCxnSpPr>
            <p:cNvPr id="59" name="Elbow Connector 58">
              <a:extLst>
                <a:ext uri="{FF2B5EF4-FFF2-40B4-BE49-F238E27FC236}">
                  <a16:creationId xmlns:a16="http://schemas.microsoft.com/office/drawing/2014/main" id="{73D08120-870C-7B61-2794-340B72A9A294}"/>
                </a:ext>
              </a:extLst>
            </p:cNvPr>
            <p:cNvCxnSpPr>
              <a:cxnSpLocks/>
              <a:stCxn id="22" idx="3"/>
              <a:endCxn id="31" idx="1"/>
            </p:cNvCxnSpPr>
            <p:nvPr/>
          </p:nvCxnSpPr>
          <p:spPr>
            <a:xfrm flipV="1">
              <a:off x="4383621" y="3333044"/>
              <a:ext cx="1486607" cy="2357965"/>
            </a:xfrm>
            <a:prstGeom prst="bentConnector3">
              <a:avLst>
                <a:gd name="adj1" fmla="val 61391"/>
              </a:avLst>
            </a:prstGeom>
            <a:ln w="25400">
              <a:solidFill>
                <a:schemeClr val="accent4"/>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704C6242-49FC-6D6B-D0FE-335ECA750647}"/>
                </a:ext>
              </a:extLst>
            </p:cNvPr>
            <p:cNvSpPr/>
            <p:nvPr/>
          </p:nvSpPr>
          <p:spPr bwMode="auto">
            <a:xfrm>
              <a:off x="4989692" y="1089375"/>
              <a:ext cx="6863645" cy="5554134"/>
            </a:xfrm>
            <a:prstGeom prst="rect">
              <a:avLst/>
            </a:prstGeom>
            <a:noFill/>
            <a:ln w="19050">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en-US" sz="1200" b="1" dirty="0">
                  <a:solidFill>
                    <a:schemeClr val="tx1"/>
                  </a:solidFill>
                  <a:ea typeface="Segoe UI" pitchFamily="34" charset="0"/>
                  <a:cs typeface="Segoe UI" pitchFamily="34" charset="0"/>
                </a:rPr>
                <a:t>Azure</a:t>
              </a:r>
            </a:p>
          </p:txBody>
        </p:sp>
        <p:sp>
          <p:nvSpPr>
            <p:cNvPr id="27" name="Rectangle 26">
              <a:extLst>
                <a:ext uri="{FF2B5EF4-FFF2-40B4-BE49-F238E27FC236}">
                  <a16:creationId xmlns:a16="http://schemas.microsoft.com/office/drawing/2014/main" id="{515EB1F3-9FAB-37CF-0500-406614DB2450}"/>
                </a:ext>
              </a:extLst>
            </p:cNvPr>
            <p:cNvSpPr/>
            <p:nvPr/>
          </p:nvSpPr>
          <p:spPr bwMode="auto">
            <a:xfrm>
              <a:off x="5488521" y="1576209"/>
              <a:ext cx="5845528" cy="308364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solidFill>
                  <a:ea typeface="Segoe UI" pitchFamily="34" charset="0"/>
                  <a:cs typeface="Segoe UI" pitchFamily="34" charset="0"/>
                </a:rPr>
                <a:t>Microsoft Foundry </a:t>
              </a:r>
              <a:br>
                <a:rPr lang="en-US" sz="1200" b="1" dirty="0">
                  <a:solidFill>
                    <a:schemeClr val="bg1"/>
                  </a:solidFill>
                  <a:ea typeface="Segoe UI" pitchFamily="34" charset="0"/>
                  <a:cs typeface="Segoe UI" pitchFamily="34" charset="0"/>
                </a:rPr>
              </a:br>
              <a:r>
                <a:rPr lang="en-US" sz="1000" dirty="0">
                  <a:solidFill>
                    <a:schemeClr val="bg1"/>
                  </a:solidFill>
                  <a:ea typeface="Segoe UI" pitchFamily="34" charset="0"/>
                  <a:cs typeface="Segoe UI" pitchFamily="34" charset="0"/>
                </a:rPr>
                <a:t>(v2 GA Q1 2026)</a:t>
              </a:r>
              <a:endParaRPr lang="en-US" sz="1200" dirty="0">
                <a:solidFill>
                  <a:schemeClr val="bg1"/>
                </a:solidFill>
                <a:ea typeface="Segoe UI" pitchFamily="34" charset="0"/>
                <a:cs typeface="Segoe UI" pitchFamily="34" charset="0"/>
              </a:endParaRPr>
            </a:p>
          </p:txBody>
        </p:sp>
        <p:sp>
          <p:nvSpPr>
            <p:cNvPr id="28" name="Rectangle 27">
              <a:extLst>
                <a:ext uri="{FF2B5EF4-FFF2-40B4-BE49-F238E27FC236}">
                  <a16:creationId xmlns:a16="http://schemas.microsoft.com/office/drawing/2014/main" id="{3E78A47A-99AD-E00B-6F50-3EB8F623E4A8}"/>
                </a:ext>
              </a:extLst>
            </p:cNvPr>
            <p:cNvSpPr/>
            <p:nvPr/>
          </p:nvSpPr>
          <p:spPr bwMode="auto">
            <a:xfrm>
              <a:off x="5488521" y="5098098"/>
              <a:ext cx="5845528" cy="118582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solidFill>
                  <a:ea typeface="Segoe UI" pitchFamily="34" charset="0"/>
                  <a:cs typeface="Segoe UI" pitchFamily="34" charset="0"/>
                </a:rPr>
                <a:t>Knowledge &amp; Observability</a:t>
              </a:r>
              <a:endParaRPr lang="en-US" sz="1200" dirty="0">
                <a:solidFill>
                  <a:schemeClr val="bg1"/>
                </a:solidFill>
                <a:ea typeface="Segoe UI" pitchFamily="34" charset="0"/>
                <a:cs typeface="Segoe UI" pitchFamily="34" charset="0"/>
              </a:endParaRPr>
            </a:p>
          </p:txBody>
        </p:sp>
        <p:sp>
          <p:nvSpPr>
            <p:cNvPr id="30" name="Rectangle 29">
              <a:extLst>
                <a:ext uri="{FF2B5EF4-FFF2-40B4-BE49-F238E27FC236}">
                  <a16:creationId xmlns:a16="http://schemas.microsoft.com/office/drawing/2014/main" id="{ABEAA9AD-D33A-9BDF-4499-67F5D65064C3}"/>
                </a:ext>
              </a:extLst>
            </p:cNvPr>
            <p:cNvSpPr/>
            <p:nvPr/>
          </p:nvSpPr>
          <p:spPr bwMode="auto">
            <a:xfrm>
              <a:off x="5870226" y="2301520"/>
              <a:ext cx="5102577" cy="306213"/>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Workflow Orchestrator(s)</a:t>
              </a:r>
            </a:p>
          </p:txBody>
        </p:sp>
        <p:sp>
          <p:nvSpPr>
            <p:cNvPr id="31" name="Rectangle 30">
              <a:extLst>
                <a:ext uri="{FF2B5EF4-FFF2-40B4-BE49-F238E27FC236}">
                  <a16:creationId xmlns:a16="http://schemas.microsoft.com/office/drawing/2014/main" id="{2B1D2426-29F4-4D61-4ED7-64FB5B0299CA}"/>
                </a:ext>
              </a:extLst>
            </p:cNvPr>
            <p:cNvSpPr/>
            <p:nvPr/>
          </p:nvSpPr>
          <p:spPr bwMode="auto">
            <a:xfrm>
              <a:off x="5870228"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Alert Triage</a:t>
              </a:r>
            </a:p>
          </p:txBody>
        </p:sp>
        <p:sp>
          <p:nvSpPr>
            <p:cNvPr id="32" name="Rectangle 31">
              <a:extLst>
                <a:ext uri="{FF2B5EF4-FFF2-40B4-BE49-F238E27FC236}">
                  <a16:creationId xmlns:a16="http://schemas.microsoft.com/office/drawing/2014/main" id="{224B1C67-12E7-2ABE-98D7-4E4A0D5C9FCE}"/>
                </a:ext>
              </a:extLst>
            </p:cNvPr>
            <p:cNvSpPr/>
            <p:nvPr/>
          </p:nvSpPr>
          <p:spPr bwMode="auto">
            <a:xfrm>
              <a:off x="10058403" y="2843436"/>
              <a:ext cx="914400" cy="979216"/>
            </a:xfrm>
            <a:prstGeom prst="rect">
              <a:avLst/>
            </a:prstGeom>
            <a:solidFill>
              <a:srgbClr val="091F2C">
                <a:alpha val="29020"/>
              </a:srgb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Agent</a:t>
              </a:r>
              <a:br>
                <a:rPr lang="en-US" sz="1200" dirty="0">
                  <a:solidFill>
                    <a:schemeClr val="tx1"/>
                  </a:solidFill>
                  <a:ea typeface="Segoe UI" pitchFamily="34" charset="0"/>
                  <a:cs typeface="Segoe UI" pitchFamily="34" charset="0"/>
                </a:rPr>
              </a:br>
              <a:r>
                <a:rPr lang="en-US" sz="1200" i="1" dirty="0">
                  <a:solidFill>
                    <a:schemeClr val="tx1"/>
                  </a:solidFill>
                  <a:ea typeface="Segoe UI" pitchFamily="34" charset="0"/>
                  <a:cs typeface="Segoe UI" pitchFamily="34" charset="0"/>
                </a:rPr>
                <a:t>n</a:t>
              </a:r>
              <a:endParaRPr lang="en-US" sz="1200" dirty="0">
                <a:solidFill>
                  <a:schemeClr val="tx1"/>
                </a:solidFill>
                <a:ea typeface="Segoe UI" pitchFamily="34" charset="0"/>
                <a:cs typeface="Segoe UI" pitchFamily="34" charset="0"/>
              </a:endParaRPr>
            </a:p>
          </p:txBody>
        </p:sp>
        <p:sp>
          <p:nvSpPr>
            <p:cNvPr id="34" name="Rectangle 33">
              <a:extLst>
                <a:ext uri="{FF2B5EF4-FFF2-40B4-BE49-F238E27FC236}">
                  <a16:creationId xmlns:a16="http://schemas.microsoft.com/office/drawing/2014/main" id="{A40BF4DB-A925-1328-77C1-AEF51B8C16CA}"/>
                </a:ext>
              </a:extLst>
            </p:cNvPr>
            <p:cNvSpPr/>
            <p:nvPr/>
          </p:nvSpPr>
          <p:spPr bwMode="auto">
            <a:xfrm>
              <a:off x="6917272"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Threat Hunting</a:t>
              </a:r>
            </a:p>
          </p:txBody>
        </p:sp>
        <p:sp>
          <p:nvSpPr>
            <p:cNvPr id="35" name="Rectangle 34">
              <a:extLst>
                <a:ext uri="{FF2B5EF4-FFF2-40B4-BE49-F238E27FC236}">
                  <a16:creationId xmlns:a16="http://schemas.microsoft.com/office/drawing/2014/main" id="{B2E1F4E8-E693-FC3E-B9DF-62EADF66F063}"/>
                </a:ext>
              </a:extLst>
            </p:cNvPr>
            <p:cNvSpPr/>
            <p:nvPr/>
          </p:nvSpPr>
          <p:spPr bwMode="auto">
            <a:xfrm>
              <a:off x="7964316"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Threat Intel</a:t>
              </a:r>
            </a:p>
          </p:txBody>
        </p:sp>
        <p:sp>
          <p:nvSpPr>
            <p:cNvPr id="37" name="Rectangle 36">
              <a:extLst>
                <a:ext uri="{FF2B5EF4-FFF2-40B4-BE49-F238E27FC236}">
                  <a16:creationId xmlns:a16="http://schemas.microsoft.com/office/drawing/2014/main" id="{FA601C61-F26B-6F22-2F19-A6245465B959}"/>
                </a:ext>
              </a:extLst>
            </p:cNvPr>
            <p:cNvSpPr/>
            <p:nvPr/>
          </p:nvSpPr>
          <p:spPr bwMode="auto">
            <a:xfrm>
              <a:off x="9011360"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Incident Resp.</a:t>
              </a:r>
            </a:p>
          </p:txBody>
        </p:sp>
        <p:sp>
          <p:nvSpPr>
            <p:cNvPr id="38" name="Rectangle 37">
              <a:extLst>
                <a:ext uri="{FF2B5EF4-FFF2-40B4-BE49-F238E27FC236}">
                  <a16:creationId xmlns:a16="http://schemas.microsoft.com/office/drawing/2014/main" id="{7C7202C8-F7BE-2A49-7F23-996E96B04442}"/>
                </a:ext>
              </a:extLst>
            </p:cNvPr>
            <p:cNvSpPr/>
            <p:nvPr/>
          </p:nvSpPr>
          <p:spPr bwMode="auto">
            <a:xfrm>
              <a:off x="5870225" y="4165596"/>
              <a:ext cx="5102577" cy="306213"/>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Foundry IQ – Agent Memory and Knowledge Bases</a:t>
              </a:r>
            </a:p>
          </p:txBody>
        </p:sp>
        <p:sp>
          <p:nvSpPr>
            <p:cNvPr id="39" name="Rectangle 38">
              <a:extLst>
                <a:ext uri="{FF2B5EF4-FFF2-40B4-BE49-F238E27FC236}">
                  <a16:creationId xmlns:a16="http://schemas.microsoft.com/office/drawing/2014/main" id="{5F8B7452-F753-04ED-971D-B3A478345711}"/>
                </a:ext>
              </a:extLst>
            </p:cNvPr>
            <p:cNvSpPr/>
            <p:nvPr/>
          </p:nvSpPr>
          <p:spPr bwMode="auto">
            <a:xfrm>
              <a:off x="5859996" y="5281791"/>
              <a:ext cx="1554480" cy="48683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Azure AI Search</a:t>
              </a:r>
            </a:p>
          </p:txBody>
        </p:sp>
        <p:sp>
          <p:nvSpPr>
            <p:cNvPr id="40" name="Rectangle 39">
              <a:extLst>
                <a:ext uri="{FF2B5EF4-FFF2-40B4-BE49-F238E27FC236}">
                  <a16:creationId xmlns:a16="http://schemas.microsoft.com/office/drawing/2014/main" id="{87C5418D-214A-A94D-FFCC-7FD0140B593B}"/>
                </a:ext>
              </a:extLst>
            </p:cNvPr>
            <p:cNvSpPr/>
            <p:nvPr/>
          </p:nvSpPr>
          <p:spPr bwMode="auto">
            <a:xfrm>
              <a:off x="7639159" y="5281791"/>
              <a:ext cx="1554480" cy="486834"/>
            </a:xfrm>
            <a:prstGeom prst="rect">
              <a:avLst/>
            </a:prstGeom>
            <a:solidFill>
              <a:schemeClr val="dk1">
                <a:alpha val="29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Azure Blob Storage</a:t>
              </a:r>
            </a:p>
          </p:txBody>
        </p:sp>
        <p:sp>
          <p:nvSpPr>
            <p:cNvPr id="41" name="Rectangle 40">
              <a:extLst>
                <a:ext uri="{FF2B5EF4-FFF2-40B4-BE49-F238E27FC236}">
                  <a16:creationId xmlns:a16="http://schemas.microsoft.com/office/drawing/2014/main" id="{3B2B0C00-ADCE-3199-25B5-B49B87A48BBC}"/>
                </a:ext>
              </a:extLst>
            </p:cNvPr>
            <p:cNvSpPr/>
            <p:nvPr/>
          </p:nvSpPr>
          <p:spPr bwMode="auto">
            <a:xfrm>
              <a:off x="9418322" y="5281791"/>
              <a:ext cx="1554480" cy="48683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App Insights / Azure Monitor</a:t>
              </a:r>
            </a:p>
          </p:txBody>
        </p:sp>
        <p:cxnSp>
          <p:nvCxnSpPr>
            <p:cNvPr id="43" name="Elbow Connector 42">
              <a:extLst>
                <a:ext uri="{FF2B5EF4-FFF2-40B4-BE49-F238E27FC236}">
                  <a16:creationId xmlns:a16="http://schemas.microsoft.com/office/drawing/2014/main" id="{5F986945-41F9-50DF-D2F5-E555C320268A}"/>
                </a:ext>
              </a:extLst>
            </p:cNvPr>
            <p:cNvCxnSpPr>
              <a:stCxn id="17" idx="3"/>
            </p:cNvCxnSpPr>
            <p:nvPr/>
          </p:nvCxnSpPr>
          <p:spPr>
            <a:xfrm>
              <a:off x="4643971" y="1868309"/>
              <a:ext cx="1216025" cy="584200"/>
            </a:xfrm>
            <a:prstGeom prst="bentConnector3">
              <a:avLst/>
            </a:prstGeom>
            <a:ln w="25400">
              <a:solidFill>
                <a:schemeClr val="tx1"/>
              </a:solidFill>
              <a:headEnd type="triangle" w="lg" len="med"/>
              <a:tailEnd type="triangle"/>
            </a:ln>
          </p:spPr>
          <p:style>
            <a:lnRef idx="1">
              <a:schemeClr val="accent1"/>
            </a:lnRef>
            <a:fillRef idx="0">
              <a:schemeClr val="accent1"/>
            </a:fillRef>
            <a:effectRef idx="0">
              <a:schemeClr val="accent1"/>
            </a:effectRef>
            <a:fontRef idx="minor">
              <a:schemeClr val="tx1"/>
            </a:fontRef>
          </p:style>
        </p:cxnSp>
        <p:cxnSp>
          <p:nvCxnSpPr>
            <p:cNvPr id="44" name="Elbow Connector 43">
              <a:extLst>
                <a:ext uri="{FF2B5EF4-FFF2-40B4-BE49-F238E27FC236}">
                  <a16:creationId xmlns:a16="http://schemas.microsoft.com/office/drawing/2014/main" id="{8FAE9349-C260-8458-672E-2B074588B07C}"/>
                </a:ext>
              </a:extLst>
            </p:cNvPr>
            <p:cNvCxnSpPr>
              <a:cxnSpLocks/>
              <a:endCxn id="31" idx="1"/>
            </p:cNvCxnSpPr>
            <p:nvPr/>
          </p:nvCxnSpPr>
          <p:spPr>
            <a:xfrm>
              <a:off x="4383621" y="3264080"/>
              <a:ext cx="1486607" cy="68964"/>
            </a:xfrm>
            <a:prstGeom prst="bentConnector3">
              <a:avLst/>
            </a:prstGeom>
            <a:ln w="254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52">
              <a:extLst>
                <a:ext uri="{FF2B5EF4-FFF2-40B4-BE49-F238E27FC236}">
                  <a16:creationId xmlns:a16="http://schemas.microsoft.com/office/drawing/2014/main" id="{9C643184-C64B-F345-5BA8-11FC7CEC1CBF}"/>
                </a:ext>
              </a:extLst>
            </p:cNvPr>
            <p:cNvCxnSpPr>
              <a:cxnSpLocks/>
              <a:stCxn id="20" idx="3"/>
            </p:cNvCxnSpPr>
            <p:nvPr/>
          </p:nvCxnSpPr>
          <p:spPr>
            <a:xfrm flipV="1">
              <a:off x="4383621" y="3333044"/>
              <a:ext cx="1476375" cy="681565"/>
            </a:xfrm>
            <a:prstGeom prst="bentConnector3">
              <a:avLst/>
            </a:prstGeom>
            <a:ln w="254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6" name="Elbow Connector 55">
              <a:extLst>
                <a:ext uri="{FF2B5EF4-FFF2-40B4-BE49-F238E27FC236}">
                  <a16:creationId xmlns:a16="http://schemas.microsoft.com/office/drawing/2014/main" id="{B4CAA929-0FB5-CAEF-596D-7CA344174395}"/>
                </a:ext>
              </a:extLst>
            </p:cNvPr>
            <p:cNvCxnSpPr>
              <a:cxnSpLocks/>
              <a:stCxn id="21" idx="3"/>
            </p:cNvCxnSpPr>
            <p:nvPr/>
          </p:nvCxnSpPr>
          <p:spPr>
            <a:xfrm flipV="1">
              <a:off x="4383621" y="3329470"/>
              <a:ext cx="1476375" cy="1434439"/>
            </a:xfrm>
            <a:prstGeom prst="bentConnector3">
              <a:avLst/>
            </a:prstGeom>
            <a:ln w="254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2FA844E3-F73A-A264-AF85-4A793510AB70}"/>
                </a:ext>
              </a:extLst>
            </p:cNvPr>
            <p:cNvCxnSpPr>
              <a:cxnSpLocks/>
            </p:cNvCxnSpPr>
            <p:nvPr/>
          </p:nvCxnSpPr>
          <p:spPr>
            <a:xfrm flipV="1">
              <a:off x="6318961"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A8DCE55C-6CEB-75D7-9E42-4A3EC784E5C2}"/>
                </a:ext>
              </a:extLst>
            </p:cNvPr>
            <p:cNvCxnSpPr>
              <a:cxnSpLocks/>
            </p:cNvCxnSpPr>
            <p:nvPr/>
          </p:nvCxnSpPr>
          <p:spPr>
            <a:xfrm flipV="1">
              <a:off x="10490205"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5FE4EE3-282B-6BB9-21AD-03D546621B6B}"/>
                </a:ext>
              </a:extLst>
            </p:cNvPr>
            <p:cNvCxnSpPr>
              <a:cxnSpLocks/>
            </p:cNvCxnSpPr>
            <p:nvPr/>
          </p:nvCxnSpPr>
          <p:spPr>
            <a:xfrm flipV="1">
              <a:off x="7361772"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0EE899A8-2318-530A-1F43-0CD9ABF66301}"/>
                </a:ext>
              </a:extLst>
            </p:cNvPr>
            <p:cNvCxnSpPr>
              <a:cxnSpLocks/>
            </p:cNvCxnSpPr>
            <p:nvPr/>
          </p:nvCxnSpPr>
          <p:spPr>
            <a:xfrm flipV="1">
              <a:off x="8404583"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325F432E-1A80-DE1F-F753-F8FB4166647F}"/>
                </a:ext>
              </a:extLst>
            </p:cNvPr>
            <p:cNvCxnSpPr>
              <a:cxnSpLocks/>
            </p:cNvCxnSpPr>
            <p:nvPr/>
          </p:nvCxnSpPr>
          <p:spPr>
            <a:xfrm flipV="1">
              <a:off x="9447394"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31756C77-140D-F8DB-3566-5ABB1B6D393A}"/>
                </a:ext>
              </a:extLst>
            </p:cNvPr>
            <p:cNvCxnSpPr>
              <a:cxnSpLocks/>
            </p:cNvCxnSpPr>
            <p:nvPr/>
          </p:nvCxnSpPr>
          <p:spPr>
            <a:xfrm flipV="1">
              <a:off x="6318961"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FA42378D-CEBD-47CC-C9DE-C72CE6A8A5CC}"/>
                </a:ext>
              </a:extLst>
            </p:cNvPr>
            <p:cNvCxnSpPr>
              <a:cxnSpLocks/>
            </p:cNvCxnSpPr>
            <p:nvPr/>
          </p:nvCxnSpPr>
          <p:spPr>
            <a:xfrm flipV="1">
              <a:off x="10490205"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62B83744-DE43-2621-D404-0776FDA0570E}"/>
                </a:ext>
              </a:extLst>
            </p:cNvPr>
            <p:cNvCxnSpPr>
              <a:cxnSpLocks/>
            </p:cNvCxnSpPr>
            <p:nvPr/>
          </p:nvCxnSpPr>
          <p:spPr>
            <a:xfrm flipV="1">
              <a:off x="7361772"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CC4B802C-46A9-5506-823D-25CF5A5F627F}"/>
                </a:ext>
              </a:extLst>
            </p:cNvPr>
            <p:cNvCxnSpPr>
              <a:cxnSpLocks/>
            </p:cNvCxnSpPr>
            <p:nvPr/>
          </p:nvCxnSpPr>
          <p:spPr>
            <a:xfrm flipV="1">
              <a:off x="8404583"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C3E7AD74-12DB-6153-B622-9EB595D7F1FA}"/>
                </a:ext>
              </a:extLst>
            </p:cNvPr>
            <p:cNvCxnSpPr>
              <a:cxnSpLocks/>
            </p:cNvCxnSpPr>
            <p:nvPr/>
          </p:nvCxnSpPr>
          <p:spPr>
            <a:xfrm flipV="1">
              <a:off x="9447394"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B6F7CF03-C359-10C5-1216-7E4B5D7D8220}"/>
                </a:ext>
              </a:extLst>
            </p:cNvPr>
            <p:cNvCxnSpPr>
              <a:cxnSpLocks/>
            </p:cNvCxnSpPr>
            <p:nvPr/>
          </p:nvCxnSpPr>
          <p:spPr>
            <a:xfrm flipH="1" flipV="1">
              <a:off x="6585660" y="4490563"/>
              <a:ext cx="15521" cy="809982"/>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64EB143C-777F-79A1-C030-5C6557F7C60C}"/>
                </a:ext>
              </a:extLst>
            </p:cNvPr>
            <p:cNvCxnSpPr>
              <a:cxnSpLocks/>
            </p:cNvCxnSpPr>
            <p:nvPr/>
          </p:nvCxnSpPr>
          <p:spPr>
            <a:xfrm flipV="1">
              <a:off x="8404583" y="4476971"/>
              <a:ext cx="0" cy="8048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210D3105-8B3B-1A19-D035-773B40C25037}"/>
                </a:ext>
              </a:extLst>
            </p:cNvPr>
            <p:cNvCxnSpPr>
              <a:cxnSpLocks/>
            </p:cNvCxnSpPr>
            <p:nvPr/>
          </p:nvCxnSpPr>
          <p:spPr>
            <a:xfrm flipV="1">
              <a:off x="10195562" y="4659851"/>
              <a:ext cx="0" cy="616778"/>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grpSp>
      <p:pic>
        <p:nvPicPr>
          <p:cNvPr id="84" name="Graphic 83" descr="User with solid fill">
            <a:extLst>
              <a:ext uri="{FF2B5EF4-FFF2-40B4-BE49-F238E27FC236}">
                <a16:creationId xmlns:a16="http://schemas.microsoft.com/office/drawing/2014/main" id="{B70384A5-765D-9013-02AD-1E5228F104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983" y="1639709"/>
            <a:ext cx="457200" cy="457200"/>
          </a:xfrm>
          <a:prstGeom prst="rect">
            <a:avLst/>
          </a:prstGeom>
        </p:spPr>
      </p:pic>
      <p:sp>
        <p:nvSpPr>
          <p:cNvPr id="2" name="Rectangle 1">
            <a:extLst>
              <a:ext uri="{FF2B5EF4-FFF2-40B4-BE49-F238E27FC236}">
                <a16:creationId xmlns:a16="http://schemas.microsoft.com/office/drawing/2014/main" id="{231528B0-7E44-CBFF-5D2F-462EE8DE3EDA}"/>
              </a:ext>
            </a:extLst>
          </p:cNvPr>
          <p:cNvSpPr/>
          <p:nvPr/>
        </p:nvSpPr>
        <p:spPr bwMode="auto">
          <a:xfrm>
            <a:off x="464263" y="2301519"/>
            <a:ext cx="3217609" cy="4341989"/>
          </a:xfrm>
          <a:prstGeom prst="rect">
            <a:avLst/>
          </a:prstGeom>
          <a:solidFill>
            <a:schemeClr val="bg1">
              <a:alpha val="64724"/>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4" name="Rectangle 3">
            <a:extLst>
              <a:ext uri="{FF2B5EF4-FFF2-40B4-BE49-F238E27FC236}">
                <a16:creationId xmlns:a16="http://schemas.microsoft.com/office/drawing/2014/main" id="{9A5C8B8E-CC83-6009-3A13-02A5076AAF11}"/>
              </a:ext>
            </a:extLst>
          </p:cNvPr>
          <p:cNvSpPr/>
          <p:nvPr/>
        </p:nvSpPr>
        <p:spPr bwMode="auto">
          <a:xfrm>
            <a:off x="3684830" y="1089375"/>
            <a:ext cx="7339771" cy="5757867"/>
          </a:xfrm>
          <a:prstGeom prst="rect">
            <a:avLst/>
          </a:prstGeom>
          <a:solidFill>
            <a:schemeClr val="bg1">
              <a:alpha val="64724"/>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Tree>
    <p:extLst>
      <p:ext uri="{BB962C8B-B14F-4D97-AF65-F5344CB8AC3E}">
        <p14:creationId xmlns:p14="http://schemas.microsoft.com/office/powerpoint/2010/main" val="401031656"/>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C186B-6273-F04E-B910-93A52B82D02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1AA04D3-F472-E49A-0550-50101A2B0811}"/>
              </a:ext>
            </a:extLst>
          </p:cNvPr>
          <p:cNvSpPr>
            <a:spLocks noGrp="1"/>
          </p:cNvSpPr>
          <p:nvPr>
            <p:ph type="title"/>
          </p:nvPr>
        </p:nvSpPr>
        <p:spPr/>
        <p:txBody>
          <a:bodyPr>
            <a:spAutoFit/>
          </a:bodyPr>
          <a:lstStyle/>
          <a:p>
            <a:r>
              <a:rPr lang="en-US" dirty="0"/>
              <a:t>Solution Architecture</a:t>
            </a:r>
          </a:p>
        </p:txBody>
      </p:sp>
      <p:grpSp>
        <p:nvGrpSpPr>
          <p:cNvPr id="81" name="Group 80">
            <a:extLst>
              <a:ext uri="{FF2B5EF4-FFF2-40B4-BE49-F238E27FC236}">
                <a16:creationId xmlns:a16="http://schemas.microsoft.com/office/drawing/2014/main" id="{971AB069-808A-E92A-E43A-896EBF54CD4F}"/>
              </a:ext>
            </a:extLst>
          </p:cNvPr>
          <p:cNvGrpSpPr/>
          <p:nvPr/>
        </p:nvGrpSpPr>
        <p:grpSpPr>
          <a:xfrm>
            <a:off x="1384304" y="1089375"/>
            <a:ext cx="9419166" cy="5554134"/>
            <a:chOff x="2434171" y="1089375"/>
            <a:chExt cx="9419166" cy="5554134"/>
          </a:xfrm>
        </p:grpSpPr>
        <p:grpSp>
          <p:nvGrpSpPr>
            <p:cNvPr id="26" name="Group 25">
              <a:extLst>
                <a:ext uri="{FF2B5EF4-FFF2-40B4-BE49-F238E27FC236}">
                  <a16:creationId xmlns:a16="http://schemas.microsoft.com/office/drawing/2014/main" id="{D6639B9B-1585-1492-6CF5-4AC3B91F9FB6}"/>
                </a:ext>
              </a:extLst>
            </p:cNvPr>
            <p:cNvGrpSpPr/>
            <p:nvPr/>
          </p:nvGrpSpPr>
          <p:grpSpPr>
            <a:xfrm>
              <a:off x="2434171" y="1576209"/>
              <a:ext cx="2209800" cy="4660900"/>
              <a:chOff x="368300" y="1790700"/>
              <a:chExt cx="2209800" cy="4660900"/>
            </a:xfrm>
          </p:grpSpPr>
          <p:sp>
            <p:nvSpPr>
              <p:cNvPr id="23" name="Rectangle 22">
                <a:extLst>
                  <a:ext uri="{FF2B5EF4-FFF2-40B4-BE49-F238E27FC236}">
                    <a16:creationId xmlns:a16="http://schemas.microsoft.com/office/drawing/2014/main" id="{AC15D184-35CC-2E0F-046C-B39194A97108}"/>
                  </a:ext>
                </a:extLst>
              </p:cNvPr>
              <p:cNvSpPr/>
              <p:nvPr/>
            </p:nvSpPr>
            <p:spPr bwMode="auto">
              <a:xfrm>
                <a:off x="368300" y="2667000"/>
                <a:ext cx="2209800" cy="3784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solidFill>
                    <a:ea typeface="Segoe UI" pitchFamily="34" charset="0"/>
                    <a:cs typeface="Segoe UI" pitchFamily="34" charset="0"/>
                  </a:rPr>
                  <a:t>Security Sources</a:t>
                </a:r>
              </a:p>
            </p:txBody>
          </p:sp>
          <p:sp>
            <p:nvSpPr>
              <p:cNvPr id="17" name="Rectangle 16">
                <a:extLst>
                  <a:ext uri="{FF2B5EF4-FFF2-40B4-BE49-F238E27FC236}">
                    <a16:creationId xmlns:a16="http://schemas.microsoft.com/office/drawing/2014/main" id="{631A9509-C59B-D216-CCF4-1314B0C93F61}"/>
                  </a:ext>
                </a:extLst>
              </p:cNvPr>
              <p:cNvSpPr/>
              <p:nvPr/>
            </p:nvSpPr>
            <p:spPr bwMode="auto">
              <a:xfrm>
                <a:off x="368300" y="1790700"/>
                <a:ext cx="2209800" cy="5842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CLI</a:t>
                </a:r>
                <a:br>
                  <a:rPr lang="en-US" sz="1200" dirty="0">
                    <a:solidFill>
                      <a:schemeClr val="tx1"/>
                    </a:solidFill>
                    <a:ea typeface="Segoe UI" pitchFamily="34" charset="0"/>
                    <a:cs typeface="Segoe UI" pitchFamily="34" charset="0"/>
                  </a:rPr>
                </a:br>
                <a:r>
                  <a:rPr lang="en-US" sz="1200" dirty="0">
                    <a:solidFill>
                      <a:schemeClr val="tx1"/>
                    </a:solidFill>
                    <a:ea typeface="Segoe UI" pitchFamily="34" charset="0"/>
                    <a:cs typeface="Segoe UI" pitchFamily="34" charset="0"/>
                  </a:rPr>
                  <a:t>Jupyter Notebooks (future)</a:t>
                </a:r>
              </a:p>
            </p:txBody>
          </p:sp>
          <p:sp>
            <p:nvSpPr>
              <p:cNvPr id="19" name="Rectangle 18">
                <a:extLst>
                  <a:ext uri="{FF2B5EF4-FFF2-40B4-BE49-F238E27FC236}">
                    <a16:creationId xmlns:a16="http://schemas.microsoft.com/office/drawing/2014/main" id="{87E095DC-4C84-6264-478E-B773C8D409F9}"/>
                  </a:ext>
                </a:extLst>
              </p:cNvPr>
              <p:cNvSpPr/>
              <p:nvPr/>
            </p:nvSpPr>
            <p:spPr bwMode="auto">
              <a:xfrm>
                <a:off x="628650" y="31877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Microsoft Entra ID</a:t>
                </a:r>
              </a:p>
            </p:txBody>
          </p:sp>
          <p:sp>
            <p:nvSpPr>
              <p:cNvPr id="20" name="Rectangle 19">
                <a:extLst>
                  <a:ext uri="{FF2B5EF4-FFF2-40B4-BE49-F238E27FC236}">
                    <a16:creationId xmlns:a16="http://schemas.microsoft.com/office/drawing/2014/main" id="{1D9AB982-9964-F612-001B-0250F39B2E9A}"/>
                  </a:ext>
                </a:extLst>
              </p:cNvPr>
              <p:cNvSpPr/>
              <p:nvPr/>
            </p:nvSpPr>
            <p:spPr bwMode="auto">
              <a:xfrm>
                <a:off x="628650" y="39370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Microsoft Sentinel</a:t>
                </a:r>
              </a:p>
            </p:txBody>
          </p:sp>
          <p:sp>
            <p:nvSpPr>
              <p:cNvPr id="21" name="Rectangle 20">
                <a:extLst>
                  <a:ext uri="{FF2B5EF4-FFF2-40B4-BE49-F238E27FC236}">
                    <a16:creationId xmlns:a16="http://schemas.microsoft.com/office/drawing/2014/main" id="{D0C3B5AB-C3C5-09C5-AA86-85465768DE7C}"/>
                  </a:ext>
                </a:extLst>
              </p:cNvPr>
              <p:cNvSpPr/>
              <p:nvPr/>
            </p:nvSpPr>
            <p:spPr bwMode="auto">
              <a:xfrm>
                <a:off x="628650" y="46863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Microsoft Defender &amp; Defender XDR</a:t>
                </a:r>
              </a:p>
            </p:txBody>
          </p:sp>
          <p:sp>
            <p:nvSpPr>
              <p:cNvPr id="22" name="Rectangle 21">
                <a:extLst>
                  <a:ext uri="{FF2B5EF4-FFF2-40B4-BE49-F238E27FC236}">
                    <a16:creationId xmlns:a16="http://schemas.microsoft.com/office/drawing/2014/main" id="{33BBEA25-7BB7-2753-E02B-B3CF4175BE1C}"/>
                  </a:ext>
                </a:extLst>
              </p:cNvPr>
              <p:cNvSpPr/>
              <p:nvPr/>
            </p:nvSpPr>
            <p:spPr bwMode="auto">
              <a:xfrm>
                <a:off x="628650" y="56134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3P Security Solutions</a:t>
                </a:r>
              </a:p>
            </p:txBody>
          </p:sp>
          <p:cxnSp>
            <p:nvCxnSpPr>
              <p:cNvPr id="25" name="Straight Arrow Connector 24">
                <a:extLst>
                  <a:ext uri="{FF2B5EF4-FFF2-40B4-BE49-F238E27FC236}">
                    <a16:creationId xmlns:a16="http://schemas.microsoft.com/office/drawing/2014/main" id="{843A6993-AA40-E39F-0046-47603001F3E9}"/>
                  </a:ext>
                </a:extLst>
              </p:cNvPr>
              <p:cNvCxnSpPr>
                <a:stCxn id="22" idx="0"/>
                <a:endCxn id="21" idx="2"/>
              </p:cNvCxnSpPr>
              <p:nvPr/>
            </p:nvCxnSpPr>
            <p:spPr>
              <a:xfrm flipV="1">
                <a:off x="1473200" y="5270500"/>
                <a:ext cx="0" cy="342900"/>
              </a:xfrm>
              <a:prstGeom prst="straightConnector1">
                <a:avLst/>
              </a:prstGeom>
              <a:ln w="25400">
                <a:solidFill>
                  <a:schemeClr val="bg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grpSp>
        <p:cxnSp>
          <p:nvCxnSpPr>
            <p:cNvPr id="59" name="Elbow Connector 58">
              <a:extLst>
                <a:ext uri="{FF2B5EF4-FFF2-40B4-BE49-F238E27FC236}">
                  <a16:creationId xmlns:a16="http://schemas.microsoft.com/office/drawing/2014/main" id="{6DA9C389-E407-220F-63B9-C0DBEC6AA405}"/>
                </a:ext>
              </a:extLst>
            </p:cNvPr>
            <p:cNvCxnSpPr>
              <a:cxnSpLocks/>
              <a:stCxn id="22" idx="3"/>
              <a:endCxn id="31" idx="1"/>
            </p:cNvCxnSpPr>
            <p:nvPr/>
          </p:nvCxnSpPr>
          <p:spPr>
            <a:xfrm flipV="1">
              <a:off x="4383621" y="3333044"/>
              <a:ext cx="1486607" cy="2357965"/>
            </a:xfrm>
            <a:prstGeom prst="bentConnector3">
              <a:avLst>
                <a:gd name="adj1" fmla="val 61391"/>
              </a:avLst>
            </a:prstGeom>
            <a:ln w="25400">
              <a:solidFill>
                <a:schemeClr val="accent4"/>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3F683C58-ECAB-D491-5254-2E6A0381D594}"/>
                </a:ext>
              </a:extLst>
            </p:cNvPr>
            <p:cNvSpPr/>
            <p:nvPr/>
          </p:nvSpPr>
          <p:spPr bwMode="auto">
            <a:xfrm>
              <a:off x="4989692" y="1089375"/>
              <a:ext cx="6863645" cy="5554134"/>
            </a:xfrm>
            <a:prstGeom prst="rect">
              <a:avLst/>
            </a:prstGeom>
            <a:noFill/>
            <a:ln w="19050">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en-US" sz="1200" b="1" dirty="0">
                  <a:solidFill>
                    <a:schemeClr val="tx1"/>
                  </a:solidFill>
                  <a:ea typeface="Segoe UI" pitchFamily="34" charset="0"/>
                  <a:cs typeface="Segoe UI" pitchFamily="34" charset="0"/>
                </a:rPr>
                <a:t>Azure</a:t>
              </a:r>
            </a:p>
          </p:txBody>
        </p:sp>
        <p:sp>
          <p:nvSpPr>
            <p:cNvPr id="27" name="Rectangle 26">
              <a:extLst>
                <a:ext uri="{FF2B5EF4-FFF2-40B4-BE49-F238E27FC236}">
                  <a16:creationId xmlns:a16="http://schemas.microsoft.com/office/drawing/2014/main" id="{41DB760D-F116-5D2E-3140-46A0EB5A56C2}"/>
                </a:ext>
              </a:extLst>
            </p:cNvPr>
            <p:cNvSpPr/>
            <p:nvPr/>
          </p:nvSpPr>
          <p:spPr bwMode="auto">
            <a:xfrm>
              <a:off x="5488521" y="1576209"/>
              <a:ext cx="5845528" cy="308364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solidFill>
                  <a:ea typeface="Segoe UI" pitchFamily="34" charset="0"/>
                  <a:cs typeface="Segoe UI" pitchFamily="34" charset="0"/>
                </a:rPr>
                <a:t>Microsoft Foundry </a:t>
              </a:r>
              <a:br>
                <a:rPr lang="en-US" sz="1200" b="1" dirty="0">
                  <a:solidFill>
                    <a:schemeClr val="bg1"/>
                  </a:solidFill>
                  <a:ea typeface="Segoe UI" pitchFamily="34" charset="0"/>
                  <a:cs typeface="Segoe UI" pitchFamily="34" charset="0"/>
                </a:rPr>
              </a:br>
              <a:r>
                <a:rPr lang="en-US" sz="1000" dirty="0">
                  <a:solidFill>
                    <a:schemeClr val="bg1"/>
                  </a:solidFill>
                  <a:ea typeface="Segoe UI" pitchFamily="34" charset="0"/>
                  <a:cs typeface="Segoe UI" pitchFamily="34" charset="0"/>
                </a:rPr>
                <a:t>(v2 GA Q1 2026)</a:t>
              </a:r>
              <a:endParaRPr lang="en-US" sz="1200" dirty="0">
                <a:solidFill>
                  <a:schemeClr val="bg1"/>
                </a:solidFill>
                <a:ea typeface="Segoe UI" pitchFamily="34" charset="0"/>
                <a:cs typeface="Segoe UI" pitchFamily="34" charset="0"/>
              </a:endParaRPr>
            </a:p>
          </p:txBody>
        </p:sp>
        <p:sp>
          <p:nvSpPr>
            <p:cNvPr id="28" name="Rectangle 27">
              <a:extLst>
                <a:ext uri="{FF2B5EF4-FFF2-40B4-BE49-F238E27FC236}">
                  <a16:creationId xmlns:a16="http://schemas.microsoft.com/office/drawing/2014/main" id="{EB5DFFB2-C42C-854D-2767-1DD0BCEA43C2}"/>
                </a:ext>
              </a:extLst>
            </p:cNvPr>
            <p:cNvSpPr/>
            <p:nvPr/>
          </p:nvSpPr>
          <p:spPr bwMode="auto">
            <a:xfrm>
              <a:off x="5488521" y="5098098"/>
              <a:ext cx="5845528" cy="118582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solidFill>
                  <a:ea typeface="Segoe UI" pitchFamily="34" charset="0"/>
                  <a:cs typeface="Segoe UI" pitchFamily="34" charset="0"/>
                </a:rPr>
                <a:t>Knowledge &amp; Observability</a:t>
              </a:r>
              <a:endParaRPr lang="en-US" sz="1200" dirty="0">
                <a:solidFill>
                  <a:schemeClr val="bg1"/>
                </a:solidFill>
                <a:ea typeface="Segoe UI" pitchFamily="34" charset="0"/>
                <a:cs typeface="Segoe UI" pitchFamily="34" charset="0"/>
              </a:endParaRPr>
            </a:p>
          </p:txBody>
        </p:sp>
        <p:sp>
          <p:nvSpPr>
            <p:cNvPr id="30" name="Rectangle 29">
              <a:extLst>
                <a:ext uri="{FF2B5EF4-FFF2-40B4-BE49-F238E27FC236}">
                  <a16:creationId xmlns:a16="http://schemas.microsoft.com/office/drawing/2014/main" id="{67D947C2-8566-813F-1286-C26B0CDD3E48}"/>
                </a:ext>
              </a:extLst>
            </p:cNvPr>
            <p:cNvSpPr/>
            <p:nvPr/>
          </p:nvSpPr>
          <p:spPr bwMode="auto">
            <a:xfrm>
              <a:off x="5870226" y="2301520"/>
              <a:ext cx="5102577" cy="306213"/>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Workflow Orchestrator(s)</a:t>
              </a:r>
            </a:p>
          </p:txBody>
        </p:sp>
        <p:sp>
          <p:nvSpPr>
            <p:cNvPr id="31" name="Rectangle 30">
              <a:extLst>
                <a:ext uri="{FF2B5EF4-FFF2-40B4-BE49-F238E27FC236}">
                  <a16:creationId xmlns:a16="http://schemas.microsoft.com/office/drawing/2014/main" id="{4BC47AF8-CA00-EFDC-8187-6F3204C4DC5E}"/>
                </a:ext>
              </a:extLst>
            </p:cNvPr>
            <p:cNvSpPr/>
            <p:nvPr/>
          </p:nvSpPr>
          <p:spPr bwMode="auto">
            <a:xfrm>
              <a:off x="5870228"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Alert Triage</a:t>
              </a:r>
            </a:p>
          </p:txBody>
        </p:sp>
        <p:sp>
          <p:nvSpPr>
            <p:cNvPr id="32" name="Rectangle 31">
              <a:extLst>
                <a:ext uri="{FF2B5EF4-FFF2-40B4-BE49-F238E27FC236}">
                  <a16:creationId xmlns:a16="http://schemas.microsoft.com/office/drawing/2014/main" id="{E88D424A-EF91-9D8B-9D5B-55B69FBE2A82}"/>
                </a:ext>
              </a:extLst>
            </p:cNvPr>
            <p:cNvSpPr/>
            <p:nvPr/>
          </p:nvSpPr>
          <p:spPr bwMode="auto">
            <a:xfrm>
              <a:off x="10058403" y="2843436"/>
              <a:ext cx="914400" cy="979216"/>
            </a:xfrm>
            <a:prstGeom prst="rect">
              <a:avLst/>
            </a:prstGeom>
            <a:solidFill>
              <a:srgbClr val="091F2C">
                <a:alpha val="29020"/>
              </a:srgb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Agent</a:t>
              </a:r>
              <a:br>
                <a:rPr lang="en-US" sz="1200" dirty="0">
                  <a:solidFill>
                    <a:schemeClr val="tx1"/>
                  </a:solidFill>
                  <a:ea typeface="Segoe UI" pitchFamily="34" charset="0"/>
                  <a:cs typeface="Segoe UI" pitchFamily="34" charset="0"/>
                </a:rPr>
              </a:br>
              <a:r>
                <a:rPr lang="en-US" sz="1200" i="1" dirty="0">
                  <a:solidFill>
                    <a:schemeClr val="tx1"/>
                  </a:solidFill>
                  <a:ea typeface="Segoe UI" pitchFamily="34" charset="0"/>
                  <a:cs typeface="Segoe UI" pitchFamily="34" charset="0"/>
                </a:rPr>
                <a:t>n</a:t>
              </a:r>
              <a:endParaRPr lang="en-US" sz="1200" dirty="0">
                <a:solidFill>
                  <a:schemeClr val="tx1"/>
                </a:solidFill>
                <a:ea typeface="Segoe UI" pitchFamily="34" charset="0"/>
                <a:cs typeface="Segoe UI" pitchFamily="34" charset="0"/>
              </a:endParaRPr>
            </a:p>
          </p:txBody>
        </p:sp>
        <p:sp>
          <p:nvSpPr>
            <p:cNvPr id="34" name="Rectangle 33">
              <a:extLst>
                <a:ext uri="{FF2B5EF4-FFF2-40B4-BE49-F238E27FC236}">
                  <a16:creationId xmlns:a16="http://schemas.microsoft.com/office/drawing/2014/main" id="{C26B697F-629E-06F7-90F5-7DA91E6AB10E}"/>
                </a:ext>
              </a:extLst>
            </p:cNvPr>
            <p:cNvSpPr/>
            <p:nvPr/>
          </p:nvSpPr>
          <p:spPr bwMode="auto">
            <a:xfrm>
              <a:off x="6917272"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Threat Hunting</a:t>
              </a:r>
            </a:p>
          </p:txBody>
        </p:sp>
        <p:sp>
          <p:nvSpPr>
            <p:cNvPr id="35" name="Rectangle 34">
              <a:extLst>
                <a:ext uri="{FF2B5EF4-FFF2-40B4-BE49-F238E27FC236}">
                  <a16:creationId xmlns:a16="http://schemas.microsoft.com/office/drawing/2014/main" id="{FD0D4B36-0D1C-EAB9-BB0B-68F1C2D52356}"/>
                </a:ext>
              </a:extLst>
            </p:cNvPr>
            <p:cNvSpPr/>
            <p:nvPr/>
          </p:nvSpPr>
          <p:spPr bwMode="auto">
            <a:xfrm>
              <a:off x="7964316"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Threat Intel</a:t>
              </a:r>
            </a:p>
          </p:txBody>
        </p:sp>
        <p:sp>
          <p:nvSpPr>
            <p:cNvPr id="37" name="Rectangle 36">
              <a:extLst>
                <a:ext uri="{FF2B5EF4-FFF2-40B4-BE49-F238E27FC236}">
                  <a16:creationId xmlns:a16="http://schemas.microsoft.com/office/drawing/2014/main" id="{84F69293-A42E-E8FF-3DCB-241E76D011CA}"/>
                </a:ext>
              </a:extLst>
            </p:cNvPr>
            <p:cNvSpPr/>
            <p:nvPr/>
          </p:nvSpPr>
          <p:spPr bwMode="auto">
            <a:xfrm>
              <a:off x="9011360"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Incident Resp.</a:t>
              </a:r>
            </a:p>
          </p:txBody>
        </p:sp>
        <p:sp>
          <p:nvSpPr>
            <p:cNvPr id="38" name="Rectangle 37">
              <a:extLst>
                <a:ext uri="{FF2B5EF4-FFF2-40B4-BE49-F238E27FC236}">
                  <a16:creationId xmlns:a16="http://schemas.microsoft.com/office/drawing/2014/main" id="{D0DB5D74-B099-2D7B-8BB9-CD2D92C066A3}"/>
                </a:ext>
              </a:extLst>
            </p:cNvPr>
            <p:cNvSpPr/>
            <p:nvPr/>
          </p:nvSpPr>
          <p:spPr bwMode="auto">
            <a:xfrm>
              <a:off x="5870225" y="4165596"/>
              <a:ext cx="5102577" cy="306213"/>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Foundry IQ – Agent Memory and Knowledge Bases</a:t>
              </a:r>
            </a:p>
          </p:txBody>
        </p:sp>
        <p:sp>
          <p:nvSpPr>
            <p:cNvPr id="39" name="Rectangle 38">
              <a:extLst>
                <a:ext uri="{FF2B5EF4-FFF2-40B4-BE49-F238E27FC236}">
                  <a16:creationId xmlns:a16="http://schemas.microsoft.com/office/drawing/2014/main" id="{318148A1-7D5F-DB59-B3C8-690D793BC1EA}"/>
                </a:ext>
              </a:extLst>
            </p:cNvPr>
            <p:cNvSpPr/>
            <p:nvPr/>
          </p:nvSpPr>
          <p:spPr bwMode="auto">
            <a:xfrm>
              <a:off x="5859996" y="5281791"/>
              <a:ext cx="1554480" cy="48683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Azure AI Search</a:t>
              </a:r>
            </a:p>
          </p:txBody>
        </p:sp>
        <p:sp>
          <p:nvSpPr>
            <p:cNvPr id="40" name="Rectangle 39">
              <a:extLst>
                <a:ext uri="{FF2B5EF4-FFF2-40B4-BE49-F238E27FC236}">
                  <a16:creationId xmlns:a16="http://schemas.microsoft.com/office/drawing/2014/main" id="{FFB1A803-C1E0-850A-3198-EF69430B9B3B}"/>
                </a:ext>
              </a:extLst>
            </p:cNvPr>
            <p:cNvSpPr/>
            <p:nvPr/>
          </p:nvSpPr>
          <p:spPr bwMode="auto">
            <a:xfrm>
              <a:off x="7639159" y="5281791"/>
              <a:ext cx="1554480" cy="486834"/>
            </a:xfrm>
            <a:prstGeom prst="rect">
              <a:avLst/>
            </a:prstGeom>
            <a:solidFill>
              <a:schemeClr val="dk1">
                <a:alpha val="29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Azure Blob Storage</a:t>
              </a:r>
            </a:p>
          </p:txBody>
        </p:sp>
        <p:sp>
          <p:nvSpPr>
            <p:cNvPr id="41" name="Rectangle 40">
              <a:extLst>
                <a:ext uri="{FF2B5EF4-FFF2-40B4-BE49-F238E27FC236}">
                  <a16:creationId xmlns:a16="http://schemas.microsoft.com/office/drawing/2014/main" id="{F02B5FA6-BBFD-018F-7EE7-934D796C6FD6}"/>
                </a:ext>
              </a:extLst>
            </p:cNvPr>
            <p:cNvSpPr/>
            <p:nvPr/>
          </p:nvSpPr>
          <p:spPr bwMode="auto">
            <a:xfrm>
              <a:off x="9418322" y="5281791"/>
              <a:ext cx="1554480" cy="48683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App Insights / Azure Monitor</a:t>
              </a:r>
            </a:p>
          </p:txBody>
        </p:sp>
        <p:cxnSp>
          <p:nvCxnSpPr>
            <p:cNvPr id="43" name="Elbow Connector 42">
              <a:extLst>
                <a:ext uri="{FF2B5EF4-FFF2-40B4-BE49-F238E27FC236}">
                  <a16:creationId xmlns:a16="http://schemas.microsoft.com/office/drawing/2014/main" id="{1057032A-55DA-BEB3-B7F3-7774F67BEC6F}"/>
                </a:ext>
              </a:extLst>
            </p:cNvPr>
            <p:cNvCxnSpPr>
              <a:stCxn id="17" idx="3"/>
            </p:cNvCxnSpPr>
            <p:nvPr/>
          </p:nvCxnSpPr>
          <p:spPr>
            <a:xfrm>
              <a:off x="4643971" y="1868309"/>
              <a:ext cx="1216025" cy="584200"/>
            </a:xfrm>
            <a:prstGeom prst="bentConnector3">
              <a:avLst/>
            </a:prstGeom>
            <a:ln w="25400">
              <a:solidFill>
                <a:schemeClr val="tx1"/>
              </a:solidFill>
              <a:headEnd type="triangle" w="lg" len="med"/>
              <a:tailEnd type="triangle"/>
            </a:ln>
          </p:spPr>
          <p:style>
            <a:lnRef idx="1">
              <a:schemeClr val="accent1"/>
            </a:lnRef>
            <a:fillRef idx="0">
              <a:schemeClr val="accent1"/>
            </a:fillRef>
            <a:effectRef idx="0">
              <a:schemeClr val="accent1"/>
            </a:effectRef>
            <a:fontRef idx="minor">
              <a:schemeClr val="tx1"/>
            </a:fontRef>
          </p:style>
        </p:cxnSp>
        <p:cxnSp>
          <p:nvCxnSpPr>
            <p:cNvPr id="44" name="Elbow Connector 43">
              <a:extLst>
                <a:ext uri="{FF2B5EF4-FFF2-40B4-BE49-F238E27FC236}">
                  <a16:creationId xmlns:a16="http://schemas.microsoft.com/office/drawing/2014/main" id="{BB9E93A5-7B79-2DD5-E572-CEB9724CAA3E}"/>
                </a:ext>
              </a:extLst>
            </p:cNvPr>
            <p:cNvCxnSpPr>
              <a:cxnSpLocks/>
              <a:endCxn id="31" idx="1"/>
            </p:cNvCxnSpPr>
            <p:nvPr/>
          </p:nvCxnSpPr>
          <p:spPr>
            <a:xfrm>
              <a:off x="4383621" y="3264080"/>
              <a:ext cx="1486607" cy="68964"/>
            </a:xfrm>
            <a:prstGeom prst="bentConnector3">
              <a:avLst/>
            </a:prstGeom>
            <a:ln w="254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52">
              <a:extLst>
                <a:ext uri="{FF2B5EF4-FFF2-40B4-BE49-F238E27FC236}">
                  <a16:creationId xmlns:a16="http://schemas.microsoft.com/office/drawing/2014/main" id="{C24790CA-62F4-1E56-DE8D-3929356BAB9D}"/>
                </a:ext>
              </a:extLst>
            </p:cNvPr>
            <p:cNvCxnSpPr>
              <a:cxnSpLocks/>
              <a:stCxn id="20" idx="3"/>
            </p:cNvCxnSpPr>
            <p:nvPr/>
          </p:nvCxnSpPr>
          <p:spPr>
            <a:xfrm flipV="1">
              <a:off x="4383621" y="3333044"/>
              <a:ext cx="1476375" cy="681565"/>
            </a:xfrm>
            <a:prstGeom prst="bentConnector3">
              <a:avLst/>
            </a:prstGeom>
            <a:ln w="254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6" name="Elbow Connector 55">
              <a:extLst>
                <a:ext uri="{FF2B5EF4-FFF2-40B4-BE49-F238E27FC236}">
                  <a16:creationId xmlns:a16="http://schemas.microsoft.com/office/drawing/2014/main" id="{80BF5E08-ADA2-F8C9-58D5-40DA9DD44B86}"/>
                </a:ext>
              </a:extLst>
            </p:cNvPr>
            <p:cNvCxnSpPr>
              <a:cxnSpLocks/>
              <a:stCxn id="21" idx="3"/>
            </p:cNvCxnSpPr>
            <p:nvPr/>
          </p:nvCxnSpPr>
          <p:spPr>
            <a:xfrm flipV="1">
              <a:off x="4383621" y="3329470"/>
              <a:ext cx="1476375" cy="1434439"/>
            </a:xfrm>
            <a:prstGeom prst="bentConnector3">
              <a:avLst/>
            </a:prstGeom>
            <a:ln w="254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A3B5A839-9DD3-F131-C42F-2E1447286624}"/>
                </a:ext>
              </a:extLst>
            </p:cNvPr>
            <p:cNvCxnSpPr>
              <a:cxnSpLocks/>
            </p:cNvCxnSpPr>
            <p:nvPr/>
          </p:nvCxnSpPr>
          <p:spPr>
            <a:xfrm flipV="1">
              <a:off x="6318961"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2C090B1A-B965-F33E-3325-C0113B86BA43}"/>
                </a:ext>
              </a:extLst>
            </p:cNvPr>
            <p:cNvCxnSpPr>
              <a:cxnSpLocks/>
            </p:cNvCxnSpPr>
            <p:nvPr/>
          </p:nvCxnSpPr>
          <p:spPr>
            <a:xfrm flipV="1">
              <a:off x="10490205"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55DC787B-961D-E230-9CFF-9B3D7CE95858}"/>
                </a:ext>
              </a:extLst>
            </p:cNvPr>
            <p:cNvCxnSpPr>
              <a:cxnSpLocks/>
            </p:cNvCxnSpPr>
            <p:nvPr/>
          </p:nvCxnSpPr>
          <p:spPr>
            <a:xfrm flipV="1">
              <a:off x="7361772"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92087C03-3EB0-FAE1-7311-C415DCB4078E}"/>
                </a:ext>
              </a:extLst>
            </p:cNvPr>
            <p:cNvCxnSpPr>
              <a:cxnSpLocks/>
            </p:cNvCxnSpPr>
            <p:nvPr/>
          </p:nvCxnSpPr>
          <p:spPr>
            <a:xfrm flipV="1">
              <a:off x="8404583"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B4DB7BA2-87D8-97AE-8DF6-2EFB73C2909C}"/>
                </a:ext>
              </a:extLst>
            </p:cNvPr>
            <p:cNvCxnSpPr>
              <a:cxnSpLocks/>
            </p:cNvCxnSpPr>
            <p:nvPr/>
          </p:nvCxnSpPr>
          <p:spPr>
            <a:xfrm flipV="1">
              <a:off x="9447394"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818F7AD6-5D80-E322-A799-1E7FE6AE5193}"/>
                </a:ext>
              </a:extLst>
            </p:cNvPr>
            <p:cNvCxnSpPr>
              <a:cxnSpLocks/>
            </p:cNvCxnSpPr>
            <p:nvPr/>
          </p:nvCxnSpPr>
          <p:spPr>
            <a:xfrm flipV="1">
              <a:off x="6318961"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7ACDB9BB-3281-ACC6-825C-CADF21A8AA0A}"/>
                </a:ext>
              </a:extLst>
            </p:cNvPr>
            <p:cNvCxnSpPr>
              <a:cxnSpLocks/>
            </p:cNvCxnSpPr>
            <p:nvPr/>
          </p:nvCxnSpPr>
          <p:spPr>
            <a:xfrm flipV="1">
              <a:off x="10490205"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DEE55AA0-8231-6E55-0C8A-DC7CF590A618}"/>
                </a:ext>
              </a:extLst>
            </p:cNvPr>
            <p:cNvCxnSpPr>
              <a:cxnSpLocks/>
            </p:cNvCxnSpPr>
            <p:nvPr/>
          </p:nvCxnSpPr>
          <p:spPr>
            <a:xfrm flipV="1">
              <a:off x="7361772"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C3E03E61-510E-8814-D261-0DE9DE488541}"/>
                </a:ext>
              </a:extLst>
            </p:cNvPr>
            <p:cNvCxnSpPr>
              <a:cxnSpLocks/>
            </p:cNvCxnSpPr>
            <p:nvPr/>
          </p:nvCxnSpPr>
          <p:spPr>
            <a:xfrm flipV="1">
              <a:off x="8404583"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541AD9F8-D127-35B5-48ED-74ECC61A8C82}"/>
                </a:ext>
              </a:extLst>
            </p:cNvPr>
            <p:cNvCxnSpPr>
              <a:cxnSpLocks/>
            </p:cNvCxnSpPr>
            <p:nvPr/>
          </p:nvCxnSpPr>
          <p:spPr>
            <a:xfrm flipV="1">
              <a:off x="9447394"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75928EFF-6D50-3869-E54B-E607D90D4D7E}"/>
                </a:ext>
              </a:extLst>
            </p:cNvPr>
            <p:cNvCxnSpPr>
              <a:cxnSpLocks/>
            </p:cNvCxnSpPr>
            <p:nvPr/>
          </p:nvCxnSpPr>
          <p:spPr>
            <a:xfrm flipH="1" flipV="1">
              <a:off x="6585660" y="4490563"/>
              <a:ext cx="15521" cy="809982"/>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E94D2FAE-A1F2-0A55-C91F-7D3E77199646}"/>
                </a:ext>
              </a:extLst>
            </p:cNvPr>
            <p:cNvCxnSpPr>
              <a:cxnSpLocks/>
            </p:cNvCxnSpPr>
            <p:nvPr/>
          </p:nvCxnSpPr>
          <p:spPr>
            <a:xfrm flipV="1">
              <a:off x="8404583" y="4476971"/>
              <a:ext cx="0" cy="8048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22B98BCC-CFC0-9A38-A63A-B81A82FC181B}"/>
                </a:ext>
              </a:extLst>
            </p:cNvPr>
            <p:cNvCxnSpPr>
              <a:cxnSpLocks/>
            </p:cNvCxnSpPr>
            <p:nvPr/>
          </p:nvCxnSpPr>
          <p:spPr>
            <a:xfrm flipV="1">
              <a:off x="10195562" y="4659851"/>
              <a:ext cx="0" cy="616778"/>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grpSp>
      <p:pic>
        <p:nvPicPr>
          <p:cNvPr id="84" name="Graphic 83" descr="User with solid fill">
            <a:extLst>
              <a:ext uri="{FF2B5EF4-FFF2-40B4-BE49-F238E27FC236}">
                <a16:creationId xmlns:a16="http://schemas.microsoft.com/office/drawing/2014/main" id="{98F414FE-E4A7-62F1-3998-AF8D7074322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983" y="1639709"/>
            <a:ext cx="457200" cy="457200"/>
          </a:xfrm>
          <a:prstGeom prst="rect">
            <a:avLst/>
          </a:prstGeom>
        </p:spPr>
      </p:pic>
      <p:sp>
        <p:nvSpPr>
          <p:cNvPr id="2" name="Rectangle 1">
            <a:extLst>
              <a:ext uri="{FF2B5EF4-FFF2-40B4-BE49-F238E27FC236}">
                <a16:creationId xmlns:a16="http://schemas.microsoft.com/office/drawing/2014/main" id="{6E2E306C-B2C5-2884-319B-D3D98A641510}"/>
              </a:ext>
            </a:extLst>
          </p:cNvPr>
          <p:cNvSpPr/>
          <p:nvPr/>
        </p:nvSpPr>
        <p:spPr bwMode="auto">
          <a:xfrm>
            <a:off x="464263" y="1089375"/>
            <a:ext cx="3217609" cy="5554133"/>
          </a:xfrm>
          <a:prstGeom prst="rect">
            <a:avLst/>
          </a:prstGeom>
          <a:solidFill>
            <a:schemeClr val="bg1">
              <a:alpha val="64724"/>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4" name="Rectangle 3">
            <a:extLst>
              <a:ext uri="{FF2B5EF4-FFF2-40B4-BE49-F238E27FC236}">
                <a16:creationId xmlns:a16="http://schemas.microsoft.com/office/drawing/2014/main" id="{436776C1-19A8-E288-A379-B8FBBD4809C0}"/>
              </a:ext>
            </a:extLst>
          </p:cNvPr>
          <p:cNvSpPr/>
          <p:nvPr/>
        </p:nvSpPr>
        <p:spPr bwMode="auto">
          <a:xfrm>
            <a:off x="3684830" y="4959007"/>
            <a:ext cx="7339771" cy="1888235"/>
          </a:xfrm>
          <a:prstGeom prst="rect">
            <a:avLst/>
          </a:prstGeom>
          <a:solidFill>
            <a:schemeClr val="bg1">
              <a:alpha val="64724"/>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Tree>
    <p:extLst>
      <p:ext uri="{BB962C8B-B14F-4D97-AF65-F5344CB8AC3E}">
        <p14:creationId xmlns:p14="http://schemas.microsoft.com/office/powerpoint/2010/main" val="89786072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C873F-FBEC-1043-21E1-6B2536ADBA1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A432438-7D7A-787C-E5A8-9E791CF5551E}"/>
              </a:ext>
            </a:extLst>
          </p:cNvPr>
          <p:cNvSpPr>
            <a:spLocks noGrp="1"/>
          </p:cNvSpPr>
          <p:nvPr>
            <p:ph type="title"/>
          </p:nvPr>
        </p:nvSpPr>
        <p:spPr/>
        <p:txBody>
          <a:bodyPr>
            <a:spAutoFit/>
          </a:bodyPr>
          <a:lstStyle/>
          <a:p>
            <a:r>
              <a:rPr lang="en-US" dirty="0"/>
              <a:t>Solution Architecture</a:t>
            </a:r>
          </a:p>
        </p:txBody>
      </p:sp>
      <p:grpSp>
        <p:nvGrpSpPr>
          <p:cNvPr id="81" name="Group 80">
            <a:extLst>
              <a:ext uri="{FF2B5EF4-FFF2-40B4-BE49-F238E27FC236}">
                <a16:creationId xmlns:a16="http://schemas.microsoft.com/office/drawing/2014/main" id="{833D328B-EF97-5429-CBB8-77F567FB48D3}"/>
              </a:ext>
            </a:extLst>
          </p:cNvPr>
          <p:cNvGrpSpPr/>
          <p:nvPr/>
        </p:nvGrpSpPr>
        <p:grpSpPr>
          <a:xfrm>
            <a:off x="1384304" y="1089375"/>
            <a:ext cx="9419166" cy="5554134"/>
            <a:chOff x="2434171" y="1089375"/>
            <a:chExt cx="9419166" cy="5554134"/>
          </a:xfrm>
        </p:grpSpPr>
        <p:grpSp>
          <p:nvGrpSpPr>
            <p:cNvPr id="26" name="Group 25">
              <a:extLst>
                <a:ext uri="{FF2B5EF4-FFF2-40B4-BE49-F238E27FC236}">
                  <a16:creationId xmlns:a16="http://schemas.microsoft.com/office/drawing/2014/main" id="{DE01C526-7264-719D-F868-0E75D3EA1B6A}"/>
                </a:ext>
              </a:extLst>
            </p:cNvPr>
            <p:cNvGrpSpPr/>
            <p:nvPr/>
          </p:nvGrpSpPr>
          <p:grpSpPr>
            <a:xfrm>
              <a:off x="2434171" y="1576209"/>
              <a:ext cx="2209800" cy="4660900"/>
              <a:chOff x="368300" y="1790700"/>
              <a:chExt cx="2209800" cy="4660900"/>
            </a:xfrm>
          </p:grpSpPr>
          <p:sp>
            <p:nvSpPr>
              <p:cNvPr id="23" name="Rectangle 22">
                <a:extLst>
                  <a:ext uri="{FF2B5EF4-FFF2-40B4-BE49-F238E27FC236}">
                    <a16:creationId xmlns:a16="http://schemas.microsoft.com/office/drawing/2014/main" id="{01B63479-ADF4-7FA2-3FA4-949F0EAF4C30}"/>
                  </a:ext>
                </a:extLst>
              </p:cNvPr>
              <p:cNvSpPr/>
              <p:nvPr/>
            </p:nvSpPr>
            <p:spPr bwMode="auto">
              <a:xfrm>
                <a:off x="368300" y="2667000"/>
                <a:ext cx="2209800" cy="3784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solidFill>
                    <a:ea typeface="Segoe UI" pitchFamily="34" charset="0"/>
                    <a:cs typeface="Segoe UI" pitchFamily="34" charset="0"/>
                  </a:rPr>
                  <a:t>Security Sources</a:t>
                </a:r>
              </a:p>
            </p:txBody>
          </p:sp>
          <p:sp>
            <p:nvSpPr>
              <p:cNvPr id="17" name="Rectangle 16">
                <a:extLst>
                  <a:ext uri="{FF2B5EF4-FFF2-40B4-BE49-F238E27FC236}">
                    <a16:creationId xmlns:a16="http://schemas.microsoft.com/office/drawing/2014/main" id="{4B31C8BC-A207-2CD9-D11C-20EE11ADDF6D}"/>
                  </a:ext>
                </a:extLst>
              </p:cNvPr>
              <p:cNvSpPr/>
              <p:nvPr/>
            </p:nvSpPr>
            <p:spPr bwMode="auto">
              <a:xfrm>
                <a:off x="368300" y="1790700"/>
                <a:ext cx="2209800" cy="5842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CLI</a:t>
                </a:r>
                <a:br>
                  <a:rPr lang="en-US" sz="1200" dirty="0">
                    <a:solidFill>
                      <a:schemeClr val="tx1"/>
                    </a:solidFill>
                    <a:ea typeface="Segoe UI" pitchFamily="34" charset="0"/>
                    <a:cs typeface="Segoe UI" pitchFamily="34" charset="0"/>
                  </a:rPr>
                </a:br>
                <a:r>
                  <a:rPr lang="en-US" sz="1200" dirty="0">
                    <a:solidFill>
                      <a:schemeClr val="tx1"/>
                    </a:solidFill>
                    <a:ea typeface="Segoe UI" pitchFamily="34" charset="0"/>
                    <a:cs typeface="Segoe UI" pitchFamily="34" charset="0"/>
                  </a:rPr>
                  <a:t>Jupyter Notebooks (future)</a:t>
                </a:r>
              </a:p>
            </p:txBody>
          </p:sp>
          <p:sp>
            <p:nvSpPr>
              <p:cNvPr id="19" name="Rectangle 18">
                <a:extLst>
                  <a:ext uri="{FF2B5EF4-FFF2-40B4-BE49-F238E27FC236}">
                    <a16:creationId xmlns:a16="http://schemas.microsoft.com/office/drawing/2014/main" id="{EE30127E-1F11-570B-2D20-314977C33EFA}"/>
                  </a:ext>
                </a:extLst>
              </p:cNvPr>
              <p:cNvSpPr/>
              <p:nvPr/>
            </p:nvSpPr>
            <p:spPr bwMode="auto">
              <a:xfrm>
                <a:off x="628650" y="31877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Microsoft Entra ID</a:t>
                </a:r>
              </a:p>
            </p:txBody>
          </p:sp>
          <p:sp>
            <p:nvSpPr>
              <p:cNvPr id="20" name="Rectangle 19">
                <a:extLst>
                  <a:ext uri="{FF2B5EF4-FFF2-40B4-BE49-F238E27FC236}">
                    <a16:creationId xmlns:a16="http://schemas.microsoft.com/office/drawing/2014/main" id="{11E1D8E4-CE4C-C6FA-4C65-1E2F87EC37FB}"/>
                  </a:ext>
                </a:extLst>
              </p:cNvPr>
              <p:cNvSpPr/>
              <p:nvPr/>
            </p:nvSpPr>
            <p:spPr bwMode="auto">
              <a:xfrm>
                <a:off x="628650" y="39370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Microsoft Sentinel</a:t>
                </a:r>
              </a:p>
            </p:txBody>
          </p:sp>
          <p:sp>
            <p:nvSpPr>
              <p:cNvPr id="21" name="Rectangle 20">
                <a:extLst>
                  <a:ext uri="{FF2B5EF4-FFF2-40B4-BE49-F238E27FC236}">
                    <a16:creationId xmlns:a16="http://schemas.microsoft.com/office/drawing/2014/main" id="{5D09A62C-D0F9-E02A-8434-6384C6A064A4}"/>
                  </a:ext>
                </a:extLst>
              </p:cNvPr>
              <p:cNvSpPr/>
              <p:nvPr/>
            </p:nvSpPr>
            <p:spPr bwMode="auto">
              <a:xfrm>
                <a:off x="628650" y="46863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Microsoft Defender &amp; Defender XDR</a:t>
                </a:r>
              </a:p>
            </p:txBody>
          </p:sp>
          <p:sp>
            <p:nvSpPr>
              <p:cNvPr id="22" name="Rectangle 21">
                <a:extLst>
                  <a:ext uri="{FF2B5EF4-FFF2-40B4-BE49-F238E27FC236}">
                    <a16:creationId xmlns:a16="http://schemas.microsoft.com/office/drawing/2014/main" id="{2B756B3E-0BBF-497E-BDF1-7430A855ACFE}"/>
                  </a:ext>
                </a:extLst>
              </p:cNvPr>
              <p:cNvSpPr/>
              <p:nvPr/>
            </p:nvSpPr>
            <p:spPr bwMode="auto">
              <a:xfrm>
                <a:off x="628650" y="56134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3P Security Solutions</a:t>
                </a:r>
              </a:p>
            </p:txBody>
          </p:sp>
          <p:cxnSp>
            <p:nvCxnSpPr>
              <p:cNvPr id="25" name="Straight Arrow Connector 24">
                <a:extLst>
                  <a:ext uri="{FF2B5EF4-FFF2-40B4-BE49-F238E27FC236}">
                    <a16:creationId xmlns:a16="http://schemas.microsoft.com/office/drawing/2014/main" id="{E8243B5C-F1F4-3AB0-B2B4-C90E14BA643E}"/>
                  </a:ext>
                </a:extLst>
              </p:cNvPr>
              <p:cNvCxnSpPr>
                <a:stCxn id="22" idx="0"/>
                <a:endCxn id="21" idx="2"/>
              </p:cNvCxnSpPr>
              <p:nvPr/>
            </p:nvCxnSpPr>
            <p:spPr>
              <a:xfrm flipV="1">
                <a:off x="1473200" y="5270500"/>
                <a:ext cx="0" cy="342900"/>
              </a:xfrm>
              <a:prstGeom prst="straightConnector1">
                <a:avLst/>
              </a:prstGeom>
              <a:ln w="25400">
                <a:solidFill>
                  <a:schemeClr val="bg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grpSp>
        <p:cxnSp>
          <p:nvCxnSpPr>
            <p:cNvPr id="59" name="Elbow Connector 58">
              <a:extLst>
                <a:ext uri="{FF2B5EF4-FFF2-40B4-BE49-F238E27FC236}">
                  <a16:creationId xmlns:a16="http://schemas.microsoft.com/office/drawing/2014/main" id="{507CD896-B009-AF48-DC9E-58B4A7D0B7D2}"/>
                </a:ext>
              </a:extLst>
            </p:cNvPr>
            <p:cNvCxnSpPr>
              <a:cxnSpLocks/>
              <a:stCxn id="22" idx="3"/>
              <a:endCxn id="31" idx="1"/>
            </p:cNvCxnSpPr>
            <p:nvPr/>
          </p:nvCxnSpPr>
          <p:spPr>
            <a:xfrm flipV="1">
              <a:off x="4383621" y="3333044"/>
              <a:ext cx="1486607" cy="2357965"/>
            </a:xfrm>
            <a:prstGeom prst="bentConnector3">
              <a:avLst>
                <a:gd name="adj1" fmla="val 61391"/>
              </a:avLst>
            </a:prstGeom>
            <a:ln w="25400">
              <a:solidFill>
                <a:schemeClr val="accent4"/>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E89FE7E6-DEAB-77E2-BD66-0703659A82D0}"/>
                </a:ext>
              </a:extLst>
            </p:cNvPr>
            <p:cNvSpPr/>
            <p:nvPr/>
          </p:nvSpPr>
          <p:spPr bwMode="auto">
            <a:xfrm>
              <a:off x="4989692" y="1089375"/>
              <a:ext cx="6863645" cy="5554134"/>
            </a:xfrm>
            <a:prstGeom prst="rect">
              <a:avLst/>
            </a:prstGeom>
            <a:noFill/>
            <a:ln w="19050">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en-US" sz="1200" b="1" dirty="0">
                  <a:solidFill>
                    <a:schemeClr val="tx1"/>
                  </a:solidFill>
                  <a:ea typeface="Segoe UI" pitchFamily="34" charset="0"/>
                  <a:cs typeface="Segoe UI" pitchFamily="34" charset="0"/>
                </a:rPr>
                <a:t>Azure</a:t>
              </a:r>
            </a:p>
          </p:txBody>
        </p:sp>
        <p:sp>
          <p:nvSpPr>
            <p:cNvPr id="27" name="Rectangle 26">
              <a:extLst>
                <a:ext uri="{FF2B5EF4-FFF2-40B4-BE49-F238E27FC236}">
                  <a16:creationId xmlns:a16="http://schemas.microsoft.com/office/drawing/2014/main" id="{4F705FCB-89D5-CE94-229E-3A80F6AA989A}"/>
                </a:ext>
              </a:extLst>
            </p:cNvPr>
            <p:cNvSpPr/>
            <p:nvPr/>
          </p:nvSpPr>
          <p:spPr bwMode="auto">
            <a:xfrm>
              <a:off x="5488521" y="1576209"/>
              <a:ext cx="5845528" cy="308364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solidFill>
                  <a:ea typeface="Segoe UI" pitchFamily="34" charset="0"/>
                  <a:cs typeface="Segoe UI" pitchFamily="34" charset="0"/>
                </a:rPr>
                <a:t>Microsoft Foundry </a:t>
              </a:r>
              <a:br>
                <a:rPr lang="en-US" sz="1200" b="1" dirty="0">
                  <a:solidFill>
                    <a:schemeClr val="bg1"/>
                  </a:solidFill>
                  <a:ea typeface="Segoe UI" pitchFamily="34" charset="0"/>
                  <a:cs typeface="Segoe UI" pitchFamily="34" charset="0"/>
                </a:rPr>
              </a:br>
              <a:r>
                <a:rPr lang="en-US" sz="1000" dirty="0">
                  <a:solidFill>
                    <a:schemeClr val="bg1"/>
                  </a:solidFill>
                  <a:ea typeface="Segoe UI" pitchFamily="34" charset="0"/>
                  <a:cs typeface="Segoe UI" pitchFamily="34" charset="0"/>
                </a:rPr>
                <a:t>(v2 GA Q1 2026)</a:t>
              </a:r>
              <a:endParaRPr lang="en-US" sz="1200" dirty="0">
                <a:solidFill>
                  <a:schemeClr val="bg1"/>
                </a:solidFill>
                <a:ea typeface="Segoe UI" pitchFamily="34" charset="0"/>
                <a:cs typeface="Segoe UI" pitchFamily="34" charset="0"/>
              </a:endParaRPr>
            </a:p>
          </p:txBody>
        </p:sp>
        <p:sp>
          <p:nvSpPr>
            <p:cNvPr id="28" name="Rectangle 27">
              <a:extLst>
                <a:ext uri="{FF2B5EF4-FFF2-40B4-BE49-F238E27FC236}">
                  <a16:creationId xmlns:a16="http://schemas.microsoft.com/office/drawing/2014/main" id="{A84B1F52-CB8E-A794-3E15-404CAAC52067}"/>
                </a:ext>
              </a:extLst>
            </p:cNvPr>
            <p:cNvSpPr/>
            <p:nvPr/>
          </p:nvSpPr>
          <p:spPr bwMode="auto">
            <a:xfrm>
              <a:off x="5488521" y="5098098"/>
              <a:ext cx="5845528" cy="118582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solidFill>
                  <a:ea typeface="Segoe UI" pitchFamily="34" charset="0"/>
                  <a:cs typeface="Segoe UI" pitchFamily="34" charset="0"/>
                </a:rPr>
                <a:t>Knowledge &amp; Observability</a:t>
              </a:r>
              <a:endParaRPr lang="en-US" sz="1200" dirty="0">
                <a:solidFill>
                  <a:schemeClr val="bg1"/>
                </a:solidFill>
                <a:ea typeface="Segoe UI" pitchFamily="34" charset="0"/>
                <a:cs typeface="Segoe UI" pitchFamily="34" charset="0"/>
              </a:endParaRPr>
            </a:p>
          </p:txBody>
        </p:sp>
        <p:sp>
          <p:nvSpPr>
            <p:cNvPr id="30" name="Rectangle 29">
              <a:extLst>
                <a:ext uri="{FF2B5EF4-FFF2-40B4-BE49-F238E27FC236}">
                  <a16:creationId xmlns:a16="http://schemas.microsoft.com/office/drawing/2014/main" id="{67A3EF14-B909-58F5-37C1-A26E2549BE28}"/>
                </a:ext>
              </a:extLst>
            </p:cNvPr>
            <p:cNvSpPr/>
            <p:nvPr/>
          </p:nvSpPr>
          <p:spPr bwMode="auto">
            <a:xfrm>
              <a:off x="5870226" y="2301520"/>
              <a:ext cx="5102577" cy="306213"/>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Workflow Orchestrator(s)</a:t>
              </a:r>
            </a:p>
          </p:txBody>
        </p:sp>
        <p:sp>
          <p:nvSpPr>
            <p:cNvPr id="31" name="Rectangle 30">
              <a:extLst>
                <a:ext uri="{FF2B5EF4-FFF2-40B4-BE49-F238E27FC236}">
                  <a16:creationId xmlns:a16="http://schemas.microsoft.com/office/drawing/2014/main" id="{7FB2AF2B-50FE-8E71-20ED-0F80538746A7}"/>
                </a:ext>
              </a:extLst>
            </p:cNvPr>
            <p:cNvSpPr/>
            <p:nvPr/>
          </p:nvSpPr>
          <p:spPr bwMode="auto">
            <a:xfrm>
              <a:off x="5870228"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Alert Triage</a:t>
              </a:r>
            </a:p>
          </p:txBody>
        </p:sp>
        <p:sp>
          <p:nvSpPr>
            <p:cNvPr id="32" name="Rectangle 31">
              <a:extLst>
                <a:ext uri="{FF2B5EF4-FFF2-40B4-BE49-F238E27FC236}">
                  <a16:creationId xmlns:a16="http://schemas.microsoft.com/office/drawing/2014/main" id="{0E0F28B4-7CF2-3610-291F-7202F48F37F7}"/>
                </a:ext>
              </a:extLst>
            </p:cNvPr>
            <p:cNvSpPr/>
            <p:nvPr/>
          </p:nvSpPr>
          <p:spPr bwMode="auto">
            <a:xfrm>
              <a:off x="10058403" y="2843436"/>
              <a:ext cx="914400" cy="979216"/>
            </a:xfrm>
            <a:prstGeom prst="rect">
              <a:avLst/>
            </a:prstGeom>
            <a:solidFill>
              <a:srgbClr val="091F2C">
                <a:alpha val="29020"/>
              </a:srgb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Agent</a:t>
              </a:r>
              <a:br>
                <a:rPr lang="en-US" sz="1200" dirty="0">
                  <a:solidFill>
                    <a:schemeClr val="tx1"/>
                  </a:solidFill>
                  <a:ea typeface="Segoe UI" pitchFamily="34" charset="0"/>
                  <a:cs typeface="Segoe UI" pitchFamily="34" charset="0"/>
                </a:rPr>
              </a:br>
              <a:r>
                <a:rPr lang="en-US" sz="1200" i="1" dirty="0">
                  <a:solidFill>
                    <a:schemeClr val="tx1"/>
                  </a:solidFill>
                  <a:ea typeface="Segoe UI" pitchFamily="34" charset="0"/>
                  <a:cs typeface="Segoe UI" pitchFamily="34" charset="0"/>
                </a:rPr>
                <a:t>n</a:t>
              </a:r>
              <a:endParaRPr lang="en-US" sz="1200" dirty="0">
                <a:solidFill>
                  <a:schemeClr val="tx1"/>
                </a:solidFill>
                <a:ea typeface="Segoe UI" pitchFamily="34" charset="0"/>
                <a:cs typeface="Segoe UI" pitchFamily="34" charset="0"/>
              </a:endParaRPr>
            </a:p>
          </p:txBody>
        </p:sp>
        <p:sp>
          <p:nvSpPr>
            <p:cNvPr id="34" name="Rectangle 33">
              <a:extLst>
                <a:ext uri="{FF2B5EF4-FFF2-40B4-BE49-F238E27FC236}">
                  <a16:creationId xmlns:a16="http://schemas.microsoft.com/office/drawing/2014/main" id="{FC94C87F-E86D-9D05-ECB3-E6CF6CE516D4}"/>
                </a:ext>
              </a:extLst>
            </p:cNvPr>
            <p:cNvSpPr/>
            <p:nvPr/>
          </p:nvSpPr>
          <p:spPr bwMode="auto">
            <a:xfrm>
              <a:off x="6917272"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Threat Hunting</a:t>
              </a:r>
            </a:p>
          </p:txBody>
        </p:sp>
        <p:sp>
          <p:nvSpPr>
            <p:cNvPr id="35" name="Rectangle 34">
              <a:extLst>
                <a:ext uri="{FF2B5EF4-FFF2-40B4-BE49-F238E27FC236}">
                  <a16:creationId xmlns:a16="http://schemas.microsoft.com/office/drawing/2014/main" id="{2815250C-BDA6-0987-AA71-1E270943F07B}"/>
                </a:ext>
              </a:extLst>
            </p:cNvPr>
            <p:cNvSpPr/>
            <p:nvPr/>
          </p:nvSpPr>
          <p:spPr bwMode="auto">
            <a:xfrm>
              <a:off x="7964316"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Threat Intel</a:t>
              </a:r>
            </a:p>
          </p:txBody>
        </p:sp>
        <p:sp>
          <p:nvSpPr>
            <p:cNvPr id="37" name="Rectangle 36">
              <a:extLst>
                <a:ext uri="{FF2B5EF4-FFF2-40B4-BE49-F238E27FC236}">
                  <a16:creationId xmlns:a16="http://schemas.microsoft.com/office/drawing/2014/main" id="{ACDE54E5-6366-82C5-B2B3-2A462A3C83E3}"/>
                </a:ext>
              </a:extLst>
            </p:cNvPr>
            <p:cNvSpPr/>
            <p:nvPr/>
          </p:nvSpPr>
          <p:spPr bwMode="auto">
            <a:xfrm>
              <a:off x="9011360"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Incident Resp.</a:t>
              </a:r>
            </a:p>
          </p:txBody>
        </p:sp>
        <p:sp>
          <p:nvSpPr>
            <p:cNvPr id="38" name="Rectangle 37">
              <a:extLst>
                <a:ext uri="{FF2B5EF4-FFF2-40B4-BE49-F238E27FC236}">
                  <a16:creationId xmlns:a16="http://schemas.microsoft.com/office/drawing/2014/main" id="{E0BDF74A-B975-E526-AA89-DAC3D4E26F6E}"/>
                </a:ext>
              </a:extLst>
            </p:cNvPr>
            <p:cNvSpPr/>
            <p:nvPr/>
          </p:nvSpPr>
          <p:spPr bwMode="auto">
            <a:xfrm>
              <a:off x="5870225" y="4165596"/>
              <a:ext cx="5102577" cy="306213"/>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Foundry IQ – Agent Memory and Knowledge Bases</a:t>
              </a:r>
            </a:p>
          </p:txBody>
        </p:sp>
        <p:sp>
          <p:nvSpPr>
            <p:cNvPr id="39" name="Rectangle 38">
              <a:extLst>
                <a:ext uri="{FF2B5EF4-FFF2-40B4-BE49-F238E27FC236}">
                  <a16:creationId xmlns:a16="http://schemas.microsoft.com/office/drawing/2014/main" id="{FE863EC3-270E-7A86-DEAA-23D9C504CAE8}"/>
                </a:ext>
              </a:extLst>
            </p:cNvPr>
            <p:cNvSpPr/>
            <p:nvPr/>
          </p:nvSpPr>
          <p:spPr bwMode="auto">
            <a:xfrm>
              <a:off x="5859996" y="5281791"/>
              <a:ext cx="1554480" cy="48683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Azure AI Search</a:t>
              </a:r>
            </a:p>
          </p:txBody>
        </p:sp>
        <p:sp>
          <p:nvSpPr>
            <p:cNvPr id="40" name="Rectangle 39">
              <a:extLst>
                <a:ext uri="{FF2B5EF4-FFF2-40B4-BE49-F238E27FC236}">
                  <a16:creationId xmlns:a16="http://schemas.microsoft.com/office/drawing/2014/main" id="{2B8AD3BA-F1BC-D78E-767B-5E07D730C866}"/>
                </a:ext>
              </a:extLst>
            </p:cNvPr>
            <p:cNvSpPr/>
            <p:nvPr/>
          </p:nvSpPr>
          <p:spPr bwMode="auto">
            <a:xfrm>
              <a:off x="7639159" y="5281791"/>
              <a:ext cx="1554480" cy="486834"/>
            </a:xfrm>
            <a:prstGeom prst="rect">
              <a:avLst/>
            </a:prstGeom>
            <a:solidFill>
              <a:schemeClr val="dk1">
                <a:alpha val="29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Azure Blob Storage</a:t>
              </a:r>
            </a:p>
          </p:txBody>
        </p:sp>
        <p:sp>
          <p:nvSpPr>
            <p:cNvPr id="41" name="Rectangle 40">
              <a:extLst>
                <a:ext uri="{FF2B5EF4-FFF2-40B4-BE49-F238E27FC236}">
                  <a16:creationId xmlns:a16="http://schemas.microsoft.com/office/drawing/2014/main" id="{B75705B6-5A14-4C86-C5F5-AFAB9345AA0B}"/>
                </a:ext>
              </a:extLst>
            </p:cNvPr>
            <p:cNvSpPr/>
            <p:nvPr/>
          </p:nvSpPr>
          <p:spPr bwMode="auto">
            <a:xfrm>
              <a:off x="9418322" y="5281791"/>
              <a:ext cx="1554480" cy="48683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App Insights / Azure Monitor</a:t>
              </a:r>
            </a:p>
          </p:txBody>
        </p:sp>
        <p:cxnSp>
          <p:nvCxnSpPr>
            <p:cNvPr id="43" name="Elbow Connector 42">
              <a:extLst>
                <a:ext uri="{FF2B5EF4-FFF2-40B4-BE49-F238E27FC236}">
                  <a16:creationId xmlns:a16="http://schemas.microsoft.com/office/drawing/2014/main" id="{B20DEAE2-5897-9AC5-48D0-42D260357AB0}"/>
                </a:ext>
              </a:extLst>
            </p:cNvPr>
            <p:cNvCxnSpPr>
              <a:stCxn id="17" idx="3"/>
            </p:cNvCxnSpPr>
            <p:nvPr/>
          </p:nvCxnSpPr>
          <p:spPr>
            <a:xfrm>
              <a:off x="4643971" y="1868309"/>
              <a:ext cx="1216025" cy="584200"/>
            </a:xfrm>
            <a:prstGeom prst="bentConnector3">
              <a:avLst/>
            </a:prstGeom>
            <a:ln w="25400">
              <a:solidFill>
                <a:schemeClr val="tx1"/>
              </a:solidFill>
              <a:headEnd type="triangle" w="lg" len="med"/>
              <a:tailEnd type="triangle"/>
            </a:ln>
          </p:spPr>
          <p:style>
            <a:lnRef idx="1">
              <a:schemeClr val="accent1"/>
            </a:lnRef>
            <a:fillRef idx="0">
              <a:schemeClr val="accent1"/>
            </a:fillRef>
            <a:effectRef idx="0">
              <a:schemeClr val="accent1"/>
            </a:effectRef>
            <a:fontRef idx="minor">
              <a:schemeClr val="tx1"/>
            </a:fontRef>
          </p:style>
        </p:cxnSp>
        <p:cxnSp>
          <p:nvCxnSpPr>
            <p:cNvPr id="44" name="Elbow Connector 43">
              <a:extLst>
                <a:ext uri="{FF2B5EF4-FFF2-40B4-BE49-F238E27FC236}">
                  <a16:creationId xmlns:a16="http://schemas.microsoft.com/office/drawing/2014/main" id="{CE5E5D04-4E99-4A93-7088-2CB9F4D6845F}"/>
                </a:ext>
              </a:extLst>
            </p:cNvPr>
            <p:cNvCxnSpPr>
              <a:cxnSpLocks/>
              <a:endCxn id="31" idx="1"/>
            </p:cNvCxnSpPr>
            <p:nvPr/>
          </p:nvCxnSpPr>
          <p:spPr>
            <a:xfrm>
              <a:off x="4383621" y="3264080"/>
              <a:ext cx="1486607" cy="68964"/>
            </a:xfrm>
            <a:prstGeom prst="bentConnector3">
              <a:avLst/>
            </a:prstGeom>
            <a:ln w="254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52">
              <a:extLst>
                <a:ext uri="{FF2B5EF4-FFF2-40B4-BE49-F238E27FC236}">
                  <a16:creationId xmlns:a16="http://schemas.microsoft.com/office/drawing/2014/main" id="{69558145-EA5D-DD3B-7836-7A004F1A40DE}"/>
                </a:ext>
              </a:extLst>
            </p:cNvPr>
            <p:cNvCxnSpPr>
              <a:cxnSpLocks/>
              <a:stCxn id="20" idx="3"/>
            </p:cNvCxnSpPr>
            <p:nvPr/>
          </p:nvCxnSpPr>
          <p:spPr>
            <a:xfrm flipV="1">
              <a:off x="4383621" y="3333044"/>
              <a:ext cx="1476375" cy="681565"/>
            </a:xfrm>
            <a:prstGeom prst="bentConnector3">
              <a:avLst/>
            </a:prstGeom>
            <a:ln w="254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6" name="Elbow Connector 55">
              <a:extLst>
                <a:ext uri="{FF2B5EF4-FFF2-40B4-BE49-F238E27FC236}">
                  <a16:creationId xmlns:a16="http://schemas.microsoft.com/office/drawing/2014/main" id="{78FC8FBA-E33E-7050-1B8A-28771C1AA333}"/>
                </a:ext>
              </a:extLst>
            </p:cNvPr>
            <p:cNvCxnSpPr>
              <a:cxnSpLocks/>
              <a:stCxn id="21" idx="3"/>
            </p:cNvCxnSpPr>
            <p:nvPr/>
          </p:nvCxnSpPr>
          <p:spPr>
            <a:xfrm flipV="1">
              <a:off x="4383621" y="3329470"/>
              <a:ext cx="1476375" cy="1434439"/>
            </a:xfrm>
            <a:prstGeom prst="bentConnector3">
              <a:avLst/>
            </a:prstGeom>
            <a:ln w="254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0E20CDFB-61FE-9D27-647E-8CDC09936430}"/>
                </a:ext>
              </a:extLst>
            </p:cNvPr>
            <p:cNvCxnSpPr>
              <a:cxnSpLocks/>
            </p:cNvCxnSpPr>
            <p:nvPr/>
          </p:nvCxnSpPr>
          <p:spPr>
            <a:xfrm flipV="1">
              <a:off x="6318961"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7D0B24A2-6BDD-258E-ABA3-DB3C7A3E3BAC}"/>
                </a:ext>
              </a:extLst>
            </p:cNvPr>
            <p:cNvCxnSpPr>
              <a:cxnSpLocks/>
            </p:cNvCxnSpPr>
            <p:nvPr/>
          </p:nvCxnSpPr>
          <p:spPr>
            <a:xfrm flipV="1">
              <a:off x="10490205"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F03FF9E6-B3CE-8978-9765-1D7E8DE3CBBC}"/>
                </a:ext>
              </a:extLst>
            </p:cNvPr>
            <p:cNvCxnSpPr>
              <a:cxnSpLocks/>
            </p:cNvCxnSpPr>
            <p:nvPr/>
          </p:nvCxnSpPr>
          <p:spPr>
            <a:xfrm flipV="1">
              <a:off x="7361772"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9F73FFEE-F1ED-5477-A0BB-1657F2AD09B6}"/>
                </a:ext>
              </a:extLst>
            </p:cNvPr>
            <p:cNvCxnSpPr>
              <a:cxnSpLocks/>
            </p:cNvCxnSpPr>
            <p:nvPr/>
          </p:nvCxnSpPr>
          <p:spPr>
            <a:xfrm flipV="1">
              <a:off x="8404583"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4EA04CC7-D8DC-1538-D285-C58AB2F45834}"/>
                </a:ext>
              </a:extLst>
            </p:cNvPr>
            <p:cNvCxnSpPr>
              <a:cxnSpLocks/>
            </p:cNvCxnSpPr>
            <p:nvPr/>
          </p:nvCxnSpPr>
          <p:spPr>
            <a:xfrm flipV="1">
              <a:off x="9447394"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827DDCA8-6D41-C5A8-40BC-9C5295A24F6C}"/>
                </a:ext>
              </a:extLst>
            </p:cNvPr>
            <p:cNvCxnSpPr>
              <a:cxnSpLocks/>
            </p:cNvCxnSpPr>
            <p:nvPr/>
          </p:nvCxnSpPr>
          <p:spPr>
            <a:xfrm flipV="1">
              <a:off x="6318961"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85525ECB-4A05-8AE6-DD1F-6A9CC6A81E26}"/>
                </a:ext>
              </a:extLst>
            </p:cNvPr>
            <p:cNvCxnSpPr>
              <a:cxnSpLocks/>
            </p:cNvCxnSpPr>
            <p:nvPr/>
          </p:nvCxnSpPr>
          <p:spPr>
            <a:xfrm flipV="1">
              <a:off x="10490205"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96882AF6-E99B-56BD-FF1D-D9B6549C0979}"/>
                </a:ext>
              </a:extLst>
            </p:cNvPr>
            <p:cNvCxnSpPr>
              <a:cxnSpLocks/>
            </p:cNvCxnSpPr>
            <p:nvPr/>
          </p:nvCxnSpPr>
          <p:spPr>
            <a:xfrm flipV="1">
              <a:off x="7361772"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A4C897E8-0185-F215-B4BC-02BC6CC53393}"/>
                </a:ext>
              </a:extLst>
            </p:cNvPr>
            <p:cNvCxnSpPr>
              <a:cxnSpLocks/>
            </p:cNvCxnSpPr>
            <p:nvPr/>
          </p:nvCxnSpPr>
          <p:spPr>
            <a:xfrm flipV="1">
              <a:off x="8404583"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D14BFAC1-DB5D-09B5-0FAF-38D5A71353DB}"/>
                </a:ext>
              </a:extLst>
            </p:cNvPr>
            <p:cNvCxnSpPr>
              <a:cxnSpLocks/>
            </p:cNvCxnSpPr>
            <p:nvPr/>
          </p:nvCxnSpPr>
          <p:spPr>
            <a:xfrm flipV="1">
              <a:off x="9447394"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8A5E36BE-033E-3D4F-71C1-CF74F0376D93}"/>
                </a:ext>
              </a:extLst>
            </p:cNvPr>
            <p:cNvCxnSpPr>
              <a:cxnSpLocks/>
            </p:cNvCxnSpPr>
            <p:nvPr/>
          </p:nvCxnSpPr>
          <p:spPr>
            <a:xfrm flipH="1" flipV="1">
              <a:off x="6585660" y="4490563"/>
              <a:ext cx="15521" cy="809982"/>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65E202E4-4E5B-3134-6069-10AE9BA22E62}"/>
                </a:ext>
              </a:extLst>
            </p:cNvPr>
            <p:cNvCxnSpPr>
              <a:cxnSpLocks/>
            </p:cNvCxnSpPr>
            <p:nvPr/>
          </p:nvCxnSpPr>
          <p:spPr>
            <a:xfrm flipV="1">
              <a:off x="8404583" y="4476971"/>
              <a:ext cx="0" cy="8048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07B4BE25-4906-D52E-6AF5-873ECD6D724F}"/>
                </a:ext>
              </a:extLst>
            </p:cNvPr>
            <p:cNvCxnSpPr>
              <a:cxnSpLocks/>
            </p:cNvCxnSpPr>
            <p:nvPr/>
          </p:nvCxnSpPr>
          <p:spPr>
            <a:xfrm flipV="1">
              <a:off x="10195562" y="4659851"/>
              <a:ext cx="0" cy="616778"/>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grpSp>
      <p:pic>
        <p:nvPicPr>
          <p:cNvPr id="84" name="Graphic 83" descr="User with solid fill">
            <a:extLst>
              <a:ext uri="{FF2B5EF4-FFF2-40B4-BE49-F238E27FC236}">
                <a16:creationId xmlns:a16="http://schemas.microsoft.com/office/drawing/2014/main" id="{B2985393-EF65-6795-7AAA-1AF79FE84DA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983" y="1639709"/>
            <a:ext cx="457200" cy="457200"/>
          </a:xfrm>
          <a:prstGeom prst="rect">
            <a:avLst/>
          </a:prstGeom>
        </p:spPr>
      </p:pic>
      <p:sp>
        <p:nvSpPr>
          <p:cNvPr id="2" name="Rectangle 1">
            <a:extLst>
              <a:ext uri="{FF2B5EF4-FFF2-40B4-BE49-F238E27FC236}">
                <a16:creationId xmlns:a16="http://schemas.microsoft.com/office/drawing/2014/main" id="{4C0EF13D-F974-5FAC-11F4-C56B09838CC0}"/>
              </a:ext>
            </a:extLst>
          </p:cNvPr>
          <p:cNvSpPr/>
          <p:nvPr/>
        </p:nvSpPr>
        <p:spPr bwMode="auto">
          <a:xfrm>
            <a:off x="464263" y="1089375"/>
            <a:ext cx="3217609" cy="5554133"/>
          </a:xfrm>
          <a:prstGeom prst="rect">
            <a:avLst/>
          </a:prstGeom>
          <a:solidFill>
            <a:schemeClr val="bg1">
              <a:alpha val="64724"/>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
        <p:nvSpPr>
          <p:cNvPr id="4" name="Rectangle 3">
            <a:extLst>
              <a:ext uri="{FF2B5EF4-FFF2-40B4-BE49-F238E27FC236}">
                <a16:creationId xmlns:a16="http://schemas.microsoft.com/office/drawing/2014/main" id="{3078B2B0-D576-35EA-5027-AC99E9BF5727}"/>
              </a:ext>
            </a:extLst>
          </p:cNvPr>
          <p:cNvSpPr/>
          <p:nvPr/>
        </p:nvSpPr>
        <p:spPr bwMode="auto">
          <a:xfrm>
            <a:off x="3684830" y="949644"/>
            <a:ext cx="7339771" cy="3945086"/>
          </a:xfrm>
          <a:prstGeom prst="rect">
            <a:avLst/>
          </a:prstGeom>
          <a:solidFill>
            <a:schemeClr val="bg1">
              <a:alpha val="64724"/>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Tree>
    <p:extLst>
      <p:ext uri="{BB962C8B-B14F-4D97-AF65-F5344CB8AC3E}">
        <p14:creationId xmlns:p14="http://schemas.microsoft.com/office/powerpoint/2010/main" val="75525242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9D7B3F-A1F5-F44A-0955-F10D9C57B4F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0F87A9B-63EC-204B-6449-B22FABF839C4}"/>
              </a:ext>
            </a:extLst>
          </p:cNvPr>
          <p:cNvSpPr>
            <a:spLocks noGrp="1"/>
          </p:cNvSpPr>
          <p:nvPr>
            <p:ph type="title"/>
          </p:nvPr>
        </p:nvSpPr>
        <p:spPr/>
        <p:txBody>
          <a:bodyPr>
            <a:spAutoFit/>
          </a:bodyPr>
          <a:lstStyle/>
          <a:p>
            <a:r>
              <a:rPr lang="en-US" dirty="0"/>
              <a:t>Solution Architecture</a:t>
            </a:r>
          </a:p>
        </p:txBody>
      </p:sp>
      <p:grpSp>
        <p:nvGrpSpPr>
          <p:cNvPr id="81" name="Group 80">
            <a:extLst>
              <a:ext uri="{FF2B5EF4-FFF2-40B4-BE49-F238E27FC236}">
                <a16:creationId xmlns:a16="http://schemas.microsoft.com/office/drawing/2014/main" id="{C113FFC1-CDA8-95FF-D459-46081875F704}"/>
              </a:ext>
            </a:extLst>
          </p:cNvPr>
          <p:cNvGrpSpPr/>
          <p:nvPr/>
        </p:nvGrpSpPr>
        <p:grpSpPr>
          <a:xfrm>
            <a:off x="1384304" y="1089375"/>
            <a:ext cx="9419166" cy="5554134"/>
            <a:chOff x="2434171" y="1089375"/>
            <a:chExt cx="9419166" cy="5554134"/>
          </a:xfrm>
        </p:grpSpPr>
        <p:grpSp>
          <p:nvGrpSpPr>
            <p:cNvPr id="26" name="Group 25">
              <a:extLst>
                <a:ext uri="{FF2B5EF4-FFF2-40B4-BE49-F238E27FC236}">
                  <a16:creationId xmlns:a16="http://schemas.microsoft.com/office/drawing/2014/main" id="{50E97DA1-46FB-EF03-6AAB-10E6543F8B18}"/>
                </a:ext>
              </a:extLst>
            </p:cNvPr>
            <p:cNvGrpSpPr/>
            <p:nvPr/>
          </p:nvGrpSpPr>
          <p:grpSpPr>
            <a:xfrm>
              <a:off x="2434171" y="1576209"/>
              <a:ext cx="2209800" cy="4660900"/>
              <a:chOff x="368300" y="1790700"/>
              <a:chExt cx="2209800" cy="4660900"/>
            </a:xfrm>
          </p:grpSpPr>
          <p:sp>
            <p:nvSpPr>
              <p:cNvPr id="23" name="Rectangle 22">
                <a:extLst>
                  <a:ext uri="{FF2B5EF4-FFF2-40B4-BE49-F238E27FC236}">
                    <a16:creationId xmlns:a16="http://schemas.microsoft.com/office/drawing/2014/main" id="{16CD7F18-585E-EF64-262B-98F0FB8637E5}"/>
                  </a:ext>
                </a:extLst>
              </p:cNvPr>
              <p:cNvSpPr/>
              <p:nvPr/>
            </p:nvSpPr>
            <p:spPr bwMode="auto">
              <a:xfrm>
                <a:off x="368300" y="2667000"/>
                <a:ext cx="2209800" cy="37846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solidFill>
                    <a:ea typeface="Segoe UI" pitchFamily="34" charset="0"/>
                    <a:cs typeface="Segoe UI" pitchFamily="34" charset="0"/>
                  </a:rPr>
                  <a:t>Security Sources</a:t>
                </a:r>
              </a:p>
            </p:txBody>
          </p:sp>
          <p:sp>
            <p:nvSpPr>
              <p:cNvPr id="17" name="Rectangle 16">
                <a:extLst>
                  <a:ext uri="{FF2B5EF4-FFF2-40B4-BE49-F238E27FC236}">
                    <a16:creationId xmlns:a16="http://schemas.microsoft.com/office/drawing/2014/main" id="{B6C247D1-B1A7-7875-1D86-5354BA878CC7}"/>
                  </a:ext>
                </a:extLst>
              </p:cNvPr>
              <p:cNvSpPr/>
              <p:nvPr/>
            </p:nvSpPr>
            <p:spPr bwMode="auto">
              <a:xfrm>
                <a:off x="368300" y="1790700"/>
                <a:ext cx="2209800" cy="584200"/>
              </a:xfrm>
              <a:prstGeom prst="rect">
                <a:avLst/>
              </a:prstGeom>
              <a:solidFill>
                <a:schemeClr val="accent2"/>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CLI</a:t>
                </a:r>
                <a:br>
                  <a:rPr lang="en-US" sz="1200" dirty="0">
                    <a:solidFill>
                      <a:schemeClr val="tx1"/>
                    </a:solidFill>
                    <a:ea typeface="Segoe UI" pitchFamily="34" charset="0"/>
                    <a:cs typeface="Segoe UI" pitchFamily="34" charset="0"/>
                  </a:rPr>
                </a:br>
                <a:r>
                  <a:rPr lang="en-US" sz="1200" dirty="0">
                    <a:solidFill>
                      <a:schemeClr val="tx1"/>
                    </a:solidFill>
                    <a:ea typeface="Segoe UI" pitchFamily="34" charset="0"/>
                    <a:cs typeface="Segoe UI" pitchFamily="34" charset="0"/>
                  </a:rPr>
                  <a:t>Jupyter Notebooks (future)</a:t>
                </a:r>
              </a:p>
            </p:txBody>
          </p:sp>
          <p:sp>
            <p:nvSpPr>
              <p:cNvPr id="19" name="Rectangle 18">
                <a:extLst>
                  <a:ext uri="{FF2B5EF4-FFF2-40B4-BE49-F238E27FC236}">
                    <a16:creationId xmlns:a16="http://schemas.microsoft.com/office/drawing/2014/main" id="{AA842F6C-54AB-4C60-3CFD-AFFE2F28DB27}"/>
                  </a:ext>
                </a:extLst>
              </p:cNvPr>
              <p:cNvSpPr/>
              <p:nvPr/>
            </p:nvSpPr>
            <p:spPr bwMode="auto">
              <a:xfrm>
                <a:off x="628650" y="31877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Microsoft Entra ID</a:t>
                </a:r>
              </a:p>
            </p:txBody>
          </p:sp>
          <p:sp>
            <p:nvSpPr>
              <p:cNvPr id="20" name="Rectangle 19">
                <a:extLst>
                  <a:ext uri="{FF2B5EF4-FFF2-40B4-BE49-F238E27FC236}">
                    <a16:creationId xmlns:a16="http://schemas.microsoft.com/office/drawing/2014/main" id="{5619A644-209A-7D61-F843-6C42480EC20E}"/>
                  </a:ext>
                </a:extLst>
              </p:cNvPr>
              <p:cNvSpPr/>
              <p:nvPr/>
            </p:nvSpPr>
            <p:spPr bwMode="auto">
              <a:xfrm>
                <a:off x="628650" y="39370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Microsoft Sentinel</a:t>
                </a:r>
              </a:p>
            </p:txBody>
          </p:sp>
          <p:sp>
            <p:nvSpPr>
              <p:cNvPr id="21" name="Rectangle 20">
                <a:extLst>
                  <a:ext uri="{FF2B5EF4-FFF2-40B4-BE49-F238E27FC236}">
                    <a16:creationId xmlns:a16="http://schemas.microsoft.com/office/drawing/2014/main" id="{27BCB113-5A6D-08B1-6EEB-13DAD708F13D}"/>
                  </a:ext>
                </a:extLst>
              </p:cNvPr>
              <p:cNvSpPr/>
              <p:nvPr/>
            </p:nvSpPr>
            <p:spPr bwMode="auto">
              <a:xfrm>
                <a:off x="628650" y="46863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Microsoft Defender &amp; Defender XDR</a:t>
                </a:r>
              </a:p>
            </p:txBody>
          </p:sp>
          <p:sp>
            <p:nvSpPr>
              <p:cNvPr id="22" name="Rectangle 21">
                <a:extLst>
                  <a:ext uri="{FF2B5EF4-FFF2-40B4-BE49-F238E27FC236}">
                    <a16:creationId xmlns:a16="http://schemas.microsoft.com/office/drawing/2014/main" id="{B0657EE4-909E-845D-8367-B80B8965143C}"/>
                  </a:ext>
                </a:extLst>
              </p:cNvPr>
              <p:cNvSpPr/>
              <p:nvPr/>
            </p:nvSpPr>
            <p:spPr bwMode="auto">
              <a:xfrm>
                <a:off x="628650" y="5613400"/>
                <a:ext cx="1689100" cy="584200"/>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3P Security Solutions</a:t>
                </a:r>
              </a:p>
            </p:txBody>
          </p:sp>
          <p:cxnSp>
            <p:nvCxnSpPr>
              <p:cNvPr id="25" name="Straight Arrow Connector 24">
                <a:extLst>
                  <a:ext uri="{FF2B5EF4-FFF2-40B4-BE49-F238E27FC236}">
                    <a16:creationId xmlns:a16="http://schemas.microsoft.com/office/drawing/2014/main" id="{C5D3D4E5-6565-8F33-A850-6FBFBB641B23}"/>
                  </a:ext>
                </a:extLst>
              </p:cNvPr>
              <p:cNvCxnSpPr>
                <a:stCxn id="22" idx="0"/>
                <a:endCxn id="21" idx="2"/>
              </p:cNvCxnSpPr>
              <p:nvPr/>
            </p:nvCxnSpPr>
            <p:spPr>
              <a:xfrm flipV="1">
                <a:off x="1473200" y="5270500"/>
                <a:ext cx="0" cy="342900"/>
              </a:xfrm>
              <a:prstGeom prst="straightConnector1">
                <a:avLst/>
              </a:prstGeom>
              <a:ln w="25400">
                <a:solidFill>
                  <a:schemeClr val="bg1"/>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grpSp>
        <p:cxnSp>
          <p:nvCxnSpPr>
            <p:cNvPr id="59" name="Elbow Connector 58">
              <a:extLst>
                <a:ext uri="{FF2B5EF4-FFF2-40B4-BE49-F238E27FC236}">
                  <a16:creationId xmlns:a16="http://schemas.microsoft.com/office/drawing/2014/main" id="{5D554A39-324F-9C94-B55A-AE40D7DD2FC5}"/>
                </a:ext>
              </a:extLst>
            </p:cNvPr>
            <p:cNvCxnSpPr>
              <a:cxnSpLocks/>
              <a:stCxn id="22" idx="3"/>
              <a:endCxn id="31" idx="1"/>
            </p:cNvCxnSpPr>
            <p:nvPr/>
          </p:nvCxnSpPr>
          <p:spPr>
            <a:xfrm flipV="1">
              <a:off x="4383621" y="3333044"/>
              <a:ext cx="1486607" cy="2357965"/>
            </a:xfrm>
            <a:prstGeom prst="bentConnector3">
              <a:avLst>
                <a:gd name="adj1" fmla="val 61391"/>
              </a:avLst>
            </a:prstGeom>
            <a:ln w="25400">
              <a:solidFill>
                <a:schemeClr val="accent4"/>
              </a:solidFill>
              <a:prstDash val="dash"/>
              <a:headEnd type="none" w="lg" len="med"/>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F8AA58C5-0F6B-E275-814D-2896F41002C2}"/>
                </a:ext>
              </a:extLst>
            </p:cNvPr>
            <p:cNvSpPr/>
            <p:nvPr/>
          </p:nvSpPr>
          <p:spPr bwMode="auto">
            <a:xfrm>
              <a:off x="4989692" y="1089375"/>
              <a:ext cx="6863645" cy="5554134"/>
            </a:xfrm>
            <a:prstGeom prst="rect">
              <a:avLst/>
            </a:prstGeom>
            <a:noFill/>
            <a:ln w="19050">
              <a:solidFill>
                <a:schemeClr val="accent1"/>
              </a:solid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spcBef>
                  <a:spcPct val="0"/>
                </a:spcBef>
                <a:spcAft>
                  <a:spcPct val="0"/>
                </a:spcAft>
              </a:pPr>
              <a:r>
                <a:rPr lang="en-US" sz="1200" b="1" dirty="0">
                  <a:solidFill>
                    <a:schemeClr val="tx1"/>
                  </a:solidFill>
                  <a:ea typeface="Segoe UI" pitchFamily="34" charset="0"/>
                  <a:cs typeface="Segoe UI" pitchFamily="34" charset="0"/>
                </a:rPr>
                <a:t>Azure</a:t>
              </a:r>
            </a:p>
          </p:txBody>
        </p:sp>
        <p:sp>
          <p:nvSpPr>
            <p:cNvPr id="27" name="Rectangle 26">
              <a:extLst>
                <a:ext uri="{FF2B5EF4-FFF2-40B4-BE49-F238E27FC236}">
                  <a16:creationId xmlns:a16="http://schemas.microsoft.com/office/drawing/2014/main" id="{1E138B90-43B8-B60B-B05B-6F02E1CC6392}"/>
                </a:ext>
              </a:extLst>
            </p:cNvPr>
            <p:cNvSpPr/>
            <p:nvPr/>
          </p:nvSpPr>
          <p:spPr bwMode="auto">
            <a:xfrm>
              <a:off x="5488521" y="1576209"/>
              <a:ext cx="5845528" cy="308364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solidFill>
                  <a:ea typeface="Segoe UI" pitchFamily="34" charset="0"/>
                  <a:cs typeface="Segoe UI" pitchFamily="34" charset="0"/>
                </a:rPr>
                <a:t>Microsoft Foundry </a:t>
              </a:r>
              <a:br>
                <a:rPr lang="en-US" sz="1200" b="1" dirty="0">
                  <a:solidFill>
                    <a:schemeClr val="bg1"/>
                  </a:solidFill>
                  <a:ea typeface="Segoe UI" pitchFamily="34" charset="0"/>
                  <a:cs typeface="Segoe UI" pitchFamily="34" charset="0"/>
                </a:rPr>
              </a:br>
              <a:r>
                <a:rPr lang="en-US" sz="1000" dirty="0">
                  <a:solidFill>
                    <a:schemeClr val="bg1"/>
                  </a:solidFill>
                  <a:ea typeface="Segoe UI" pitchFamily="34" charset="0"/>
                  <a:cs typeface="Segoe UI" pitchFamily="34" charset="0"/>
                </a:rPr>
                <a:t>(v2 GA Q1 2026)</a:t>
              </a:r>
              <a:endParaRPr lang="en-US" sz="1200" dirty="0">
                <a:solidFill>
                  <a:schemeClr val="bg1"/>
                </a:solidFill>
                <a:ea typeface="Segoe UI" pitchFamily="34" charset="0"/>
                <a:cs typeface="Segoe UI" pitchFamily="34" charset="0"/>
              </a:endParaRPr>
            </a:p>
          </p:txBody>
        </p:sp>
        <p:sp>
          <p:nvSpPr>
            <p:cNvPr id="28" name="Rectangle 27">
              <a:extLst>
                <a:ext uri="{FF2B5EF4-FFF2-40B4-BE49-F238E27FC236}">
                  <a16:creationId xmlns:a16="http://schemas.microsoft.com/office/drawing/2014/main" id="{FBF1F77C-6E44-3A1D-64C8-3B8A87549368}"/>
                </a:ext>
              </a:extLst>
            </p:cNvPr>
            <p:cNvSpPr/>
            <p:nvPr/>
          </p:nvSpPr>
          <p:spPr bwMode="auto">
            <a:xfrm>
              <a:off x="5488521" y="5098098"/>
              <a:ext cx="5845528" cy="118582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algn="ctr" defTabSz="932472" fontAlgn="base">
                <a:spcBef>
                  <a:spcPct val="0"/>
                </a:spcBef>
                <a:spcAft>
                  <a:spcPct val="0"/>
                </a:spcAft>
              </a:pPr>
              <a:r>
                <a:rPr lang="en-US" sz="1200" b="1" dirty="0">
                  <a:solidFill>
                    <a:schemeClr val="bg1"/>
                  </a:solidFill>
                  <a:ea typeface="Segoe UI" pitchFamily="34" charset="0"/>
                  <a:cs typeface="Segoe UI" pitchFamily="34" charset="0"/>
                </a:rPr>
                <a:t>Knowledge &amp; Observability</a:t>
              </a:r>
              <a:endParaRPr lang="en-US" sz="1200" dirty="0">
                <a:solidFill>
                  <a:schemeClr val="bg1"/>
                </a:solidFill>
                <a:ea typeface="Segoe UI" pitchFamily="34" charset="0"/>
                <a:cs typeface="Segoe UI" pitchFamily="34" charset="0"/>
              </a:endParaRPr>
            </a:p>
          </p:txBody>
        </p:sp>
        <p:sp>
          <p:nvSpPr>
            <p:cNvPr id="30" name="Rectangle 29">
              <a:extLst>
                <a:ext uri="{FF2B5EF4-FFF2-40B4-BE49-F238E27FC236}">
                  <a16:creationId xmlns:a16="http://schemas.microsoft.com/office/drawing/2014/main" id="{89682D3D-E795-EB64-FAE8-FC71776BCE45}"/>
                </a:ext>
              </a:extLst>
            </p:cNvPr>
            <p:cNvSpPr/>
            <p:nvPr/>
          </p:nvSpPr>
          <p:spPr bwMode="auto">
            <a:xfrm>
              <a:off x="5870226" y="2301520"/>
              <a:ext cx="5102577" cy="306213"/>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Workflow Orchestrator(s)</a:t>
              </a:r>
            </a:p>
          </p:txBody>
        </p:sp>
        <p:sp>
          <p:nvSpPr>
            <p:cNvPr id="31" name="Rectangle 30">
              <a:extLst>
                <a:ext uri="{FF2B5EF4-FFF2-40B4-BE49-F238E27FC236}">
                  <a16:creationId xmlns:a16="http://schemas.microsoft.com/office/drawing/2014/main" id="{965270D6-39D8-6783-FD40-B98807E4CE83}"/>
                </a:ext>
              </a:extLst>
            </p:cNvPr>
            <p:cNvSpPr/>
            <p:nvPr/>
          </p:nvSpPr>
          <p:spPr bwMode="auto">
            <a:xfrm>
              <a:off x="5870228"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Alert Triage</a:t>
              </a:r>
            </a:p>
          </p:txBody>
        </p:sp>
        <p:sp>
          <p:nvSpPr>
            <p:cNvPr id="32" name="Rectangle 31">
              <a:extLst>
                <a:ext uri="{FF2B5EF4-FFF2-40B4-BE49-F238E27FC236}">
                  <a16:creationId xmlns:a16="http://schemas.microsoft.com/office/drawing/2014/main" id="{EA0A272C-4DE5-7CE6-E328-38964F462B71}"/>
                </a:ext>
              </a:extLst>
            </p:cNvPr>
            <p:cNvSpPr/>
            <p:nvPr/>
          </p:nvSpPr>
          <p:spPr bwMode="auto">
            <a:xfrm>
              <a:off x="10058403" y="2843436"/>
              <a:ext cx="914400" cy="979216"/>
            </a:xfrm>
            <a:prstGeom prst="rect">
              <a:avLst/>
            </a:prstGeom>
            <a:solidFill>
              <a:srgbClr val="091F2C">
                <a:alpha val="29020"/>
              </a:srgb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Agent</a:t>
              </a:r>
              <a:br>
                <a:rPr lang="en-US" sz="1200" dirty="0">
                  <a:solidFill>
                    <a:schemeClr val="tx1"/>
                  </a:solidFill>
                  <a:ea typeface="Segoe UI" pitchFamily="34" charset="0"/>
                  <a:cs typeface="Segoe UI" pitchFamily="34" charset="0"/>
                </a:rPr>
              </a:br>
              <a:r>
                <a:rPr lang="en-US" sz="1200" i="1" dirty="0">
                  <a:solidFill>
                    <a:schemeClr val="tx1"/>
                  </a:solidFill>
                  <a:ea typeface="Segoe UI" pitchFamily="34" charset="0"/>
                  <a:cs typeface="Segoe UI" pitchFamily="34" charset="0"/>
                </a:rPr>
                <a:t>n</a:t>
              </a:r>
              <a:endParaRPr lang="en-US" sz="1200" dirty="0">
                <a:solidFill>
                  <a:schemeClr val="tx1"/>
                </a:solidFill>
                <a:ea typeface="Segoe UI" pitchFamily="34" charset="0"/>
                <a:cs typeface="Segoe UI" pitchFamily="34" charset="0"/>
              </a:endParaRPr>
            </a:p>
          </p:txBody>
        </p:sp>
        <p:sp>
          <p:nvSpPr>
            <p:cNvPr id="34" name="Rectangle 33">
              <a:extLst>
                <a:ext uri="{FF2B5EF4-FFF2-40B4-BE49-F238E27FC236}">
                  <a16:creationId xmlns:a16="http://schemas.microsoft.com/office/drawing/2014/main" id="{B40BEDAB-0435-6579-3C4D-12DD09B3E1AC}"/>
                </a:ext>
              </a:extLst>
            </p:cNvPr>
            <p:cNvSpPr/>
            <p:nvPr/>
          </p:nvSpPr>
          <p:spPr bwMode="auto">
            <a:xfrm>
              <a:off x="6917272"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Threat Hunting</a:t>
              </a:r>
            </a:p>
          </p:txBody>
        </p:sp>
        <p:sp>
          <p:nvSpPr>
            <p:cNvPr id="35" name="Rectangle 34">
              <a:extLst>
                <a:ext uri="{FF2B5EF4-FFF2-40B4-BE49-F238E27FC236}">
                  <a16:creationId xmlns:a16="http://schemas.microsoft.com/office/drawing/2014/main" id="{2680B3F7-AF7D-59E6-E97D-BD1AA0CEE730}"/>
                </a:ext>
              </a:extLst>
            </p:cNvPr>
            <p:cNvSpPr/>
            <p:nvPr/>
          </p:nvSpPr>
          <p:spPr bwMode="auto">
            <a:xfrm>
              <a:off x="7964316"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Threat Intel</a:t>
              </a:r>
            </a:p>
          </p:txBody>
        </p:sp>
        <p:sp>
          <p:nvSpPr>
            <p:cNvPr id="37" name="Rectangle 36">
              <a:extLst>
                <a:ext uri="{FF2B5EF4-FFF2-40B4-BE49-F238E27FC236}">
                  <a16:creationId xmlns:a16="http://schemas.microsoft.com/office/drawing/2014/main" id="{6B913E3F-3613-6528-256F-6C1A36870347}"/>
                </a:ext>
              </a:extLst>
            </p:cNvPr>
            <p:cNvSpPr/>
            <p:nvPr/>
          </p:nvSpPr>
          <p:spPr bwMode="auto">
            <a:xfrm>
              <a:off x="9011360" y="2843436"/>
              <a:ext cx="914400" cy="97921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Incident Resp.</a:t>
              </a:r>
            </a:p>
          </p:txBody>
        </p:sp>
        <p:sp>
          <p:nvSpPr>
            <p:cNvPr id="38" name="Rectangle 37">
              <a:extLst>
                <a:ext uri="{FF2B5EF4-FFF2-40B4-BE49-F238E27FC236}">
                  <a16:creationId xmlns:a16="http://schemas.microsoft.com/office/drawing/2014/main" id="{5AE6A22B-B3CF-71AB-3FFC-1C1E3B131599}"/>
                </a:ext>
              </a:extLst>
            </p:cNvPr>
            <p:cNvSpPr/>
            <p:nvPr/>
          </p:nvSpPr>
          <p:spPr bwMode="auto">
            <a:xfrm>
              <a:off x="5870225" y="4165596"/>
              <a:ext cx="5102577" cy="306213"/>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Foundry IQ – Agent Memory and Knowledge Bases</a:t>
              </a:r>
            </a:p>
          </p:txBody>
        </p:sp>
        <p:sp>
          <p:nvSpPr>
            <p:cNvPr id="39" name="Rectangle 38">
              <a:extLst>
                <a:ext uri="{FF2B5EF4-FFF2-40B4-BE49-F238E27FC236}">
                  <a16:creationId xmlns:a16="http://schemas.microsoft.com/office/drawing/2014/main" id="{620BDF4D-9BE3-E391-A705-1472225435D5}"/>
                </a:ext>
              </a:extLst>
            </p:cNvPr>
            <p:cNvSpPr/>
            <p:nvPr/>
          </p:nvSpPr>
          <p:spPr bwMode="auto">
            <a:xfrm>
              <a:off x="5859996" y="5281791"/>
              <a:ext cx="1554480" cy="48683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Azure AI Search</a:t>
              </a:r>
            </a:p>
          </p:txBody>
        </p:sp>
        <p:sp>
          <p:nvSpPr>
            <p:cNvPr id="40" name="Rectangle 39">
              <a:extLst>
                <a:ext uri="{FF2B5EF4-FFF2-40B4-BE49-F238E27FC236}">
                  <a16:creationId xmlns:a16="http://schemas.microsoft.com/office/drawing/2014/main" id="{3BEDD04C-D59C-6091-0FAE-9F835F9BAC78}"/>
                </a:ext>
              </a:extLst>
            </p:cNvPr>
            <p:cNvSpPr/>
            <p:nvPr/>
          </p:nvSpPr>
          <p:spPr bwMode="auto">
            <a:xfrm>
              <a:off x="7639159" y="5281791"/>
              <a:ext cx="1554480" cy="486834"/>
            </a:xfrm>
            <a:prstGeom prst="rect">
              <a:avLst/>
            </a:prstGeom>
            <a:solidFill>
              <a:schemeClr val="dk1">
                <a:alpha val="29000"/>
              </a:schemeClr>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Azure Blob Storage</a:t>
              </a:r>
            </a:p>
          </p:txBody>
        </p:sp>
        <p:sp>
          <p:nvSpPr>
            <p:cNvPr id="41" name="Rectangle 40">
              <a:extLst>
                <a:ext uri="{FF2B5EF4-FFF2-40B4-BE49-F238E27FC236}">
                  <a16:creationId xmlns:a16="http://schemas.microsoft.com/office/drawing/2014/main" id="{8B2D6F58-3844-D9F4-3D66-544E0D6734FA}"/>
                </a:ext>
              </a:extLst>
            </p:cNvPr>
            <p:cNvSpPr/>
            <p:nvPr/>
          </p:nvSpPr>
          <p:spPr bwMode="auto">
            <a:xfrm>
              <a:off x="9418322" y="5281791"/>
              <a:ext cx="1554480" cy="48683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32472" fontAlgn="base">
                <a:spcBef>
                  <a:spcPct val="0"/>
                </a:spcBef>
                <a:spcAft>
                  <a:spcPct val="0"/>
                </a:spcAft>
              </a:pPr>
              <a:r>
                <a:rPr lang="en-US" sz="1200" dirty="0">
                  <a:solidFill>
                    <a:schemeClr val="tx1"/>
                  </a:solidFill>
                  <a:ea typeface="Segoe UI" pitchFamily="34" charset="0"/>
                  <a:cs typeface="Segoe UI" pitchFamily="34" charset="0"/>
                </a:rPr>
                <a:t>App Insights / Azure Monitor</a:t>
              </a:r>
            </a:p>
          </p:txBody>
        </p:sp>
        <p:cxnSp>
          <p:nvCxnSpPr>
            <p:cNvPr id="43" name="Elbow Connector 42">
              <a:extLst>
                <a:ext uri="{FF2B5EF4-FFF2-40B4-BE49-F238E27FC236}">
                  <a16:creationId xmlns:a16="http://schemas.microsoft.com/office/drawing/2014/main" id="{FC3F0768-ADE4-4F5D-23F1-136774476E1B}"/>
                </a:ext>
              </a:extLst>
            </p:cNvPr>
            <p:cNvCxnSpPr>
              <a:stCxn id="17" idx="3"/>
            </p:cNvCxnSpPr>
            <p:nvPr/>
          </p:nvCxnSpPr>
          <p:spPr>
            <a:xfrm>
              <a:off x="4643971" y="1868309"/>
              <a:ext cx="1216025" cy="584200"/>
            </a:xfrm>
            <a:prstGeom prst="bentConnector3">
              <a:avLst/>
            </a:prstGeom>
            <a:ln w="25400">
              <a:solidFill>
                <a:schemeClr val="tx1"/>
              </a:solidFill>
              <a:headEnd type="triangle" w="lg" len="med"/>
              <a:tailEnd type="triangle"/>
            </a:ln>
          </p:spPr>
          <p:style>
            <a:lnRef idx="1">
              <a:schemeClr val="accent1"/>
            </a:lnRef>
            <a:fillRef idx="0">
              <a:schemeClr val="accent1"/>
            </a:fillRef>
            <a:effectRef idx="0">
              <a:schemeClr val="accent1"/>
            </a:effectRef>
            <a:fontRef idx="minor">
              <a:schemeClr val="tx1"/>
            </a:fontRef>
          </p:style>
        </p:cxnSp>
        <p:cxnSp>
          <p:nvCxnSpPr>
            <p:cNvPr id="44" name="Elbow Connector 43">
              <a:extLst>
                <a:ext uri="{FF2B5EF4-FFF2-40B4-BE49-F238E27FC236}">
                  <a16:creationId xmlns:a16="http://schemas.microsoft.com/office/drawing/2014/main" id="{32A424BF-BB76-CA63-8FB5-507A564DD3A4}"/>
                </a:ext>
              </a:extLst>
            </p:cNvPr>
            <p:cNvCxnSpPr>
              <a:cxnSpLocks/>
              <a:endCxn id="31" idx="1"/>
            </p:cNvCxnSpPr>
            <p:nvPr/>
          </p:nvCxnSpPr>
          <p:spPr>
            <a:xfrm>
              <a:off x="4383621" y="3264080"/>
              <a:ext cx="1486607" cy="68964"/>
            </a:xfrm>
            <a:prstGeom prst="bentConnector3">
              <a:avLst/>
            </a:prstGeom>
            <a:ln w="254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3" name="Elbow Connector 52">
              <a:extLst>
                <a:ext uri="{FF2B5EF4-FFF2-40B4-BE49-F238E27FC236}">
                  <a16:creationId xmlns:a16="http://schemas.microsoft.com/office/drawing/2014/main" id="{3912F7B3-83E3-AA4E-551A-BEBEA889CE0E}"/>
                </a:ext>
              </a:extLst>
            </p:cNvPr>
            <p:cNvCxnSpPr>
              <a:cxnSpLocks/>
              <a:stCxn id="20" idx="3"/>
            </p:cNvCxnSpPr>
            <p:nvPr/>
          </p:nvCxnSpPr>
          <p:spPr>
            <a:xfrm flipV="1">
              <a:off x="4383621" y="3333044"/>
              <a:ext cx="1476375" cy="681565"/>
            </a:xfrm>
            <a:prstGeom prst="bentConnector3">
              <a:avLst/>
            </a:prstGeom>
            <a:ln w="254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56" name="Elbow Connector 55">
              <a:extLst>
                <a:ext uri="{FF2B5EF4-FFF2-40B4-BE49-F238E27FC236}">
                  <a16:creationId xmlns:a16="http://schemas.microsoft.com/office/drawing/2014/main" id="{8E99842E-D0D0-0A6A-EAA3-302161D8C8DB}"/>
                </a:ext>
              </a:extLst>
            </p:cNvPr>
            <p:cNvCxnSpPr>
              <a:cxnSpLocks/>
              <a:stCxn id="21" idx="3"/>
            </p:cNvCxnSpPr>
            <p:nvPr/>
          </p:nvCxnSpPr>
          <p:spPr>
            <a:xfrm flipV="1">
              <a:off x="4383621" y="3329470"/>
              <a:ext cx="1476375" cy="1434439"/>
            </a:xfrm>
            <a:prstGeom prst="bentConnector3">
              <a:avLst/>
            </a:prstGeom>
            <a:ln w="25400">
              <a:solidFill>
                <a:schemeClr val="tx1"/>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E35B0105-8764-A4DA-A1F0-101202A9B02C}"/>
                </a:ext>
              </a:extLst>
            </p:cNvPr>
            <p:cNvCxnSpPr>
              <a:cxnSpLocks/>
            </p:cNvCxnSpPr>
            <p:nvPr/>
          </p:nvCxnSpPr>
          <p:spPr>
            <a:xfrm flipV="1">
              <a:off x="6318961"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64">
              <a:extLst>
                <a:ext uri="{FF2B5EF4-FFF2-40B4-BE49-F238E27FC236}">
                  <a16:creationId xmlns:a16="http://schemas.microsoft.com/office/drawing/2014/main" id="{8F319DDA-A225-9369-CA11-01A6E07A97F3}"/>
                </a:ext>
              </a:extLst>
            </p:cNvPr>
            <p:cNvCxnSpPr>
              <a:cxnSpLocks/>
            </p:cNvCxnSpPr>
            <p:nvPr/>
          </p:nvCxnSpPr>
          <p:spPr>
            <a:xfrm flipV="1">
              <a:off x="10490205"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6" name="Straight Arrow Connector 65">
              <a:extLst>
                <a:ext uri="{FF2B5EF4-FFF2-40B4-BE49-F238E27FC236}">
                  <a16:creationId xmlns:a16="http://schemas.microsoft.com/office/drawing/2014/main" id="{0BD03640-A75D-5B87-AE73-FF3D31C2AF33}"/>
                </a:ext>
              </a:extLst>
            </p:cNvPr>
            <p:cNvCxnSpPr>
              <a:cxnSpLocks/>
            </p:cNvCxnSpPr>
            <p:nvPr/>
          </p:nvCxnSpPr>
          <p:spPr>
            <a:xfrm flipV="1">
              <a:off x="7361772"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7" name="Straight Arrow Connector 66">
              <a:extLst>
                <a:ext uri="{FF2B5EF4-FFF2-40B4-BE49-F238E27FC236}">
                  <a16:creationId xmlns:a16="http://schemas.microsoft.com/office/drawing/2014/main" id="{3FFCB7A2-B3BD-59E9-C537-54259C00F271}"/>
                </a:ext>
              </a:extLst>
            </p:cNvPr>
            <p:cNvCxnSpPr>
              <a:cxnSpLocks/>
            </p:cNvCxnSpPr>
            <p:nvPr/>
          </p:nvCxnSpPr>
          <p:spPr>
            <a:xfrm flipV="1">
              <a:off x="8404583"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a:extLst>
                <a:ext uri="{FF2B5EF4-FFF2-40B4-BE49-F238E27FC236}">
                  <a16:creationId xmlns:a16="http://schemas.microsoft.com/office/drawing/2014/main" id="{B8E2FD0F-1F58-1738-7DDD-BC8FD9766C1A}"/>
                </a:ext>
              </a:extLst>
            </p:cNvPr>
            <p:cNvCxnSpPr>
              <a:cxnSpLocks/>
            </p:cNvCxnSpPr>
            <p:nvPr/>
          </p:nvCxnSpPr>
          <p:spPr>
            <a:xfrm flipV="1">
              <a:off x="9447394" y="2600676"/>
              <a:ext cx="0" cy="2743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69" name="Straight Arrow Connector 68">
              <a:extLst>
                <a:ext uri="{FF2B5EF4-FFF2-40B4-BE49-F238E27FC236}">
                  <a16:creationId xmlns:a16="http://schemas.microsoft.com/office/drawing/2014/main" id="{07982AD4-38E7-0980-A95B-2625CA0B009D}"/>
                </a:ext>
              </a:extLst>
            </p:cNvPr>
            <p:cNvCxnSpPr>
              <a:cxnSpLocks/>
            </p:cNvCxnSpPr>
            <p:nvPr/>
          </p:nvCxnSpPr>
          <p:spPr>
            <a:xfrm flipV="1">
              <a:off x="6318961"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a:extLst>
                <a:ext uri="{FF2B5EF4-FFF2-40B4-BE49-F238E27FC236}">
                  <a16:creationId xmlns:a16="http://schemas.microsoft.com/office/drawing/2014/main" id="{55029803-9242-B04E-0B25-165115681AB8}"/>
                </a:ext>
              </a:extLst>
            </p:cNvPr>
            <p:cNvCxnSpPr>
              <a:cxnSpLocks/>
            </p:cNvCxnSpPr>
            <p:nvPr/>
          </p:nvCxnSpPr>
          <p:spPr>
            <a:xfrm flipV="1">
              <a:off x="10490205"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CBA7F4DF-DE01-C788-1C36-E0387AA9D326}"/>
                </a:ext>
              </a:extLst>
            </p:cNvPr>
            <p:cNvCxnSpPr>
              <a:cxnSpLocks/>
            </p:cNvCxnSpPr>
            <p:nvPr/>
          </p:nvCxnSpPr>
          <p:spPr>
            <a:xfrm flipV="1">
              <a:off x="7361772"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CFE7BC92-7798-F73D-FB41-532E25E16CA3}"/>
                </a:ext>
              </a:extLst>
            </p:cNvPr>
            <p:cNvCxnSpPr>
              <a:cxnSpLocks/>
            </p:cNvCxnSpPr>
            <p:nvPr/>
          </p:nvCxnSpPr>
          <p:spPr>
            <a:xfrm flipV="1">
              <a:off x="8404583"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72">
              <a:extLst>
                <a:ext uri="{FF2B5EF4-FFF2-40B4-BE49-F238E27FC236}">
                  <a16:creationId xmlns:a16="http://schemas.microsoft.com/office/drawing/2014/main" id="{C200BA3B-3646-F882-C381-931C7154EC7B}"/>
                </a:ext>
              </a:extLst>
            </p:cNvPr>
            <p:cNvCxnSpPr>
              <a:cxnSpLocks/>
            </p:cNvCxnSpPr>
            <p:nvPr/>
          </p:nvCxnSpPr>
          <p:spPr>
            <a:xfrm flipV="1">
              <a:off x="9447394" y="3822652"/>
              <a:ext cx="0" cy="36576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73">
              <a:extLst>
                <a:ext uri="{FF2B5EF4-FFF2-40B4-BE49-F238E27FC236}">
                  <a16:creationId xmlns:a16="http://schemas.microsoft.com/office/drawing/2014/main" id="{1C60AC9A-E0CE-5C99-FFC6-4D86BC6AA433}"/>
                </a:ext>
              </a:extLst>
            </p:cNvPr>
            <p:cNvCxnSpPr>
              <a:cxnSpLocks/>
            </p:cNvCxnSpPr>
            <p:nvPr/>
          </p:nvCxnSpPr>
          <p:spPr>
            <a:xfrm flipH="1" flipV="1">
              <a:off x="6585660" y="4490563"/>
              <a:ext cx="15521" cy="809982"/>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2A8FE272-0FE1-44AE-1FEA-3E5B56EDB904}"/>
                </a:ext>
              </a:extLst>
            </p:cNvPr>
            <p:cNvCxnSpPr>
              <a:cxnSpLocks/>
            </p:cNvCxnSpPr>
            <p:nvPr/>
          </p:nvCxnSpPr>
          <p:spPr>
            <a:xfrm flipV="1">
              <a:off x="8404583" y="4476971"/>
              <a:ext cx="0" cy="804820"/>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7DDE0486-4F3F-0558-75DB-652726AD8625}"/>
                </a:ext>
              </a:extLst>
            </p:cNvPr>
            <p:cNvCxnSpPr>
              <a:cxnSpLocks/>
            </p:cNvCxnSpPr>
            <p:nvPr/>
          </p:nvCxnSpPr>
          <p:spPr>
            <a:xfrm flipV="1">
              <a:off x="10195562" y="4659851"/>
              <a:ext cx="0" cy="616778"/>
            </a:xfrm>
            <a:prstGeom prst="straightConnector1">
              <a:avLst/>
            </a:prstGeom>
            <a:ln w="25400">
              <a:solidFill>
                <a:schemeClr val="tx1"/>
              </a:solidFill>
              <a:headEnd type="triangle" w="med" len="med"/>
              <a:tailEnd type="triangle"/>
            </a:ln>
          </p:spPr>
          <p:style>
            <a:lnRef idx="1">
              <a:schemeClr val="accent1"/>
            </a:lnRef>
            <a:fillRef idx="0">
              <a:schemeClr val="accent1"/>
            </a:fillRef>
            <a:effectRef idx="0">
              <a:schemeClr val="accent1"/>
            </a:effectRef>
            <a:fontRef idx="minor">
              <a:schemeClr val="tx1"/>
            </a:fontRef>
          </p:style>
        </p:cxnSp>
      </p:grpSp>
      <p:pic>
        <p:nvPicPr>
          <p:cNvPr id="84" name="Graphic 83" descr="User with solid fill">
            <a:extLst>
              <a:ext uri="{FF2B5EF4-FFF2-40B4-BE49-F238E27FC236}">
                <a16:creationId xmlns:a16="http://schemas.microsoft.com/office/drawing/2014/main" id="{751875DC-FBA8-5B0B-E7FD-CD0C93E2FC3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9983" y="1639709"/>
            <a:ext cx="457200" cy="457200"/>
          </a:xfrm>
          <a:prstGeom prst="rect">
            <a:avLst/>
          </a:prstGeom>
        </p:spPr>
      </p:pic>
    </p:spTree>
    <p:extLst>
      <p:ext uri="{BB962C8B-B14F-4D97-AF65-F5344CB8AC3E}">
        <p14:creationId xmlns:p14="http://schemas.microsoft.com/office/powerpoint/2010/main" val="2845423793"/>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1BB1F-3121-8D7A-B599-E806BE4D33AE}"/>
            </a:ext>
          </a:extLst>
        </p:cNvPr>
        <p:cNvGrpSpPr/>
        <p:nvPr/>
      </p:nvGrpSpPr>
      <p:grpSpPr>
        <a:xfrm>
          <a:off x="0" y="0"/>
          <a:ext cx="0" cy="0"/>
          <a:chOff x="0" y="0"/>
          <a:chExt cx="0" cy="0"/>
        </a:xfrm>
      </p:grpSpPr>
      <p:sp>
        <p:nvSpPr>
          <p:cNvPr id="20" name="Title 19">
            <a:extLst>
              <a:ext uri="{FF2B5EF4-FFF2-40B4-BE49-F238E27FC236}">
                <a16:creationId xmlns:a16="http://schemas.microsoft.com/office/drawing/2014/main" id="{F84DE4CC-CA51-348F-2E3B-97270FEA18D7}"/>
              </a:ext>
            </a:extLst>
          </p:cNvPr>
          <p:cNvSpPr>
            <a:spLocks noGrp="1"/>
          </p:cNvSpPr>
          <p:nvPr>
            <p:ph type="title"/>
          </p:nvPr>
        </p:nvSpPr>
        <p:spPr>
          <a:xfrm>
            <a:off x="588962" y="457200"/>
            <a:ext cx="5013551" cy="1969770"/>
          </a:xfrm>
        </p:spPr>
        <p:txBody>
          <a:bodyPr/>
          <a:lstStyle/>
          <a:p>
            <a:r>
              <a:rPr lang="en-US" b="1"/>
              <a:t>Key Benefits and Value Delivery</a:t>
            </a:r>
          </a:p>
        </p:txBody>
      </p:sp>
      <p:pic>
        <p:nvPicPr>
          <p:cNvPr id="24" name="Picture Placeholder 23" descr="A person typing on a computer&#10;&#10;AI-generated content may be incorrect.">
            <a:extLst>
              <a:ext uri="{FF2B5EF4-FFF2-40B4-BE49-F238E27FC236}">
                <a16:creationId xmlns:a16="http://schemas.microsoft.com/office/drawing/2014/main" id="{0905A727-E8DF-465D-965F-71B121CFF40B}"/>
              </a:ext>
            </a:extLst>
          </p:cNvPr>
          <p:cNvPicPr>
            <a:picLocks noGrp="1" noChangeAspect="1"/>
          </p:cNvPicPr>
          <p:nvPr>
            <p:ph type="pic" sz="quarter" idx="18"/>
          </p:nvPr>
        </p:nvPicPr>
        <p:blipFill>
          <a:blip r:embed="rId3"/>
          <a:srcRect l="2050" r="2050"/>
          <a:stretch/>
        </p:blipFill>
        <p:spPr>
          <a:xfrm>
            <a:off x="5951538" y="914399"/>
            <a:ext cx="5651499" cy="5448301"/>
          </a:xfrm>
        </p:spPr>
      </p:pic>
      <p:sp>
        <p:nvSpPr>
          <p:cNvPr id="21" name="Text Placeholder 20">
            <a:extLst>
              <a:ext uri="{FF2B5EF4-FFF2-40B4-BE49-F238E27FC236}">
                <a16:creationId xmlns:a16="http://schemas.microsoft.com/office/drawing/2014/main" id="{1865C5D4-6FD4-AA42-5C6E-84604DB2D8C1}"/>
              </a:ext>
            </a:extLst>
          </p:cNvPr>
          <p:cNvSpPr>
            <a:spLocks noGrp="1"/>
          </p:cNvSpPr>
          <p:nvPr>
            <p:ph type="body" sz="quarter" idx="10"/>
          </p:nvPr>
        </p:nvSpPr>
        <p:spPr>
          <a:xfrm>
            <a:off x="588962" y="2843711"/>
            <a:ext cx="5013552" cy="3077766"/>
          </a:xfrm>
        </p:spPr>
        <p:txBody>
          <a:bodyPr/>
          <a:lstStyle/>
          <a:p>
            <a:r>
              <a:rPr lang="en-US" sz="1400" b="1" dirty="0"/>
              <a:t>Operational Improvements (90-Day Pilot Targets)</a:t>
            </a:r>
          </a:p>
          <a:p>
            <a:pPr marL="285750" indent="-285750">
              <a:buFont typeface="Arial" panose="020B0604020202020204" pitchFamily="34" charset="0"/>
              <a:buChar char="•"/>
            </a:pPr>
            <a:r>
              <a:rPr lang="en-US" sz="1400" b="1" dirty="0"/>
              <a:t>MTDD</a:t>
            </a:r>
            <a:r>
              <a:rPr lang="en-US" sz="1400" dirty="0"/>
              <a:t>: 4-6 hours </a:t>
            </a:r>
            <a:r>
              <a:rPr lang="en-US" sz="1400" dirty="0">
                <a:sym typeface="Wingdings" pitchFamily="2" charset="2"/>
              </a:rPr>
              <a:t> </a:t>
            </a:r>
            <a:r>
              <a:rPr lang="en-US" sz="1400" b="1" dirty="0">
                <a:solidFill>
                  <a:schemeClr val="accent3"/>
                </a:solidFill>
                <a:sym typeface="Wingdings" pitchFamily="2" charset="2"/>
              </a:rPr>
              <a:t>&lt;15 minutes </a:t>
            </a:r>
            <a:r>
              <a:rPr lang="en-US" sz="1400" b="1" dirty="0">
                <a:sym typeface="Wingdings" pitchFamily="2" charset="2"/>
              </a:rPr>
              <a:t>(75% reduction)</a:t>
            </a:r>
            <a:endParaRPr lang="en-US" sz="1400" b="1" dirty="0"/>
          </a:p>
          <a:p>
            <a:pPr marL="285750" indent="-285750">
              <a:buFont typeface="Arial" panose="020B0604020202020204" pitchFamily="34" charset="0"/>
              <a:buChar char="•"/>
            </a:pPr>
            <a:r>
              <a:rPr lang="en-US" sz="1400" b="1" dirty="0"/>
              <a:t>Alert Triage Accuracy</a:t>
            </a:r>
            <a:r>
              <a:rPr lang="en-US" sz="1400" dirty="0"/>
              <a:t>: ~60% </a:t>
            </a:r>
            <a:r>
              <a:rPr lang="en-US" sz="1400" b="1" dirty="0">
                <a:sym typeface="Wingdings" pitchFamily="2" charset="2"/>
              </a:rPr>
              <a:t> </a:t>
            </a:r>
            <a:r>
              <a:rPr lang="en-US" sz="1400" b="1" dirty="0">
                <a:solidFill>
                  <a:schemeClr val="accent3"/>
                </a:solidFill>
                <a:sym typeface="Wingdings" pitchFamily="2" charset="2"/>
              </a:rPr>
              <a:t>&gt;80%</a:t>
            </a:r>
            <a:endParaRPr lang="en-US" sz="1400" b="1" dirty="0">
              <a:solidFill>
                <a:schemeClr val="accent3"/>
              </a:solidFill>
            </a:endParaRPr>
          </a:p>
          <a:p>
            <a:pPr marL="285750" indent="-285750">
              <a:buFont typeface="Arial" panose="020B0604020202020204" pitchFamily="34" charset="0"/>
              <a:buChar char="•"/>
            </a:pPr>
            <a:r>
              <a:rPr lang="en-US" sz="1400" b="1" dirty="0"/>
              <a:t>False Positive Rate: </a:t>
            </a:r>
            <a:r>
              <a:rPr lang="en-US" sz="1400" dirty="0"/>
              <a:t>70% </a:t>
            </a:r>
            <a:r>
              <a:rPr lang="en-US" sz="1400" b="1" dirty="0">
                <a:sym typeface="Wingdings" pitchFamily="2" charset="2"/>
              </a:rPr>
              <a:t> </a:t>
            </a:r>
            <a:r>
              <a:rPr lang="en-US" sz="1400" b="1" dirty="0">
                <a:solidFill>
                  <a:schemeClr val="accent3"/>
                </a:solidFill>
                <a:sym typeface="Wingdings" pitchFamily="2" charset="2"/>
              </a:rPr>
              <a:t>&lt;20% </a:t>
            </a:r>
            <a:r>
              <a:rPr lang="en-US" sz="1400" b="1" dirty="0">
                <a:sym typeface="Wingdings" pitchFamily="2" charset="2"/>
              </a:rPr>
              <a:t>(60-70% reduction)</a:t>
            </a:r>
            <a:endParaRPr lang="en-US" sz="1400" b="1" dirty="0"/>
          </a:p>
          <a:p>
            <a:pPr marL="285750" indent="-285750">
              <a:buFont typeface="Arial" panose="020B0604020202020204" pitchFamily="34" charset="0"/>
              <a:buChar char="•"/>
            </a:pPr>
            <a:r>
              <a:rPr lang="en-US" sz="1400" b="1" dirty="0"/>
              <a:t>MTTC: </a:t>
            </a:r>
            <a:r>
              <a:rPr lang="en-US" sz="1400" dirty="0"/>
              <a:t>30-60 minutes </a:t>
            </a:r>
            <a:r>
              <a:rPr lang="en-US" sz="1400" dirty="0">
                <a:sym typeface="Wingdings" pitchFamily="2" charset="2"/>
              </a:rPr>
              <a:t> </a:t>
            </a:r>
            <a:r>
              <a:rPr lang="en-US" sz="1400" b="1" dirty="0">
                <a:solidFill>
                  <a:schemeClr val="accent3"/>
                </a:solidFill>
                <a:sym typeface="Wingdings" pitchFamily="2" charset="2"/>
              </a:rPr>
              <a:t>&lt;5 minutes</a:t>
            </a:r>
            <a:endParaRPr lang="en-US" sz="1400" b="1" dirty="0">
              <a:solidFill>
                <a:schemeClr val="accent3"/>
              </a:solidFill>
            </a:endParaRPr>
          </a:p>
          <a:p>
            <a:pPr marL="285750" indent="-285750">
              <a:buFont typeface="Arial" panose="020B0604020202020204" pitchFamily="34" charset="0"/>
              <a:buChar char="•"/>
            </a:pPr>
            <a:r>
              <a:rPr lang="en-US" sz="1400" b="1" dirty="0"/>
              <a:t>Analyst Time on Strategic Work</a:t>
            </a:r>
            <a:r>
              <a:rPr lang="en-US" sz="1400" dirty="0"/>
              <a:t>: 30% </a:t>
            </a:r>
            <a:r>
              <a:rPr lang="en-US" sz="1400" b="1" dirty="0">
                <a:sym typeface="Wingdings" pitchFamily="2" charset="2"/>
              </a:rPr>
              <a:t> </a:t>
            </a:r>
            <a:r>
              <a:rPr lang="en-US" sz="1400" b="1" dirty="0">
                <a:solidFill>
                  <a:schemeClr val="accent3"/>
                </a:solidFill>
                <a:sym typeface="Wingdings" pitchFamily="2" charset="2"/>
              </a:rPr>
              <a:t>70%</a:t>
            </a:r>
            <a:endParaRPr lang="en-US" sz="1400" b="1" dirty="0">
              <a:solidFill>
                <a:schemeClr val="accent3"/>
              </a:solidFill>
            </a:endParaRPr>
          </a:p>
          <a:p>
            <a:pPr marL="285750" indent="-285750">
              <a:buFont typeface="Arial" panose="020B0604020202020204" pitchFamily="34" charset="0"/>
              <a:buChar char="•"/>
            </a:pPr>
            <a:r>
              <a:rPr lang="en-US" sz="1400" b="1" dirty="0"/>
              <a:t>Cost Per Alert Processed</a:t>
            </a:r>
            <a:r>
              <a:rPr lang="en-US" sz="1400" dirty="0"/>
              <a:t>: </a:t>
            </a:r>
            <a:r>
              <a:rPr lang="en-US" sz="1400" b="1" dirty="0">
                <a:solidFill>
                  <a:schemeClr val="accent3"/>
                </a:solidFill>
              </a:rPr>
              <a:t>60% reduction</a:t>
            </a:r>
          </a:p>
          <a:p>
            <a:pPr marL="285750" indent="-285750">
              <a:buFont typeface="Arial" panose="020B0604020202020204" pitchFamily="34" charset="0"/>
              <a:buChar char="•"/>
            </a:pPr>
            <a:endParaRPr lang="en-US" sz="1400" dirty="0"/>
          </a:p>
          <a:p>
            <a:r>
              <a:rPr lang="en-US" sz="1400" b="1" dirty="0"/>
              <a:t>Cost-Benefit Analysis (Annual)</a:t>
            </a:r>
          </a:p>
          <a:p>
            <a:pPr marL="285750" indent="-285750">
              <a:buFont typeface="Arial" panose="020B0604020202020204" pitchFamily="34" charset="0"/>
              <a:buChar char="•"/>
            </a:pPr>
            <a:r>
              <a:rPr lang="en-US" sz="1400" b="1" dirty="0"/>
              <a:t>Investment:</a:t>
            </a:r>
            <a:r>
              <a:rPr lang="en-US" sz="1400" dirty="0"/>
              <a:t> $113K - $166K (</a:t>
            </a:r>
            <a:r>
              <a:rPr lang="en-US" sz="1400" dirty="0" err="1"/>
              <a:t>infra+impl</a:t>
            </a:r>
            <a:r>
              <a:rPr lang="en-US" sz="1400" dirty="0"/>
              <a:t>)</a:t>
            </a:r>
          </a:p>
          <a:p>
            <a:pPr marL="285750" indent="-285750">
              <a:buFont typeface="Arial" panose="020B0604020202020204" pitchFamily="34" charset="0"/>
              <a:buChar char="•"/>
            </a:pPr>
            <a:r>
              <a:rPr lang="en-US" sz="1400" b="1" dirty="0"/>
              <a:t>Benefits</a:t>
            </a:r>
            <a:r>
              <a:rPr lang="en-US" sz="1400" dirty="0"/>
              <a:t>: $800K - $2.6M (productivity gains + breach </a:t>
            </a:r>
            <a:r>
              <a:rPr lang="en-US" sz="1400" dirty="0" err="1"/>
              <a:t>prev</a:t>
            </a:r>
            <a:r>
              <a:rPr lang="en-US" sz="1400" dirty="0"/>
              <a:t>)</a:t>
            </a:r>
          </a:p>
          <a:p>
            <a:pPr marL="285750" indent="-285750">
              <a:buFont typeface="Arial" panose="020B0604020202020204" pitchFamily="34" charset="0"/>
              <a:buChar char="•"/>
            </a:pPr>
            <a:r>
              <a:rPr lang="en-US" sz="1400" b="1" dirty="0"/>
              <a:t>Net ROI: </a:t>
            </a:r>
            <a:r>
              <a:rPr lang="en-US" sz="1400" b="1" dirty="0">
                <a:solidFill>
                  <a:schemeClr val="accent3"/>
                </a:solidFill>
              </a:rPr>
              <a:t>510% - 1,460% within first 3-6 months</a:t>
            </a:r>
          </a:p>
        </p:txBody>
      </p:sp>
    </p:spTree>
    <p:extLst>
      <p:ext uri="{BB962C8B-B14F-4D97-AF65-F5344CB8AC3E}">
        <p14:creationId xmlns:p14="http://schemas.microsoft.com/office/powerpoint/2010/main" val="263263810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84D5E-A04F-9445-926D-B4D744F15C87}"/>
              </a:ext>
            </a:extLst>
          </p:cNvPr>
          <p:cNvSpPr>
            <a:spLocks noGrp="1"/>
          </p:cNvSpPr>
          <p:nvPr>
            <p:ph type="title"/>
          </p:nvPr>
        </p:nvSpPr>
        <p:spPr/>
        <p:txBody>
          <a:bodyPr/>
          <a:lstStyle/>
          <a:p>
            <a:r>
              <a:rPr lang="en-US" dirty="0"/>
              <a:t>Technical Pilot+ Roadmap (90 Days to Year 1)</a:t>
            </a:r>
          </a:p>
        </p:txBody>
      </p:sp>
      <p:graphicFrame>
        <p:nvGraphicFramePr>
          <p:cNvPr id="4" name="Table 3">
            <a:extLst>
              <a:ext uri="{FF2B5EF4-FFF2-40B4-BE49-F238E27FC236}">
                <a16:creationId xmlns:a16="http://schemas.microsoft.com/office/drawing/2014/main" id="{C0B98693-AFDF-CE4D-F392-FEA4C67A36C3}"/>
              </a:ext>
            </a:extLst>
          </p:cNvPr>
          <p:cNvGraphicFramePr>
            <a:graphicFrameLocks noGrp="1"/>
          </p:cNvGraphicFramePr>
          <p:nvPr>
            <p:extLst>
              <p:ext uri="{D42A27DB-BD31-4B8C-83A1-F6EECF244321}">
                <p14:modId xmlns:p14="http://schemas.microsoft.com/office/powerpoint/2010/main" val="4291367893"/>
              </p:ext>
            </p:extLst>
          </p:nvPr>
        </p:nvGraphicFramePr>
        <p:xfrm>
          <a:off x="588263" y="1673860"/>
          <a:ext cx="11018520" cy="3937000"/>
        </p:xfrm>
        <a:graphic>
          <a:graphicData uri="http://schemas.openxmlformats.org/drawingml/2006/table">
            <a:tbl>
              <a:tblPr firstRow="1" bandRow="1">
                <a:tableStyleId>{073A0DAA-6AF3-43AB-8588-CEC1D06C72B9}</a:tableStyleId>
              </a:tblPr>
              <a:tblGrid>
                <a:gridCol w="3034613">
                  <a:extLst>
                    <a:ext uri="{9D8B030D-6E8A-4147-A177-3AD203B41FA5}">
                      <a16:colId xmlns:a16="http://schemas.microsoft.com/office/drawing/2014/main" val="2201528926"/>
                    </a:ext>
                  </a:extLst>
                </a:gridCol>
                <a:gridCol w="6377651">
                  <a:extLst>
                    <a:ext uri="{9D8B030D-6E8A-4147-A177-3AD203B41FA5}">
                      <a16:colId xmlns:a16="http://schemas.microsoft.com/office/drawing/2014/main" val="1632141431"/>
                    </a:ext>
                  </a:extLst>
                </a:gridCol>
                <a:gridCol w="1606256">
                  <a:extLst>
                    <a:ext uri="{9D8B030D-6E8A-4147-A177-3AD203B41FA5}">
                      <a16:colId xmlns:a16="http://schemas.microsoft.com/office/drawing/2014/main" val="1844750121"/>
                    </a:ext>
                  </a:extLst>
                </a:gridCol>
              </a:tblGrid>
              <a:tr h="370840">
                <a:tc>
                  <a:txBody>
                    <a:bodyPr/>
                    <a:lstStyle/>
                    <a:p>
                      <a:r>
                        <a:rPr lang="en-US" dirty="0"/>
                        <a:t>Phase</a:t>
                      </a:r>
                    </a:p>
                  </a:txBody>
                  <a:tcPr/>
                </a:tc>
                <a:tc>
                  <a:txBody>
                    <a:bodyPr/>
                    <a:lstStyle/>
                    <a:p>
                      <a:r>
                        <a:rPr lang="en-US" dirty="0"/>
                        <a:t>Goals</a:t>
                      </a:r>
                    </a:p>
                  </a:txBody>
                  <a:tcPr/>
                </a:tc>
                <a:tc>
                  <a:txBody>
                    <a:bodyPr/>
                    <a:lstStyle/>
                    <a:p>
                      <a:r>
                        <a:rPr lang="en-US" dirty="0"/>
                        <a:t>Schedule</a:t>
                      </a:r>
                    </a:p>
                  </a:txBody>
                  <a:tcPr/>
                </a:tc>
                <a:extLst>
                  <a:ext uri="{0D108BD9-81ED-4DB2-BD59-A6C34878D82A}">
                    <a16:rowId xmlns:a16="http://schemas.microsoft.com/office/drawing/2014/main" val="1894606392"/>
                  </a:ext>
                </a:extLst>
              </a:tr>
              <a:tr h="370840">
                <a:tc>
                  <a:txBody>
                    <a:bodyPr/>
                    <a:lstStyle/>
                    <a:p>
                      <a:r>
                        <a:rPr lang="en-US" dirty="0"/>
                        <a:t>Phase 1: SDK Deployment</a:t>
                      </a:r>
                    </a:p>
                  </a:txBody>
                  <a:tcPr anchor="ctr"/>
                </a:tc>
                <a:tc>
                  <a:txBody>
                    <a:bodyPr/>
                    <a:lstStyle/>
                    <a:p>
                      <a:pPr marL="285750" indent="-285750">
                        <a:buFont typeface="Arial" panose="020B0604020202020204" pitchFamily="34" charset="0"/>
                        <a:buChar char="•"/>
                      </a:pPr>
                      <a:r>
                        <a:rPr lang="en-US" sz="1400" dirty="0"/>
                        <a:t>Integrate in your env. (Foundry, AI Search, App Insights).</a:t>
                      </a:r>
                    </a:p>
                    <a:p>
                      <a:pPr marL="285750" indent="-285750">
                        <a:buFont typeface="Arial" panose="020B0604020202020204" pitchFamily="34" charset="0"/>
                        <a:buChar char="•"/>
                      </a:pPr>
                      <a:r>
                        <a:rPr lang="en-US" sz="1400" dirty="0"/>
                        <a:t>Train Security and Dev Teams.</a:t>
                      </a:r>
                    </a:p>
                    <a:p>
                      <a:pPr marL="285750" indent="-285750">
                        <a:buFont typeface="Arial" panose="020B0604020202020204" pitchFamily="34" charset="0"/>
                        <a:buChar char="•"/>
                      </a:pPr>
                      <a:r>
                        <a:rPr lang="en-US" sz="1400" dirty="0"/>
                        <a:t>Initial exploration and baseline validation.</a:t>
                      </a:r>
                    </a:p>
                  </a:txBody>
                  <a:tcPr anchor="ctr"/>
                </a:tc>
                <a:tc>
                  <a:txBody>
                    <a:bodyPr/>
                    <a:lstStyle/>
                    <a:p>
                      <a:r>
                        <a:rPr lang="en-US" dirty="0"/>
                        <a:t>Weeks 1-4</a:t>
                      </a:r>
                    </a:p>
                  </a:txBody>
                  <a:tcPr anchor="ctr"/>
                </a:tc>
                <a:extLst>
                  <a:ext uri="{0D108BD9-81ED-4DB2-BD59-A6C34878D82A}">
                    <a16:rowId xmlns:a16="http://schemas.microsoft.com/office/drawing/2014/main" val="4105000429"/>
                  </a:ext>
                </a:extLst>
              </a:tr>
              <a:tr h="370840">
                <a:tc>
                  <a:txBody>
                    <a:bodyPr/>
                    <a:lstStyle/>
                    <a:p>
                      <a:r>
                        <a:rPr lang="en-US" dirty="0"/>
                        <a:t>Phase 2: SDK Customization</a:t>
                      </a:r>
                    </a:p>
                  </a:txBody>
                  <a:tcPr anchor="ctr"/>
                </a:tc>
                <a:tc>
                  <a:txBody>
                    <a:bodyPr/>
                    <a:lstStyle/>
                    <a:p>
                      <a:pPr marL="285750" indent="-285750">
                        <a:buFont typeface="Arial" panose="020B0604020202020204" pitchFamily="34" charset="0"/>
                        <a:buChar char="•"/>
                      </a:pPr>
                      <a:r>
                        <a:rPr lang="en-US" sz="1400" dirty="0"/>
                        <a:t>Integrate with your Security Sources</a:t>
                      </a:r>
                    </a:p>
                    <a:p>
                      <a:pPr marL="285750" indent="-285750">
                        <a:buFont typeface="Arial" panose="020B0604020202020204" pitchFamily="34" charset="0"/>
                        <a:buChar char="•"/>
                      </a:pPr>
                      <a:r>
                        <a:rPr lang="en-US" sz="1400" dirty="0"/>
                        <a:t>Introduce custom Runbooks.</a:t>
                      </a:r>
                    </a:p>
                    <a:p>
                      <a:pPr marL="285750" indent="-285750">
                        <a:buFont typeface="Arial" panose="020B0604020202020204" pitchFamily="34" charset="0"/>
                        <a:buChar char="•"/>
                      </a:pPr>
                      <a:r>
                        <a:rPr lang="en-US" sz="1400" dirty="0"/>
                        <a:t>Iterate on agentic behavior and orchestration.</a:t>
                      </a:r>
                    </a:p>
                    <a:p>
                      <a:pPr marL="285750" indent="-285750">
                        <a:buFont typeface="Arial" panose="020B0604020202020204" pitchFamily="34" charset="0"/>
                        <a:buChar char="•"/>
                      </a:pPr>
                      <a:r>
                        <a:rPr lang="en-US" sz="1400" dirty="0"/>
                        <a:t>Update Agentic SOC SDK for Foundry GA capabilities.</a:t>
                      </a:r>
                    </a:p>
                  </a:txBody>
                  <a:tcPr anchor="ctr"/>
                </a:tc>
                <a:tc>
                  <a:txBody>
                    <a:bodyPr/>
                    <a:lstStyle/>
                    <a:p>
                      <a:r>
                        <a:rPr lang="en-US" dirty="0"/>
                        <a:t>Weeks 5-8</a:t>
                      </a:r>
                    </a:p>
                  </a:txBody>
                  <a:tcPr anchor="ctr"/>
                </a:tc>
                <a:extLst>
                  <a:ext uri="{0D108BD9-81ED-4DB2-BD59-A6C34878D82A}">
                    <a16:rowId xmlns:a16="http://schemas.microsoft.com/office/drawing/2014/main" val="3917488613"/>
                  </a:ext>
                </a:extLst>
              </a:tr>
              <a:tr h="370840">
                <a:tc>
                  <a:txBody>
                    <a:bodyPr/>
                    <a:lstStyle/>
                    <a:p>
                      <a:r>
                        <a:rPr lang="en-US" dirty="0"/>
                        <a:t>Phase 3: Measure success</a:t>
                      </a:r>
                    </a:p>
                  </a:txBody>
                  <a:tcPr anchor="ctr">
                    <a:lnB w="12700" cap="flat" cmpd="sng" algn="ctr">
                      <a:solidFill>
                        <a:schemeClr val="bg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400" dirty="0"/>
                        <a:t>Integrate additional tools (e.g., MCP) to Agents.</a:t>
                      </a:r>
                    </a:p>
                    <a:p>
                      <a:pPr marL="285750" indent="-285750">
                        <a:buFont typeface="Arial" panose="020B0604020202020204" pitchFamily="34" charset="0"/>
                        <a:buChar char="•"/>
                      </a:pPr>
                      <a:r>
                        <a:rPr lang="en-US" sz="1400" dirty="0"/>
                        <a:t>Verify </a:t>
                      </a:r>
                      <a:r>
                        <a:rPr lang="en-US" sz="1400" dirty="0" err="1"/>
                        <a:t>HitL</a:t>
                      </a:r>
                      <a:r>
                        <a:rPr lang="en-US" sz="1400" dirty="0"/>
                        <a:t> workflows.</a:t>
                      </a:r>
                    </a:p>
                    <a:p>
                      <a:pPr marL="285750" indent="-285750">
                        <a:buFont typeface="Arial" panose="020B0604020202020204" pitchFamily="34" charset="0"/>
                        <a:buChar char="•"/>
                      </a:pPr>
                      <a:r>
                        <a:rPr lang="en-US" sz="1400" dirty="0"/>
                        <a:t>Dial in agentic confidence and tolerance.</a:t>
                      </a:r>
                    </a:p>
                  </a:txBody>
                  <a:tcPr anchor="ctr">
                    <a:lnB w="12700" cap="flat" cmpd="sng" algn="ctr">
                      <a:solidFill>
                        <a:schemeClr val="bg1"/>
                      </a:solidFill>
                      <a:prstDash val="solid"/>
                      <a:round/>
                      <a:headEnd type="none" w="med" len="med"/>
                      <a:tailEnd type="none" w="med" len="med"/>
                    </a:lnB>
                  </a:tcPr>
                </a:tc>
                <a:tc>
                  <a:txBody>
                    <a:bodyPr/>
                    <a:lstStyle/>
                    <a:p>
                      <a:r>
                        <a:rPr lang="en-US" dirty="0"/>
                        <a:t>Weeks 9-12</a:t>
                      </a:r>
                    </a:p>
                  </a:txBody>
                  <a:tcPr anchor="ctr">
                    <a:lnB w="12700" cap="flat" cmpd="sng" algn="ctr">
                      <a:solidFill>
                        <a:schemeClr val="bg1"/>
                      </a:solidFill>
                      <a:prstDash val="solid"/>
                      <a:round/>
                      <a:headEnd type="none" w="med" len="med"/>
                      <a:tailEnd type="none" w="med" len="med"/>
                    </a:lnB>
                  </a:tcPr>
                </a:tc>
                <a:extLst>
                  <a:ext uri="{0D108BD9-81ED-4DB2-BD59-A6C34878D82A}">
                    <a16:rowId xmlns:a16="http://schemas.microsoft.com/office/drawing/2014/main" val="3622569978"/>
                  </a:ext>
                </a:extLst>
              </a:tr>
              <a:tr h="370840">
                <a:tc>
                  <a:txBody>
                    <a:bodyPr/>
                    <a:lstStyle/>
                    <a:p>
                      <a:r>
                        <a:rPr lang="en-US" dirty="0"/>
                        <a:t>Phase 4: Post Pilot</a:t>
                      </a:r>
                    </a:p>
                  </a:txBody>
                  <a:tcPr anchor="ctr">
                    <a:lnT w="12700" cap="flat" cmpd="sng" algn="ctr">
                      <a:solidFill>
                        <a:schemeClr val="bg1"/>
                      </a:solidFill>
                      <a:prstDash val="solid"/>
                      <a:round/>
                      <a:headEnd type="none" w="med" len="med"/>
                      <a:tailEnd type="none" w="med" len="med"/>
                    </a:lnT>
                  </a:tcPr>
                </a:tc>
                <a:tc>
                  <a:txBody>
                    <a:bodyPr/>
                    <a:lstStyle/>
                    <a:p>
                      <a:pPr marL="285750" indent="-285750" algn="l" defTabSz="932742" rtl="0" eaLnBrk="1" latinLnBrk="0" hangingPunct="1">
                        <a:buFont typeface="Arial" panose="020B0604020202020204" pitchFamily="34" charset="0"/>
                        <a:buChar char="•"/>
                      </a:pPr>
                      <a:r>
                        <a:rPr lang="en-US" sz="1400" kern="1200" dirty="0">
                          <a:solidFill>
                            <a:schemeClr val="dk1"/>
                          </a:solidFill>
                          <a:latin typeface="+mn-lt"/>
                          <a:ea typeface="+mn-ea"/>
                          <a:cs typeface="+mn-cs"/>
                        </a:rPr>
                        <a:t>Assess agentic alert triage thruput</a:t>
                      </a:r>
                    </a:p>
                    <a:p>
                      <a:pPr marL="285750" indent="-285750" algn="l" defTabSz="932742" rtl="0" eaLnBrk="1" latinLnBrk="0" hangingPunct="1">
                        <a:buFont typeface="Arial" panose="020B0604020202020204" pitchFamily="34" charset="0"/>
                        <a:buChar char="•"/>
                      </a:pPr>
                      <a:r>
                        <a:rPr lang="en-US" sz="1400" kern="1200" dirty="0">
                          <a:solidFill>
                            <a:schemeClr val="dk1"/>
                          </a:solidFill>
                          <a:latin typeface="+mn-lt"/>
                          <a:ea typeface="+mn-ea"/>
                          <a:cs typeface="+mn-cs"/>
                        </a:rPr>
                        <a:t>Integrate/develop Agentic SOC UI with Copilot / Teams</a:t>
                      </a:r>
                    </a:p>
                    <a:p>
                      <a:pPr marL="285750" indent="-285750" algn="l" defTabSz="932742" rtl="0" eaLnBrk="1" latinLnBrk="0" hangingPunct="1">
                        <a:buFont typeface="Arial" panose="020B0604020202020204" pitchFamily="34" charset="0"/>
                        <a:buChar char="•"/>
                      </a:pPr>
                      <a:r>
                        <a:rPr lang="en-US" sz="1400" kern="1200" dirty="0">
                          <a:solidFill>
                            <a:schemeClr val="dk1"/>
                          </a:solidFill>
                          <a:latin typeface="+mn-lt"/>
                          <a:ea typeface="+mn-ea"/>
                          <a:cs typeface="+mn-cs"/>
                        </a:rPr>
                        <a:t>Introduce event hub with function pre-filter as needed to handle volume.</a:t>
                      </a:r>
                    </a:p>
                    <a:p>
                      <a:pPr marL="285750" indent="-285750" algn="l" defTabSz="932742" rtl="0" eaLnBrk="1" latinLnBrk="0" hangingPunct="1">
                        <a:buFont typeface="Arial" panose="020B0604020202020204" pitchFamily="34" charset="0"/>
                        <a:buChar char="•"/>
                      </a:pPr>
                      <a:r>
                        <a:rPr lang="en-US" sz="1400" kern="1200" dirty="0">
                          <a:solidFill>
                            <a:schemeClr val="dk1"/>
                          </a:solidFill>
                          <a:latin typeface="+mn-lt"/>
                          <a:ea typeface="+mn-ea"/>
                          <a:cs typeface="+mn-cs"/>
                        </a:rPr>
                        <a:t>Incrementally onboard Security and SOC Teams.</a:t>
                      </a:r>
                    </a:p>
                    <a:p>
                      <a:pPr marL="285750" indent="-285750" algn="l" defTabSz="932742" rtl="0" eaLnBrk="1" latinLnBrk="0" hangingPunct="1">
                        <a:buFont typeface="Arial" panose="020B0604020202020204" pitchFamily="34" charset="0"/>
                        <a:buChar char="•"/>
                      </a:pPr>
                      <a:r>
                        <a:rPr lang="en-US" sz="1400" kern="1200" dirty="0">
                          <a:solidFill>
                            <a:schemeClr val="dk1"/>
                          </a:solidFill>
                          <a:latin typeface="+mn-lt"/>
                          <a:ea typeface="+mn-ea"/>
                          <a:cs typeface="+mn-cs"/>
                        </a:rPr>
                        <a:t>Assess implement BCDR/failover requirements.</a:t>
                      </a:r>
                    </a:p>
                  </a:txBody>
                  <a:tcPr anchor="ctr">
                    <a:lnT w="12700" cap="flat" cmpd="sng" algn="ctr">
                      <a:solidFill>
                        <a:schemeClr val="bg1"/>
                      </a:solidFill>
                      <a:prstDash val="solid"/>
                      <a:round/>
                      <a:headEnd type="none" w="med" len="med"/>
                      <a:tailEnd type="none" w="med" len="med"/>
                    </a:lnT>
                  </a:tcPr>
                </a:tc>
                <a:tc>
                  <a:txBody>
                    <a:bodyPr/>
                    <a:lstStyle/>
                    <a:p>
                      <a:r>
                        <a:rPr lang="en-US" dirty="0"/>
                        <a:t>Months 4-12</a:t>
                      </a:r>
                    </a:p>
                  </a:txBody>
                  <a:tcPr anchor="ctr">
                    <a:lnT w="127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1737705056"/>
                  </a:ext>
                </a:extLst>
              </a:tr>
            </a:tbl>
          </a:graphicData>
        </a:graphic>
      </p:graphicFrame>
    </p:spTree>
    <p:extLst>
      <p:ext uri="{BB962C8B-B14F-4D97-AF65-F5344CB8AC3E}">
        <p14:creationId xmlns:p14="http://schemas.microsoft.com/office/powerpoint/2010/main" val="78829291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F74EBF14-2AD0-C08C-9A47-35970C426C1B}"/>
              </a:ext>
            </a:extLst>
          </p:cNvPr>
          <p:cNvSpPr>
            <a:spLocks noGrp="1"/>
          </p:cNvSpPr>
          <p:nvPr>
            <p:ph type="title"/>
          </p:nvPr>
        </p:nvSpPr>
        <p:spPr/>
        <p:txBody>
          <a:bodyPr/>
          <a:lstStyle/>
          <a:p>
            <a:r>
              <a:rPr lang="en-US" dirty="0"/>
              <a:t>Next Steps: towards an Agentic SOC</a:t>
            </a:r>
          </a:p>
        </p:txBody>
      </p:sp>
      <p:graphicFrame>
        <p:nvGraphicFramePr>
          <p:cNvPr id="30" name="Diagram 29">
            <a:extLst>
              <a:ext uri="{FF2B5EF4-FFF2-40B4-BE49-F238E27FC236}">
                <a16:creationId xmlns:a16="http://schemas.microsoft.com/office/drawing/2014/main" id="{515D9935-2A14-1B67-7777-30F85B1182BD}"/>
              </a:ext>
            </a:extLst>
          </p:cNvPr>
          <p:cNvGraphicFramePr/>
          <p:nvPr>
            <p:extLst>
              <p:ext uri="{D42A27DB-BD31-4B8C-83A1-F6EECF244321}">
                <p14:modId xmlns:p14="http://schemas.microsoft.com/office/powerpoint/2010/main" val="509403484"/>
              </p:ext>
            </p:extLst>
          </p:nvPr>
        </p:nvGraphicFramePr>
        <p:xfrm>
          <a:off x="586740" y="1435261"/>
          <a:ext cx="11018520" cy="456417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1" name="Right Arrow 30">
            <a:extLst>
              <a:ext uri="{FF2B5EF4-FFF2-40B4-BE49-F238E27FC236}">
                <a16:creationId xmlns:a16="http://schemas.microsoft.com/office/drawing/2014/main" id="{ABE3CE2E-EBDE-4048-F80E-78BB1902D146}"/>
              </a:ext>
            </a:extLst>
          </p:cNvPr>
          <p:cNvSpPr/>
          <p:nvPr/>
        </p:nvSpPr>
        <p:spPr bwMode="auto">
          <a:xfrm>
            <a:off x="0" y="5260693"/>
            <a:ext cx="12107119" cy="1533649"/>
          </a:xfrm>
          <a:prstGeom prst="rightArrow">
            <a:avLst/>
          </a:prstGeom>
          <a:solidFill>
            <a:schemeClr val="accent6">
              <a:alpha val="19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Tree>
    <p:extLst>
      <p:ext uri="{BB962C8B-B14F-4D97-AF65-F5344CB8AC3E}">
        <p14:creationId xmlns:p14="http://schemas.microsoft.com/office/powerpoint/2010/main" val="3650623978"/>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90122265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77CF7-AB37-2E7D-FBCE-DA71AE8D18FC}"/>
              </a:ext>
            </a:extLst>
          </p:cNvPr>
          <p:cNvSpPr>
            <a:spLocks noGrp="1"/>
          </p:cNvSpPr>
          <p:nvPr>
            <p:ph type="title"/>
          </p:nvPr>
        </p:nvSpPr>
        <p:spPr>
          <a:xfrm>
            <a:off x="588263" y="2413337"/>
            <a:ext cx="3352366" cy="2031325"/>
          </a:xfrm>
        </p:spPr>
        <p:txBody>
          <a:bodyPr/>
          <a:lstStyle/>
          <a:p>
            <a:r>
              <a:rPr lang="en-US" sz="6600" dirty="0">
                <a:latin typeface="Aptos Display" panose="020B0004020202020204" pitchFamily="34" charset="0"/>
              </a:rPr>
              <a:t>Backup Slides</a:t>
            </a:r>
          </a:p>
        </p:txBody>
      </p:sp>
      <mc:AlternateContent xmlns:mc="http://schemas.openxmlformats.org/markup-compatibility/2006">
        <mc:Choice xmlns:psuz="http://schemas.microsoft.com/office/powerpoint/2016/summaryzoom" Requires="psuz">
          <p:graphicFrame>
            <p:nvGraphicFramePr>
              <p:cNvPr id="3" name="Summary Zoom 2">
                <a:extLst>
                  <a:ext uri="{FF2B5EF4-FFF2-40B4-BE49-F238E27FC236}">
                    <a16:creationId xmlns:a16="http://schemas.microsoft.com/office/drawing/2014/main" id="{F5CDABC8-35B7-DDB1-9F88-295A2631F400}"/>
                  </a:ext>
                </a:extLst>
              </p:cNvPr>
              <p:cNvGraphicFramePr>
                <a:graphicFrameLocks noChangeAspect="1"/>
              </p:cNvGraphicFramePr>
              <p:nvPr>
                <p:extLst>
                  <p:ext uri="{D42A27DB-BD31-4B8C-83A1-F6EECF244321}">
                    <p14:modId xmlns:p14="http://schemas.microsoft.com/office/powerpoint/2010/main" val="588787536"/>
                  </p:ext>
                </p:extLst>
              </p:nvPr>
            </p:nvGraphicFramePr>
            <p:xfrm>
              <a:off x="3806372" y="719666"/>
              <a:ext cx="8128000" cy="5418667"/>
            </p:xfrm>
            <a:graphic>
              <a:graphicData uri="http://schemas.microsoft.com/office/powerpoint/2016/summaryzoom">
                <psuz:summaryZm>
                  <psuz:summaryZmObj sectionId="{49814469-9D18-7B40-8572-30F39A1C0A94}">
                    <psuz:zmPr id="{FB6D6D37-A949-6D44-90B3-ED753836A4E0}" transitionDur="1000">
                      <p166:blipFill xmlns:p166="http://schemas.microsoft.com/office/powerpoint/2016/6/main">
                        <a:blip r:embed="rId2"/>
                        <a:stretch>
                          <a:fillRect/>
                        </a:stretch>
                      </p166:blipFill>
                      <p166:spPr xmlns:p166="http://schemas.microsoft.com/office/powerpoint/2016/6/main">
                        <a:xfrm>
                          <a:off x="337820" y="583354"/>
                          <a:ext cx="3657600" cy="2057400"/>
                        </a:xfrm>
                        <a:prstGeom prst="rect">
                          <a:avLst/>
                        </a:prstGeom>
                        <a:ln w="3175">
                          <a:solidFill>
                            <a:prstClr val="ltGray"/>
                          </a:solidFill>
                        </a:ln>
                      </p166:spPr>
                    </psuz:zmPr>
                  </psuz:summaryZmObj>
                  <psuz:summaryZmObj sectionId="{3AF7D112-355C-E044-B824-4D1ECD9A60F8}">
                    <psuz:zmPr id="{E4686051-EEDA-7942-826A-605317A8CD4A}" transitionDur="1000">
                      <p166:blipFill xmlns:p166="http://schemas.microsoft.com/office/powerpoint/2016/6/main">
                        <a:blip r:embed="rId3"/>
                        <a:stretch>
                          <a:fillRect/>
                        </a:stretch>
                      </p166:blipFill>
                      <p166:spPr xmlns:p166="http://schemas.microsoft.com/office/powerpoint/2016/6/main">
                        <a:xfrm>
                          <a:off x="4132580" y="583354"/>
                          <a:ext cx="3657600" cy="2057400"/>
                        </a:xfrm>
                        <a:prstGeom prst="rect">
                          <a:avLst/>
                        </a:prstGeom>
                        <a:ln w="3175">
                          <a:solidFill>
                            <a:prstClr val="ltGray"/>
                          </a:solidFill>
                        </a:ln>
                      </p166:spPr>
                    </psuz:zmPr>
                  </psuz:summaryZmObj>
                  <psuz:summaryZmObj sectionId="{8D93FCD9-CF97-DF46-8D01-2FC6A0197F82}">
                    <psuz:zmPr id="{F4CF62F2-DC06-7C42-89EB-2A862BC66F8C}" transitionDur="1000">
                      <p166:blipFill xmlns:p166="http://schemas.microsoft.com/office/powerpoint/2016/6/main">
                        <a:blip r:embed="rId4"/>
                        <a:stretch>
                          <a:fillRect/>
                        </a:stretch>
                      </p166:blipFill>
                      <p166:spPr xmlns:p166="http://schemas.microsoft.com/office/powerpoint/2016/6/main">
                        <a:xfrm>
                          <a:off x="337820" y="2777914"/>
                          <a:ext cx="3657600" cy="2057400"/>
                        </a:xfrm>
                        <a:prstGeom prst="rect">
                          <a:avLst/>
                        </a:prstGeom>
                        <a:ln w="3175">
                          <a:solidFill>
                            <a:prstClr val="ltGray"/>
                          </a:solidFill>
                        </a:ln>
                      </p166:spPr>
                    </psuz:zmPr>
                  </psuz:summaryZmObj>
                  <psuz:summaryZmObj sectionId="{E03E310A-724C-C04F-BC0F-2C05DBDD1220}">
                    <psuz:zmPr id="{DDC1020A-115C-EA4D-9006-9F4431440260}" transitionDur="1000">
                      <p166:blipFill xmlns:p166="http://schemas.microsoft.com/office/powerpoint/2016/6/main">
                        <a:blip r:embed="rId5"/>
                        <a:stretch>
                          <a:fillRect/>
                        </a:stretch>
                      </p166:blipFill>
                      <p166:spPr xmlns:p166="http://schemas.microsoft.com/office/powerpoint/2016/6/main">
                        <a:xfrm>
                          <a:off x="4132580" y="2777914"/>
                          <a:ext cx="3657600" cy="2057400"/>
                        </a:xfrm>
                        <a:prstGeom prst="rect">
                          <a:avLst/>
                        </a:prstGeom>
                        <a:ln w="3175">
                          <a:solidFill>
                            <a:prstClr val="ltGray"/>
                          </a:solidFill>
                        </a:ln>
                      </p166:spPr>
                    </psuz:zmPr>
                  </psuz:summaryZmObj>
                  <psuz:gridLayout/>
                </psuz:summaryZm>
              </a:graphicData>
            </a:graphic>
          </p:graphicFrame>
        </mc:Choice>
        <mc:Fallback>
          <p:grpSp>
            <p:nvGrpSpPr>
              <p:cNvPr id="3" name="Summary Zoom 2">
                <a:extLst>
                  <a:ext uri="{FF2B5EF4-FFF2-40B4-BE49-F238E27FC236}">
                    <a16:creationId xmlns:a16="http://schemas.microsoft.com/office/drawing/2014/main" id="{F5CDABC8-35B7-DDB1-9F88-295A2631F400}"/>
                  </a:ext>
                </a:extLst>
              </p:cNvPr>
              <p:cNvGrpSpPr>
                <a:grpSpLocks noGrp="1" noUngrp="1" noRot="1" noChangeAspect="1" noMove="1" noResize="1"/>
              </p:cNvGrpSpPr>
              <p:nvPr/>
            </p:nvGrpSpPr>
            <p:grpSpPr>
              <a:xfrm>
                <a:off x="3806372" y="719666"/>
                <a:ext cx="8128000" cy="5418667"/>
                <a:chOff x="3806372" y="719666"/>
                <a:chExt cx="8128000" cy="5418667"/>
              </a:xfrm>
            </p:grpSpPr>
            <p:pic>
              <p:nvPicPr>
                <p:cNvPr id="4" name="Picture 4">
                  <a:hlinkClick r:id="rId6" action="ppaction://hlinksldjump"/>
                </p:cNvPr>
                <p:cNvPicPr>
                  <a:picLocks noSelect="1" noRot="1" noChangeAspect="1" noMove="1" noResize="1" noEditPoints="1" noAdjustHandles="1" noChangeArrowheads="1" noChangeShapeType="1"/>
                </p:cNvPicPr>
                <p:nvPr/>
              </p:nvPicPr>
              <p:blipFill>
                <a:blip r:embed="rId2"/>
                <a:stretch>
                  <a:fillRect/>
                </a:stretch>
              </p:blipFill>
              <p:spPr>
                <a:xfrm>
                  <a:off x="4144192" y="1303020"/>
                  <a:ext cx="3657600" cy="2057400"/>
                </a:xfrm>
                <a:prstGeom prst="rect">
                  <a:avLst/>
                </a:prstGeom>
                <a:ln w="3175">
                  <a:solidFill>
                    <a:prstClr val="ltGray"/>
                  </a:solidFill>
                </a:ln>
              </p:spPr>
            </p:pic>
            <p:pic>
              <p:nvPicPr>
                <p:cNvPr id="5" name="Picture 5">
                  <a:hlinkClick r:id="rId7" action="ppaction://hlinksldjump"/>
                </p:cNvPr>
                <p:cNvPicPr>
                  <a:picLocks noSelect="1" noRot="1" noChangeAspect="1" noMove="1" noResize="1" noEditPoints="1" noAdjustHandles="1" noChangeArrowheads="1" noChangeShapeType="1"/>
                </p:cNvPicPr>
                <p:nvPr/>
              </p:nvPicPr>
              <p:blipFill>
                <a:blip r:embed="rId3"/>
                <a:stretch>
                  <a:fillRect/>
                </a:stretch>
              </p:blipFill>
              <p:spPr>
                <a:xfrm>
                  <a:off x="7938952" y="1303020"/>
                  <a:ext cx="3657600" cy="2057400"/>
                </a:xfrm>
                <a:prstGeom prst="rect">
                  <a:avLst/>
                </a:prstGeom>
                <a:ln w="3175">
                  <a:solidFill>
                    <a:prstClr val="ltGray"/>
                  </a:solidFill>
                </a:ln>
              </p:spPr>
            </p:pic>
            <p:pic>
              <p:nvPicPr>
                <p:cNvPr id="6" name="Picture 6">
                  <a:hlinkClick r:id="rId8" action="ppaction://hlinksldjump"/>
                </p:cNvPr>
                <p:cNvPicPr>
                  <a:picLocks noSelect="1" noRot="1" noChangeAspect="1" noMove="1" noResize="1" noEditPoints="1" noAdjustHandles="1" noChangeArrowheads="1" noChangeShapeType="1"/>
                </p:cNvPicPr>
                <p:nvPr/>
              </p:nvPicPr>
              <p:blipFill>
                <a:blip r:embed="rId4"/>
                <a:stretch>
                  <a:fillRect/>
                </a:stretch>
              </p:blipFill>
              <p:spPr>
                <a:xfrm>
                  <a:off x="4144192" y="3497580"/>
                  <a:ext cx="3657600" cy="2057400"/>
                </a:xfrm>
                <a:prstGeom prst="rect">
                  <a:avLst/>
                </a:prstGeom>
                <a:ln w="3175">
                  <a:solidFill>
                    <a:prstClr val="ltGray"/>
                  </a:solidFill>
                </a:ln>
              </p:spPr>
            </p:pic>
            <p:pic>
              <p:nvPicPr>
                <p:cNvPr id="7" name="Picture 7">
                  <a:hlinkClick r:id="rId9" action="ppaction://hlinksldjump"/>
                </p:cNvPr>
                <p:cNvPicPr>
                  <a:picLocks noSelect="1" noRot="1" noChangeAspect="1" noMove="1" noResize="1" noEditPoints="1" noAdjustHandles="1" noChangeArrowheads="1" noChangeShapeType="1"/>
                </p:cNvPicPr>
                <p:nvPr/>
              </p:nvPicPr>
              <p:blipFill>
                <a:blip r:embed="rId5"/>
                <a:stretch>
                  <a:fillRect/>
                </a:stretch>
              </p:blipFill>
              <p:spPr>
                <a:xfrm>
                  <a:off x="7938952" y="3497580"/>
                  <a:ext cx="3657600" cy="2057400"/>
                </a:xfrm>
                <a:prstGeom prst="rect">
                  <a:avLst/>
                </a:prstGeom>
                <a:ln w="3175">
                  <a:solidFill>
                    <a:prstClr val="ltGray"/>
                  </a:solidFill>
                </a:ln>
              </p:spPr>
            </p:pic>
          </p:grpSp>
        </mc:Fallback>
      </mc:AlternateContent>
    </p:spTree>
    <p:extLst>
      <p:ext uri="{BB962C8B-B14F-4D97-AF65-F5344CB8AC3E}">
        <p14:creationId xmlns:p14="http://schemas.microsoft.com/office/powerpoint/2010/main" val="220805866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6392679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57F11E-DC4A-8844-5971-B0AC8FBEFF76}"/>
              </a:ext>
            </a:extLst>
          </p:cNvPr>
          <p:cNvSpPr>
            <a:spLocks noGrp="1"/>
          </p:cNvSpPr>
          <p:nvPr>
            <p:ph type="title"/>
          </p:nvPr>
        </p:nvSpPr>
        <p:spPr/>
        <p:txBody>
          <a:bodyPr/>
          <a:lstStyle/>
          <a:p>
            <a:r>
              <a:rPr lang="en-US" dirty="0"/>
              <a:t>Deliverable Cross-Check w/ Evidence Links</a:t>
            </a:r>
          </a:p>
        </p:txBody>
      </p:sp>
      <p:graphicFrame>
        <p:nvGraphicFramePr>
          <p:cNvPr id="3" name="Table 2">
            <a:extLst>
              <a:ext uri="{FF2B5EF4-FFF2-40B4-BE49-F238E27FC236}">
                <a16:creationId xmlns:a16="http://schemas.microsoft.com/office/drawing/2014/main" id="{80D0372F-2FCD-2CD8-237B-AFD6DA2AB31F}"/>
              </a:ext>
            </a:extLst>
          </p:cNvPr>
          <p:cNvGraphicFramePr>
            <a:graphicFrameLocks noGrp="1"/>
          </p:cNvGraphicFramePr>
          <p:nvPr>
            <p:extLst>
              <p:ext uri="{D42A27DB-BD31-4B8C-83A1-F6EECF244321}">
                <p14:modId xmlns:p14="http://schemas.microsoft.com/office/powerpoint/2010/main" val="97143393"/>
              </p:ext>
            </p:extLst>
          </p:nvPr>
        </p:nvGraphicFramePr>
        <p:xfrm>
          <a:off x="588263" y="1099595"/>
          <a:ext cx="11018520" cy="5251510"/>
        </p:xfrm>
        <a:graphic>
          <a:graphicData uri="http://schemas.openxmlformats.org/drawingml/2006/table">
            <a:tbl>
              <a:tblPr firstRow="1" firstCol="1" bandRow="1">
                <a:tableStyleId>{793D81CF-94F2-401A-BA57-92F5A7B2D0C5}</a:tableStyleId>
              </a:tblPr>
              <a:tblGrid>
                <a:gridCol w="2814694">
                  <a:extLst>
                    <a:ext uri="{9D8B030D-6E8A-4147-A177-3AD203B41FA5}">
                      <a16:colId xmlns:a16="http://schemas.microsoft.com/office/drawing/2014/main" val="489315573"/>
                    </a:ext>
                  </a:extLst>
                </a:gridCol>
                <a:gridCol w="4530986">
                  <a:extLst>
                    <a:ext uri="{9D8B030D-6E8A-4147-A177-3AD203B41FA5}">
                      <a16:colId xmlns:a16="http://schemas.microsoft.com/office/drawing/2014/main" val="3761329439"/>
                    </a:ext>
                  </a:extLst>
                </a:gridCol>
                <a:gridCol w="3672840">
                  <a:extLst>
                    <a:ext uri="{9D8B030D-6E8A-4147-A177-3AD203B41FA5}">
                      <a16:colId xmlns:a16="http://schemas.microsoft.com/office/drawing/2014/main" val="1639265659"/>
                    </a:ext>
                  </a:extLst>
                </a:gridCol>
              </a:tblGrid>
              <a:tr h="541210">
                <a:tc>
                  <a:txBody>
                    <a:bodyPr/>
                    <a:lstStyle/>
                    <a:p>
                      <a:pPr algn="ctr"/>
                      <a:r>
                        <a:rPr lang="en-US" dirty="0"/>
                        <a:t>Category</a:t>
                      </a:r>
                    </a:p>
                  </a:txBody>
                  <a:tcPr anchor="ctr"/>
                </a:tc>
                <a:tc>
                  <a:txBody>
                    <a:bodyPr/>
                    <a:lstStyle/>
                    <a:p>
                      <a:pPr algn="ctr"/>
                      <a:r>
                        <a:rPr lang="en-US" dirty="0"/>
                        <a:t>Evidence</a:t>
                      </a:r>
                    </a:p>
                  </a:txBody>
                  <a:tcPr anchor="ctr"/>
                </a:tc>
                <a:tc>
                  <a:txBody>
                    <a:bodyPr/>
                    <a:lstStyle/>
                    <a:p>
                      <a:pPr algn="ctr"/>
                      <a:r>
                        <a:rPr lang="en-US" dirty="0"/>
                        <a:t>Deliverables</a:t>
                      </a:r>
                    </a:p>
                  </a:txBody>
                  <a:tcPr anchor="ctr"/>
                </a:tc>
                <a:extLst>
                  <a:ext uri="{0D108BD9-81ED-4DB2-BD59-A6C34878D82A}">
                    <a16:rowId xmlns:a16="http://schemas.microsoft.com/office/drawing/2014/main" val="3099253347"/>
                  </a:ext>
                </a:extLst>
              </a:tr>
              <a:tr h="541210">
                <a:tc>
                  <a:txBody>
                    <a:bodyPr/>
                    <a:lstStyle/>
                    <a:p>
                      <a:pPr algn="ctr"/>
                      <a:r>
                        <a:rPr lang="en-US" dirty="0"/>
                        <a:t>1. Design</a:t>
                      </a:r>
                    </a:p>
                  </a:txBody>
                  <a:tcPr anchor="ctr"/>
                </a:tc>
                <a:tc>
                  <a:txBody>
                    <a:bodyPr/>
                    <a:lstStyle/>
                    <a:p>
                      <a:r>
                        <a:rPr lang="en-US" sz="1200" dirty="0"/>
                        <a:t>Comprehensive documentation, architectures, diagrams from multiple views and levels, and NFR coverage.</a:t>
                      </a:r>
                    </a:p>
                  </a:txBody>
                  <a:tcPr anchor="ctr"/>
                </a:tc>
                <a:tc>
                  <a:txBody>
                    <a:bodyPr/>
                    <a:lstStyle/>
                    <a:p>
                      <a:r>
                        <a:rPr lang="en-US" sz="1200" b="1" dirty="0">
                          <a:latin typeface="Consolas" panose="020B0609020204030204" pitchFamily="49" charset="0"/>
                          <a:cs typeface="Consolas" panose="020B0609020204030204" pitchFamily="49" charset="0"/>
                        </a:rPr>
                        <a:t>docs</a:t>
                      </a:r>
                      <a:r>
                        <a:rPr lang="en-US" sz="1200" dirty="0">
                          <a:latin typeface="Consolas" panose="020B0609020204030204" pitchFamily="49" charset="0"/>
                          <a:cs typeface="Consolas" panose="020B0609020204030204" pitchFamily="49" charset="0"/>
                        </a:rPr>
                        <a:t>/</a:t>
                      </a:r>
                      <a:r>
                        <a:rPr lang="en-US" sz="1200" dirty="0"/>
                        <a:t>, </a:t>
                      </a:r>
                      <a:r>
                        <a:rPr lang="en-US" sz="1200" b="1" dirty="0"/>
                        <a:t>specs</a:t>
                      </a:r>
                      <a:r>
                        <a:rPr lang="en-US" sz="1200" dirty="0"/>
                        <a:t>/, </a:t>
                      </a:r>
                      <a:r>
                        <a:rPr lang="en-US" sz="1200" b="1" dirty="0" err="1">
                          <a:latin typeface="Consolas" panose="020B0609020204030204" pitchFamily="49" charset="0"/>
                          <a:cs typeface="Consolas" panose="020B0609020204030204" pitchFamily="49" charset="0"/>
                        </a:rPr>
                        <a:t>README.md</a:t>
                      </a:r>
                      <a:r>
                        <a:rPr lang="en-US" sz="1200" dirty="0"/>
                        <a:t>, and more.</a:t>
                      </a:r>
                    </a:p>
                  </a:txBody>
                  <a:tcPr anchor="ctr"/>
                </a:tc>
                <a:extLst>
                  <a:ext uri="{0D108BD9-81ED-4DB2-BD59-A6C34878D82A}">
                    <a16:rowId xmlns:a16="http://schemas.microsoft.com/office/drawing/2014/main" val="246769803"/>
                  </a:ext>
                </a:extLst>
              </a:tr>
              <a:tr h="541210">
                <a:tc>
                  <a:txBody>
                    <a:bodyPr/>
                    <a:lstStyle/>
                    <a:p>
                      <a:pPr algn="ctr"/>
                      <a:r>
                        <a:rPr lang="en-US" dirty="0"/>
                        <a:t>2. Development</a:t>
                      </a:r>
                    </a:p>
                  </a:txBody>
                  <a:tcPr anchor="ctr"/>
                </a:tc>
                <a:tc>
                  <a:txBody>
                    <a:bodyPr/>
                    <a:lstStyle/>
                    <a:p>
                      <a:r>
                        <a:rPr lang="en-US" sz="1200" dirty="0"/>
                        <a:t>Clean code and package modularity following python best practices.</a:t>
                      </a:r>
                    </a:p>
                  </a:txBody>
                  <a:tcPr anchor="ctr"/>
                </a:tc>
                <a:tc>
                  <a:txBody>
                    <a:bodyPr/>
                    <a:lstStyle/>
                    <a:p>
                      <a:r>
                        <a:rPr lang="en-US" sz="1200" b="1" dirty="0" err="1"/>
                        <a:t>src</a:t>
                      </a:r>
                      <a:r>
                        <a:rPr lang="en-US" sz="1200" dirty="0"/>
                        <a:t>/, </a:t>
                      </a:r>
                      <a:r>
                        <a:rPr lang="en-US" sz="1200" b="1" dirty="0"/>
                        <a:t>agents</a:t>
                      </a:r>
                      <a:r>
                        <a:rPr lang="en-US" sz="1200" dirty="0"/>
                        <a:t>/</a:t>
                      </a:r>
                    </a:p>
                  </a:txBody>
                  <a:tcPr anchor="ctr"/>
                </a:tc>
                <a:extLst>
                  <a:ext uri="{0D108BD9-81ED-4DB2-BD59-A6C34878D82A}">
                    <a16:rowId xmlns:a16="http://schemas.microsoft.com/office/drawing/2014/main" val="1042216005"/>
                  </a:ext>
                </a:extLst>
              </a:tr>
              <a:tr h="541210">
                <a:tc>
                  <a:txBody>
                    <a:bodyPr/>
                    <a:lstStyle/>
                    <a:p>
                      <a:pPr algn="ctr"/>
                      <a:r>
                        <a:rPr lang="en-US" dirty="0"/>
                        <a:t>3. Testing</a:t>
                      </a:r>
                    </a:p>
                  </a:txBody>
                  <a:tcPr anchor="ctr"/>
                </a:tc>
                <a:tc>
                  <a:txBody>
                    <a:bodyPr/>
                    <a:lstStyle/>
                    <a:p>
                      <a:r>
                        <a:rPr lang="en-US" sz="1200" dirty="0"/>
                        <a:t>Extensive unit/integration/e2e tests with &gt;80% coverage (80.7%)</a:t>
                      </a:r>
                    </a:p>
                  </a:txBody>
                  <a:tcPr anchor="ctr"/>
                </a:tc>
                <a:tc>
                  <a:txBody>
                    <a:bodyPr/>
                    <a:lstStyle/>
                    <a:p>
                      <a:r>
                        <a:rPr lang="en-US" sz="1200" b="1" dirty="0">
                          <a:latin typeface="Consolas" panose="020B0609020204030204" pitchFamily="49" charset="0"/>
                          <a:cs typeface="Consolas" panose="020B0609020204030204" pitchFamily="49" charset="0"/>
                        </a:rPr>
                        <a:t>tests</a:t>
                      </a:r>
                      <a:r>
                        <a:rPr lang="en-US" sz="1200" dirty="0"/>
                        <a:t>/, </a:t>
                      </a:r>
                      <a:r>
                        <a:rPr lang="en-US" sz="1200" b="1" dirty="0" err="1">
                          <a:latin typeface="Consolas" panose="020B0609020204030204" pitchFamily="49" charset="0"/>
                          <a:cs typeface="Consolas" panose="020B0609020204030204" pitchFamily="49" charset="0"/>
                        </a:rPr>
                        <a:t>pytest.ini</a:t>
                      </a:r>
                      <a:r>
                        <a:rPr lang="en-US" sz="1200" b="0" dirty="0"/>
                        <a:t>, </a:t>
                      </a:r>
                      <a:r>
                        <a:rPr lang="en-US" sz="1200" b="1" dirty="0" err="1">
                          <a:latin typeface="Consolas" panose="020B0609020204030204" pitchFamily="49" charset="0"/>
                          <a:cs typeface="Consolas" panose="020B0609020204030204" pitchFamily="49" charset="0"/>
                        </a:rPr>
                        <a:t>COVERAGE_REPORT.md</a:t>
                      </a:r>
                      <a:br>
                        <a:rPr lang="en-US" sz="1200" b="1" dirty="0">
                          <a:latin typeface="Consolas" panose="020B0609020204030204" pitchFamily="49" charset="0"/>
                          <a:cs typeface="Consolas" panose="020B0609020204030204" pitchFamily="49" charset="0"/>
                        </a:rPr>
                      </a:br>
                      <a:r>
                        <a:rPr lang="en-US" sz="1200" b="1" dirty="0">
                          <a:latin typeface="Consolas" panose="020B0609020204030204" pitchFamily="49" charset="0"/>
                          <a:cs typeface="Consolas" panose="020B0609020204030204" pitchFamily="49" charset="0"/>
                        </a:rPr>
                        <a:t>CI workflow</a:t>
                      </a:r>
                    </a:p>
                  </a:txBody>
                  <a:tcPr anchor="ctr"/>
                </a:tc>
                <a:extLst>
                  <a:ext uri="{0D108BD9-81ED-4DB2-BD59-A6C34878D82A}">
                    <a16:rowId xmlns:a16="http://schemas.microsoft.com/office/drawing/2014/main" val="4204496655"/>
                  </a:ext>
                </a:extLst>
              </a:tr>
              <a:tr h="541210">
                <a:tc>
                  <a:txBody>
                    <a:bodyPr/>
                    <a:lstStyle/>
                    <a:p>
                      <a:pPr algn="ctr"/>
                      <a:r>
                        <a:rPr lang="en-US" dirty="0"/>
                        <a:t>4. Monitoring</a:t>
                      </a:r>
                    </a:p>
                  </a:txBody>
                  <a:tcPr anchor="ctr"/>
                </a:tc>
                <a:tc>
                  <a:txBody>
                    <a:bodyPr/>
                    <a:lstStyle/>
                    <a:p>
                      <a:r>
                        <a:rPr lang="en-US" sz="1200" dirty="0"/>
                        <a:t>Structured OpenTelemetry logging with Azure Monitor/App Insights; extensive error handling</a:t>
                      </a:r>
                    </a:p>
                  </a:txBody>
                  <a:tcPr anchor="ctr"/>
                </a:tc>
                <a:tc>
                  <a:txBody>
                    <a:bodyPr/>
                    <a:lstStyle/>
                    <a:p>
                      <a:r>
                        <a:rPr lang="en-US" sz="1200" b="1" dirty="0" err="1">
                          <a:latin typeface="Consolas" panose="020B0609020204030204" pitchFamily="49" charset="0"/>
                          <a:cs typeface="Consolas" panose="020B0609020204030204" pitchFamily="49" charset="0"/>
                        </a:rPr>
                        <a:t>src</a:t>
                      </a:r>
                      <a:r>
                        <a:rPr lang="en-US" sz="1200" b="1" dirty="0">
                          <a:latin typeface="Consolas" panose="020B0609020204030204" pitchFamily="49" charset="0"/>
                          <a:cs typeface="Consolas" panose="020B0609020204030204" pitchFamily="49" charset="0"/>
                        </a:rPr>
                        <a:t>/utils/</a:t>
                      </a:r>
                      <a:r>
                        <a:rPr lang="en-US" sz="1200" b="1" dirty="0" err="1">
                          <a:latin typeface="Consolas" panose="020B0609020204030204" pitchFamily="49" charset="0"/>
                          <a:cs typeface="Consolas" panose="020B0609020204030204" pitchFamily="49" charset="0"/>
                        </a:rPr>
                        <a:t>telemetry.py</a:t>
                      </a:r>
                      <a:r>
                        <a:rPr lang="en-US" sz="1200" b="1" dirty="0">
                          <a:latin typeface="Consolas" panose="020B0609020204030204" pitchFamily="49" charset="0"/>
                          <a:cs typeface="Consolas" panose="020B0609020204030204" pitchFamily="49" charset="0"/>
                        </a:rPr>
                        <a:t> </a:t>
                      </a:r>
                      <a:r>
                        <a:rPr lang="en-US" sz="1200" dirty="0"/>
                        <a:t>, Application Insights integration</a:t>
                      </a:r>
                    </a:p>
                  </a:txBody>
                  <a:tcPr anchor="ctr"/>
                </a:tc>
                <a:extLst>
                  <a:ext uri="{0D108BD9-81ED-4DB2-BD59-A6C34878D82A}">
                    <a16:rowId xmlns:a16="http://schemas.microsoft.com/office/drawing/2014/main" val="2862892343"/>
                  </a:ext>
                </a:extLst>
              </a:tr>
              <a:tr h="541210">
                <a:tc>
                  <a:txBody>
                    <a:bodyPr/>
                    <a:lstStyle/>
                    <a:p>
                      <a:pPr algn="ctr"/>
                      <a:r>
                        <a:rPr lang="en-US" dirty="0"/>
                        <a:t>5. AI Integration</a:t>
                      </a:r>
                    </a:p>
                  </a:txBody>
                  <a:tcPr anchor="ctr"/>
                </a:tc>
                <a:tc>
                  <a:txBody>
                    <a:bodyPr/>
                    <a:lstStyle/>
                    <a:p>
                      <a:r>
                        <a:rPr lang="en-US" sz="1200" dirty="0"/>
                        <a:t>Clear agentic purpose, purpose-selected model, RAG patterns and agentic memory.</a:t>
                      </a:r>
                    </a:p>
                  </a:txBody>
                  <a:tcPr anchor="ctr"/>
                </a:tc>
                <a:tc>
                  <a:txBody>
                    <a:bodyPr/>
                    <a:lstStyle/>
                    <a:p>
                      <a:r>
                        <a:rPr lang="en-US" sz="1200" dirty="0"/>
                        <a:t>Microsoft Foundry (v2) agents using the responses API and Python SDK. GPT-4.1-mini for dev. Integrated RAG Knowledge Bases and Memory.</a:t>
                      </a:r>
                    </a:p>
                  </a:txBody>
                  <a:tcPr anchor="ctr"/>
                </a:tc>
                <a:extLst>
                  <a:ext uri="{0D108BD9-81ED-4DB2-BD59-A6C34878D82A}">
                    <a16:rowId xmlns:a16="http://schemas.microsoft.com/office/drawing/2014/main" val="303622968"/>
                  </a:ext>
                </a:extLst>
              </a:tr>
              <a:tr h="541210">
                <a:tc>
                  <a:txBody>
                    <a:bodyPr/>
                    <a:lstStyle/>
                    <a:p>
                      <a:pPr algn="ctr"/>
                      <a:r>
                        <a:rPr lang="en-US" dirty="0"/>
                        <a:t>6. Agentic Behaviors</a:t>
                      </a:r>
                    </a:p>
                  </a:txBody>
                  <a:tcPr anchor="ctr"/>
                </a:tc>
                <a:tc>
                  <a:txBody>
                    <a:bodyPr/>
                    <a:lstStyle/>
                    <a:p>
                      <a:r>
                        <a:rPr lang="en-US" sz="1200" dirty="0"/>
                        <a:t>Designed autonomy with human-in-the-loop approval, declarative orchestration with multi-agent coordination.</a:t>
                      </a:r>
                    </a:p>
                  </a:txBody>
                  <a:tcPr anchor="ctr"/>
                </a:tc>
                <a:tc>
                  <a:txBody>
                    <a:bodyPr/>
                    <a:lstStyle/>
                    <a:p>
                      <a:r>
                        <a:rPr lang="en-US" sz="1200" dirty="0"/>
                        <a:t>Foundry Workflows (defect; using Prompt-chaining for MVP), Foundry IQ integration</a:t>
                      </a:r>
                    </a:p>
                  </a:txBody>
                  <a:tcPr anchor="ctr"/>
                </a:tc>
                <a:extLst>
                  <a:ext uri="{0D108BD9-81ED-4DB2-BD59-A6C34878D82A}">
                    <a16:rowId xmlns:a16="http://schemas.microsoft.com/office/drawing/2014/main" val="117177340"/>
                  </a:ext>
                </a:extLst>
              </a:tr>
              <a:tr h="541210">
                <a:tc>
                  <a:txBody>
                    <a:bodyPr/>
                    <a:lstStyle/>
                    <a:p>
                      <a:pPr algn="ctr"/>
                      <a:r>
                        <a:rPr lang="en-US" dirty="0"/>
                        <a:t>7. Architecture Features</a:t>
                      </a:r>
                    </a:p>
                  </a:txBody>
                  <a:tcPr anchor="ctr"/>
                </a:tc>
                <a:tc>
                  <a:txBody>
                    <a:bodyPr/>
                    <a:lstStyle/>
                    <a:p>
                      <a:r>
                        <a:rPr lang="en-US" sz="1200" dirty="0"/>
                        <a:t>Security through Managed Identities and RBAC. Key credentials minimized to Foundry Preview features. Deployment </a:t>
                      </a:r>
                    </a:p>
                  </a:txBody>
                  <a:tcPr anchor="ctr"/>
                </a:tc>
                <a:tc>
                  <a:txBody>
                    <a:bodyPr/>
                    <a:lstStyle/>
                    <a:p>
                      <a:r>
                        <a:rPr lang="en-US" sz="1200" dirty="0"/>
                        <a:t>Security Architecture, </a:t>
                      </a:r>
                      <a:r>
                        <a:rPr lang="en-US" sz="1200" b="1" dirty="0">
                          <a:latin typeface="Consolas" panose="020B0609020204030204" pitchFamily="49" charset="0"/>
                          <a:cs typeface="Consolas" panose="020B0609020204030204" pitchFamily="49" charset="0"/>
                        </a:rPr>
                        <a:t>infra/</a:t>
                      </a:r>
                      <a:r>
                        <a:rPr lang="en-US" sz="1200" b="1" dirty="0" err="1">
                          <a:latin typeface="Consolas" panose="020B0609020204030204" pitchFamily="49" charset="0"/>
                          <a:cs typeface="Consolas" panose="020B0609020204030204" pitchFamily="49" charset="0"/>
                        </a:rPr>
                        <a:t>deploy.py</a:t>
                      </a:r>
                      <a:r>
                        <a:rPr lang="en-US" sz="1200" b="1" dirty="0">
                          <a:latin typeface="Consolas" panose="020B0609020204030204" pitchFamily="49" charset="0"/>
                          <a:cs typeface="Consolas" panose="020B0609020204030204" pitchFamily="49" charset="0"/>
                        </a:rPr>
                        <a:t> </a:t>
                      </a:r>
                      <a:r>
                        <a:rPr lang="en-US" sz="1200" dirty="0"/>
                        <a:t>and associated scripts.</a:t>
                      </a:r>
                    </a:p>
                  </a:txBody>
                  <a:tcPr anchor="ctr"/>
                </a:tc>
                <a:extLst>
                  <a:ext uri="{0D108BD9-81ED-4DB2-BD59-A6C34878D82A}">
                    <a16:rowId xmlns:a16="http://schemas.microsoft.com/office/drawing/2014/main" val="1414451571"/>
                  </a:ext>
                </a:extLst>
              </a:tr>
              <a:tr h="610302">
                <a:tc>
                  <a:txBody>
                    <a:bodyPr/>
                    <a:lstStyle/>
                    <a:p>
                      <a:pPr algn="ctr"/>
                      <a:r>
                        <a:rPr lang="en-US" dirty="0"/>
                        <a:t>8. Presentation &amp; Docs</a:t>
                      </a:r>
                    </a:p>
                  </a:txBody>
                  <a:tcPr anchor="ctr"/>
                </a:tc>
                <a:tc>
                  <a:txBody>
                    <a:bodyPr/>
                    <a:lstStyle/>
                    <a:p>
                      <a:r>
                        <a:rPr lang="en-US" sz="1200" dirty="0"/>
                        <a:t>Clear explanations, diagrams, README and </a:t>
                      </a:r>
                      <a:r>
                        <a:rPr lang="en-US" sz="1200" dirty="0" err="1"/>
                        <a:t>Quickstart</a:t>
                      </a:r>
                      <a:r>
                        <a:rPr lang="en-US" sz="1200" dirty="0"/>
                        <a:t> guides. Full MARP final presentation Draft. Persona Q&amp;A prep documents. </a:t>
                      </a:r>
                    </a:p>
                  </a:txBody>
                  <a:tcPr anchor="ctr"/>
                </a:tc>
                <a:tc>
                  <a:txBody>
                    <a:bodyPr/>
                    <a:lstStyle/>
                    <a:p>
                      <a:r>
                        <a:rPr lang="en-US" sz="1200" b="1" dirty="0">
                          <a:latin typeface="Consolas" panose="020B0609020204030204" pitchFamily="49" charset="0"/>
                          <a:cs typeface="Consolas" panose="020B0609020204030204" pitchFamily="49" charset="0"/>
                        </a:rPr>
                        <a:t>docs/final-presentation/ </a:t>
                      </a:r>
                      <a:r>
                        <a:rPr lang="en-US" sz="1200" dirty="0"/>
                        <a:t>(prep materials), </a:t>
                      </a:r>
                      <a:r>
                        <a:rPr lang="en-US" sz="1200" b="1" dirty="0" err="1">
                          <a:latin typeface="Consolas" panose="020B0609020204030204" pitchFamily="49" charset="0"/>
                          <a:cs typeface="Consolas" panose="020B0609020204030204" pitchFamily="49" charset="0"/>
                        </a:rPr>
                        <a:t>ZeroTrustEnterprise_BusinessInsights.md</a:t>
                      </a:r>
                      <a:r>
                        <a:rPr lang="en-US" sz="1200" dirty="0"/>
                        <a:t>,</a:t>
                      </a:r>
                      <a:br>
                        <a:rPr lang="en-US" sz="1200" dirty="0"/>
                      </a:br>
                      <a:r>
                        <a:rPr lang="en-US" sz="1200" b="1" dirty="0" err="1">
                          <a:latin typeface="Consolas" panose="020B0609020204030204" pitchFamily="49" charset="0"/>
                          <a:cs typeface="Consolas" panose="020B0609020204030204" pitchFamily="49" charset="0"/>
                        </a:rPr>
                        <a:t>ProjectJudgeAgent</a:t>
                      </a:r>
                      <a:r>
                        <a:rPr lang="en-US" sz="1200" dirty="0"/>
                        <a:t> and </a:t>
                      </a:r>
                      <a:r>
                        <a:rPr lang="en-US" sz="1200" b="1" dirty="0" err="1">
                          <a:latin typeface="Consolas" panose="020B0609020204030204" pitchFamily="49" charset="0"/>
                          <a:cs typeface="Consolas" panose="020B0609020204030204" pitchFamily="49" charset="0"/>
                        </a:rPr>
                        <a:t>PresentationPrepAgent</a:t>
                      </a:r>
                      <a:r>
                        <a:rPr lang="en-US" sz="1200" dirty="0"/>
                        <a:t> and more.</a:t>
                      </a:r>
                    </a:p>
                  </a:txBody>
                  <a:tcPr anchor="ctr"/>
                </a:tc>
                <a:extLst>
                  <a:ext uri="{0D108BD9-81ED-4DB2-BD59-A6C34878D82A}">
                    <a16:rowId xmlns:a16="http://schemas.microsoft.com/office/drawing/2014/main" val="2916983428"/>
                  </a:ext>
                </a:extLst>
              </a:tr>
            </a:tbl>
          </a:graphicData>
        </a:graphic>
      </p:graphicFrame>
    </p:spTree>
    <p:extLst>
      <p:ext uri="{BB962C8B-B14F-4D97-AF65-F5344CB8AC3E}">
        <p14:creationId xmlns:p14="http://schemas.microsoft.com/office/powerpoint/2010/main" val="178727718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31321F-FE92-63AC-AC7F-D389EE9E05FB}"/>
              </a:ext>
            </a:extLst>
          </p:cNvPr>
          <p:cNvSpPr>
            <a:spLocks noGrp="1"/>
          </p:cNvSpPr>
          <p:nvPr>
            <p:ph type="title"/>
          </p:nvPr>
        </p:nvSpPr>
        <p:spPr/>
        <p:txBody>
          <a:bodyPr/>
          <a:lstStyle/>
          <a:p>
            <a:r>
              <a:rPr lang="en-US" b="1" dirty="0">
                <a:latin typeface="Aptos Display" panose="020B0004020202020204" pitchFamily="34" charset="0"/>
              </a:rPr>
              <a:t>Our Approach: </a:t>
            </a:r>
            <a:r>
              <a:rPr lang="en-US" dirty="0">
                <a:latin typeface="Aptos Display" panose="020B0004020202020204" pitchFamily="34" charset="0"/>
              </a:rPr>
              <a:t>Spec-Driven Development</a:t>
            </a:r>
          </a:p>
        </p:txBody>
      </p:sp>
    </p:spTree>
    <p:extLst>
      <p:ext uri="{BB962C8B-B14F-4D97-AF65-F5344CB8AC3E}">
        <p14:creationId xmlns:p14="http://schemas.microsoft.com/office/powerpoint/2010/main" val="3924188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40B03-31AA-48E4-3634-E21664388575}"/>
              </a:ext>
            </a:extLst>
          </p:cNvPr>
          <p:cNvSpPr>
            <a:spLocks noGrp="1"/>
          </p:cNvSpPr>
          <p:nvPr>
            <p:ph type="title"/>
          </p:nvPr>
        </p:nvSpPr>
        <p:spPr>
          <a:xfrm>
            <a:off x="588263" y="457200"/>
            <a:ext cx="11018520" cy="492443"/>
          </a:xfrm>
        </p:spPr>
        <p:txBody>
          <a:bodyPr/>
          <a:lstStyle/>
          <a:p>
            <a:r>
              <a:rPr lang="en-US" dirty="0"/>
              <a:t>Philosophy: Move from </a:t>
            </a:r>
            <a:r>
              <a:rPr lang="en-US" i="1" dirty="0"/>
              <a:t>typing</a:t>
            </a:r>
            <a:r>
              <a:rPr lang="en-US" dirty="0"/>
              <a:t> to </a:t>
            </a:r>
            <a:r>
              <a:rPr lang="en-US" i="1" dirty="0"/>
              <a:t>thinking</a:t>
            </a:r>
            <a:r>
              <a:rPr lang="en-US" dirty="0"/>
              <a:t>.</a:t>
            </a:r>
          </a:p>
        </p:txBody>
      </p:sp>
      <p:sp>
        <p:nvSpPr>
          <p:cNvPr id="3" name="TextBox 2">
            <a:extLst>
              <a:ext uri="{FF2B5EF4-FFF2-40B4-BE49-F238E27FC236}">
                <a16:creationId xmlns:a16="http://schemas.microsoft.com/office/drawing/2014/main" id="{6F8F5DC7-F26E-3083-2141-821E6EE1958F}"/>
              </a:ext>
            </a:extLst>
          </p:cNvPr>
          <p:cNvSpPr txBox="1"/>
          <p:nvPr/>
        </p:nvSpPr>
        <p:spPr>
          <a:xfrm>
            <a:off x="586740" y="1284790"/>
            <a:ext cx="11018519" cy="307777"/>
          </a:xfrm>
          <a:prstGeom prst="rect">
            <a:avLst/>
          </a:prstGeom>
          <a:noFill/>
        </p:spPr>
        <p:txBody>
          <a:bodyPr wrap="square" lIns="0" tIns="0" rIns="0" bIns="0" rtlCol="0">
            <a:spAutoFit/>
          </a:bodyPr>
          <a:lstStyle/>
          <a:p>
            <a:r>
              <a:rPr lang="en-US" sz="2000" dirty="0"/>
              <a:t>Build everything in collaboration with AI using M365 &amp; GitHub Copilot Agents and Spec-Kit. </a:t>
            </a:r>
          </a:p>
        </p:txBody>
      </p:sp>
      <p:graphicFrame>
        <p:nvGraphicFramePr>
          <p:cNvPr id="34" name="Diagram 33">
            <a:extLst>
              <a:ext uri="{FF2B5EF4-FFF2-40B4-BE49-F238E27FC236}">
                <a16:creationId xmlns:a16="http://schemas.microsoft.com/office/drawing/2014/main" id="{153FAE9D-2ED1-B0AA-E286-DCF2A633E392}"/>
              </a:ext>
            </a:extLst>
          </p:cNvPr>
          <p:cNvGraphicFramePr/>
          <p:nvPr>
            <p:extLst>
              <p:ext uri="{D42A27DB-BD31-4B8C-83A1-F6EECF244321}">
                <p14:modId xmlns:p14="http://schemas.microsoft.com/office/powerpoint/2010/main" val="1364000742"/>
              </p:ext>
            </p:extLst>
          </p:nvPr>
        </p:nvGraphicFramePr>
        <p:xfrm>
          <a:off x="586739" y="1922949"/>
          <a:ext cx="4969109" cy="42106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5" name="Diagram 34">
            <a:extLst>
              <a:ext uri="{FF2B5EF4-FFF2-40B4-BE49-F238E27FC236}">
                <a16:creationId xmlns:a16="http://schemas.microsoft.com/office/drawing/2014/main" id="{E16667C4-BA1D-3EBA-A49A-3B0CCCA2D033}"/>
              </a:ext>
            </a:extLst>
          </p:cNvPr>
          <p:cNvGraphicFramePr/>
          <p:nvPr>
            <p:extLst>
              <p:ext uri="{D42A27DB-BD31-4B8C-83A1-F6EECF244321}">
                <p14:modId xmlns:p14="http://schemas.microsoft.com/office/powerpoint/2010/main" val="437053308"/>
              </p:ext>
            </p:extLst>
          </p:nvPr>
        </p:nvGraphicFramePr>
        <p:xfrm>
          <a:off x="6095999" y="1922949"/>
          <a:ext cx="4965192" cy="4215384"/>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6264767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539324-0D7C-1C56-7B2F-49F20976A74A}"/>
              </a:ext>
            </a:extLst>
          </p:cNvPr>
          <p:cNvSpPr>
            <a:spLocks noGrp="1"/>
          </p:cNvSpPr>
          <p:nvPr>
            <p:ph type="title"/>
          </p:nvPr>
        </p:nvSpPr>
        <p:spPr/>
        <p:txBody>
          <a:bodyPr/>
          <a:lstStyle/>
          <a:p>
            <a:r>
              <a:rPr lang="en-US" dirty="0"/>
              <a:t>Meet the Team: Purpose Built Agents for Build and Prep</a:t>
            </a:r>
          </a:p>
        </p:txBody>
      </p:sp>
      <p:graphicFrame>
        <p:nvGraphicFramePr>
          <p:cNvPr id="3" name="Diagram 2">
            <a:extLst>
              <a:ext uri="{FF2B5EF4-FFF2-40B4-BE49-F238E27FC236}">
                <a16:creationId xmlns:a16="http://schemas.microsoft.com/office/drawing/2014/main" id="{1799B76E-A557-1DE4-7DF6-6B995605A618}"/>
              </a:ext>
            </a:extLst>
          </p:cNvPr>
          <p:cNvGraphicFramePr/>
          <p:nvPr>
            <p:extLst>
              <p:ext uri="{D42A27DB-BD31-4B8C-83A1-F6EECF244321}">
                <p14:modId xmlns:p14="http://schemas.microsoft.com/office/powerpoint/2010/main" val="3291576002"/>
              </p:ext>
            </p:extLst>
          </p:nvPr>
        </p:nvGraphicFramePr>
        <p:xfrm>
          <a:off x="6481823" y="1388962"/>
          <a:ext cx="5124958" cy="47493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a:extLst>
              <a:ext uri="{FF2B5EF4-FFF2-40B4-BE49-F238E27FC236}">
                <a16:creationId xmlns:a16="http://schemas.microsoft.com/office/drawing/2014/main" id="{BEEC4F5D-F83E-8CC8-5EE9-5009B619983A}"/>
              </a:ext>
            </a:extLst>
          </p:cNvPr>
          <p:cNvSpPr/>
          <p:nvPr/>
        </p:nvSpPr>
        <p:spPr bwMode="auto">
          <a:xfrm>
            <a:off x="585218" y="1388963"/>
            <a:ext cx="5510781" cy="4749370"/>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marL="342900" indent="-342900" algn="l" defTabSz="932472" fontAlgn="base">
              <a:spcBef>
                <a:spcPct val="0"/>
              </a:spcBef>
              <a:spcAft>
                <a:spcPct val="0"/>
              </a:spcAft>
              <a:buFont typeface="Arial" panose="020B0604020202020204" pitchFamily="34" charset="0"/>
              <a:buChar char="•"/>
            </a:pPr>
            <a:r>
              <a:rPr lang="en-US" sz="2000" dirty="0">
                <a:solidFill>
                  <a:schemeClr val="bg1"/>
                </a:solidFill>
                <a:ea typeface="Segoe UI" pitchFamily="34" charset="0"/>
                <a:cs typeface="Segoe UI" pitchFamily="34" charset="0"/>
              </a:rPr>
              <a:t>Spec-kit Agents accelerated the process.</a:t>
            </a:r>
          </a:p>
          <a:p>
            <a:pPr marL="342900" indent="-342900" algn="l" defTabSz="932472" fontAlgn="base">
              <a:spcBef>
                <a:spcPct val="0"/>
              </a:spcBef>
              <a:spcAft>
                <a:spcPct val="0"/>
              </a:spcAft>
              <a:buFont typeface="Arial" panose="020B0604020202020204" pitchFamily="34" charset="0"/>
              <a:buChar char="•"/>
            </a:pPr>
            <a:r>
              <a:rPr lang="en-US" sz="2000" dirty="0">
                <a:solidFill>
                  <a:schemeClr val="bg1"/>
                </a:solidFill>
                <a:ea typeface="Segoe UI" pitchFamily="34" charset="0"/>
                <a:cs typeface="Segoe UI" pitchFamily="34" charset="0"/>
              </a:rPr>
              <a:t>If I found I required new expertise, I ‘hired’ a new agent.</a:t>
            </a:r>
          </a:p>
          <a:p>
            <a:pPr marL="342900" indent="-342900" algn="l" defTabSz="932472" fontAlgn="base">
              <a:spcBef>
                <a:spcPct val="0"/>
              </a:spcBef>
              <a:spcAft>
                <a:spcPct val="0"/>
              </a:spcAft>
              <a:buFont typeface="Arial" panose="020B0604020202020204" pitchFamily="34" charset="0"/>
              <a:buChar char="•"/>
            </a:pPr>
            <a:endParaRPr lang="en-US" sz="2000" dirty="0">
              <a:solidFill>
                <a:schemeClr val="bg1"/>
              </a:solidFill>
              <a:ea typeface="Segoe UI" pitchFamily="34" charset="0"/>
              <a:cs typeface="Segoe UI" pitchFamily="34" charset="0"/>
            </a:endParaRPr>
          </a:p>
          <a:p>
            <a:pPr marL="342900" indent="-342900" algn="l" defTabSz="932472" fontAlgn="base">
              <a:spcBef>
                <a:spcPct val="0"/>
              </a:spcBef>
              <a:spcAft>
                <a:spcPct val="0"/>
              </a:spcAft>
              <a:buFont typeface="Arial" panose="020B0604020202020204" pitchFamily="34" charset="0"/>
              <a:buChar char="•"/>
            </a:pPr>
            <a:r>
              <a:rPr lang="en-US" sz="2000" dirty="0">
                <a:solidFill>
                  <a:schemeClr val="bg1"/>
                </a:solidFill>
                <a:ea typeface="Segoe UI" pitchFamily="34" charset="0"/>
                <a:cs typeface="Segoe UI" pitchFamily="34" charset="0"/>
              </a:rPr>
              <a:t>Most Value Agents: </a:t>
            </a:r>
            <a:r>
              <a:rPr lang="en-US" sz="2000" b="1" dirty="0">
                <a:solidFill>
                  <a:schemeClr val="accent3"/>
                </a:solidFill>
                <a:ea typeface="Segoe UI" pitchFamily="34" charset="0"/>
                <a:cs typeface="Segoe UI" pitchFamily="34" charset="0"/>
              </a:rPr>
              <a:t>CSA</a:t>
            </a:r>
            <a:r>
              <a:rPr lang="en-US" sz="2000" dirty="0">
                <a:solidFill>
                  <a:schemeClr val="bg1"/>
                </a:solidFill>
                <a:ea typeface="Segoe UI" pitchFamily="34" charset="0"/>
                <a:cs typeface="Segoe UI" pitchFamily="34" charset="0"/>
              </a:rPr>
              <a:t>, </a:t>
            </a:r>
            <a:r>
              <a:rPr lang="en-US" sz="2000" b="1" dirty="0">
                <a:solidFill>
                  <a:schemeClr val="accent3"/>
                </a:solidFill>
                <a:ea typeface="Segoe UI" pitchFamily="34" charset="0"/>
                <a:cs typeface="Segoe UI" pitchFamily="34" charset="0"/>
              </a:rPr>
              <a:t>Python Dev</a:t>
            </a:r>
            <a:r>
              <a:rPr lang="en-US" sz="2000" dirty="0">
                <a:solidFill>
                  <a:schemeClr val="bg1"/>
                </a:solidFill>
                <a:ea typeface="Segoe UI" pitchFamily="34" charset="0"/>
                <a:cs typeface="Segoe UI" pitchFamily="34" charset="0"/>
              </a:rPr>
              <a:t>, </a:t>
            </a:r>
            <a:r>
              <a:rPr lang="en-US" sz="2000" b="1" dirty="0">
                <a:solidFill>
                  <a:schemeClr val="accent3"/>
                </a:solidFill>
                <a:ea typeface="Segoe UI" pitchFamily="34" charset="0"/>
                <a:cs typeface="Segoe UI" pitchFamily="34" charset="0"/>
              </a:rPr>
              <a:t>Project Judge</a:t>
            </a:r>
            <a:r>
              <a:rPr lang="en-US" sz="2000" dirty="0">
                <a:solidFill>
                  <a:schemeClr val="bg1"/>
                </a:solidFill>
                <a:ea typeface="Segoe UI" pitchFamily="34" charset="0"/>
                <a:cs typeface="Segoe UI" pitchFamily="34" charset="0"/>
              </a:rPr>
              <a:t>, and </a:t>
            </a:r>
            <a:r>
              <a:rPr lang="en-US" sz="2000" b="1" dirty="0">
                <a:solidFill>
                  <a:schemeClr val="accent3"/>
                </a:solidFill>
                <a:ea typeface="Segoe UI" pitchFamily="34" charset="0"/>
                <a:cs typeface="Segoe UI" pitchFamily="34" charset="0"/>
              </a:rPr>
              <a:t>Presentation Prep</a:t>
            </a:r>
            <a:r>
              <a:rPr lang="en-US" sz="2000" dirty="0">
                <a:solidFill>
                  <a:schemeClr val="bg1"/>
                </a:solidFill>
                <a:ea typeface="Segoe UI" pitchFamily="34" charset="0"/>
                <a:cs typeface="Segoe UI" pitchFamily="34" charset="0"/>
              </a:rPr>
              <a:t>.</a:t>
            </a:r>
          </a:p>
          <a:p>
            <a:pPr marL="342900" indent="-342900" algn="l" defTabSz="932472" fontAlgn="base">
              <a:spcBef>
                <a:spcPct val="0"/>
              </a:spcBef>
              <a:spcAft>
                <a:spcPct val="0"/>
              </a:spcAft>
              <a:buFont typeface="Arial" panose="020B0604020202020204" pitchFamily="34" charset="0"/>
              <a:buChar char="•"/>
            </a:pPr>
            <a:endParaRPr lang="en-US" sz="2000" dirty="0">
              <a:solidFill>
                <a:schemeClr val="bg1"/>
              </a:solidFill>
              <a:ea typeface="Segoe UI" pitchFamily="34" charset="0"/>
              <a:cs typeface="Segoe UI" pitchFamily="34" charset="0"/>
            </a:endParaRPr>
          </a:p>
          <a:p>
            <a:pPr marL="342900" indent="-342900" algn="l" defTabSz="932472" fontAlgn="base">
              <a:spcBef>
                <a:spcPct val="0"/>
              </a:spcBef>
              <a:spcAft>
                <a:spcPct val="0"/>
              </a:spcAft>
              <a:buFont typeface="Arial" panose="020B0604020202020204" pitchFamily="34" charset="0"/>
              <a:buChar char="•"/>
            </a:pPr>
            <a:r>
              <a:rPr lang="en-US" sz="2000" dirty="0">
                <a:solidFill>
                  <a:schemeClr val="bg1"/>
                </a:solidFill>
                <a:ea typeface="Segoe UI" pitchFamily="34" charset="0"/>
                <a:cs typeface="Segoe UI" pitchFamily="34" charset="0"/>
              </a:rPr>
              <a:t>Codified learnings in agent memory markdown files. Regularly refined and consolidated.</a:t>
            </a:r>
          </a:p>
        </p:txBody>
      </p:sp>
    </p:spTree>
    <p:extLst>
      <p:ext uri="{BB962C8B-B14F-4D97-AF65-F5344CB8AC3E}">
        <p14:creationId xmlns:p14="http://schemas.microsoft.com/office/powerpoint/2010/main" val="23150207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E4FD14C-048B-2EC5-B697-DC95C7082828}"/>
              </a:ext>
            </a:extLst>
          </p:cNvPr>
          <p:cNvSpPr>
            <a:spLocks noGrp="1"/>
          </p:cNvSpPr>
          <p:nvPr>
            <p:ph type="title"/>
          </p:nvPr>
        </p:nvSpPr>
        <p:spPr>
          <a:xfrm>
            <a:off x="584200" y="2044005"/>
            <a:ext cx="5854700" cy="1277929"/>
          </a:xfrm>
        </p:spPr>
        <p:txBody>
          <a:bodyPr/>
          <a:lstStyle/>
          <a:p>
            <a:r>
              <a:rPr lang="en-US" sz="5400" b="1" dirty="0">
                <a:latin typeface="Aptos Display" panose="020B0004020202020204" pitchFamily="34" charset="0"/>
              </a:rPr>
              <a:t>Technical Diagrams</a:t>
            </a:r>
          </a:p>
        </p:txBody>
      </p:sp>
      <p:sp>
        <p:nvSpPr>
          <p:cNvPr id="7" name="TextBox 6">
            <a:extLst>
              <a:ext uri="{FF2B5EF4-FFF2-40B4-BE49-F238E27FC236}">
                <a16:creationId xmlns:a16="http://schemas.microsoft.com/office/drawing/2014/main" id="{5BD6DBBE-8DA3-8EEC-BBA9-3F118FE53B89}"/>
              </a:ext>
            </a:extLst>
          </p:cNvPr>
          <p:cNvSpPr txBox="1"/>
          <p:nvPr/>
        </p:nvSpPr>
        <p:spPr>
          <a:xfrm>
            <a:off x="584200" y="3463199"/>
            <a:ext cx="5854635" cy="1538883"/>
          </a:xfrm>
          <a:prstGeom prst="rect">
            <a:avLst/>
          </a:prstGeom>
          <a:noFill/>
        </p:spPr>
        <p:txBody>
          <a:bodyPr wrap="square" lIns="0" tIns="0" rIns="0" bIns="0" rtlCol="0">
            <a:spAutoFit/>
          </a:bodyPr>
          <a:lstStyle/>
          <a:p>
            <a:pPr algn="l"/>
            <a:r>
              <a:rPr lang="en-US" sz="2000" dirty="0"/>
              <a:t>The following are selections of the technical diagrams in this solution.</a:t>
            </a:r>
          </a:p>
          <a:p>
            <a:pPr algn="l"/>
            <a:endParaRPr lang="en-US" sz="2000" dirty="0"/>
          </a:p>
          <a:p>
            <a:pPr algn="l"/>
            <a:r>
              <a:rPr lang="en-US" sz="2000" dirty="0"/>
              <a:t>For additional diagrams and context, see:</a:t>
            </a:r>
          </a:p>
          <a:p>
            <a:pPr algn="l"/>
            <a:r>
              <a:rPr lang="en-US" sz="2000" b="1" dirty="0" err="1">
                <a:hlinkClick r:id="rId2"/>
              </a:rPr>
              <a:t>AgenticSOC_Architecture.md</a:t>
            </a:r>
            <a:endParaRPr lang="en-US" sz="2000" b="1" dirty="0"/>
          </a:p>
        </p:txBody>
      </p:sp>
    </p:spTree>
    <p:extLst>
      <p:ext uri="{BB962C8B-B14F-4D97-AF65-F5344CB8AC3E}">
        <p14:creationId xmlns:p14="http://schemas.microsoft.com/office/powerpoint/2010/main" val="807182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150AD-5217-F0B1-2A54-4EE349964BFB}"/>
              </a:ext>
            </a:extLst>
          </p:cNvPr>
          <p:cNvSpPr>
            <a:spLocks noGrp="1"/>
          </p:cNvSpPr>
          <p:nvPr>
            <p:ph type="title"/>
          </p:nvPr>
        </p:nvSpPr>
        <p:spPr/>
        <p:txBody>
          <a:bodyPr/>
          <a:lstStyle/>
          <a:p>
            <a:r>
              <a:rPr lang="en-US" dirty="0"/>
              <a:t>System Context Diagram</a:t>
            </a:r>
          </a:p>
        </p:txBody>
      </p:sp>
      <p:pic>
        <p:nvPicPr>
          <p:cNvPr id="3" name="Picture 2">
            <a:extLst>
              <a:ext uri="{FF2B5EF4-FFF2-40B4-BE49-F238E27FC236}">
                <a16:creationId xmlns:a16="http://schemas.microsoft.com/office/drawing/2014/main" id="{92A80A97-0951-6F62-9345-4ED821F602B1}"/>
              </a:ext>
            </a:extLst>
          </p:cNvPr>
          <p:cNvPicPr>
            <a:picLocks noChangeAspect="1"/>
          </p:cNvPicPr>
          <p:nvPr/>
        </p:nvPicPr>
        <p:blipFill>
          <a:blip r:embed="rId2"/>
          <a:stretch>
            <a:fillRect/>
          </a:stretch>
        </p:blipFill>
        <p:spPr>
          <a:xfrm>
            <a:off x="588263" y="1403152"/>
            <a:ext cx="7772400" cy="4584129"/>
          </a:xfrm>
          <a:prstGeom prst="rect">
            <a:avLst/>
          </a:prstGeom>
          <a:effectLst>
            <a:glow rad="101600">
              <a:schemeClr val="accent2">
                <a:satMod val="175000"/>
                <a:alpha val="40000"/>
              </a:schemeClr>
            </a:glow>
          </a:effectLst>
        </p:spPr>
      </p:pic>
      <p:sp>
        <p:nvSpPr>
          <p:cNvPr id="4" name="TextBox 3">
            <a:extLst>
              <a:ext uri="{FF2B5EF4-FFF2-40B4-BE49-F238E27FC236}">
                <a16:creationId xmlns:a16="http://schemas.microsoft.com/office/drawing/2014/main" id="{9BBFEA23-2E50-0EAD-17D0-0E754C7CA48E}"/>
              </a:ext>
            </a:extLst>
          </p:cNvPr>
          <p:cNvSpPr txBox="1"/>
          <p:nvPr/>
        </p:nvSpPr>
        <p:spPr>
          <a:xfrm>
            <a:off x="8669437" y="2065539"/>
            <a:ext cx="2934300" cy="3259354"/>
          </a:xfrm>
          <a:prstGeom prst="rect">
            <a:avLst/>
          </a:prstGeom>
        </p:spPr>
        <p:style>
          <a:lnRef idx="2">
            <a:schemeClr val="accent1"/>
          </a:lnRef>
          <a:fillRef idx="1">
            <a:schemeClr val="lt1"/>
          </a:fillRef>
          <a:effectRef idx="0">
            <a:schemeClr val="accent1"/>
          </a:effectRef>
          <a:fontRef idx="minor">
            <a:schemeClr val="dk1"/>
          </a:fontRef>
        </p:style>
        <p:txBody>
          <a:bodyPr wrap="square" lIns="91440" tIns="0" rIns="91440" bIns="0" rtlCol="0">
            <a:spAutoFit/>
          </a:bodyPr>
          <a:lstStyle/>
          <a:p>
            <a:r>
              <a:rPr lang="en-US" b="1" dirty="0"/>
              <a:t>Key Points:</a:t>
            </a:r>
          </a:p>
          <a:p>
            <a:pPr marL="114300" indent="-114300">
              <a:buFont typeface="Arial" panose="020B0604020202020204" pitchFamily="34" charset="0"/>
              <a:buChar char="•"/>
            </a:pPr>
            <a:r>
              <a:rPr lang="en-US" dirty="0"/>
              <a:t>SOC Analysts interact via CLI and Jupyter notebooks</a:t>
            </a:r>
          </a:p>
          <a:p>
            <a:pPr marL="114300" indent="-114300">
              <a:buFont typeface="Arial" panose="020B0604020202020204" pitchFamily="34" charset="0"/>
              <a:buChar char="•"/>
            </a:pPr>
            <a:r>
              <a:rPr lang="en-US" dirty="0"/>
              <a:t>Microsoft Foundry is the core AI agent platform</a:t>
            </a:r>
          </a:p>
          <a:p>
            <a:pPr marL="114300" indent="-114300">
              <a:buFont typeface="Arial" panose="020B0604020202020204" pitchFamily="34" charset="0"/>
              <a:buChar char="•"/>
            </a:pPr>
            <a:r>
              <a:rPr lang="en-US" dirty="0"/>
              <a:t>Microsoft Sentinel serves as the central SIEM</a:t>
            </a:r>
          </a:p>
          <a:p>
            <a:pPr marL="114300" indent="-114300">
              <a:buFont typeface="Arial" panose="020B0604020202020204" pitchFamily="34" charset="0"/>
              <a:buChar char="•"/>
            </a:pPr>
            <a:r>
              <a:rPr lang="en-US" dirty="0"/>
              <a:t>All authentication uses Managed Identity with Entra ID RBAC</a:t>
            </a:r>
          </a:p>
          <a:p>
            <a:pPr marL="114300" indent="-114300">
              <a:buFont typeface="Arial" panose="020B0604020202020204" pitchFamily="34" charset="0"/>
              <a:buChar char="•"/>
            </a:pPr>
            <a:r>
              <a:rPr lang="en-US" dirty="0"/>
              <a:t>Azure Monitor provides observability</a:t>
            </a:r>
          </a:p>
        </p:txBody>
      </p:sp>
    </p:spTree>
    <p:extLst>
      <p:ext uri="{BB962C8B-B14F-4D97-AF65-F5344CB8AC3E}">
        <p14:creationId xmlns:p14="http://schemas.microsoft.com/office/powerpoint/2010/main" val="284137815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2C3BC-5B29-EA42-102D-7FA03C817BD9}"/>
              </a:ext>
            </a:extLst>
          </p:cNvPr>
          <p:cNvSpPr>
            <a:spLocks noGrp="1"/>
          </p:cNvSpPr>
          <p:nvPr>
            <p:ph type="title"/>
          </p:nvPr>
        </p:nvSpPr>
        <p:spPr/>
        <p:txBody>
          <a:bodyPr/>
          <a:lstStyle/>
          <a:p>
            <a:r>
              <a:rPr lang="en-US" dirty="0"/>
              <a:t>Component Architecture</a:t>
            </a:r>
          </a:p>
        </p:txBody>
      </p:sp>
      <p:grpSp>
        <p:nvGrpSpPr>
          <p:cNvPr id="8" name="Group 7">
            <a:extLst>
              <a:ext uri="{FF2B5EF4-FFF2-40B4-BE49-F238E27FC236}">
                <a16:creationId xmlns:a16="http://schemas.microsoft.com/office/drawing/2014/main" id="{227C0D0B-6F29-47F0-A44F-74CA0558FF64}"/>
              </a:ext>
            </a:extLst>
          </p:cNvPr>
          <p:cNvGrpSpPr/>
          <p:nvPr/>
        </p:nvGrpSpPr>
        <p:grpSpPr>
          <a:xfrm>
            <a:off x="592405" y="1221129"/>
            <a:ext cx="11014378" cy="4415742"/>
            <a:chOff x="588263" y="1116958"/>
            <a:chExt cx="11014378" cy="4415742"/>
          </a:xfrm>
        </p:grpSpPr>
        <p:sp>
          <p:nvSpPr>
            <p:cNvPr id="7" name="Rectangle 6">
              <a:extLst>
                <a:ext uri="{FF2B5EF4-FFF2-40B4-BE49-F238E27FC236}">
                  <a16:creationId xmlns:a16="http://schemas.microsoft.com/office/drawing/2014/main" id="{D091C051-7567-566F-68DC-A04EA55BA4C9}"/>
                </a:ext>
              </a:extLst>
            </p:cNvPr>
            <p:cNvSpPr/>
            <p:nvPr/>
          </p:nvSpPr>
          <p:spPr bwMode="auto">
            <a:xfrm>
              <a:off x="588263" y="1116958"/>
              <a:ext cx="11014378" cy="4415742"/>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pic>
          <p:nvPicPr>
            <p:cNvPr id="6" name="Picture 5" descr="Graphical user interface, application&#10;&#10;AI-generated content may be incorrect.">
              <a:extLst>
                <a:ext uri="{FF2B5EF4-FFF2-40B4-BE49-F238E27FC236}">
                  <a16:creationId xmlns:a16="http://schemas.microsoft.com/office/drawing/2014/main" id="{049A8564-269C-E28B-95EB-1E9DF349D25E}"/>
                </a:ext>
              </a:extLst>
            </p:cNvPr>
            <p:cNvPicPr>
              <a:picLocks noChangeAspect="1"/>
            </p:cNvPicPr>
            <p:nvPr/>
          </p:nvPicPr>
          <p:blipFill>
            <a:blip r:embed="rId2"/>
            <a:stretch>
              <a:fillRect/>
            </a:stretch>
          </p:blipFill>
          <p:spPr>
            <a:xfrm>
              <a:off x="778841" y="1219219"/>
              <a:ext cx="10633222" cy="4197734"/>
            </a:xfrm>
            <a:prstGeom prst="rect">
              <a:avLst/>
            </a:prstGeom>
          </p:spPr>
        </p:pic>
      </p:grpSp>
    </p:spTree>
    <p:extLst>
      <p:ext uri="{BB962C8B-B14F-4D97-AF65-F5344CB8AC3E}">
        <p14:creationId xmlns:p14="http://schemas.microsoft.com/office/powerpoint/2010/main" val="1752319662"/>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F32EB-1CF9-3029-4703-CFE63DBFE5FC}"/>
              </a:ext>
            </a:extLst>
          </p:cNvPr>
          <p:cNvSpPr>
            <a:spLocks noGrp="1"/>
          </p:cNvSpPr>
          <p:nvPr>
            <p:ph type="title"/>
          </p:nvPr>
        </p:nvSpPr>
        <p:spPr/>
        <p:txBody>
          <a:bodyPr/>
          <a:lstStyle/>
          <a:p>
            <a:r>
              <a:rPr lang="en-US" dirty="0"/>
              <a:t>Alert Triage Sequence Diagram</a:t>
            </a:r>
          </a:p>
        </p:txBody>
      </p:sp>
      <p:pic>
        <p:nvPicPr>
          <p:cNvPr id="4" name="Picture 3" descr="Graphical user interface&#10;&#10;AI-generated content may be incorrect.">
            <a:extLst>
              <a:ext uri="{FF2B5EF4-FFF2-40B4-BE49-F238E27FC236}">
                <a16:creationId xmlns:a16="http://schemas.microsoft.com/office/drawing/2014/main" id="{1F1B9152-8A73-0308-1698-B6581ACCF2F8}"/>
              </a:ext>
            </a:extLst>
          </p:cNvPr>
          <p:cNvPicPr>
            <a:picLocks noChangeAspect="1"/>
          </p:cNvPicPr>
          <p:nvPr/>
        </p:nvPicPr>
        <p:blipFill>
          <a:blip r:embed="rId2"/>
          <a:stretch>
            <a:fillRect/>
          </a:stretch>
        </p:blipFill>
        <p:spPr>
          <a:xfrm>
            <a:off x="588263" y="1192711"/>
            <a:ext cx="7005693" cy="5208089"/>
          </a:xfrm>
          <a:prstGeom prst="rect">
            <a:avLst/>
          </a:prstGeom>
        </p:spPr>
      </p:pic>
      <p:sp>
        <p:nvSpPr>
          <p:cNvPr id="5" name="Rectangle 4">
            <a:extLst>
              <a:ext uri="{FF2B5EF4-FFF2-40B4-BE49-F238E27FC236}">
                <a16:creationId xmlns:a16="http://schemas.microsoft.com/office/drawing/2014/main" id="{85856D49-EA9B-4786-20B4-4A996B1D62E6}"/>
              </a:ext>
            </a:extLst>
          </p:cNvPr>
          <p:cNvSpPr/>
          <p:nvPr/>
        </p:nvSpPr>
        <p:spPr bwMode="auto">
          <a:xfrm>
            <a:off x="8015585" y="2135788"/>
            <a:ext cx="3588152" cy="3321934"/>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r>
              <a:rPr lang="en-US" b="1" dirty="0"/>
              <a:t>Key Interactions:</a:t>
            </a:r>
          </a:p>
          <a:p>
            <a:r>
              <a:rPr lang="en-US" dirty="0"/>
              <a:t>1. Alert stream triggers automated triage workflow</a:t>
            </a:r>
          </a:p>
          <a:p>
            <a:r>
              <a:rPr lang="en-US" dirty="0"/>
              <a:t>2. Triage Agent queries memory for historical patterns</a:t>
            </a:r>
          </a:p>
          <a:p>
            <a:r>
              <a:rPr lang="en-US" dirty="0"/>
              <a:t>3. RAG search enriches alerts with MITRE techniques</a:t>
            </a:r>
          </a:p>
          <a:p>
            <a:r>
              <a:rPr lang="en-US" dirty="0"/>
              <a:t>4. High-risk alerts trigger threat intelligence enrichment</a:t>
            </a:r>
          </a:p>
          <a:p>
            <a:r>
              <a:rPr lang="en-US" dirty="0"/>
              <a:t>5. Results stored in memory and written back to Sentinel</a:t>
            </a:r>
          </a:p>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Tree>
    <p:extLst>
      <p:ext uri="{BB962C8B-B14F-4D97-AF65-F5344CB8AC3E}">
        <p14:creationId xmlns:p14="http://schemas.microsoft.com/office/powerpoint/2010/main" val="2493093622"/>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E24DE-9F8D-1183-4010-D5EC171669D4}"/>
              </a:ext>
            </a:extLst>
          </p:cNvPr>
          <p:cNvSpPr>
            <a:spLocks noGrp="1"/>
          </p:cNvSpPr>
          <p:nvPr>
            <p:ph type="title"/>
          </p:nvPr>
        </p:nvSpPr>
        <p:spPr/>
        <p:txBody>
          <a:bodyPr/>
          <a:lstStyle/>
          <a:p>
            <a:r>
              <a:rPr lang="en-US" dirty="0"/>
              <a:t>Data Flow Architecture</a:t>
            </a:r>
          </a:p>
        </p:txBody>
      </p:sp>
      <p:pic>
        <p:nvPicPr>
          <p:cNvPr id="4" name="Picture 3" descr="Diagram&#10;&#10;AI-generated content may be incorrect.">
            <a:extLst>
              <a:ext uri="{FF2B5EF4-FFF2-40B4-BE49-F238E27FC236}">
                <a16:creationId xmlns:a16="http://schemas.microsoft.com/office/drawing/2014/main" id="{B0F1FA55-8306-B602-C4E2-14A1749D1EE2}"/>
              </a:ext>
            </a:extLst>
          </p:cNvPr>
          <p:cNvPicPr>
            <a:picLocks noChangeAspect="1"/>
          </p:cNvPicPr>
          <p:nvPr/>
        </p:nvPicPr>
        <p:blipFill>
          <a:blip r:embed="rId2"/>
          <a:stretch>
            <a:fillRect/>
          </a:stretch>
        </p:blipFill>
        <p:spPr>
          <a:xfrm>
            <a:off x="588263" y="1470719"/>
            <a:ext cx="11022644" cy="2777189"/>
          </a:xfrm>
          <a:prstGeom prst="rect">
            <a:avLst/>
          </a:prstGeom>
        </p:spPr>
      </p:pic>
    </p:spTree>
    <p:extLst>
      <p:ext uri="{BB962C8B-B14F-4D97-AF65-F5344CB8AC3E}">
        <p14:creationId xmlns:p14="http://schemas.microsoft.com/office/powerpoint/2010/main" val="418168112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0F5E0-8F55-C1CE-49A5-CEE14F145D6A}"/>
              </a:ext>
            </a:extLst>
          </p:cNvPr>
          <p:cNvSpPr>
            <a:spLocks noGrp="1"/>
          </p:cNvSpPr>
          <p:nvPr>
            <p:ph type="title"/>
          </p:nvPr>
        </p:nvSpPr>
        <p:spPr/>
        <p:txBody>
          <a:bodyPr/>
          <a:lstStyle/>
          <a:p>
            <a:r>
              <a:rPr lang="en-US" dirty="0"/>
              <a:t>Deployment Architecture</a:t>
            </a:r>
          </a:p>
        </p:txBody>
      </p:sp>
      <p:pic>
        <p:nvPicPr>
          <p:cNvPr id="4" name="Picture 3" descr="Diagram&#10;&#10;AI-generated content may be incorrect.">
            <a:extLst>
              <a:ext uri="{FF2B5EF4-FFF2-40B4-BE49-F238E27FC236}">
                <a16:creationId xmlns:a16="http://schemas.microsoft.com/office/drawing/2014/main" id="{77DEFF6A-5A1D-B280-D4AE-047F5B804B65}"/>
              </a:ext>
            </a:extLst>
          </p:cNvPr>
          <p:cNvPicPr>
            <a:picLocks noChangeAspect="1"/>
          </p:cNvPicPr>
          <p:nvPr/>
        </p:nvPicPr>
        <p:blipFill>
          <a:blip r:embed="rId2"/>
          <a:stretch>
            <a:fillRect/>
          </a:stretch>
        </p:blipFill>
        <p:spPr>
          <a:xfrm>
            <a:off x="588262" y="1361593"/>
            <a:ext cx="10604393" cy="4059493"/>
          </a:xfrm>
          <a:prstGeom prst="rect">
            <a:avLst/>
          </a:prstGeom>
        </p:spPr>
      </p:pic>
    </p:spTree>
    <p:extLst>
      <p:ext uri="{BB962C8B-B14F-4D97-AF65-F5344CB8AC3E}">
        <p14:creationId xmlns:p14="http://schemas.microsoft.com/office/powerpoint/2010/main" val="40248756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60DA6-E58E-FF72-AA80-58FF10762738}"/>
              </a:ext>
            </a:extLst>
          </p:cNvPr>
          <p:cNvSpPr>
            <a:spLocks noGrp="1"/>
          </p:cNvSpPr>
          <p:nvPr>
            <p:ph type="title"/>
          </p:nvPr>
        </p:nvSpPr>
        <p:spPr>
          <a:xfrm>
            <a:off x="588263" y="457200"/>
            <a:ext cx="5322680" cy="984885"/>
          </a:xfrm>
        </p:spPr>
        <p:txBody>
          <a:bodyPr/>
          <a:lstStyle/>
          <a:p>
            <a:r>
              <a:rPr lang="en-US" dirty="0"/>
              <a:t>Multi-Region Deployment Architecture (Thoughts)</a:t>
            </a:r>
          </a:p>
        </p:txBody>
      </p:sp>
      <p:pic>
        <p:nvPicPr>
          <p:cNvPr id="4" name="Picture 3" descr="Diagram&#10;&#10;AI-generated content may be incorrect.">
            <a:extLst>
              <a:ext uri="{FF2B5EF4-FFF2-40B4-BE49-F238E27FC236}">
                <a16:creationId xmlns:a16="http://schemas.microsoft.com/office/drawing/2014/main" id="{BFD3EA20-DBA8-FEF9-AABB-91E6D5A4DE16}"/>
              </a:ext>
            </a:extLst>
          </p:cNvPr>
          <p:cNvPicPr>
            <a:picLocks noChangeAspect="1"/>
          </p:cNvPicPr>
          <p:nvPr/>
        </p:nvPicPr>
        <p:blipFill>
          <a:blip r:embed="rId2"/>
          <a:stretch>
            <a:fillRect/>
          </a:stretch>
        </p:blipFill>
        <p:spPr>
          <a:xfrm>
            <a:off x="6749143" y="-1"/>
            <a:ext cx="5442857" cy="6859675"/>
          </a:xfrm>
          <a:prstGeom prst="rect">
            <a:avLst/>
          </a:prstGeom>
        </p:spPr>
      </p:pic>
      <p:sp>
        <p:nvSpPr>
          <p:cNvPr id="5" name="TextBox 4">
            <a:extLst>
              <a:ext uri="{FF2B5EF4-FFF2-40B4-BE49-F238E27FC236}">
                <a16:creationId xmlns:a16="http://schemas.microsoft.com/office/drawing/2014/main" id="{D21A8350-68F2-B943-F02F-6ACB9225FF58}"/>
              </a:ext>
            </a:extLst>
          </p:cNvPr>
          <p:cNvSpPr txBox="1"/>
          <p:nvPr/>
        </p:nvSpPr>
        <p:spPr>
          <a:xfrm>
            <a:off x="588263" y="1700127"/>
            <a:ext cx="5507737" cy="2585323"/>
          </a:xfrm>
          <a:prstGeom prst="rect">
            <a:avLst/>
          </a:prstGeom>
          <a:noFill/>
        </p:spPr>
        <p:txBody>
          <a:bodyPr wrap="square" lIns="0" tIns="0" rIns="0" bIns="0" rtlCol="0">
            <a:spAutoFit/>
          </a:bodyPr>
          <a:lstStyle/>
          <a:p>
            <a:pPr marL="285750" indent="-285750">
              <a:buFont typeface="Arial" panose="020B0604020202020204" pitchFamily="34" charset="0"/>
              <a:buChar char="•"/>
            </a:pPr>
            <a:r>
              <a:rPr lang="en-US" sz="1400" b="1" dirty="0"/>
              <a:t>Multi-Region Deployment</a:t>
            </a:r>
            <a:r>
              <a:rPr lang="en-US" sz="1400" dirty="0"/>
              <a:t>: Active-Passive (Hot/Warm) architecture across East US and West US regions; managed by Traffic Manager.</a:t>
            </a:r>
          </a:p>
          <a:p>
            <a:pPr marL="285750" indent="-285750">
              <a:buFont typeface="Arial" panose="020B0604020202020204" pitchFamily="34" charset="0"/>
              <a:buChar char="•"/>
            </a:pPr>
            <a:r>
              <a:rPr lang="en-US" sz="1400" b="1" dirty="0"/>
              <a:t>Microsoft Foundry BCDR</a:t>
            </a:r>
            <a:r>
              <a:rPr lang="en-US" sz="1400" dirty="0"/>
              <a:t>: Redundant Projects, Resources, Agents, and Models across regions.</a:t>
            </a:r>
          </a:p>
          <a:p>
            <a:pPr marL="285750" indent="-285750">
              <a:buFont typeface="Arial" panose="020B0604020202020204" pitchFamily="34" charset="0"/>
              <a:buChar char="•"/>
            </a:pPr>
            <a:r>
              <a:rPr lang="en-US" sz="1400" b="1" dirty="0"/>
              <a:t>Foundry IQ Agent Memory</a:t>
            </a:r>
            <a:r>
              <a:rPr lang="en-US" sz="1400" dirty="0"/>
              <a:t>: Cross-region memory handling and synchronization strategies</a:t>
            </a:r>
          </a:p>
          <a:p>
            <a:pPr marL="285750" indent="-285750">
              <a:buFont typeface="Arial" panose="020B0604020202020204" pitchFamily="34" charset="0"/>
              <a:buChar char="•"/>
            </a:pPr>
            <a:r>
              <a:rPr lang="en-US" sz="1400" b="1" dirty="0"/>
              <a:t>Azure AI Search</a:t>
            </a:r>
            <a:r>
              <a:rPr lang="en-US" sz="1400" dirty="0"/>
              <a:t>: Multi-region knowledge base failover and index synchronization</a:t>
            </a:r>
          </a:p>
          <a:p>
            <a:pPr marL="285750" indent="-285750">
              <a:buFont typeface="Arial" panose="020B0604020202020204" pitchFamily="34" charset="0"/>
              <a:buChar char="•"/>
            </a:pPr>
            <a:r>
              <a:rPr lang="en-US" sz="1400" b="1" dirty="0"/>
              <a:t>RTO/RPO Targets</a:t>
            </a:r>
            <a:r>
              <a:rPr lang="en-US" sz="1400" dirty="0"/>
              <a:t>: Recovery Time Objective (RTO) and Recovery Point Objective (RPO) definitions</a:t>
            </a:r>
          </a:p>
          <a:p>
            <a:pPr marL="285750" indent="-285750">
              <a:buFont typeface="Arial" panose="020B0604020202020204" pitchFamily="34" charset="0"/>
              <a:buChar char="•"/>
            </a:pPr>
            <a:r>
              <a:rPr lang="en-US" sz="1400" b="1" dirty="0"/>
              <a:t>Failover Procedures</a:t>
            </a:r>
            <a:r>
              <a:rPr lang="en-US" sz="1400" dirty="0"/>
              <a:t>: Automated and manual failover workflows</a:t>
            </a:r>
          </a:p>
        </p:txBody>
      </p:sp>
      <p:graphicFrame>
        <p:nvGraphicFramePr>
          <p:cNvPr id="7" name="Table 6">
            <a:extLst>
              <a:ext uri="{FF2B5EF4-FFF2-40B4-BE49-F238E27FC236}">
                <a16:creationId xmlns:a16="http://schemas.microsoft.com/office/drawing/2014/main" id="{1FF83DE1-23E7-1585-FFBB-615FEEDD7F01}"/>
              </a:ext>
            </a:extLst>
          </p:cNvPr>
          <p:cNvGraphicFramePr>
            <a:graphicFrameLocks noGrp="1"/>
          </p:cNvGraphicFramePr>
          <p:nvPr>
            <p:extLst>
              <p:ext uri="{D42A27DB-BD31-4B8C-83A1-F6EECF244321}">
                <p14:modId xmlns:p14="http://schemas.microsoft.com/office/powerpoint/2010/main" val="4124340965"/>
              </p:ext>
            </p:extLst>
          </p:nvPr>
        </p:nvGraphicFramePr>
        <p:xfrm>
          <a:off x="588262" y="4787898"/>
          <a:ext cx="5507738" cy="1612902"/>
        </p:xfrm>
        <a:graphic>
          <a:graphicData uri="http://schemas.openxmlformats.org/drawingml/2006/table">
            <a:tbl>
              <a:tblPr firstRow="1">
                <a:tableStyleId>{69C7853C-536D-4A76-A0AE-DD22124D55A5}</a:tableStyleId>
              </a:tblPr>
              <a:tblGrid>
                <a:gridCol w="2046080">
                  <a:extLst>
                    <a:ext uri="{9D8B030D-6E8A-4147-A177-3AD203B41FA5}">
                      <a16:colId xmlns:a16="http://schemas.microsoft.com/office/drawing/2014/main" val="3867877673"/>
                    </a:ext>
                  </a:extLst>
                </a:gridCol>
                <a:gridCol w="3461658">
                  <a:extLst>
                    <a:ext uri="{9D8B030D-6E8A-4147-A177-3AD203B41FA5}">
                      <a16:colId xmlns:a16="http://schemas.microsoft.com/office/drawing/2014/main" val="2823462887"/>
                    </a:ext>
                  </a:extLst>
                </a:gridCol>
              </a:tblGrid>
              <a:tr h="268817">
                <a:tc>
                  <a:txBody>
                    <a:bodyPr/>
                    <a:lstStyle/>
                    <a:p>
                      <a:pPr>
                        <a:buNone/>
                      </a:pPr>
                      <a:r>
                        <a:rPr lang="en-US" sz="1200" b="1" dirty="0">
                          <a:effectLst/>
                        </a:rPr>
                        <a:t>Measure</a:t>
                      </a:r>
                    </a:p>
                  </a:txBody>
                  <a:tcPr marL="85652" marR="85652" marT="39532" marB="39532" anchor="ctr"/>
                </a:tc>
                <a:tc>
                  <a:txBody>
                    <a:bodyPr/>
                    <a:lstStyle/>
                    <a:p>
                      <a:pPr>
                        <a:buNone/>
                      </a:pPr>
                      <a:r>
                        <a:rPr lang="en-US" sz="1200" b="1">
                          <a:effectLst/>
                        </a:rPr>
                        <a:t>Implementation</a:t>
                      </a:r>
                    </a:p>
                  </a:txBody>
                  <a:tcPr marL="85652" marR="85652" marT="39532" marB="39532" anchor="ctr"/>
                </a:tc>
                <a:extLst>
                  <a:ext uri="{0D108BD9-81ED-4DB2-BD59-A6C34878D82A}">
                    <a16:rowId xmlns:a16="http://schemas.microsoft.com/office/drawing/2014/main" val="1164820678"/>
                  </a:ext>
                </a:extLst>
              </a:tr>
              <a:tr h="268817">
                <a:tc>
                  <a:txBody>
                    <a:bodyPr/>
                    <a:lstStyle/>
                    <a:p>
                      <a:pPr>
                        <a:buNone/>
                      </a:pPr>
                      <a:r>
                        <a:rPr lang="en-US" sz="1200" b="1" dirty="0">
                          <a:effectLst/>
                        </a:rPr>
                        <a:t>Availability Target</a:t>
                      </a:r>
                    </a:p>
                  </a:txBody>
                  <a:tcPr marL="85652" marR="85652" marT="39532" marB="39532" anchor="ctr"/>
                </a:tc>
                <a:tc>
                  <a:txBody>
                    <a:bodyPr/>
                    <a:lstStyle/>
                    <a:p>
                      <a:pPr>
                        <a:buNone/>
                      </a:pPr>
                      <a:r>
                        <a:rPr lang="en-US" sz="1200" b="0">
                          <a:effectLst/>
                        </a:rPr>
                        <a:t>99.95% (composite SLA)</a:t>
                      </a:r>
                    </a:p>
                  </a:txBody>
                  <a:tcPr marL="85652" marR="85652" marT="39532" marB="39532" anchor="ctr"/>
                </a:tc>
                <a:extLst>
                  <a:ext uri="{0D108BD9-81ED-4DB2-BD59-A6C34878D82A}">
                    <a16:rowId xmlns:a16="http://schemas.microsoft.com/office/drawing/2014/main" val="1251619520"/>
                  </a:ext>
                </a:extLst>
              </a:tr>
              <a:tr h="268817">
                <a:tc>
                  <a:txBody>
                    <a:bodyPr/>
                    <a:lstStyle/>
                    <a:p>
                      <a:pPr>
                        <a:buNone/>
                      </a:pPr>
                      <a:r>
                        <a:rPr lang="en-US" sz="1200" b="1" dirty="0">
                          <a:effectLst/>
                        </a:rPr>
                        <a:t>RTO</a:t>
                      </a:r>
                    </a:p>
                  </a:txBody>
                  <a:tcPr marL="85652" marR="85652" marT="39532" marB="39532" anchor="ctr"/>
                </a:tc>
                <a:tc>
                  <a:txBody>
                    <a:bodyPr/>
                    <a:lstStyle/>
                    <a:p>
                      <a:pPr>
                        <a:buNone/>
                      </a:pPr>
                      <a:r>
                        <a:rPr lang="en-US" sz="1200" b="0" dirty="0">
                          <a:effectLst/>
                        </a:rPr>
                        <a:t>30 minutes (full regional failover)</a:t>
                      </a:r>
                    </a:p>
                  </a:txBody>
                  <a:tcPr marL="85652" marR="85652" marT="39532" marB="39532" anchor="ctr"/>
                </a:tc>
                <a:extLst>
                  <a:ext uri="{0D108BD9-81ED-4DB2-BD59-A6C34878D82A}">
                    <a16:rowId xmlns:a16="http://schemas.microsoft.com/office/drawing/2014/main" val="4106747079"/>
                  </a:ext>
                </a:extLst>
              </a:tr>
              <a:tr h="268817">
                <a:tc>
                  <a:txBody>
                    <a:bodyPr/>
                    <a:lstStyle/>
                    <a:p>
                      <a:pPr>
                        <a:buNone/>
                      </a:pPr>
                      <a:r>
                        <a:rPr lang="en-US" sz="1200" b="1" dirty="0">
                          <a:effectLst/>
                        </a:rPr>
                        <a:t>RPO</a:t>
                      </a:r>
                    </a:p>
                  </a:txBody>
                  <a:tcPr marL="85652" marR="85652" marT="39532" marB="39532" anchor="ctr"/>
                </a:tc>
                <a:tc>
                  <a:txBody>
                    <a:bodyPr/>
                    <a:lstStyle/>
                    <a:p>
                      <a:pPr>
                        <a:buNone/>
                      </a:pPr>
                      <a:r>
                        <a:rPr lang="en-US" sz="1200" b="0" dirty="0">
                          <a:effectLst/>
                        </a:rPr>
                        <a:t>&lt;15 seconds (memory), near-zero (knowledge)</a:t>
                      </a:r>
                    </a:p>
                  </a:txBody>
                  <a:tcPr marL="85652" marR="85652" marT="39532" marB="39532" anchor="ctr"/>
                </a:tc>
                <a:extLst>
                  <a:ext uri="{0D108BD9-81ED-4DB2-BD59-A6C34878D82A}">
                    <a16:rowId xmlns:a16="http://schemas.microsoft.com/office/drawing/2014/main" val="2633628080"/>
                  </a:ext>
                </a:extLst>
              </a:tr>
              <a:tr h="268817">
                <a:tc>
                  <a:txBody>
                    <a:bodyPr/>
                    <a:lstStyle/>
                    <a:p>
                      <a:pPr>
                        <a:buNone/>
                      </a:pPr>
                      <a:r>
                        <a:rPr lang="en-US" sz="1200" b="1" dirty="0">
                          <a:effectLst/>
                        </a:rPr>
                        <a:t>Automatic Failover</a:t>
                      </a:r>
                    </a:p>
                  </a:txBody>
                  <a:tcPr marL="85652" marR="85652" marT="39532" marB="39532" anchor="ctr"/>
                </a:tc>
                <a:tc>
                  <a:txBody>
                    <a:bodyPr/>
                    <a:lstStyle/>
                    <a:p>
                      <a:pPr>
                        <a:buNone/>
                      </a:pPr>
                      <a:r>
                        <a:rPr lang="en-US" sz="1200" b="0" dirty="0">
                          <a:effectLst/>
                        </a:rPr>
                        <a:t>Traffic Manager + Cosmos DB service-managed</a:t>
                      </a:r>
                    </a:p>
                  </a:txBody>
                  <a:tcPr marL="85652" marR="85652" marT="39532" marB="39532" anchor="ctr"/>
                </a:tc>
                <a:extLst>
                  <a:ext uri="{0D108BD9-81ED-4DB2-BD59-A6C34878D82A}">
                    <a16:rowId xmlns:a16="http://schemas.microsoft.com/office/drawing/2014/main" val="1969831093"/>
                  </a:ext>
                </a:extLst>
              </a:tr>
              <a:tr h="268817">
                <a:tc>
                  <a:txBody>
                    <a:bodyPr/>
                    <a:lstStyle/>
                    <a:p>
                      <a:pPr>
                        <a:buNone/>
                      </a:pPr>
                      <a:r>
                        <a:rPr lang="en-US" sz="1200" b="1" dirty="0">
                          <a:effectLst/>
                        </a:rPr>
                        <a:t>Disaster Recovery Testing</a:t>
                      </a:r>
                    </a:p>
                  </a:txBody>
                  <a:tcPr marL="85652" marR="85652" marT="39532" marB="39532" anchor="ctr"/>
                </a:tc>
                <a:tc>
                  <a:txBody>
                    <a:bodyPr/>
                    <a:lstStyle/>
                    <a:p>
                      <a:pPr>
                        <a:buNone/>
                      </a:pPr>
                      <a:r>
                        <a:rPr lang="en-US" sz="1200" b="0" dirty="0">
                          <a:effectLst/>
                        </a:rPr>
                        <a:t>Quarterly failover drills</a:t>
                      </a:r>
                    </a:p>
                  </a:txBody>
                  <a:tcPr marL="85652" marR="85652" marT="39532" marB="39532" anchor="ctr"/>
                </a:tc>
                <a:extLst>
                  <a:ext uri="{0D108BD9-81ED-4DB2-BD59-A6C34878D82A}">
                    <a16:rowId xmlns:a16="http://schemas.microsoft.com/office/drawing/2014/main" val="2572778228"/>
                  </a:ext>
                </a:extLst>
              </a:tr>
            </a:tbl>
          </a:graphicData>
        </a:graphic>
      </p:graphicFrame>
    </p:spTree>
    <p:extLst>
      <p:ext uri="{BB962C8B-B14F-4D97-AF65-F5344CB8AC3E}">
        <p14:creationId xmlns:p14="http://schemas.microsoft.com/office/powerpoint/2010/main" val="142960166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292A1-9388-B04A-9C38-196C61D73C9C}"/>
              </a:ext>
            </a:extLst>
          </p:cNvPr>
          <p:cNvSpPr>
            <a:spLocks noGrp="1"/>
          </p:cNvSpPr>
          <p:nvPr>
            <p:ph type="title"/>
          </p:nvPr>
        </p:nvSpPr>
        <p:spPr/>
        <p:txBody>
          <a:bodyPr/>
          <a:lstStyle/>
          <a:p>
            <a:r>
              <a:rPr lang="en-US" dirty="0"/>
              <a:t>Security Sequence</a:t>
            </a:r>
          </a:p>
        </p:txBody>
      </p:sp>
      <p:pic>
        <p:nvPicPr>
          <p:cNvPr id="6" name="Picture 5" descr="Diagram, timeline&#10;&#10;AI-generated content may be incorrect.">
            <a:extLst>
              <a:ext uri="{FF2B5EF4-FFF2-40B4-BE49-F238E27FC236}">
                <a16:creationId xmlns:a16="http://schemas.microsoft.com/office/drawing/2014/main" id="{21DEF31D-D482-7EA9-A8EF-5C9D934577AC}"/>
              </a:ext>
            </a:extLst>
          </p:cNvPr>
          <p:cNvPicPr>
            <a:picLocks noChangeAspect="1"/>
          </p:cNvPicPr>
          <p:nvPr/>
        </p:nvPicPr>
        <p:blipFill>
          <a:blip r:embed="rId2"/>
          <a:stretch>
            <a:fillRect/>
          </a:stretch>
        </p:blipFill>
        <p:spPr>
          <a:xfrm>
            <a:off x="4560424" y="388358"/>
            <a:ext cx="7224951" cy="6081283"/>
          </a:xfrm>
          <a:prstGeom prst="rect">
            <a:avLst/>
          </a:prstGeom>
        </p:spPr>
      </p:pic>
      <p:sp>
        <p:nvSpPr>
          <p:cNvPr id="3" name="TextBox 2">
            <a:extLst>
              <a:ext uri="{FF2B5EF4-FFF2-40B4-BE49-F238E27FC236}">
                <a16:creationId xmlns:a16="http://schemas.microsoft.com/office/drawing/2014/main" id="{3A18B791-E823-2FD6-ED80-2E302CD52DB0}"/>
              </a:ext>
            </a:extLst>
          </p:cNvPr>
          <p:cNvSpPr txBox="1"/>
          <p:nvPr/>
        </p:nvSpPr>
        <p:spPr>
          <a:xfrm>
            <a:off x="588263" y="2209901"/>
            <a:ext cx="3319708" cy="3534044"/>
          </a:xfrm>
          <a:prstGeom prst="rect">
            <a:avLst/>
          </a:prstGeom>
          <a:noFill/>
        </p:spPr>
        <p:txBody>
          <a:bodyPr wrap="square" lIns="0" tIns="0" rIns="0" bIns="0" rtlCol="0">
            <a:spAutoFit/>
          </a:bodyPr>
          <a:lstStyle/>
          <a:p>
            <a:r>
              <a:rPr lang="en-US" sz="1800" b="1" dirty="0">
                <a:latin typeface="Aptos Display" panose="020B0004020202020204" pitchFamily="34" charset="0"/>
              </a:rPr>
              <a:t>Security Principles:</a:t>
            </a:r>
          </a:p>
          <a:p>
            <a:endParaRPr lang="en-US" sz="1600" b="1" dirty="0"/>
          </a:p>
          <a:p>
            <a:pPr marL="285750" indent="-285750">
              <a:buFont typeface="Arial" panose="020B0604020202020204" pitchFamily="34" charset="0"/>
              <a:buChar char="•"/>
            </a:pPr>
            <a:r>
              <a:rPr lang="en-US" sz="1600" b="1" dirty="0"/>
              <a:t>Zero Credentials</a:t>
            </a:r>
            <a:r>
              <a:rPr lang="en-US" sz="1600" dirty="0"/>
              <a:t>: Managed Identity eliminates credential storage</a:t>
            </a:r>
          </a:p>
          <a:p>
            <a:pPr marL="285750" indent="-285750">
              <a:buFont typeface="Arial" panose="020B0604020202020204" pitchFamily="34" charset="0"/>
              <a:buChar char="•"/>
            </a:pPr>
            <a:r>
              <a:rPr lang="en-US" sz="1600" b="1" dirty="0"/>
              <a:t>RBAC</a:t>
            </a:r>
            <a:r>
              <a:rPr lang="en-US" sz="1600" dirty="0"/>
              <a:t>: Role-based access control via Entra ID</a:t>
            </a:r>
          </a:p>
          <a:p>
            <a:pPr marL="285750" indent="-285750">
              <a:buFont typeface="Arial" panose="020B0604020202020204" pitchFamily="34" charset="0"/>
              <a:buChar char="•"/>
            </a:pPr>
            <a:r>
              <a:rPr lang="en-US" sz="1600" b="1" dirty="0"/>
              <a:t>Least Privilege</a:t>
            </a:r>
            <a:r>
              <a:rPr lang="en-US" sz="1600" dirty="0"/>
              <a:t>: Agents have minimal required permissions</a:t>
            </a:r>
          </a:p>
          <a:p>
            <a:pPr marL="285750" indent="-285750">
              <a:buFont typeface="Arial" panose="020B0604020202020204" pitchFamily="34" charset="0"/>
              <a:buChar char="•"/>
            </a:pPr>
            <a:r>
              <a:rPr lang="en-US" sz="1600" b="1" dirty="0"/>
              <a:t>Audit Logging</a:t>
            </a:r>
            <a:r>
              <a:rPr lang="en-US" sz="1600" dirty="0"/>
              <a:t>: All actions logged to Application Insights</a:t>
            </a:r>
          </a:p>
          <a:p>
            <a:pPr marL="285750" indent="-285750">
              <a:buFont typeface="Arial" panose="020B0604020202020204" pitchFamily="34" charset="0"/>
              <a:buChar char="•"/>
            </a:pPr>
            <a:r>
              <a:rPr lang="en-US" sz="1600" b="1" dirty="0"/>
              <a:t>Encryption</a:t>
            </a:r>
            <a:r>
              <a:rPr lang="en-US" sz="1600" dirty="0"/>
              <a:t>: Data encrypted at rest and in transit</a:t>
            </a:r>
          </a:p>
          <a:p>
            <a:pPr marL="342900" indent="-342900" algn="l">
              <a:buFont typeface="Arial" panose="020B0604020202020204" pitchFamily="34" charset="0"/>
              <a:buChar char="•"/>
            </a:pPr>
            <a:endParaRPr lang="en-US" sz="1800" dirty="0" err="1"/>
          </a:p>
        </p:txBody>
      </p:sp>
    </p:spTree>
    <p:extLst>
      <p:ext uri="{BB962C8B-B14F-4D97-AF65-F5344CB8AC3E}">
        <p14:creationId xmlns:p14="http://schemas.microsoft.com/office/powerpoint/2010/main" val="1538089165"/>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F6E71-B624-3DF3-D7FC-CB26C5AD9840}"/>
              </a:ext>
            </a:extLst>
          </p:cNvPr>
          <p:cNvSpPr>
            <a:spLocks noGrp="1"/>
          </p:cNvSpPr>
          <p:nvPr>
            <p:ph type="title"/>
          </p:nvPr>
        </p:nvSpPr>
        <p:spPr/>
        <p:txBody>
          <a:bodyPr/>
          <a:lstStyle/>
          <a:p>
            <a:r>
              <a:rPr lang="en-US" dirty="0"/>
              <a:t>Security Copilot + Agentic SOC | Better together</a:t>
            </a:r>
          </a:p>
        </p:txBody>
      </p:sp>
      <p:graphicFrame>
        <p:nvGraphicFramePr>
          <p:cNvPr id="4" name="Table 3">
            <a:extLst>
              <a:ext uri="{FF2B5EF4-FFF2-40B4-BE49-F238E27FC236}">
                <a16:creationId xmlns:a16="http://schemas.microsoft.com/office/drawing/2014/main" id="{3D3A1CAE-37B6-C107-CE2E-AD170979E8EA}"/>
              </a:ext>
            </a:extLst>
          </p:cNvPr>
          <p:cNvGraphicFramePr>
            <a:graphicFrameLocks noGrp="1"/>
          </p:cNvGraphicFramePr>
          <p:nvPr>
            <p:extLst>
              <p:ext uri="{D42A27DB-BD31-4B8C-83A1-F6EECF244321}">
                <p14:modId xmlns:p14="http://schemas.microsoft.com/office/powerpoint/2010/main" val="127105401"/>
              </p:ext>
            </p:extLst>
          </p:nvPr>
        </p:nvGraphicFramePr>
        <p:xfrm>
          <a:off x="588263" y="1565729"/>
          <a:ext cx="11018520" cy="4040414"/>
        </p:xfrm>
        <a:graphic>
          <a:graphicData uri="http://schemas.openxmlformats.org/drawingml/2006/table">
            <a:tbl>
              <a:tblPr firstRow="1" firstCol="1" bandRow="1">
                <a:tableStyleId>{1FECB4D8-DB02-4DC6-A0A2-4F2EBAE1DC90}</a:tableStyleId>
              </a:tblPr>
              <a:tblGrid>
                <a:gridCol w="1937223">
                  <a:extLst>
                    <a:ext uri="{9D8B030D-6E8A-4147-A177-3AD203B41FA5}">
                      <a16:colId xmlns:a16="http://schemas.microsoft.com/office/drawing/2014/main" val="215019732"/>
                    </a:ext>
                  </a:extLst>
                </a:gridCol>
                <a:gridCol w="4833257">
                  <a:extLst>
                    <a:ext uri="{9D8B030D-6E8A-4147-A177-3AD203B41FA5}">
                      <a16:colId xmlns:a16="http://schemas.microsoft.com/office/drawing/2014/main" val="869330554"/>
                    </a:ext>
                  </a:extLst>
                </a:gridCol>
                <a:gridCol w="4248040">
                  <a:extLst>
                    <a:ext uri="{9D8B030D-6E8A-4147-A177-3AD203B41FA5}">
                      <a16:colId xmlns:a16="http://schemas.microsoft.com/office/drawing/2014/main" val="3991401838"/>
                    </a:ext>
                  </a:extLst>
                </a:gridCol>
              </a:tblGrid>
              <a:tr h="496950">
                <a:tc>
                  <a:txBody>
                    <a:bodyPr/>
                    <a:lstStyle/>
                    <a:p>
                      <a:pPr>
                        <a:buNone/>
                      </a:pPr>
                      <a:r>
                        <a:rPr lang="en-US" sz="1800" dirty="0">
                          <a:effectLst/>
                        </a:rPr>
                        <a:t>Capability</a:t>
                      </a:r>
                    </a:p>
                  </a:txBody>
                  <a:tcPr anchor="ctr"/>
                </a:tc>
                <a:tc>
                  <a:txBody>
                    <a:bodyPr/>
                    <a:lstStyle/>
                    <a:p>
                      <a:pPr>
                        <a:buNone/>
                      </a:pPr>
                      <a:r>
                        <a:rPr lang="en-US" sz="1800">
                          <a:effectLst/>
                        </a:rPr>
                        <a:t>Microsoft Security Copilot</a:t>
                      </a:r>
                    </a:p>
                  </a:txBody>
                  <a:tcPr anchor="ctr"/>
                </a:tc>
                <a:tc>
                  <a:txBody>
                    <a:bodyPr/>
                    <a:lstStyle/>
                    <a:p>
                      <a:pPr>
                        <a:buNone/>
                      </a:pPr>
                      <a:r>
                        <a:rPr lang="en-US" sz="1800">
                          <a:effectLst/>
                        </a:rPr>
                        <a:t>Agentic SOC</a:t>
                      </a:r>
                    </a:p>
                  </a:txBody>
                  <a:tcPr anchor="ctr"/>
                </a:tc>
                <a:extLst>
                  <a:ext uri="{0D108BD9-81ED-4DB2-BD59-A6C34878D82A}">
                    <a16:rowId xmlns:a16="http://schemas.microsoft.com/office/drawing/2014/main" val="1688204894"/>
                  </a:ext>
                </a:extLst>
              </a:tr>
              <a:tr h="885866">
                <a:tc>
                  <a:txBody>
                    <a:bodyPr/>
                    <a:lstStyle/>
                    <a:p>
                      <a:pPr>
                        <a:buNone/>
                      </a:pPr>
                      <a:r>
                        <a:rPr lang="en-US" sz="1800" b="1" dirty="0">
                          <a:effectLst/>
                        </a:rPr>
                        <a:t>Primary Mode</a:t>
                      </a:r>
                      <a:endParaRPr lang="en-US" sz="1800" dirty="0">
                        <a:effectLst/>
                      </a:endParaRPr>
                    </a:p>
                  </a:txBody>
                  <a:tcPr anchor="ctr"/>
                </a:tc>
                <a:tc>
                  <a:txBody>
                    <a:bodyPr/>
                    <a:lstStyle/>
                    <a:p>
                      <a:pPr>
                        <a:buNone/>
                      </a:pPr>
                      <a:r>
                        <a:rPr lang="en-US" sz="1800" dirty="0">
                          <a:effectLst/>
                        </a:rPr>
                        <a:t>Human-in-the-loop assistance</a:t>
                      </a:r>
                    </a:p>
                  </a:txBody>
                  <a:tcPr anchor="ctr"/>
                </a:tc>
                <a:tc>
                  <a:txBody>
                    <a:bodyPr/>
                    <a:lstStyle/>
                    <a:p>
                      <a:pPr>
                        <a:buNone/>
                      </a:pPr>
                      <a:r>
                        <a:rPr lang="en-US" sz="1800">
                          <a:effectLst/>
                        </a:rPr>
                        <a:t>Autonomous automation</a:t>
                      </a:r>
                    </a:p>
                  </a:txBody>
                  <a:tcPr anchor="ctr"/>
                </a:tc>
                <a:extLst>
                  <a:ext uri="{0D108BD9-81ED-4DB2-BD59-A6C34878D82A}">
                    <a16:rowId xmlns:a16="http://schemas.microsoft.com/office/drawing/2014/main" val="1740292975"/>
                  </a:ext>
                </a:extLst>
              </a:tr>
              <a:tr h="885866">
                <a:tc>
                  <a:txBody>
                    <a:bodyPr/>
                    <a:lstStyle/>
                    <a:p>
                      <a:pPr>
                        <a:buNone/>
                      </a:pPr>
                      <a:r>
                        <a:rPr lang="en-US" sz="1800" b="1">
                          <a:effectLst/>
                        </a:rPr>
                        <a:t>Sweet Spot</a:t>
                      </a:r>
                      <a:endParaRPr lang="en-US" sz="1800">
                        <a:effectLst/>
                      </a:endParaRPr>
                    </a:p>
                  </a:txBody>
                  <a:tcPr anchor="ctr"/>
                </a:tc>
                <a:tc>
                  <a:txBody>
                    <a:bodyPr/>
                    <a:lstStyle/>
                    <a:p>
                      <a:pPr>
                        <a:buNone/>
                      </a:pPr>
                      <a:r>
                        <a:rPr lang="en-US" sz="1800" dirty="0">
                          <a:effectLst/>
                        </a:rPr>
                        <a:t>Complex investigations, strategic decisions</a:t>
                      </a:r>
                    </a:p>
                  </a:txBody>
                  <a:tcPr anchor="ctr"/>
                </a:tc>
                <a:tc>
                  <a:txBody>
                    <a:bodyPr/>
                    <a:lstStyle/>
                    <a:p>
                      <a:pPr>
                        <a:buNone/>
                      </a:pPr>
                      <a:r>
                        <a:rPr lang="en-US" sz="1800" dirty="0">
                          <a:effectLst/>
                        </a:rPr>
                        <a:t>High-volume routine triage</a:t>
                      </a:r>
                    </a:p>
                  </a:txBody>
                  <a:tcPr anchor="ctr"/>
                </a:tc>
                <a:extLst>
                  <a:ext uri="{0D108BD9-81ED-4DB2-BD59-A6C34878D82A}">
                    <a16:rowId xmlns:a16="http://schemas.microsoft.com/office/drawing/2014/main" val="16914166"/>
                  </a:ext>
                </a:extLst>
              </a:tr>
              <a:tr h="885866">
                <a:tc>
                  <a:txBody>
                    <a:bodyPr/>
                    <a:lstStyle/>
                    <a:p>
                      <a:pPr>
                        <a:buNone/>
                      </a:pPr>
                      <a:r>
                        <a:rPr lang="en-US" sz="1800" b="1">
                          <a:effectLst/>
                        </a:rPr>
                        <a:t>Interaction</a:t>
                      </a:r>
                      <a:endParaRPr lang="en-US" sz="1800">
                        <a:effectLst/>
                      </a:endParaRPr>
                    </a:p>
                  </a:txBody>
                  <a:tcPr anchor="ctr"/>
                </a:tc>
                <a:tc>
                  <a:txBody>
                    <a:bodyPr/>
                    <a:lstStyle/>
                    <a:p>
                      <a:pPr>
                        <a:buNone/>
                      </a:pPr>
                      <a:r>
                        <a:rPr lang="en-US" sz="1800">
                          <a:effectLst/>
                        </a:rPr>
                        <a:t>Analyst asks questions, Copilot helps</a:t>
                      </a:r>
                    </a:p>
                  </a:txBody>
                  <a:tcPr anchor="ctr"/>
                </a:tc>
                <a:tc>
                  <a:txBody>
                    <a:bodyPr/>
                    <a:lstStyle/>
                    <a:p>
                      <a:pPr>
                        <a:buNone/>
                      </a:pPr>
                      <a:r>
                        <a:rPr lang="en-US" sz="1800" dirty="0">
                          <a:effectLst/>
                        </a:rPr>
                        <a:t>Agents process alerts automatically</a:t>
                      </a:r>
                    </a:p>
                  </a:txBody>
                  <a:tcPr anchor="ctr"/>
                </a:tc>
                <a:extLst>
                  <a:ext uri="{0D108BD9-81ED-4DB2-BD59-A6C34878D82A}">
                    <a16:rowId xmlns:a16="http://schemas.microsoft.com/office/drawing/2014/main" val="3322806592"/>
                  </a:ext>
                </a:extLst>
              </a:tr>
              <a:tr h="885866">
                <a:tc>
                  <a:txBody>
                    <a:bodyPr/>
                    <a:lstStyle/>
                    <a:p>
                      <a:pPr>
                        <a:buNone/>
                      </a:pPr>
                      <a:r>
                        <a:rPr lang="en-US" sz="1800" b="1">
                          <a:effectLst/>
                        </a:rPr>
                        <a:t>Scales With</a:t>
                      </a:r>
                      <a:endParaRPr lang="en-US" sz="1800">
                        <a:effectLst/>
                      </a:endParaRPr>
                    </a:p>
                  </a:txBody>
                  <a:tcPr anchor="ctr"/>
                </a:tc>
                <a:tc>
                  <a:txBody>
                    <a:bodyPr/>
                    <a:lstStyle/>
                    <a:p>
                      <a:pPr>
                        <a:buNone/>
                      </a:pPr>
                      <a:r>
                        <a:rPr lang="en-US" sz="1800">
                          <a:effectLst/>
                        </a:rPr>
                        <a:t>Analyst headcount</a:t>
                      </a:r>
                    </a:p>
                  </a:txBody>
                  <a:tcPr anchor="ctr"/>
                </a:tc>
                <a:tc>
                  <a:txBody>
                    <a:bodyPr/>
                    <a:lstStyle/>
                    <a:p>
                      <a:pPr>
                        <a:buNone/>
                      </a:pPr>
                      <a:r>
                        <a:rPr lang="en-US" sz="1800" dirty="0">
                          <a:effectLst/>
                        </a:rPr>
                        <a:t>Alert volume (no linear headcount growth)</a:t>
                      </a:r>
                    </a:p>
                  </a:txBody>
                  <a:tcPr anchor="ctr"/>
                </a:tc>
                <a:extLst>
                  <a:ext uri="{0D108BD9-81ED-4DB2-BD59-A6C34878D82A}">
                    <a16:rowId xmlns:a16="http://schemas.microsoft.com/office/drawing/2014/main" val="1769493409"/>
                  </a:ext>
                </a:extLst>
              </a:tr>
            </a:tbl>
          </a:graphicData>
        </a:graphic>
      </p:graphicFrame>
    </p:spTree>
    <p:extLst>
      <p:ext uri="{BB962C8B-B14F-4D97-AF65-F5344CB8AC3E}">
        <p14:creationId xmlns:p14="http://schemas.microsoft.com/office/powerpoint/2010/main" val="3121159208"/>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035434-8DAF-821D-6410-FD429E6B5497}"/>
              </a:ext>
            </a:extLst>
          </p:cNvPr>
          <p:cNvSpPr>
            <a:spLocks noGrp="1"/>
          </p:cNvSpPr>
          <p:nvPr>
            <p:ph type="title"/>
          </p:nvPr>
        </p:nvSpPr>
        <p:spPr/>
        <p:txBody>
          <a:bodyPr/>
          <a:lstStyle/>
          <a:p>
            <a:r>
              <a:rPr lang="en-US" b="1" dirty="0">
                <a:latin typeface="Aptos Display" panose="020B0004020202020204" pitchFamily="34" charset="0"/>
              </a:rPr>
              <a:t>Business &amp; Market Research</a:t>
            </a:r>
          </a:p>
        </p:txBody>
      </p:sp>
    </p:spTree>
    <p:extLst>
      <p:ext uri="{BB962C8B-B14F-4D97-AF65-F5344CB8AC3E}">
        <p14:creationId xmlns:p14="http://schemas.microsoft.com/office/powerpoint/2010/main" val="940858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90BBA69-91FC-CC80-0B43-127194CC1ECC}"/>
              </a:ext>
            </a:extLst>
          </p:cNvPr>
          <p:cNvSpPr>
            <a:spLocks noGrp="1"/>
          </p:cNvSpPr>
          <p:nvPr>
            <p:ph type="title"/>
          </p:nvPr>
        </p:nvSpPr>
        <p:spPr/>
        <p:txBody>
          <a:bodyPr/>
          <a:lstStyle/>
          <a:p>
            <a:r>
              <a:rPr lang="en-US" dirty="0"/>
              <a:t>Security Automation &amp; Autonomy Market Analysis</a:t>
            </a:r>
          </a:p>
        </p:txBody>
      </p:sp>
      <p:pic>
        <p:nvPicPr>
          <p:cNvPr id="9" name="Picture Placeholder 8">
            <a:extLst>
              <a:ext uri="{FF2B5EF4-FFF2-40B4-BE49-F238E27FC236}">
                <a16:creationId xmlns:a16="http://schemas.microsoft.com/office/drawing/2014/main" id="{40DF1BA9-DC1F-09A8-F84B-F25C63AB681B}"/>
              </a:ext>
            </a:extLst>
          </p:cNvPr>
          <p:cNvPicPr>
            <a:picLocks noGrp="1" noChangeAspect="1"/>
          </p:cNvPicPr>
          <p:nvPr>
            <p:ph type="pic" sz="quarter" idx="18"/>
          </p:nvPr>
        </p:nvPicPr>
        <p:blipFill>
          <a:blip r:embed="rId2"/>
          <a:srcRect t="797" b="797"/>
          <a:stretch>
            <a:fillRect/>
          </a:stretch>
        </p:blipFill>
        <p:spPr>
          <a:prstGeom prst="roundRect">
            <a:avLst/>
          </a:prstGeom>
          <a:ln>
            <a:solidFill>
              <a:schemeClr val="tx1"/>
            </a:solidFill>
          </a:ln>
          <a:effectLst>
            <a:glow rad="63500">
              <a:schemeClr val="accent2">
                <a:satMod val="175000"/>
                <a:alpha val="40000"/>
              </a:schemeClr>
            </a:glow>
          </a:effectLst>
        </p:spPr>
      </p:pic>
      <p:sp>
        <p:nvSpPr>
          <p:cNvPr id="5" name="Text Placeholder 4">
            <a:extLst>
              <a:ext uri="{FF2B5EF4-FFF2-40B4-BE49-F238E27FC236}">
                <a16:creationId xmlns:a16="http://schemas.microsoft.com/office/drawing/2014/main" id="{50BC748C-7C2B-5D1A-9B25-CB3694D9AC85}"/>
              </a:ext>
            </a:extLst>
          </p:cNvPr>
          <p:cNvSpPr>
            <a:spLocks noGrp="1"/>
          </p:cNvSpPr>
          <p:nvPr>
            <p:ph type="body" sz="quarter" idx="10"/>
          </p:nvPr>
        </p:nvSpPr>
        <p:spPr/>
        <p:txBody>
          <a:bodyPr/>
          <a:lstStyle/>
          <a:p>
            <a:r>
              <a:rPr lang="en-US" sz="1400" dirty="0"/>
              <a:t>The </a:t>
            </a:r>
            <a:r>
              <a:rPr lang="en-US" sz="1400" b="1" dirty="0"/>
              <a:t>Agentic SOC + Microsoft Security Copilot</a:t>
            </a:r>
            <a:r>
              <a:rPr lang="en-US" sz="1400" dirty="0"/>
              <a:t> solution represents a </a:t>
            </a:r>
            <a:r>
              <a:rPr lang="en-US" sz="1400" b="1" dirty="0"/>
              <a:t>paradigm shift from traditional SOAR (Security Orchestration, Automation, and Response) to next-generation agentic AI-powered security operations</a:t>
            </a:r>
            <a:r>
              <a:rPr lang="en-US" sz="1400" dirty="0"/>
              <a:t>. Unlike legacy playbook-driven automation platforms, this solution delivers autonomous, context-aware security operations that continuously learn and adapt.</a:t>
            </a:r>
          </a:p>
          <a:p>
            <a:endParaRPr lang="en-US" sz="1400" dirty="0"/>
          </a:p>
          <a:p>
            <a:r>
              <a:rPr lang="en-US" sz="1400" dirty="0"/>
              <a:t>The Agentic SOC is not just a SOAR replacement—it's a </a:t>
            </a:r>
            <a:r>
              <a:rPr lang="en-US" sz="1400" b="1" dirty="0"/>
              <a:t>security-focused AI development kit</a:t>
            </a:r>
            <a:r>
              <a:rPr lang="en-US" sz="1400" dirty="0"/>
              <a:t> that enables rapid experimentation, iteration, and deployment of specialized AI agents.</a:t>
            </a:r>
          </a:p>
        </p:txBody>
      </p:sp>
      <p:sp>
        <p:nvSpPr>
          <p:cNvPr id="10" name="Rounded Rectangle 9">
            <a:extLst>
              <a:ext uri="{FF2B5EF4-FFF2-40B4-BE49-F238E27FC236}">
                <a16:creationId xmlns:a16="http://schemas.microsoft.com/office/drawing/2014/main" id="{31943077-1CB4-5A18-C939-0ABD9B972E78}"/>
              </a:ext>
            </a:extLst>
          </p:cNvPr>
          <p:cNvSpPr/>
          <p:nvPr/>
        </p:nvSpPr>
        <p:spPr bwMode="auto">
          <a:xfrm>
            <a:off x="9815332" y="4583575"/>
            <a:ext cx="1620456" cy="567159"/>
          </a:xfrm>
          <a:prstGeom prst="roundRect">
            <a:avLst>
              <a:gd name="adj" fmla="val 50000"/>
            </a:avLst>
          </a:prstGeom>
          <a:noFill/>
          <a:ln w="47625">
            <a:solidFill>
              <a:schemeClr val="accent3"/>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err="1">
              <a:solidFill>
                <a:schemeClr val="bg1"/>
              </a:solidFill>
              <a:ea typeface="Segoe UI" pitchFamily="34" charset="0"/>
              <a:cs typeface="Segoe UI" pitchFamily="34" charset="0"/>
            </a:endParaRPr>
          </a:p>
        </p:txBody>
      </p:sp>
    </p:spTree>
    <p:extLst>
      <p:ext uri="{BB962C8B-B14F-4D97-AF65-F5344CB8AC3E}">
        <p14:creationId xmlns:p14="http://schemas.microsoft.com/office/powerpoint/2010/main" val="2450492792"/>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A6AB7F-C33D-820A-77E6-EB99F65CC22F}"/>
              </a:ext>
            </a:extLst>
          </p:cNvPr>
          <p:cNvSpPr>
            <a:spLocks noGrp="1"/>
          </p:cNvSpPr>
          <p:nvPr>
            <p:ph type="title"/>
          </p:nvPr>
        </p:nvSpPr>
        <p:spPr/>
        <p:txBody>
          <a:bodyPr/>
          <a:lstStyle/>
          <a:p>
            <a:r>
              <a:rPr lang="en-US" dirty="0"/>
              <a:t>Cost-Benefit Analysis Breakdown</a:t>
            </a:r>
          </a:p>
        </p:txBody>
      </p:sp>
      <p:graphicFrame>
        <p:nvGraphicFramePr>
          <p:cNvPr id="6" name="Table 5">
            <a:extLst>
              <a:ext uri="{FF2B5EF4-FFF2-40B4-BE49-F238E27FC236}">
                <a16:creationId xmlns:a16="http://schemas.microsoft.com/office/drawing/2014/main" id="{0DD8A337-8BDD-3625-0858-7F3D12FD7977}"/>
              </a:ext>
            </a:extLst>
          </p:cNvPr>
          <p:cNvGraphicFramePr>
            <a:graphicFrameLocks noGrp="1"/>
          </p:cNvGraphicFramePr>
          <p:nvPr>
            <p:extLst>
              <p:ext uri="{D42A27DB-BD31-4B8C-83A1-F6EECF244321}">
                <p14:modId xmlns:p14="http://schemas.microsoft.com/office/powerpoint/2010/main" val="494081928"/>
              </p:ext>
            </p:extLst>
          </p:nvPr>
        </p:nvGraphicFramePr>
        <p:xfrm>
          <a:off x="588263" y="1685472"/>
          <a:ext cx="10428748" cy="1612899"/>
        </p:xfrm>
        <a:graphic>
          <a:graphicData uri="http://schemas.openxmlformats.org/drawingml/2006/table">
            <a:tbl>
              <a:tblPr firstRow="1" firstCol="1" lastRow="1" bandRow="1">
                <a:tableStyleId>{073A0DAA-6AF3-43AB-8588-CEC1D06C72B9}</a:tableStyleId>
              </a:tblPr>
              <a:tblGrid>
                <a:gridCol w="2607187">
                  <a:extLst>
                    <a:ext uri="{9D8B030D-6E8A-4147-A177-3AD203B41FA5}">
                      <a16:colId xmlns:a16="http://schemas.microsoft.com/office/drawing/2014/main" val="3847568864"/>
                    </a:ext>
                  </a:extLst>
                </a:gridCol>
                <a:gridCol w="821379">
                  <a:extLst>
                    <a:ext uri="{9D8B030D-6E8A-4147-A177-3AD203B41FA5}">
                      <a16:colId xmlns:a16="http://schemas.microsoft.com/office/drawing/2014/main" val="2223114353"/>
                    </a:ext>
                  </a:extLst>
                </a:gridCol>
                <a:gridCol w="870857">
                  <a:extLst>
                    <a:ext uri="{9D8B030D-6E8A-4147-A177-3AD203B41FA5}">
                      <a16:colId xmlns:a16="http://schemas.microsoft.com/office/drawing/2014/main" val="2687265955"/>
                    </a:ext>
                  </a:extLst>
                </a:gridCol>
                <a:gridCol w="6129325">
                  <a:extLst>
                    <a:ext uri="{9D8B030D-6E8A-4147-A177-3AD203B41FA5}">
                      <a16:colId xmlns:a16="http://schemas.microsoft.com/office/drawing/2014/main" val="1708956350"/>
                    </a:ext>
                  </a:extLst>
                </a:gridCol>
              </a:tblGrid>
              <a:tr h="219507">
                <a:tc>
                  <a:txBody>
                    <a:bodyPr/>
                    <a:lstStyle/>
                    <a:p>
                      <a:pPr>
                        <a:buNone/>
                      </a:pPr>
                      <a:r>
                        <a:rPr lang="en-US" sz="1100" dirty="0">
                          <a:effectLst/>
                        </a:rPr>
                        <a:t>Category</a:t>
                      </a:r>
                    </a:p>
                  </a:txBody>
                  <a:tcPr marL="35789" marR="35789" marT="23859" marB="23859" anchor="ctr"/>
                </a:tc>
                <a:tc>
                  <a:txBody>
                    <a:bodyPr/>
                    <a:lstStyle/>
                    <a:p>
                      <a:pPr>
                        <a:buNone/>
                      </a:pPr>
                      <a:r>
                        <a:rPr lang="en-US" sz="1100">
                          <a:effectLst/>
                        </a:rPr>
                        <a:t>Low</a:t>
                      </a:r>
                    </a:p>
                  </a:txBody>
                  <a:tcPr marL="35789" marR="35789" marT="23859" marB="23859" anchor="ctr"/>
                </a:tc>
                <a:tc>
                  <a:txBody>
                    <a:bodyPr/>
                    <a:lstStyle/>
                    <a:p>
                      <a:pPr>
                        <a:buNone/>
                      </a:pPr>
                      <a:r>
                        <a:rPr lang="en-US" sz="1100" dirty="0">
                          <a:effectLst/>
                        </a:rPr>
                        <a:t>High</a:t>
                      </a:r>
                    </a:p>
                  </a:txBody>
                  <a:tcPr marL="35789" marR="35789" marT="23859" marB="23859" anchor="ctr"/>
                </a:tc>
                <a:tc>
                  <a:txBody>
                    <a:bodyPr/>
                    <a:lstStyle/>
                    <a:p>
                      <a:pPr>
                        <a:buNone/>
                      </a:pPr>
                      <a:r>
                        <a:rPr lang="en-US" sz="1100">
                          <a:effectLst/>
                        </a:rPr>
                        <a:t>Notes</a:t>
                      </a:r>
                    </a:p>
                  </a:txBody>
                  <a:tcPr marL="35789" marR="35789" marT="23859" marB="23859" anchor="ctr"/>
                </a:tc>
                <a:extLst>
                  <a:ext uri="{0D108BD9-81ED-4DB2-BD59-A6C34878D82A}">
                    <a16:rowId xmlns:a16="http://schemas.microsoft.com/office/drawing/2014/main" val="3835557073"/>
                  </a:ext>
                </a:extLst>
              </a:tr>
              <a:tr h="391295">
                <a:tc>
                  <a:txBody>
                    <a:bodyPr/>
                    <a:lstStyle/>
                    <a:p>
                      <a:pPr>
                        <a:buNone/>
                      </a:pPr>
                      <a:r>
                        <a:rPr lang="en-US" sz="1100" dirty="0">
                          <a:effectLst/>
                        </a:rPr>
                        <a:t>Azure Infrastructure</a:t>
                      </a:r>
                    </a:p>
                  </a:txBody>
                  <a:tcPr marL="35789" marR="35789" marT="23859" marB="23859" anchor="ctr"/>
                </a:tc>
                <a:tc>
                  <a:txBody>
                    <a:bodyPr/>
                    <a:lstStyle/>
                    <a:p>
                      <a:pPr>
                        <a:buNone/>
                      </a:pPr>
                      <a:r>
                        <a:rPr lang="en-US" sz="1100">
                          <a:effectLst/>
                        </a:rPr>
                        <a:t>$13K</a:t>
                      </a:r>
                    </a:p>
                  </a:txBody>
                  <a:tcPr marL="35789" marR="35789" marT="23859" marB="23859" anchor="ctr"/>
                </a:tc>
                <a:tc>
                  <a:txBody>
                    <a:bodyPr/>
                    <a:lstStyle/>
                    <a:p>
                      <a:pPr>
                        <a:buNone/>
                      </a:pPr>
                      <a:r>
                        <a:rPr lang="en-US" sz="1100">
                          <a:effectLst/>
                        </a:rPr>
                        <a:t>$16K</a:t>
                      </a:r>
                    </a:p>
                  </a:txBody>
                  <a:tcPr marL="35789" marR="35789" marT="23859" marB="23859" anchor="ctr"/>
                </a:tc>
                <a:tc>
                  <a:txBody>
                    <a:bodyPr/>
                    <a:lstStyle/>
                    <a:p>
                      <a:pPr>
                        <a:buNone/>
                      </a:pPr>
                      <a:r>
                        <a:rPr lang="en-US" sz="1100">
                          <a:effectLst/>
                        </a:rPr>
                        <a:t>~$35-45/day × 365 days</a:t>
                      </a:r>
                    </a:p>
                  </a:txBody>
                  <a:tcPr marL="35789" marR="35789" marT="23859" marB="23859" anchor="ctr"/>
                </a:tc>
                <a:extLst>
                  <a:ext uri="{0D108BD9-81ED-4DB2-BD59-A6C34878D82A}">
                    <a16:rowId xmlns:a16="http://schemas.microsoft.com/office/drawing/2014/main" val="2337762192"/>
                  </a:ext>
                </a:extLst>
              </a:tr>
              <a:tr h="391295">
                <a:tc>
                  <a:txBody>
                    <a:bodyPr/>
                    <a:lstStyle/>
                    <a:p>
                      <a:pPr>
                        <a:buNone/>
                      </a:pPr>
                      <a:r>
                        <a:rPr lang="en-US" sz="1100">
                          <a:effectLst/>
                        </a:rPr>
                        <a:t>Implementation (12 weeks)</a:t>
                      </a:r>
                    </a:p>
                  </a:txBody>
                  <a:tcPr marL="35789" marR="35789" marT="23859" marB="23859" anchor="ctr"/>
                </a:tc>
                <a:tc>
                  <a:txBody>
                    <a:bodyPr/>
                    <a:lstStyle/>
                    <a:p>
                      <a:pPr>
                        <a:buNone/>
                      </a:pPr>
                      <a:r>
                        <a:rPr lang="en-US" sz="1100">
                          <a:effectLst/>
                        </a:rPr>
                        <a:t>$80K</a:t>
                      </a:r>
                    </a:p>
                  </a:txBody>
                  <a:tcPr marL="35789" marR="35789" marT="23859" marB="23859" anchor="ctr"/>
                </a:tc>
                <a:tc>
                  <a:txBody>
                    <a:bodyPr/>
                    <a:lstStyle/>
                    <a:p>
                      <a:pPr>
                        <a:buNone/>
                      </a:pPr>
                      <a:r>
                        <a:rPr lang="en-US" sz="1100">
                          <a:effectLst/>
                        </a:rPr>
                        <a:t>$120K</a:t>
                      </a:r>
                    </a:p>
                  </a:txBody>
                  <a:tcPr marL="35789" marR="35789" marT="23859" marB="23859" anchor="ctr"/>
                </a:tc>
                <a:tc>
                  <a:txBody>
                    <a:bodyPr/>
                    <a:lstStyle/>
                    <a:p>
                      <a:pPr>
                        <a:buNone/>
                      </a:pPr>
                      <a:r>
                        <a:rPr lang="en-US" sz="1100">
                          <a:effectLst/>
                        </a:rPr>
                        <a:t>Integration &amp; customization</a:t>
                      </a:r>
                    </a:p>
                  </a:txBody>
                  <a:tcPr marL="35789" marR="35789" marT="23859" marB="23859" anchor="ctr"/>
                </a:tc>
                <a:extLst>
                  <a:ext uri="{0D108BD9-81ED-4DB2-BD59-A6C34878D82A}">
                    <a16:rowId xmlns:a16="http://schemas.microsoft.com/office/drawing/2014/main" val="3445757104"/>
                  </a:ext>
                </a:extLst>
              </a:tr>
              <a:tr h="391295">
                <a:tc>
                  <a:txBody>
                    <a:bodyPr/>
                    <a:lstStyle/>
                    <a:p>
                      <a:pPr>
                        <a:buNone/>
                      </a:pPr>
                      <a:r>
                        <a:rPr lang="en-US" sz="1100">
                          <a:effectLst/>
                        </a:rPr>
                        <a:t>Training &amp; Change Mgmt</a:t>
                      </a:r>
                    </a:p>
                  </a:txBody>
                  <a:tcPr marL="35789" marR="35789" marT="23859" marB="23859" anchor="ctr"/>
                </a:tc>
                <a:tc>
                  <a:txBody>
                    <a:bodyPr/>
                    <a:lstStyle/>
                    <a:p>
                      <a:pPr>
                        <a:buNone/>
                      </a:pPr>
                      <a:r>
                        <a:rPr lang="en-US" sz="1100">
                          <a:effectLst/>
                        </a:rPr>
                        <a:t>$20K</a:t>
                      </a:r>
                    </a:p>
                  </a:txBody>
                  <a:tcPr marL="35789" marR="35789" marT="23859" marB="23859" anchor="ctr"/>
                </a:tc>
                <a:tc>
                  <a:txBody>
                    <a:bodyPr/>
                    <a:lstStyle/>
                    <a:p>
                      <a:pPr>
                        <a:buNone/>
                      </a:pPr>
                      <a:r>
                        <a:rPr lang="en-US" sz="1100">
                          <a:effectLst/>
                        </a:rPr>
                        <a:t>$30K</a:t>
                      </a:r>
                    </a:p>
                  </a:txBody>
                  <a:tcPr marL="35789" marR="35789" marT="23859" marB="23859" anchor="ctr"/>
                </a:tc>
                <a:tc>
                  <a:txBody>
                    <a:bodyPr/>
                    <a:lstStyle/>
                    <a:p>
                      <a:pPr>
                        <a:buNone/>
                      </a:pPr>
                      <a:r>
                        <a:rPr lang="en-US" sz="1100">
                          <a:effectLst/>
                        </a:rPr>
                        <a:t>Analyst enablement</a:t>
                      </a:r>
                    </a:p>
                  </a:txBody>
                  <a:tcPr marL="35789" marR="35789" marT="23859" marB="23859" anchor="ctr"/>
                </a:tc>
                <a:extLst>
                  <a:ext uri="{0D108BD9-81ED-4DB2-BD59-A6C34878D82A}">
                    <a16:rowId xmlns:a16="http://schemas.microsoft.com/office/drawing/2014/main" val="1664320750"/>
                  </a:ext>
                </a:extLst>
              </a:tr>
              <a:tr h="219507">
                <a:tc>
                  <a:txBody>
                    <a:bodyPr/>
                    <a:lstStyle/>
                    <a:p>
                      <a:pPr>
                        <a:buNone/>
                      </a:pPr>
                      <a:r>
                        <a:rPr lang="en-US" sz="1100" b="1">
                          <a:effectLst/>
                        </a:rPr>
                        <a:t>Total Investment</a:t>
                      </a:r>
                      <a:endParaRPr lang="en-US" sz="1100">
                        <a:effectLst/>
                      </a:endParaRPr>
                    </a:p>
                  </a:txBody>
                  <a:tcPr marL="35789" marR="35789" marT="23859" marB="23859" anchor="ctr"/>
                </a:tc>
                <a:tc>
                  <a:txBody>
                    <a:bodyPr/>
                    <a:lstStyle/>
                    <a:p>
                      <a:pPr>
                        <a:buNone/>
                      </a:pPr>
                      <a:r>
                        <a:rPr lang="en-US" sz="1100" b="1">
                          <a:effectLst/>
                        </a:rPr>
                        <a:t>$113K</a:t>
                      </a:r>
                      <a:endParaRPr lang="en-US" sz="1100">
                        <a:effectLst/>
                      </a:endParaRPr>
                    </a:p>
                  </a:txBody>
                  <a:tcPr marL="35789" marR="35789" marT="23859" marB="23859" anchor="ctr"/>
                </a:tc>
                <a:tc>
                  <a:txBody>
                    <a:bodyPr/>
                    <a:lstStyle/>
                    <a:p>
                      <a:pPr>
                        <a:buNone/>
                      </a:pPr>
                      <a:r>
                        <a:rPr lang="en-US" sz="1100" b="1">
                          <a:effectLst/>
                        </a:rPr>
                        <a:t>$166K</a:t>
                      </a:r>
                      <a:endParaRPr lang="en-US" sz="1100">
                        <a:effectLst/>
                      </a:endParaRPr>
                    </a:p>
                  </a:txBody>
                  <a:tcPr marL="35789" marR="35789" marT="23859" marB="23859" anchor="ctr"/>
                </a:tc>
                <a:tc>
                  <a:txBody>
                    <a:bodyPr/>
                    <a:lstStyle/>
                    <a:p>
                      <a:pPr>
                        <a:buNone/>
                      </a:pPr>
                      <a:endParaRPr lang="en-US" sz="1100" dirty="0">
                        <a:effectLst/>
                      </a:endParaRPr>
                    </a:p>
                  </a:txBody>
                  <a:tcPr marL="35789" marR="35789" marT="23859" marB="23859" anchor="ctr"/>
                </a:tc>
                <a:extLst>
                  <a:ext uri="{0D108BD9-81ED-4DB2-BD59-A6C34878D82A}">
                    <a16:rowId xmlns:a16="http://schemas.microsoft.com/office/drawing/2014/main" val="2739787542"/>
                  </a:ext>
                </a:extLst>
              </a:tr>
            </a:tbl>
          </a:graphicData>
        </a:graphic>
      </p:graphicFrame>
      <p:graphicFrame>
        <p:nvGraphicFramePr>
          <p:cNvPr id="7" name="Table 6">
            <a:extLst>
              <a:ext uri="{FF2B5EF4-FFF2-40B4-BE49-F238E27FC236}">
                <a16:creationId xmlns:a16="http://schemas.microsoft.com/office/drawing/2014/main" id="{781652AB-AA95-63CD-90C2-C1EA8AEBCF50}"/>
              </a:ext>
            </a:extLst>
          </p:cNvPr>
          <p:cNvGraphicFramePr>
            <a:graphicFrameLocks noGrp="1"/>
          </p:cNvGraphicFramePr>
          <p:nvPr>
            <p:extLst>
              <p:ext uri="{D42A27DB-BD31-4B8C-83A1-F6EECF244321}">
                <p14:modId xmlns:p14="http://schemas.microsoft.com/office/powerpoint/2010/main" val="3289382306"/>
              </p:ext>
            </p:extLst>
          </p:nvPr>
        </p:nvGraphicFramePr>
        <p:xfrm>
          <a:off x="588263" y="4010065"/>
          <a:ext cx="10428748" cy="1671684"/>
        </p:xfrm>
        <a:graphic>
          <a:graphicData uri="http://schemas.openxmlformats.org/drawingml/2006/table">
            <a:tbl>
              <a:tblPr firstRow="1" firstCol="1" lastRow="1" bandRow="1">
                <a:tableStyleId>{073A0DAA-6AF3-43AB-8588-CEC1D06C72B9}</a:tableStyleId>
              </a:tblPr>
              <a:tblGrid>
                <a:gridCol w="2607187">
                  <a:extLst>
                    <a:ext uri="{9D8B030D-6E8A-4147-A177-3AD203B41FA5}">
                      <a16:colId xmlns:a16="http://schemas.microsoft.com/office/drawing/2014/main" val="3838723803"/>
                    </a:ext>
                  </a:extLst>
                </a:gridCol>
                <a:gridCol w="810493">
                  <a:extLst>
                    <a:ext uri="{9D8B030D-6E8A-4147-A177-3AD203B41FA5}">
                      <a16:colId xmlns:a16="http://schemas.microsoft.com/office/drawing/2014/main" val="3266255838"/>
                    </a:ext>
                  </a:extLst>
                </a:gridCol>
                <a:gridCol w="892628">
                  <a:extLst>
                    <a:ext uri="{9D8B030D-6E8A-4147-A177-3AD203B41FA5}">
                      <a16:colId xmlns:a16="http://schemas.microsoft.com/office/drawing/2014/main" val="2270006957"/>
                    </a:ext>
                  </a:extLst>
                </a:gridCol>
                <a:gridCol w="6118440">
                  <a:extLst>
                    <a:ext uri="{9D8B030D-6E8A-4147-A177-3AD203B41FA5}">
                      <a16:colId xmlns:a16="http://schemas.microsoft.com/office/drawing/2014/main" val="2412951817"/>
                    </a:ext>
                  </a:extLst>
                </a:gridCol>
              </a:tblGrid>
              <a:tr h="176651">
                <a:tc>
                  <a:txBody>
                    <a:bodyPr/>
                    <a:lstStyle/>
                    <a:p>
                      <a:pPr marL="0" algn="l" defTabSz="932742" rtl="0" eaLnBrk="1" latinLnBrk="0" hangingPunct="1">
                        <a:buNone/>
                      </a:pPr>
                      <a:r>
                        <a:rPr lang="en-US" sz="1100" b="1" kern="1200" dirty="0">
                          <a:solidFill>
                            <a:schemeClr val="lt1"/>
                          </a:solidFill>
                          <a:effectLst/>
                        </a:rPr>
                        <a:t>Benefit Category</a:t>
                      </a:r>
                      <a:endParaRPr lang="en-US" sz="1100" b="1" kern="1200" dirty="0">
                        <a:solidFill>
                          <a:schemeClr val="lt1"/>
                        </a:solidFill>
                        <a:effectLst/>
                        <a:latin typeface="+mn-lt"/>
                        <a:ea typeface="+mn-ea"/>
                        <a:cs typeface="+mn-cs"/>
                      </a:endParaRPr>
                    </a:p>
                  </a:txBody>
                  <a:tcPr marL="28802" marR="28802" marT="19201" marB="19201" anchor="ctr"/>
                </a:tc>
                <a:tc>
                  <a:txBody>
                    <a:bodyPr/>
                    <a:lstStyle/>
                    <a:p>
                      <a:pPr marL="0" algn="l" defTabSz="932742" rtl="0" eaLnBrk="1" latinLnBrk="0" hangingPunct="1">
                        <a:buNone/>
                      </a:pPr>
                      <a:r>
                        <a:rPr lang="en-US" sz="1100" b="1" kern="1200">
                          <a:solidFill>
                            <a:schemeClr val="lt1"/>
                          </a:solidFill>
                          <a:effectLst/>
                        </a:rPr>
                        <a:t>Low</a:t>
                      </a:r>
                      <a:endParaRPr lang="en-US" sz="1100" b="1" kern="1200">
                        <a:solidFill>
                          <a:schemeClr val="lt1"/>
                        </a:solidFill>
                        <a:effectLst/>
                        <a:latin typeface="+mn-lt"/>
                        <a:ea typeface="+mn-ea"/>
                        <a:cs typeface="+mn-cs"/>
                      </a:endParaRPr>
                    </a:p>
                  </a:txBody>
                  <a:tcPr marL="28802" marR="28802" marT="19201" marB="19201" anchor="ctr"/>
                </a:tc>
                <a:tc>
                  <a:txBody>
                    <a:bodyPr/>
                    <a:lstStyle/>
                    <a:p>
                      <a:pPr marL="0" algn="l" defTabSz="932742" rtl="0" eaLnBrk="1" latinLnBrk="0" hangingPunct="1">
                        <a:buNone/>
                      </a:pPr>
                      <a:r>
                        <a:rPr lang="en-US" sz="1100" b="1" kern="1200">
                          <a:solidFill>
                            <a:schemeClr val="lt1"/>
                          </a:solidFill>
                          <a:effectLst/>
                        </a:rPr>
                        <a:t>High</a:t>
                      </a:r>
                      <a:endParaRPr lang="en-US" sz="1100" b="1" kern="1200">
                        <a:solidFill>
                          <a:schemeClr val="lt1"/>
                        </a:solidFill>
                        <a:effectLst/>
                        <a:latin typeface="+mn-lt"/>
                        <a:ea typeface="+mn-ea"/>
                        <a:cs typeface="+mn-cs"/>
                      </a:endParaRPr>
                    </a:p>
                  </a:txBody>
                  <a:tcPr marL="28802" marR="28802" marT="19201" marB="19201" anchor="ctr"/>
                </a:tc>
                <a:tc>
                  <a:txBody>
                    <a:bodyPr/>
                    <a:lstStyle/>
                    <a:p>
                      <a:pPr marL="0" algn="l" defTabSz="932742" rtl="0" eaLnBrk="1" latinLnBrk="0" hangingPunct="1">
                        <a:buNone/>
                      </a:pPr>
                      <a:r>
                        <a:rPr lang="en-US" sz="1100" b="1" kern="1200">
                          <a:solidFill>
                            <a:schemeClr val="lt1"/>
                          </a:solidFill>
                          <a:effectLst/>
                        </a:rPr>
                        <a:t>Driver</a:t>
                      </a:r>
                      <a:endParaRPr lang="en-US" sz="1100" b="1" kern="1200">
                        <a:solidFill>
                          <a:schemeClr val="lt1"/>
                        </a:solidFill>
                        <a:effectLst/>
                        <a:latin typeface="+mn-lt"/>
                        <a:ea typeface="+mn-ea"/>
                        <a:cs typeface="+mn-cs"/>
                      </a:endParaRPr>
                    </a:p>
                  </a:txBody>
                  <a:tcPr marL="28802" marR="28802" marT="19201" marB="19201" anchor="ctr"/>
                </a:tc>
                <a:extLst>
                  <a:ext uri="{0D108BD9-81ED-4DB2-BD59-A6C34878D82A}">
                    <a16:rowId xmlns:a16="http://schemas.microsoft.com/office/drawing/2014/main" val="542798106"/>
                  </a:ext>
                </a:extLst>
              </a:tr>
              <a:tr h="314900">
                <a:tc>
                  <a:txBody>
                    <a:bodyPr/>
                    <a:lstStyle/>
                    <a:p>
                      <a:pPr marL="0" algn="l" defTabSz="932742" rtl="0" eaLnBrk="1" latinLnBrk="0" hangingPunct="1">
                        <a:buNone/>
                      </a:pPr>
                      <a:r>
                        <a:rPr lang="en-US" sz="1100" b="1" kern="1200" dirty="0">
                          <a:solidFill>
                            <a:schemeClr val="lt1"/>
                          </a:solidFill>
                          <a:effectLst/>
                        </a:rPr>
                        <a:t>Analyst Productivity</a:t>
                      </a:r>
                      <a:endParaRPr lang="en-US" sz="1100" b="1" kern="1200" dirty="0">
                        <a:solidFill>
                          <a:schemeClr val="lt1"/>
                        </a:solidFill>
                        <a:effectLst/>
                        <a:latin typeface="+mn-lt"/>
                        <a:ea typeface="+mn-ea"/>
                        <a:cs typeface="+mn-cs"/>
                      </a:endParaRPr>
                    </a:p>
                  </a:txBody>
                  <a:tcPr marL="28802" marR="28802" marT="19201" marB="19201" anchor="ctr"/>
                </a:tc>
                <a:tc>
                  <a:txBody>
                    <a:bodyPr/>
                    <a:lstStyle/>
                    <a:p>
                      <a:pPr marL="0" algn="l" defTabSz="932742" rtl="0" eaLnBrk="1" latinLnBrk="0" hangingPunct="1">
                        <a:buNone/>
                      </a:pPr>
                      <a:r>
                        <a:rPr lang="en-US" sz="1100" b="0" kern="1200" dirty="0">
                          <a:solidFill>
                            <a:schemeClr val="bg1"/>
                          </a:solidFill>
                          <a:effectLst/>
                        </a:rPr>
                        <a:t>$150K</a:t>
                      </a:r>
                      <a:endParaRPr lang="en-US" sz="1100" b="0" kern="1200" dirty="0">
                        <a:solidFill>
                          <a:schemeClr val="bg1"/>
                        </a:solidFill>
                        <a:effectLst/>
                        <a:latin typeface="+mn-lt"/>
                        <a:ea typeface="+mn-ea"/>
                        <a:cs typeface="+mn-cs"/>
                      </a:endParaRPr>
                    </a:p>
                  </a:txBody>
                  <a:tcPr marL="28802" marR="28802" marT="19201" marB="19201" anchor="ctr"/>
                </a:tc>
                <a:tc>
                  <a:txBody>
                    <a:bodyPr/>
                    <a:lstStyle/>
                    <a:p>
                      <a:pPr marL="0" algn="l" defTabSz="932742" rtl="0" eaLnBrk="1" latinLnBrk="0" hangingPunct="1">
                        <a:buNone/>
                      </a:pPr>
                      <a:r>
                        <a:rPr lang="en-US" sz="1100" b="0" kern="1200">
                          <a:solidFill>
                            <a:schemeClr val="bg1"/>
                          </a:solidFill>
                          <a:effectLst/>
                        </a:rPr>
                        <a:t>$300K</a:t>
                      </a:r>
                      <a:endParaRPr lang="en-US" sz="1100" b="0" kern="1200">
                        <a:solidFill>
                          <a:schemeClr val="bg1"/>
                        </a:solidFill>
                        <a:effectLst/>
                        <a:latin typeface="+mn-lt"/>
                        <a:ea typeface="+mn-ea"/>
                        <a:cs typeface="+mn-cs"/>
                      </a:endParaRPr>
                    </a:p>
                  </a:txBody>
                  <a:tcPr marL="28802" marR="28802" marT="19201" marB="19201" anchor="ctr"/>
                </a:tc>
                <a:tc>
                  <a:txBody>
                    <a:bodyPr/>
                    <a:lstStyle/>
                    <a:p>
                      <a:pPr marL="0" algn="l" defTabSz="932742" rtl="0" eaLnBrk="1" latinLnBrk="0" hangingPunct="1">
                        <a:buNone/>
                      </a:pPr>
                      <a:r>
                        <a:rPr lang="en-US" sz="1100" b="0" kern="1200">
                          <a:solidFill>
                            <a:schemeClr val="bg1"/>
                          </a:solidFill>
                          <a:effectLst/>
                        </a:rPr>
                        <a:t>70% automation of L1 triage</a:t>
                      </a:r>
                      <a:endParaRPr lang="en-US" sz="1100" b="0" kern="1200">
                        <a:solidFill>
                          <a:schemeClr val="bg1"/>
                        </a:solidFill>
                        <a:effectLst/>
                        <a:latin typeface="+mn-lt"/>
                        <a:ea typeface="+mn-ea"/>
                        <a:cs typeface="+mn-cs"/>
                      </a:endParaRPr>
                    </a:p>
                  </a:txBody>
                  <a:tcPr marL="28802" marR="28802" marT="19201" marB="19201" anchor="ctr"/>
                </a:tc>
                <a:extLst>
                  <a:ext uri="{0D108BD9-81ED-4DB2-BD59-A6C34878D82A}">
                    <a16:rowId xmlns:a16="http://schemas.microsoft.com/office/drawing/2014/main" val="2643426601"/>
                  </a:ext>
                </a:extLst>
              </a:tr>
              <a:tr h="314900">
                <a:tc>
                  <a:txBody>
                    <a:bodyPr/>
                    <a:lstStyle/>
                    <a:p>
                      <a:pPr marL="0" algn="l" defTabSz="932742" rtl="0" eaLnBrk="1" latinLnBrk="0" hangingPunct="1">
                        <a:buNone/>
                      </a:pPr>
                      <a:r>
                        <a:rPr lang="en-US" sz="1100" b="1" kern="1200">
                          <a:solidFill>
                            <a:schemeClr val="lt1"/>
                          </a:solidFill>
                          <a:effectLst/>
                        </a:rPr>
                        <a:t>Breach Containment</a:t>
                      </a:r>
                      <a:endParaRPr lang="en-US" sz="1100" b="1" kern="1200">
                        <a:solidFill>
                          <a:schemeClr val="lt1"/>
                        </a:solidFill>
                        <a:effectLst/>
                        <a:latin typeface="+mn-lt"/>
                        <a:ea typeface="+mn-ea"/>
                        <a:cs typeface="+mn-cs"/>
                      </a:endParaRPr>
                    </a:p>
                  </a:txBody>
                  <a:tcPr marL="28802" marR="28802" marT="19201" marB="19201" anchor="ctr"/>
                </a:tc>
                <a:tc>
                  <a:txBody>
                    <a:bodyPr/>
                    <a:lstStyle/>
                    <a:p>
                      <a:pPr marL="0" algn="l" defTabSz="932742" rtl="0" eaLnBrk="1" latinLnBrk="0" hangingPunct="1">
                        <a:buNone/>
                      </a:pPr>
                      <a:r>
                        <a:rPr lang="en-US" sz="1100" b="0" kern="1200" dirty="0">
                          <a:solidFill>
                            <a:schemeClr val="bg1"/>
                          </a:solidFill>
                          <a:effectLst/>
                        </a:rPr>
                        <a:t>$500K</a:t>
                      </a:r>
                      <a:endParaRPr lang="en-US" sz="1100" b="0" kern="1200" dirty="0">
                        <a:solidFill>
                          <a:schemeClr val="bg1"/>
                        </a:solidFill>
                        <a:effectLst/>
                        <a:latin typeface="+mn-lt"/>
                        <a:ea typeface="+mn-ea"/>
                        <a:cs typeface="+mn-cs"/>
                      </a:endParaRPr>
                    </a:p>
                  </a:txBody>
                  <a:tcPr marL="28802" marR="28802" marT="19201" marB="19201" anchor="ctr"/>
                </a:tc>
                <a:tc>
                  <a:txBody>
                    <a:bodyPr/>
                    <a:lstStyle/>
                    <a:p>
                      <a:pPr marL="0" algn="l" defTabSz="932742" rtl="0" eaLnBrk="1" latinLnBrk="0" hangingPunct="1">
                        <a:buNone/>
                      </a:pPr>
                      <a:r>
                        <a:rPr lang="en-US" sz="1100" b="0" kern="1200" dirty="0">
                          <a:solidFill>
                            <a:schemeClr val="bg1"/>
                          </a:solidFill>
                          <a:effectLst/>
                        </a:rPr>
                        <a:t>$2M</a:t>
                      </a:r>
                      <a:endParaRPr lang="en-US" sz="1100" b="0" kern="1200" dirty="0">
                        <a:solidFill>
                          <a:schemeClr val="bg1"/>
                        </a:solidFill>
                        <a:effectLst/>
                        <a:latin typeface="+mn-lt"/>
                        <a:ea typeface="+mn-ea"/>
                        <a:cs typeface="+mn-cs"/>
                      </a:endParaRPr>
                    </a:p>
                  </a:txBody>
                  <a:tcPr marL="28802" marR="28802" marT="19201" marB="19201" anchor="ctr"/>
                </a:tc>
                <a:tc>
                  <a:txBody>
                    <a:bodyPr/>
                    <a:lstStyle/>
                    <a:p>
                      <a:pPr marL="0" algn="l" defTabSz="932742" rtl="0" eaLnBrk="1" latinLnBrk="0" hangingPunct="1">
                        <a:buNone/>
                      </a:pPr>
                      <a:r>
                        <a:rPr lang="en-US" sz="1100" b="0" kern="1200" dirty="0">
                          <a:solidFill>
                            <a:schemeClr val="bg1"/>
                          </a:solidFill>
                          <a:effectLst/>
                        </a:rPr>
                        <a:t>Faster detection (1-2 incidents/yr)</a:t>
                      </a:r>
                      <a:endParaRPr lang="en-US" sz="1100" b="0" kern="1200" dirty="0">
                        <a:solidFill>
                          <a:schemeClr val="bg1"/>
                        </a:solidFill>
                        <a:effectLst/>
                        <a:latin typeface="+mn-lt"/>
                        <a:ea typeface="+mn-ea"/>
                        <a:cs typeface="+mn-cs"/>
                      </a:endParaRPr>
                    </a:p>
                  </a:txBody>
                  <a:tcPr marL="28802" marR="28802" marT="19201" marB="19201" anchor="ctr"/>
                </a:tc>
                <a:extLst>
                  <a:ext uri="{0D108BD9-81ED-4DB2-BD59-A6C34878D82A}">
                    <a16:rowId xmlns:a16="http://schemas.microsoft.com/office/drawing/2014/main" val="1058522878"/>
                  </a:ext>
                </a:extLst>
              </a:tr>
              <a:tr h="314900">
                <a:tc>
                  <a:txBody>
                    <a:bodyPr/>
                    <a:lstStyle/>
                    <a:p>
                      <a:pPr marL="0" algn="l" defTabSz="932742" rtl="0" eaLnBrk="1" latinLnBrk="0" hangingPunct="1">
                        <a:buNone/>
                      </a:pPr>
                      <a:r>
                        <a:rPr lang="en-US" sz="1100" b="1" kern="1200">
                          <a:solidFill>
                            <a:schemeClr val="lt1"/>
                          </a:solidFill>
                          <a:effectLst/>
                        </a:rPr>
                        <a:t>False Positive Reduction</a:t>
                      </a:r>
                      <a:endParaRPr lang="en-US" sz="1100" b="1" kern="1200">
                        <a:solidFill>
                          <a:schemeClr val="lt1"/>
                        </a:solidFill>
                        <a:effectLst/>
                        <a:latin typeface="+mn-lt"/>
                        <a:ea typeface="+mn-ea"/>
                        <a:cs typeface="+mn-cs"/>
                      </a:endParaRPr>
                    </a:p>
                  </a:txBody>
                  <a:tcPr marL="28802" marR="28802" marT="19201" marB="19201" anchor="ctr"/>
                </a:tc>
                <a:tc>
                  <a:txBody>
                    <a:bodyPr/>
                    <a:lstStyle/>
                    <a:p>
                      <a:pPr marL="0" algn="l" defTabSz="932742" rtl="0" eaLnBrk="1" latinLnBrk="0" hangingPunct="1">
                        <a:buNone/>
                      </a:pPr>
                      <a:r>
                        <a:rPr lang="en-US" sz="1100" b="0" kern="1200">
                          <a:solidFill>
                            <a:schemeClr val="bg1"/>
                          </a:solidFill>
                          <a:effectLst/>
                        </a:rPr>
                        <a:t>$100K</a:t>
                      </a:r>
                      <a:endParaRPr lang="en-US" sz="1100" b="0" kern="1200">
                        <a:solidFill>
                          <a:schemeClr val="bg1"/>
                        </a:solidFill>
                        <a:effectLst/>
                        <a:latin typeface="+mn-lt"/>
                        <a:ea typeface="+mn-ea"/>
                        <a:cs typeface="+mn-cs"/>
                      </a:endParaRPr>
                    </a:p>
                  </a:txBody>
                  <a:tcPr marL="28802" marR="28802" marT="19201" marB="19201" anchor="ctr"/>
                </a:tc>
                <a:tc>
                  <a:txBody>
                    <a:bodyPr/>
                    <a:lstStyle/>
                    <a:p>
                      <a:pPr marL="0" algn="l" defTabSz="932742" rtl="0" eaLnBrk="1" latinLnBrk="0" hangingPunct="1">
                        <a:buNone/>
                      </a:pPr>
                      <a:r>
                        <a:rPr lang="en-US" sz="1100" b="0" kern="1200" dirty="0">
                          <a:solidFill>
                            <a:schemeClr val="bg1"/>
                          </a:solidFill>
                          <a:effectLst/>
                        </a:rPr>
                        <a:t>$200K</a:t>
                      </a:r>
                      <a:endParaRPr lang="en-US" sz="1100" b="0" kern="1200" dirty="0">
                        <a:solidFill>
                          <a:schemeClr val="bg1"/>
                        </a:solidFill>
                        <a:effectLst/>
                        <a:latin typeface="+mn-lt"/>
                        <a:ea typeface="+mn-ea"/>
                        <a:cs typeface="+mn-cs"/>
                      </a:endParaRPr>
                    </a:p>
                  </a:txBody>
                  <a:tcPr marL="28802" marR="28802" marT="19201" marB="19201" anchor="ctr"/>
                </a:tc>
                <a:tc>
                  <a:txBody>
                    <a:bodyPr/>
                    <a:lstStyle/>
                    <a:p>
                      <a:pPr marL="0" algn="l" defTabSz="932742" rtl="0" eaLnBrk="1" latinLnBrk="0" hangingPunct="1">
                        <a:buNone/>
                      </a:pPr>
                      <a:r>
                        <a:rPr lang="en-US" sz="1100" b="0" kern="1200" dirty="0">
                          <a:solidFill>
                            <a:schemeClr val="bg1"/>
                          </a:solidFill>
                          <a:effectLst/>
                        </a:rPr>
                        <a:t>60-70% time savings</a:t>
                      </a:r>
                      <a:endParaRPr lang="en-US" sz="1100" b="0" kern="1200" dirty="0">
                        <a:solidFill>
                          <a:schemeClr val="bg1"/>
                        </a:solidFill>
                        <a:effectLst/>
                        <a:latin typeface="+mn-lt"/>
                        <a:ea typeface="+mn-ea"/>
                        <a:cs typeface="+mn-cs"/>
                      </a:endParaRPr>
                    </a:p>
                  </a:txBody>
                  <a:tcPr marL="28802" marR="28802" marT="19201" marB="19201" anchor="ctr"/>
                </a:tc>
                <a:extLst>
                  <a:ext uri="{0D108BD9-81ED-4DB2-BD59-A6C34878D82A}">
                    <a16:rowId xmlns:a16="http://schemas.microsoft.com/office/drawing/2014/main" val="614751619"/>
                  </a:ext>
                </a:extLst>
              </a:tr>
              <a:tr h="314900">
                <a:tc>
                  <a:txBody>
                    <a:bodyPr/>
                    <a:lstStyle/>
                    <a:p>
                      <a:pPr marL="0" algn="l" defTabSz="932742" rtl="0" eaLnBrk="1" latinLnBrk="0" hangingPunct="1">
                        <a:buNone/>
                      </a:pPr>
                      <a:r>
                        <a:rPr lang="en-US" sz="1100" b="1" kern="1200">
                          <a:solidFill>
                            <a:schemeClr val="lt1"/>
                          </a:solidFill>
                          <a:effectLst/>
                        </a:rPr>
                        <a:t>Compliance Efficiency</a:t>
                      </a:r>
                      <a:endParaRPr lang="en-US" sz="1100" b="1" kern="1200">
                        <a:solidFill>
                          <a:schemeClr val="lt1"/>
                        </a:solidFill>
                        <a:effectLst/>
                        <a:latin typeface="+mn-lt"/>
                        <a:ea typeface="+mn-ea"/>
                        <a:cs typeface="+mn-cs"/>
                      </a:endParaRPr>
                    </a:p>
                  </a:txBody>
                  <a:tcPr marL="28802" marR="28802" marT="19201" marB="19201" anchor="ctr"/>
                </a:tc>
                <a:tc>
                  <a:txBody>
                    <a:bodyPr/>
                    <a:lstStyle/>
                    <a:p>
                      <a:pPr marL="0" algn="l" defTabSz="932742" rtl="0" eaLnBrk="1" latinLnBrk="0" hangingPunct="1">
                        <a:buNone/>
                      </a:pPr>
                      <a:r>
                        <a:rPr lang="en-US" sz="1100" b="0" kern="1200">
                          <a:solidFill>
                            <a:schemeClr val="bg1"/>
                          </a:solidFill>
                          <a:effectLst/>
                        </a:rPr>
                        <a:t>$50K</a:t>
                      </a:r>
                      <a:endParaRPr lang="en-US" sz="1100" b="0" kern="1200">
                        <a:solidFill>
                          <a:schemeClr val="bg1"/>
                        </a:solidFill>
                        <a:effectLst/>
                        <a:latin typeface="+mn-lt"/>
                        <a:ea typeface="+mn-ea"/>
                        <a:cs typeface="+mn-cs"/>
                      </a:endParaRPr>
                    </a:p>
                  </a:txBody>
                  <a:tcPr marL="28802" marR="28802" marT="19201" marB="19201" anchor="ctr"/>
                </a:tc>
                <a:tc>
                  <a:txBody>
                    <a:bodyPr/>
                    <a:lstStyle/>
                    <a:p>
                      <a:pPr marL="0" algn="l" defTabSz="932742" rtl="0" eaLnBrk="1" latinLnBrk="0" hangingPunct="1">
                        <a:buNone/>
                      </a:pPr>
                      <a:r>
                        <a:rPr lang="en-US" sz="1100" b="0" kern="1200">
                          <a:solidFill>
                            <a:schemeClr val="bg1"/>
                          </a:solidFill>
                          <a:effectLst/>
                        </a:rPr>
                        <a:t>$100K</a:t>
                      </a:r>
                      <a:endParaRPr lang="en-US" sz="1100" b="0" kern="1200">
                        <a:solidFill>
                          <a:schemeClr val="bg1"/>
                        </a:solidFill>
                        <a:effectLst/>
                        <a:latin typeface="+mn-lt"/>
                        <a:ea typeface="+mn-ea"/>
                        <a:cs typeface="+mn-cs"/>
                      </a:endParaRPr>
                    </a:p>
                  </a:txBody>
                  <a:tcPr marL="28802" marR="28802" marT="19201" marB="19201" anchor="ctr"/>
                </a:tc>
                <a:tc>
                  <a:txBody>
                    <a:bodyPr/>
                    <a:lstStyle/>
                    <a:p>
                      <a:pPr marL="0" algn="l" defTabSz="932742" rtl="0" eaLnBrk="1" latinLnBrk="0" hangingPunct="1">
                        <a:buNone/>
                      </a:pPr>
                      <a:r>
                        <a:rPr lang="en-US" sz="1100" b="0" kern="1200" dirty="0">
                          <a:solidFill>
                            <a:schemeClr val="bg1"/>
                          </a:solidFill>
                          <a:effectLst/>
                        </a:rPr>
                        <a:t>Audit-ready logging</a:t>
                      </a:r>
                      <a:endParaRPr lang="en-US" sz="1100" b="0" kern="1200" dirty="0">
                        <a:solidFill>
                          <a:schemeClr val="bg1"/>
                        </a:solidFill>
                        <a:effectLst/>
                        <a:latin typeface="+mn-lt"/>
                        <a:ea typeface="+mn-ea"/>
                        <a:cs typeface="+mn-cs"/>
                      </a:endParaRPr>
                    </a:p>
                  </a:txBody>
                  <a:tcPr marL="28802" marR="28802" marT="19201" marB="19201" anchor="ctr"/>
                </a:tc>
                <a:extLst>
                  <a:ext uri="{0D108BD9-81ED-4DB2-BD59-A6C34878D82A}">
                    <a16:rowId xmlns:a16="http://schemas.microsoft.com/office/drawing/2014/main" val="418403389"/>
                  </a:ext>
                </a:extLst>
              </a:tr>
              <a:tr h="0">
                <a:tc>
                  <a:txBody>
                    <a:bodyPr/>
                    <a:lstStyle/>
                    <a:p>
                      <a:pPr marL="0" algn="l" defTabSz="932742" rtl="0" eaLnBrk="1" latinLnBrk="0" hangingPunct="1">
                        <a:buNone/>
                      </a:pPr>
                      <a:r>
                        <a:rPr lang="en-US" sz="1100" b="1" kern="1200">
                          <a:solidFill>
                            <a:schemeClr val="lt1"/>
                          </a:solidFill>
                          <a:effectLst/>
                        </a:rPr>
                        <a:t>Total Benefits</a:t>
                      </a:r>
                      <a:endParaRPr lang="en-US" sz="1100" b="1" kern="1200">
                        <a:solidFill>
                          <a:schemeClr val="lt1"/>
                        </a:solidFill>
                        <a:effectLst/>
                        <a:latin typeface="+mn-lt"/>
                        <a:ea typeface="+mn-ea"/>
                        <a:cs typeface="+mn-cs"/>
                      </a:endParaRPr>
                    </a:p>
                  </a:txBody>
                  <a:tcPr marL="28802" marR="28802" marT="19201" marB="19201" anchor="ctr"/>
                </a:tc>
                <a:tc>
                  <a:txBody>
                    <a:bodyPr/>
                    <a:lstStyle/>
                    <a:p>
                      <a:pPr marL="0" algn="l" defTabSz="932742" rtl="0" eaLnBrk="1" latinLnBrk="0" hangingPunct="1">
                        <a:buNone/>
                      </a:pPr>
                      <a:r>
                        <a:rPr lang="en-US" sz="1100" b="1" kern="1200">
                          <a:solidFill>
                            <a:schemeClr val="lt1"/>
                          </a:solidFill>
                          <a:effectLst/>
                        </a:rPr>
                        <a:t>$800K</a:t>
                      </a:r>
                      <a:endParaRPr lang="en-US" sz="1100" b="1" kern="1200">
                        <a:solidFill>
                          <a:schemeClr val="lt1"/>
                        </a:solidFill>
                        <a:effectLst/>
                        <a:latin typeface="+mn-lt"/>
                        <a:ea typeface="+mn-ea"/>
                        <a:cs typeface="+mn-cs"/>
                      </a:endParaRPr>
                    </a:p>
                  </a:txBody>
                  <a:tcPr marL="28802" marR="28802" marT="19201" marB="19201" anchor="ctr"/>
                </a:tc>
                <a:tc>
                  <a:txBody>
                    <a:bodyPr/>
                    <a:lstStyle/>
                    <a:p>
                      <a:pPr marL="0" algn="l" defTabSz="932742" rtl="0" eaLnBrk="1" latinLnBrk="0" hangingPunct="1">
                        <a:buNone/>
                      </a:pPr>
                      <a:r>
                        <a:rPr lang="en-US" sz="1100" b="1" kern="1200">
                          <a:solidFill>
                            <a:schemeClr val="lt1"/>
                          </a:solidFill>
                          <a:effectLst/>
                        </a:rPr>
                        <a:t>$2.6M</a:t>
                      </a:r>
                      <a:endParaRPr lang="en-US" sz="1100" b="1" kern="1200">
                        <a:solidFill>
                          <a:schemeClr val="lt1"/>
                        </a:solidFill>
                        <a:effectLst/>
                        <a:latin typeface="+mn-lt"/>
                        <a:ea typeface="+mn-ea"/>
                        <a:cs typeface="+mn-cs"/>
                      </a:endParaRPr>
                    </a:p>
                  </a:txBody>
                  <a:tcPr marL="28802" marR="28802" marT="19201" marB="19201" anchor="ctr"/>
                </a:tc>
                <a:tc>
                  <a:txBody>
                    <a:bodyPr/>
                    <a:lstStyle/>
                    <a:p>
                      <a:pPr marL="0" algn="l" defTabSz="932742" rtl="0" eaLnBrk="1" latinLnBrk="0" hangingPunct="1">
                        <a:buNone/>
                      </a:pPr>
                      <a:endParaRPr lang="en-US" sz="1100" b="1" kern="1200" dirty="0">
                        <a:solidFill>
                          <a:schemeClr val="lt1"/>
                        </a:solidFill>
                        <a:effectLst/>
                        <a:latin typeface="+mn-lt"/>
                        <a:ea typeface="+mn-ea"/>
                        <a:cs typeface="+mn-cs"/>
                      </a:endParaRPr>
                    </a:p>
                  </a:txBody>
                  <a:tcPr marL="28802" marR="28802" marT="19201" marB="19201" anchor="ctr"/>
                </a:tc>
                <a:extLst>
                  <a:ext uri="{0D108BD9-81ED-4DB2-BD59-A6C34878D82A}">
                    <a16:rowId xmlns:a16="http://schemas.microsoft.com/office/drawing/2014/main" val="1401039784"/>
                  </a:ext>
                </a:extLst>
              </a:tr>
            </a:tbl>
          </a:graphicData>
        </a:graphic>
      </p:graphicFrame>
      <p:sp>
        <p:nvSpPr>
          <p:cNvPr id="8" name="TextBox 7">
            <a:extLst>
              <a:ext uri="{FF2B5EF4-FFF2-40B4-BE49-F238E27FC236}">
                <a16:creationId xmlns:a16="http://schemas.microsoft.com/office/drawing/2014/main" id="{C44B5DE3-B8DE-89CB-F1AB-B756F8A47A3B}"/>
              </a:ext>
            </a:extLst>
          </p:cNvPr>
          <p:cNvSpPr txBox="1"/>
          <p:nvPr/>
        </p:nvSpPr>
        <p:spPr>
          <a:xfrm>
            <a:off x="588263" y="1282309"/>
            <a:ext cx="3182090" cy="307777"/>
          </a:xfrm>
          <a:prstGeom prst="rect">
            <a:avLst/>
          </a:prstGeom>
          <a:noFill/>
        </p:spPr>
        <p:txBody>
          <a:bodyPr wrap="none" lIns="0" tIns="0" rIns="0" bIns="0" rtlCol="0">
            <a:spAutoFit/>
          </a:bodyPr>
          <a:lstStyle/>
          <a:p>
            <a:pPr algn="l"/>
            <a:r>
              <a:rPr lang="en-US" sz="2000" dirty="0"/>
              <a:t>Investment Costs (First Year)</a:t>
            </a:r>
          </a:p>
        </p:txBody>
      </p:sp>
      <p:sp>
        <p:nvSpPr>
          <p:cNvPr id="9" name="TextBox 8">
            <a:extLst>
              <a:ext uri="{FF2B5EF4-FFF2-40B4-BE49-F238E27FC236}">
                <a16:creationId xmlns:a16="http://schemas.microsoft.com/office/drawing/2014/main" id="{BE0C88CE-D51F-4976-8263-6F64539B885D}"/>
              </a:ext>
            </a:extLst>
          </p:cNvPr>
          <p:cNvSpPr txBox="1"/>
          <p:nvPr/>
        </p:nvSpPr>
        <p:spPr>
          <a:xfrm>
            <a:off x="588263" y="3630881"/>
            <a:ext cx="3222036" cy="307777"/>
          </a:xfrm>
          <a:prstGeom prst="rect">
            <a:avLst/>
          </a:prstGeom>
          <a:noFill/>
        </p:spPr>
        <p:txBody>
          <a:bodyPr wrap="none" lIns="0" tIns="0" rIns="0" bIns="0" rtlCol="0">
            <a:spAutoFit/>
          </a:bodyPr>
          <a:lstStyle/>
          <a:p>
            <a:pPr algn="l"/>
            <a:r>
              <a:rPr lang="en-US" sz="2000" dirty="0"/>
              <a:t>Quantifiable Annual Benefits</a:t>
            </a:r>
          </a:p>
        </p:txBody>
      </p:sp>
    </p:spTree>
    <p:extLst>
      <p:ext uri="{BB962C8B-B14F-4D97-AF65-F5344CB8AC3E}">
        <p14:creationId xmlns:p14="http://schemas.microsoft.com/office/powerpoint/2010/main" val="381251819"/>
      </p:ext>
    </p:extLst>
  </p:cSld>
  <p:clrMapOvr>
    <a:masterClrMapping/>
  </p:clrMapOvr>
  <p:transition>
    <p:fade/>
  </p:transition>
</p:sld>
</file>

<file path=ppt/theme/theme1.xml><?xml version="1.0" encoding="utf-8"?>
<a:theme xmlns:a="http://schemas.openxmlformats.org/drawingml/2006/main" name="Azure Master Architect Program">
  <a:themeElements>
    <a:clrScheme name="Custom 135">
      <a:dk1>
        <a:srgbClr val="091F2C"/>
      </a:dk1>
      <a:lt1>
        <a:srgbClr val="FFFFFF"/>
      </a:lt1>
      <a:dk2>
        <a:srgbClr val="2A446F"/>
      </a:dk2>
      <a:lt2>
        <a:srgbClr val="E8E6DF"/>
      </a:lt2>
      <a:accent1>
        <a:srgbClr val="8DC8E8"/>
      </a:accent1>
      <a:accent2>
        <a:srgbClr val="0078D4"/>
      </a:accent2>
      <a:accent3>
        <a:srgbClr val="C03BC4"/>
      </a:accent3>
      <a:accent4>
        <a:srgbClr val="D7D2CB"/>
      </a:accent4>
      <a:accent5>
        <a:srgbClr val="FFB900"/>
      </a:accent5>
      <a:accent6>
        <a:srgbClr val="D2D2D2"/>
      </a:accent6>
      <a:hlink>
        <a:srgbClr val="D59ED7"/>
      </a:hlink>
      <a:folHlink>
        <a:srgbClr val="D59ED7"/>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chemeClr val="bg1"/>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Brown">
      <a:srgbClr val="E1D3C7"/>
    </a:custClr>
    <a:custClr name="Light Yellow">
      <a:srgbClr val="FFE399"/>
    </a:custClr>
    <a:custClr name="Light Orange">
      <a:srgbClr val="FFA38B"/>
    </a:custClr>
    <a:custClr name="Light Red">
      <a:srgbClr val="FFB3BB"/>
    </a:custClr>
    <a:custClr name="Light Magenta">
      <a:srgbClr val="D59ED7"/>
    </a:custClr>
    <a:custClr name="Light Purple">
      <a:srgbClr val="C5B4E3"/>
    </a:custClr>
    <a:custClr name="Light Blue">
      <a:srgbClr val="8DC8E8"/>
    </a:custClr>
    <a:custClr name="Light Teal">
      <a:srgbClr val="B9DCD2"/>
    </a:custClr>
    <a:custClr name="Light Green">
      <a:srgbClr val="D4EC8E"/>
    </a:custClr>
    <a:custClr name="Blue Black">
      <a:srgbClr val="091F2C"/>
    </a:custClr>
    <a:custClr name="Brown">
      <a:srgbClr val="BF9474"/>
    </a:custClr>
    <a:custClr name="Yellow">
      <a:srgbClr val="FFB900"/>
    </a:custClr>
    <a:custClr name="Orange">
      <a:srgbClr val="FF5C39"/>
    </a:custClr>
    <a:custClr name="Red">
      <a:srgbClr val="F4364C"/>
    </a:custClr>
    <a:custClr name="Magenta">
      <a:srgbClr val="C03BC4"/>
    </a:custClr>
    <a:custClr name="Purple">
      <a:srgbClr val="8661C5"/>
    </a:custClr>
    <a:custClr name="Blue">
      <a:srgbClr val="0078D4"/>
    </a:custClr>
    <a:custClr name="Teal">
      <a:srgbClr val="49C5B1"/>
    </a:custClr>
    <a:custClr name="Green">
      <a:srgbClr val="8DE971"/>
    </a:custClr>
    <a:custClr name="Rich Black">
      <a:srgbClr val="000000"/>
    </a:custClr>
    <a:custClr name="Dark Brown">
      <a:srgbClr val="5C4738"/>
    </a:custClr>
    <a:custClr name="Dark Yellow">
      <a:srgbClr val="7F5A1A"/>
    </a:custClr>
    <a:custClr name="Dark Orange">
      <a:srgbClr val="73391D"/>
    </a:custClr>
    <a:custClr name="Dark Red">
      <a:srgbClr val="73262F"/>
    </a:custClr>
    <a:custClr name="Dark Magenta">
      <a:srgbClr val="702573"/>
    </a:custClr>
    <a:custClr name="Dark Purple">
      <a:srgbClr val="463668"/>
    </a:custClr>
    <a:custClr name="Dark Blue">
      <a:srgbClr val="2A446F"/>
    </a:custClr>
    <a:custClr name="Dark Teal">
      <a:srgbClr val="225B62"/>
    </a:custClr>
    <a:custClr name="Dark Green">
      <a:srgbClr val="07641D"/>
    </a:custClr>
    <a:custClr name="Brown Black">
      <a:srgbClr val="291817"/>
    </a:custClr>
    <a:custClr name="Pure White">
      <a:srgbClr val="FFFFFF"/>
    </a:custClr>
    <a:custClr name="Off White">
      <a:srgbClr val="F4F3F5"/>
    </a:custClr>
    <a:custClr name="Warm White">
      <a:srgbClr val="FFF8F3"/>
    </a:custClr>
    <a:custClr name="Warm Light Gray">
      <a:srgbClr val="E8E6DF"/>
    </a:custClr>
    <a:custClr name="Mid Gray">
      <a:srgbClr val="D7D2CB"/>
    </a:custClr>
    <a:custClr name="Warm Gray">
      <a:srgbClr val="8C8279"/>
    </a:custClr>
    <a:custClr name="Light Gray">
      <a:srgbClr val="D9D9D6"/>
    </a:custClr>
    <a:custClr name="Cool Gray">
      <a:srgbClr val="B1B3B3"/>
    </a:custClr>
    <a:custClr name="Dark Gray">
      <a:srgbClr val="454142"/>
    </a:custClr>
    <a:custClr name="Pure White">
      <a:srgbClr val="FFFFFF"/>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 name="Blank">
      <a:srgbClr val="F0F0F0"/>
    </a:custClr>
  </a:custClrLst>
  <a:extLst>
    <a:ext uri="{05A4C25C-085E-4340-85A3-A5531E510DB2}">
      <thm15:themeFamily xmlns:thm15="http://schemas.microsoft.com/office/thememl/2012/main" name="MCAPS_Start2023_16-9_Event-template.potx" id="{757FA001-178F-4700-B49C-26A3D5283787}" vid="{96849954-06DF-4C81-84E4-E0323F64AD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5">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1342CBA-D417-4F32-A515-F1E8D4B1DE1D}">
  <we:reference id="wa200006038" version="1.0.0.3" store="en-US" storeType="OMEX"/>
  <we:alternateReferences>
    <we:reference id="wa200006038" version="1.0.0.3" store="en-US" storeType="OMEX"/>
  </we:alternateReferences>
  <we:properties>
    <we:property name="pptx_export_from_biorender" value="false"/>
  </we:properties>
  <we:bindings/>
  <we:snapshot xmlns:r="http://schemas.openxmlformats.org/officeDocument/2006/relationships"/>
  <we:extLst>
    <a:ext xmlns:a="http://schemas.openxmlformats.org/drawingml/2006/main" uri="{0858819E-0033-43BF-8937-05EC82904868}">
      <we:backgroundApp state="1" runtimeId="Taskpane.Url"/>
    </a:ext>
  </we:extLst>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B6F45193E34D384A89850BC1EF76FA97" ma:contentTypeVersion="6" ma:contentTypeDescription="Create a new document." ma:contentTypeScope="" ma:versionID="65ca274df419afb777027320e4eafc76">
  <xsd:schema xmlns:xsd="http://www.w3.org/2001/XMLSchema" xmlns:xs="http://www.w3.org/2001/XMLSchema" xmlns:p="http://schemas.microsoft.com/office/2006/metadata/properties" xmlns:ns1="http://schemas.microsoft.com/sharepoint/v3" xmlns:ns2="9d6f0ed0-05b6-43dc-b46d-28c3450a89ba" targetNamespace="http://schemas.microsoft.com/office/2006/metadata/properties" ma:root="true" ma:fieldsID="34dfc4d09aafc89c026be279321a5cfc" ns1:_="" ns2:_="">
    <xsd:import namespace="http://schemas.microsoft.com/sharepoint/v3"/>
    <xsd:import namespace="9d6f0ed0-05b6-43dc-b46d-28c3450a89b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2" nillable="true" ma:displayName="Unified Compliance Policy Properties" ma:hidden="true" ma:internalName="_ip_UnifiedCompliancePolicyProperties">
      <xsd:simpleType>
        <xsd:restriction base="dms:Note"/>
      </xsd:simpleType>
    </xsd:element>
    <xsd:element name="_ip_UnifiedCompliancePolicyUIAction" ma:index="1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d6f0ed0-05b6-43dc-b46d-28c3450a89b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BillingMetadata" ma:index="11"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documentManagement>
</p:properties>
</file>

<file path=customXml/itemProps1.xml><?xml version="1.0" encoding="utf-8"?>
<ds:datastoreItem xmlns:ds="http://schemas.openxmlformats.org/officeDocument/2006/customXml" ds:itemID="{41F09641-5E8D-431B-A63F-AFFEA873278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d6f0ed0-05b6-43dc-b46d-28c3450a89b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72E6025E-C127-4B7B-AAF2-1F0FD425C31F}">
  <ds:schemaRefs>
    <ds:schemaRef ds:uri="http://schemas.microsoft.com/sharepoint/v3/contenttype/forms"/>
  </ds:schemaRefs>
</ds:datastoreItem>
</file>

<file path=customXml/itemProps3.xml><?xml version="1.0" encoding="utf-8"?>
<ds:datastoreItem xmlns:ds="http://schemas.openxmlformats.org/officeDocument/2006/customXml" ds:itemID="{96772DD3-90A8-4B0E-B011-70FB70144E03}">
  <ds:schemaRefs>
    <ds:schemaRef ds:uri="http://schemas.microsoft.com/office/2006/documentManagement/types"/>
    <ds:schemaRef ds:uri="http://purl.org/dc/elements/1.1/"/>
    <ds:schemaRef ds:uri="http://www.w3.org/XML/1998/namespace"/>
    <ds:schemaRef ds:uri="http://purl.org/dc/dcmitype/"/>
    <ds:schemaRef ds:uri="http://schemas.microsoft.com/office/2006/metadata/properties"/>
    <ds:schemaRef ds:uri="http://purl.org/dc/terms/"/>
    <ds:schemaRef ds:uri="f817beaf-a682-43b7-842a-d87b1ed721f3"/>
    <ds:schemaRef ds:uri="e37c3542-7e5c-435d-a8cc-ea1724f0736e"/>
    <ds:schemaRef ds:uri="http://schemas.microsoft.com/sharepoint/v3"/>
    <ds:schemaRef ds:uri="http://schemas.microsoft.com/office/infopath/2007/PartnerControls"/>
    <ds:schemaRef ds:uri="http://schemas.openxmlformats.org/package/2006/metadata/core-properties"/>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M&amp;O Brand-M&amp;O PPT Template-full version (2)</Template>
  <TotalTime>2648</TotalTime>
  <Words>6242</Words>
  <Application>Microsoft Office PowerPoint</Application>
  <PresentationFormat>Widescreen</PresentationFormat>
  <Paragraphs>679</Paragraphs>
  <Slides>33</Slides>
  <Notes>17</Notes>
  <HiddenSlides>1</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Azure Master Architect Program</vt:lpstr>
      <vt:lpstr>Towards an Agentic Security Operations Center</vt:lpstr>
      <vt:lpstr>AGENDA</vt:lpstr>
      <vt:lpstr>Critical business outcomes driving security</vt:lpstr>
      <vt:lpstr>Towards an Agentic SOC:  A Security-Focused AI Development Kit</vt:lpstr>
      <vt:lpstr>The  Development Kit:  Key Components</vt:lpstr>
      <vt:lpstr>Solution Architecture</vt:lpstr>
      <vt:lpstr>Solution Architecture</vt:lpstr>
      <vt:lpstr>Solution Architecture</vt:lpstr>
      <vt:lpstr>Solution Architecture</vt:lpstr>
      <vt:lpstr>Solution Architecture</vt:lpstr>
      <vt:lpstr>Solution Architecture</vt:lpstr>
      <vt:lpstr>Key Benefits and Value Delivery</vt:lpstr>
      <vt:lpstr>Technical Pilot+ Roadmap (90 Days to Year 1)</vt:lpstr>
      <vt:lpstr>Next Steps: towards an Agentic SOC</vt:lpstr>
      <vt:lpstr>PowerPoint Presentation</vt:lpstr>
      <vt:lpstr>Backup Slides</vt:lpstr>
      <vt:lpstr>PowerPoint Presentation</vt:lpstr>
      <vt:lpstr>Deliverable Cross-Check w/ Evidence Links</vt:lpstr>
      <vt:lpstr>Our Approach: Spec-Driven Development</vt:lpstr>
      <vt:lpstr>Philosophy: Move from typing to thinking.</vt:lpstr>
      <vt:lpstr>Meet the Team: Purpose Built Agents for Build and Prep</vt:lpstr>
      <vt:lpstr>Technical Diagrams</vt:lpstr>
      <vt:lpstr>System Context Diagram</vt:lpstr>
      <vt:lpstr>Component Architecture</vt:lpstr>
      <vt:lpstr>Alert Triage Sequence Diagram</vt:lpstr>
      <vt:lpstr>Data Flow Architecture</vt:lpstr>
      <vt:lpstr>Deployment Architecture</vt:lpstr>
      <vt:lpstr>Multi-Region Deployment Architecture (Thoughts)</vt:lpstr>
      <vt:lpstr>Security Sequence</vt:lpstr>
      <vt:lpstr>Security Copilot + Agentic SOC | Better together</vt:lpstr>
      <vt:lpstr>Business &amp; Market Research</vt:lpstr>
      <vt:lpstr>Security Automation &amp; Autonomy Market Analysis</vt:lpstr>
      <vt:lpstr>Cost-Benefit Analysis Breakdown</vt:lpstr>
    </vt:vector>
  </TitlesOfParts>
  <Manager/>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 name or presentation title</dc:title>
  <dc:subject/>
  <dc:creator>Jesus Rodriguez</dc:creator>
  <cp:keywords/>
  <dc:description/>
  <cp:lastModifiedBy>Tim Meyers</cp:lastModifiedBy>
  <cp:revision>4</cp:revision>
  <cp:lastPrinted>2023-06-08T02:44:40Z</cp:lastPrinted>
  <dcterms:created xsi:type="dcterms:W3CDTF">2023-02-17T20:44:47Z</dcterms:created>
  <dcterms:modified xsi:type="dcterms:W3CDTF">2026-02-24T04:01:13Z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b562966-c66d-4b83-aa77-49bdfed04c11_Enabled">
    <vt:lpwstr>true</vt:lpwstr>
  </property>
  <property fmtid="{D5CDD505-2E9C-101B-9397-08002B2CF9AE}" pid="3" name="MSIP_Label_cb562966-c66d-4b83-aa77-49bdfed04c11_SetDate">
    <vt:lpwstr>2022-01-25T00:15:10Z</vt:lpwstr>
  </property>
  <property fmtid="{D5CDD505-2E9C-101B-9397-08002B2CF9AE}" pid="4" name="MSIP_Label_cb562966-c66d-4b83-aa77-49bdfed04c11_Method">
    <vt:lpwstr>Standard</vt:lpwstr>
  </property>
  <property fmtid="{D5CDD505-2E9C-101B-9397-08002B2CF9AE}" pid="5" name="MSIP_Label_cb562966-c66d-4b83-aa77-49bdfed04c11_Name">
    <vt:lpwstr>Non-Confidential</vt:lpwstr>
  </property>
  <property fmtid="{D5CDD505-2E9C-101B-9397-08002B2CF9AE}" pid="6" name="MSIP_Label_cb562966-c66d-4b83-aa77-49bdfed04c11_SiteId">
    <vt:lpwstr>a57507b2-d296-4dca-a9ae-67b1484e02a9</vt:lpwstr>
  </property>
  <property fmtid="{D5CDD505-2E9C-101B-9397-08002B2CF9AE}" pid="7" name="MSIP_Label_cb562966-c66d-4b83-aa77-49bdfed04c11_ActionId">
    <vt:lpwstr>e6f19365-f68f-4bd5-8a89-b119d81b90bd</vt:lpwstr>
  </property>
  <property fmtid="{D5CDD505-2E9C-101B-9397-08002B2CF9AE}" pid="8" name="MSIP_Label_cb562966-c66d-4b83-aa77-49bdfed04c11_ContentBits">
    <vt:lpwstr>0</vt:lpwstr>
  </property>
  <property fmtid="{D5CDD505-2E9C-101B-9397-08002B2CF9AE}" pid="9" name="MediaServiceImageTags">
    <vt:lpwstr/>
  </property>
  <property fmtid="{D5CDD505-2E9C-101B-9397-08002B2CF9AE}" pid="10" name="_dlc_policyId">
    <vt:lpwstr>0x01010098CF26BE9161E94EB79A57119623B6D1|-369733750</vt:lpwstr>
  </property>
  <property fmtid="{D5CDD505-2E9C-101B-9397-08002B2CF9AE}" pid="11" name="ItemRetentionFormula">
    <vt:lpwstr>&lt;formula id="Microsoft.Office.RecordsManagement.PolicyFeatures.Expiration.Formula.BuiltIn"&gt;&lt;number&gt;30&lt;/number&gt;&lt;property&gt;Modified&lt;/property&gt;&lt;propertyId&gt;28cf69c5-fa48-462a-b5cd-27b6f9d2bd5f&lt;/propertyId&gt;&lt;period&gt;days&lt;/period&gt;&lt;/formula&gt;</vt:lpwstr>
  </property>
  <property fmtid="{D5CDD505-2E9C-101B-9397-08002B2CF9AE}" pid="12" name="ContentTypeId">
    <vt:lpwstr>0x010100B6F45193E34D384A89850BC1EF76FA97</vt:lpwstr>
  </property>
  <property fmtid="{D5CDD505-2E9C-101B-9397-08002B2CF9AE}" pid="13" name="xd_ProgID">
    <vt:lpwstr/>
  </property>
  <property fmtid="{D5CDD505-2E9C-101B-9397-08002B2CF9AE}" pid="14" name="ComplianceAssetId">
    <vt:lpwstr/>
  </property>
  <property fmtid="{D5CDD505-2E9C-101B-9397-08002B2CF9AE}" pid="15" name="TemplateUrl">
    <vt:lpwstr/>
  </property>
  <property fmtid="{D5CDD505-2E9C-101B-9397-08002B2CF9AE}" pid="16" name="_ExtendedDescription">
    <vt:lpwstr/>
  </property>
  <property fmtid="{D5CDD505-2E9C-101B-9397-08002B2CF9AE}" pid="17" name="TriggerFlowInfo">
    <vt:lpwstr/>
  </property>
  <property fmtid="{D5CDD505-2E9C-101B-9397-08002B2CF9AE}" pid="18" name="xd_Signature">
    <vt:lpwstr/>
  </property>
  <property fmtid="{D5CDD505-2E9C-101B-9397-08002B2CF9AE}" pid="19" name="Order">
    <vt:r8>4300</vt:r8>
  </property>
  <property fmtid="{D5CDD505-2E9C-101B-9397-08002B2CF9AE}" pid="20" name="_SourceUrl">
    <vt:lpwstr/>
  </property>
  <property fmtid="{D5CDD505-2E9C-101B-9397-08002B2CF9AE}" pid="21" name="_SharedFileIndex">
    <vt:lpwstr/>
  </property>
</Properties>
</file>