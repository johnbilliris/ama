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6014" r:id="rId4"/>
  </p:sldMasterIdLst>
  <p:notesMasterIdLst>
    <p:notesMasterId r:id="rId52"/>
  </p:notesMasterIdLst>
  <p:handoutMasterIdLst>
    <p:handoutMasterId r:id="rId53"/>
  </p:handoutMasterIdLst>
  <p:sldIdLst>
    <p:sldId id="256" r:id="rId5"/>
    <p:sldId id="257" r:id="rId6"/>
    <p:sldId id="258" r:id="rId7"/>
    <p:sldId id="259" r:id="rId8"/>
    <p:sldId id="260" r:id="rId9"/>
    <p:sldId id="261" r:id="rId10"/>
    <p:sldId id="300"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302" r:id="rId25"/>
    <p:sldId id="275" r:id="rId26"/>
    <p:sldId id="276" r:id="rId27"/>
    <p:sldId id="277" r:id="rId28"/>
    <p:sldId id="278" r:id="rId29"/>
    <p:sldId id="304" r:id="rId30"/>
    <p:sldId id="279" r:id="rId31"/>
    <p:sldId id="280" r:id="rId32"/>
    <p:sldId id="286" r:id="rId33"/>
    <p:sldId id="281" r:id="rId34"/>
    <p:sldId id="283" r:id="rId35"/>
    <p:sldId id="284" r:id="rId36"/>
    <p:sldId id="301" r:id="rId37"/>
    <p:sldId id="289" r:id="rId38"/>
    <p:sldId id="287" r:id="rId39"/>
    <p:sldId id="288" r:id="rId40"/>
    <p:sldId id="285" r:id="rId41"/>
    <p:sldId id="298" r:id="rId42"/>
    <p:sldId id="290" r:id="rId43"/>
    <p:sldId id="299" r:id="rId44"/>
    <p:sldId id="291" r:id="rId45"/>
    <p:sldId id="292" r:id="rId46"/>
    <p:sldId id="293" r:id="rId47"/>
    <p:sldId id="294" r:id="rId48"/>
    <p:sldId id="296" r:id="rId49"/>
    <p:sldId id="297" r:id="rId50"/>
    <p:sldId id="282" r:id="rId51"/>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4347931-4479-4308-813A-E5779D134AD7}">
          <p14:sldIdLst>
            <p14:sldId id="256"/>
          </p14:sldIdLst>
        </p14:section>
        <p14:section name="Agenda" id="{9F747AB9-F868-40C2-AA5E-B87E2E03E2A7}">
          <p14:sldIdLst>
            <p14:sldId id="257"/>
          </p14:sldIdLst>
        </p14:section>
        <p14:section name="Problem &amp; industry context" id="{03BC6F5C-9D7C-4094-8CCF-FF459B89CE53}">
          <p14:sldIdLst>
            <p14:sldId id="258"/>
            <p14:sldId id="259"/>
          </p14:sldIdLst>
        </p14:section>
        <p14:section name="Stakeholders &amp; personas" id="{63CB47F4-F1EF-488B-BE0C-0EFF4A672A8F}">
          <p14:sldIdLst>
            <p14:sldId id="260"/>
          </p14:sldIdLst>
        </p14:section>
        <p14:section name="Current-state pain points" id="{030C46FC-4058-45DE-B9E5-D258A92C23CB}">
          <p14:sldIdLst>
            <p14:sldId id="261"/>
            <p14:sldId id="300"/>
            <p14:sldId id="262"/>
          </p14:sldIdLst>
        </p14:section>
        <p14:section name="Future-state vision" id="{921E5928-1A1A-4A16-850B-3BABE3FFA90A}">
          <p14:sldIdLst>
            <p14:sldId id="263"/>
          </p14:sldIdLst>
        </p14:section>
        <p14:section name=" Architecture walkthrough" id="{57605308-9A3E-42F1-B87C-AB65215938F0}">
          <p14:sldIdLst>
            <p14:sldId id="264"/>
            <p14:sldId id="265"/>
            <p14:sldId id="266"/>
            <p14:sldId id="267"/>
            <p14:sldId id="268"/>
            <p14:sldId id="269"/>
            <p14:sldId id="270"/>
            <p14:sldId id="271"/>
            <p14:sldId id="272"/>
            <p14:sldId id="273"/>
            <p14:sldId id="274"/>
            <p14:sldId id="302"/>
          </p14:sldIdLst>
        </p14:section>
        <p14:section name="Demo" id="{7E8C138F-B11D-4B12-9947-20DDFE0CA516}">
          <p14:sldIdLst>
            <p14:sldId id="275"/>
            <p14:sldId id="276"/>
            <p14:sldId id="277"/>
          </p14:sldIdLst>
        </p14:section>
        <p14:section name="Security &amp; governance" id="{63E4F6CF-A6B5-4562-8E1F-50EE614C78C0}">
          <p14:sldIdLst>
            <p14:sldId id="278"/>
            <p14:sldId id="304"/>
            <p14:sldId id="279"/>
            <p14:sldId id="280"/>
          </p14:sldIdLst>
        </p14:section>
        <p14:section name="Business impact &amp; KPIs" id="{23E3808A-29F9-4AF8-86AA-5A1CF42A7761}">
          <p14:sldIdLst>
            <p14:sldId id="286"/>
            <p14:sldId id="281"/>
            <p14:sldId id="283"/>
          </p14:sldIdLst>
        </p14:section>
        <p14:section name="Adoption roadmap" id="{1AAA402E-19AF-4BB0-BAAF-8B43CA98DC68}">
          <p14:sldIdLst>
            <p14:sldId id="284"/>
            <p14:sldId id="301"/>
            <p14:sldId id="289"/>
          </p14:sldIdLst>
        </p14:section>
        <p14:section name="Technical Diagrams" id="{8D93FCD9-CF97-DF46-8D01-2FC6A0197F82}">
          <p14:sldIdLst>
            <p14:sldId id="287"/>
          </p14:sldIdLst>
        </p14:section>
        <p14:section name="Lessons &amp; extensibility" id="{225EF7CD-A465-40AA-A9F6-A640C6D8E8F9}">
          <p14:sldIdLst>
            <p14:sldId id="288"/>
            <p14:sldId id="285"/>
            <p14:sldId id="298"/>
          </p14:sldIdLst>
        </p14:section>
        <p14:section name="The end" id="{F151BE7D-80DD-4EC5-A2D6-2F245E34CE87}">
          <p14:sldIdLst>
            <p14:sldId id="290"/>
            <p14:sldId id="299"/>
          </p14:sldIdLst>
        </p14:section>
        <p14:section name="Backup slides" id="{CECAD7AB-E815-4208-9CDA-613F7AA1B354}">
          <p14:sldIdLst>
            <p14:sldId id="291"/>
          </p14:sldIdLst>
        </p14:section>
        <p14:section name="Approach: SDD" id="{3AF7D112-355C-E044-B824-4D1ECD9A60F8}">
          <p14:sldIdLst>
            <p14:sldId id="292"/>
            <p14:sldId id="293"/>
          </p14:sldIdLst>
        </p14:section>
        <p14:section name="Deliverable Cross-Check w/ Evidence Links" id="{49814469-9D18-7B40-8572-30F39A1C0A94}">
          <p14:sldIdLst>
            <p14:sldId id="294"/>
          </p14:sldIdLst>
        </p14:section>
        <p14:section name="Backup" id="{5F814928-9F9B-BC43-966C-6A68A2260E57}">
          <p14:sldIdLst>
            <p14:sldId id="296"/>
            <p14:sldId id="297"/>
            <p14:sldId id="282"/>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3417B06-CA9A-6B04-1F8A-6EBE196E9847}" name="Paige Cabianca" initials="PC" userId="S::PCabianca@audienz.com::27b579fd-5cc6-4813-aade-39395522f3ec" providerId="AD"/>
  <p188:author id="{11FA0B32-7E6A-ACEF-B08A-52032B3644FE}" name="Shivangi Upadhyay" initials="SU" userId="S::v-shupadhyay@microsoft.com::91abecf0-9c1e-4849-a938-538b00dbc24d" providerId="AD"/>
  <p188:author id="{F14BE356-2244-D1D3-BCE6-1AD59D616C4D}" name="Sommer Serie" initials="SS" userId="S::sommers@microsoft.com::acee1493-9eed-423c-9a90-67515cce0a36" providerId="AD"/>
  <p188:author id="{0CBA9C5D-7356-BAC8-BE6E-3CDC333BBE26}" name="Shivi  Upadhyay" initials="SU" userId="S::shivi@audienz.com::708d2862-6512-4e93-ae1a-6f44f6fee39b" providerId="AD"/>
  <p188:author id="{78C23171-34A0-4275-170D-F87C123C7177}" name="Eric Kjome" initials="EK" userId="S::Eric@audienz.com::8bc786d3-f8e8-40fd-ab09-3785ea9f8118" providerId="AD"/>
  <p188:author id="{36DE5974-3758-51B9-AF66-D3418123C89A}" name="Chris Holt" initials="CH" userId="S::chris@audienz.com::a1804d0e-8bfb-42cb-9ad0-b6e044b779a2" providerId="AD"/>
  <p188:author id="{AE64C5A7-9EC0-2997-8582-DB608637CAAD}" name="Paul Wise" initials="PW" userId="S::paulwise@microsoft.com::1e5259a3-d92e-48e7-9f96-43b612e23109" providerId="AD"/>
  <p188:author id="{E17E32BA-B717-F8E2-99AB-03184040F76C}" name="Paige Cabianca" initials="PC" userId="S::pcabianca@audienz.com::27b579fd-5cc6-4813-aade-39395522f3ec" providerId="AD"/>
  <p188:author id="{9DFCAED2-AAA7-D64C-9C6F-FC36BF7A8582}" name="India McGill" initials="IM" userId="S::indiam@microsoft.com::cf1fdfd3-8fa0-400e-a698-3a6e5da40047" providerId="AD"/>
  <p188:author id="{C6D9BCE3-6A3A-F16F-FB1D-152E8D000526}" name="Jessy Rodriguez" initials="" userId="S::jessyr@thechannelcompany.com::be58406e-57ea-4c17-b94d-e08afaed1cd3" providerId="AD"/>
  <p188:author id="{9BF2B4F3-FFF5-2602-20DB-AE1DDA3E3060}" name="Markus Nitschke" initials="MN" userId="S::mnitschk@microsoft.com::00e3a6c1-be90-4832-afc1-934d12cea8b9"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5" name="Author" initials="A"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1F2C"/>
    <a:srgbClr val="0538BB"/>
    <a:srgbClr val="8449A9"/>
    <a:srgbClr val="0078D4"/>
    <a:srgbClr val="FAFAFA"/>
    <a:srgbClr val="1579FF"/>
    <a:srgbClr val="005FA9"/>
    <a:srgbClr val="C9EDC9"/>
    <a:srgbClr val="F2F2F2"/>
    <a:srgbClr val="504F4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A23233F-C1DB-2D7B-79BF-46FE5B7C8EF9}" v="1" dt="2026-02-22T22:26:26.0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221"/>
    <p:restoredTop sz="75466" autoAdjust="0"/>
  </p:normalViewPr>
  <p:slideViewPr>
    <p:cSldViewPr snapToGrid="0">
      <p:cViewPr varScale="1">
        <p:scale>
          <a:sx n="81" d="100"/>
          <a:sy n="81" d="100"/>
        </p:scale>
        <p:origin x="858" y="90"/>
      </p:cViewPr>
      <p:guideLst/>
    </p:cSldViewPr>
  </p:slideViewPr>
  <p:notesTextViewPr>
    <p:cViewPr>
      <p:scale>
        <a:sx n="1" d="1"/>
        <a:sy n="1" d="1"/>
      </p:scale>
      <p:origin x="0" y="-1008"/>
    </p:cViewPr>
  </p:notesTextViewPr>
  <p:sorterViewPr>
    <p:cViewPr>
      <p:scale>
        <a:sx n="80" d="100"/>
        <a:sy n="80" d="100"/>
      </p:scale>
      <p:origin x="0" y="0"/>
    </p:cViewPr>
  </p:sorter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handoutMaster" Target="handoutMasters/handoutMaster1.xml"/><Relationship Id="rId58" Type="http://schemas.openxmlformats.org/officeDocument/2006/relationships/tableStyles" Target="tableStyle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notesMaster" Target="notesMasters/notesMaster1.xml"/><Relationship Id="rId60"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itchFamily="34" charset="0"/>
              </a:rPr>
              <a:t>5/13/2026 1:07 PM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6CE63F-9E7F-4C04-9D0D-FCA25A8E9E86}" type="datetime8">
              <a:rPr lang="en-US" smtClean="0"/>
              <a:t>5/13/2026 12:56 PM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panose="020B0502040204020203"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KEY MESSAGE: We are presenting an Australian-sovereign, multi-agent platform that turns minutes into lives saved during disasters.</a:t>
            </a:r>
          </a:p>
          <a:p>
            <a:endParaRPr dirty="0"/>
          </a:p>
          <a:p>
            <a:r>
              <a:rPr dirty="0"/>
              <a:t>TALK TRACK (60s):</a:t>
            </a:r>
          </a:p>
          <a:p>
            <a:r>
              <a:rPr dirty="0"/>
              <a:t>- Open with energy. "Good </a:t>
            </a:r>
            <a:r>
              <a:rPr lang="en-AU" dirty="0"/>
              <a:t>afternoon</a:t>
            </a:r>
            <a:r>
              <a:rPr dirty="0"/>
              <a:t>. Over the next 40 minutes I'm going to take you inside one of the hardest, most consequential coordination problems in our country </a:t>
            </a:r>
            <a:r>
              <a:rPr lang="en-AU" dirty="0"/>
              <a:t>-</a:t>
            </a:r>
            <a:r>
              <a:rPr dirty="0"/>
              <a:t> and show you a working multi-agent platform that addresses it."</a:t>
            </a:r>
          </a:p>
          <a:p>
            <a:r>
              <a:rPr dirty="0"/>
              <a:t>- Frame audience: "Some of you sit at the executive table; others run the platform. I'll move between the two altitudes deliberately, and I'll mark every transition so you know which lens we are using."</a:t>
            </a:r>
          </a:p>
          <a:p>
            <a:r>
              <a:rPr dirty="0"/>
              <a:t>- Set expectation: "Forty minutes of presentation including a live walkthrough; twenty minutes of Q&amp;A. I'll close with a concrete adoption ask."</a:t>
            </a:r>
          </a:p>
          <a:p>
            <a:endParaRPr dirty="0"/>
          </a:p>
          <a:p>
            <a:r>
              <a:rPr dirty="0"/>
              <a:t>DELIVERY: Stand still. Eye contact across the room. Pause after the title.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KEY MESSAGE: Eight chapters; each with a clear takeaway.</a:t>
            </a:r>
          </a:p>
          <a:p>
            <a:endParaRPr/>
          </a:p>
          <a:p>
            <a:r>
              <a:t>TALK TRACK (45s):</a:t>
            </a:r>
          </a:p>
          <a:p>
            <a:r>
              <a:t>- "Here is the route we will walk. I'll pause at the end of each chapter for a quick gut-check before we move on."</a:t>
            </a:r>
          </a:p>
          <a:p>
            <a:r>
              <a:t>- Call out: "The demo sits in the middle so we can let the architecture explain itself, then come back for governance and business impact."</a:t>
            </a:r>
          </a:p>
          <a:p>
            <a:endParaRPr/>
          </a:p>
          <a:p>
            <a:r>
              <a:t>PACE: 30-40 seconds. Don't read every bullet. Highlight only chapters 3, 6 and 9.</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KEY MESSAGE: The cost of disasters in Australia is dominated by coordination latency, not by hardware or money.</a:t>
            </a:r>
          </a:p>
          <a:p>
            <a:endParaRPr dirty="0"/>
          </a:p>
          <a:p>
            <a:r>
              <a:rPr dirty="0"/>
              <a:t>TALK TRACK (90s):</a:t>
            </a:r>
          </a:p>
          <a:p>
            <a:r>
              <a:rPr dirty="0"/>
              <a:t>- Open with an image-evoking sentence. "Picture a Rural Fire Service crew in Cobargo</a:t>
            </a:r>
            <a:r>
              <a:rPr lang="en-AU" dirty="0"/>
              <a:t> – about 5 hours drive south of Sydney -</a:t>
            </a:r>
            <a:r>
              <a:rPr dirty="0"/>
              <a:t> on New Year's Eve 2019. They had trucks, water and crews. What they did not have was a shared real-time picture. By the time three agencies aligned, the wind had shifted </a:t>
            </a:r>
            <a:r>
              <a:rPr lang="en-AU" dirty="0"/>
              <a:t>(PAUSE) </a:t>
            </a:r>
            <a:r>
              <a:rPr dirty="0"/>
              <a:t>twice."</a:t>
            </a:r>
            <a:endParaRPr lang="en-AU" dirty="0"/>
          </a:p>
          <a:p>
            <a:r>
              <a:rPr lang="en-AU" dirty="0"/>
              <a:t>- 2019-20 Black Summer …. Burnt the land size of 330x Singapore in 9 months</a:t>
            </a:r>
            <a:endParaRPr dirty="0"/>
          </a:p>
          <a:p>
            <a:r>
              <a:rPr dirty="0"/>
              <a:t>- Quote the numbers. "33 lives. 3,</a:t>
            </a:r>
            <a:r>
              <a:rPr lang="en-AU" dirty="0"/>
              <a:t>0</a:t>
            </a:r>
            <a:r>
              <a:rPr dirty="0"/>
              <a:t>00 homes</a:t>
            </a:r>
            <a:r>
              <a:rPr lang="en-AU" dirty="0"/>
              <a:t>, 3 billion animal killed or displaced</a:t>
            </a:r>
            <a:r>
              <a:rPr dirty="0"/>
              <a:t>. $103B</a:t>
            </a:r>
            <a:r>
              <a:rPr lang="en-AU" dirty="0"/>
              <a:t> damage (PAUSE).</a:t>
            </a:r>
            <a:r>
              <a:rPr dirty="0"/>
              <a:t> The Royal Commission into National Natural Disaster Arrangements named coordination, not capability, as the primary improvement opportunity in its 80 recommendations."</a:t>
            </a:r>
          </a:p>
          <a:p>
            <a:r>
              <a:rPr dirty="0"/>
              <a:t>- Bridge: "The pattern is consistent across cyclones, floods, heatwaves and pandemics. The bottleneck is shared situational awareness, fast enough to act on."</a:t>
            </a:r>
          </a:p>
          <a:p>
            <a:endParaRPr dirty="0"/>
          </a:p>
          <a:p>
            <a:r>
              <a:rPr dirty="0"/>
              <a:t>PAUSE after "$103B" </a:t>
            </a:r>
            <a:r>
              <a:rPr lang="en-AU" dirty="0"/>
              <a:t>-</a:t>
            </a:r>
            <a:r>
              <a:rPr dirty="0"/>
              <a:t> let it land.</a:t>
            </a:r>
            <a:endParaRPr lang="en-AU" dirty="0"/>
          </a:p>
          <a:p>
            <a:endParaRPr lang="en-AU" dirty="0"/>
          </a:p>
          <a:p>
            <a:r>
              <a:rPr lang="en-AU" dirty="0"/>
              <a:t>BACKUP:</a:t>
            </a:r>
            <a:br>
              <a:rPr lang="en-AU" dirty="0"/>
            </a:br>
            <a:r>
              <a:rPr lang="en-AU" dirty="0"/>
              <a:t>Direct and indirect disaster costs in Australia are projected to increase from an average of $18.2 billion per year to $39 billion per year by 2050, even without accounting for climate change.</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KEY MESSAGE: The system must be built for federation and for a worsening hazard curve </a:t>
            </a:r>
            <a:r>
              <a:rPr lang="en-AU" dirty="0"/>
              <a:t>-</a:t>
            </a:r>
            <a:r>
              <a:rPr dirty="0"/>
              <a:t> both at once.</a:t>
            </a:r>
          </a:p>
          <a:p>
            <a:endParaRPr dirty="0"/>
          </a:p>
          <a:p>
            <a:r>
              <a:rPr dirty="0"/>
              <a:t>TALK TRACK (90s):</a:t>
            </a:r>
          </a:p>
          <a:p>
            <a:r>
              <a:rPr dirty="0"/>
              <a:t>- "Australia's emergency management is one of the most federated in the world. There is no single national operations </a:t>
            </a:r>
            <a:r>
              <a:rPr dirty="0" err="1"/>
              <a:t>centre</a:t>
            </a:r>
            <a:r>
              <a:rPr dirty="0"/>
              <a:t>. The Commonwealth, through NEMA, coordinates </a:t>
            </a:r>
            <a:r>
              <a:rPr lang="en-AU" dirty="0"/>
              <a:t>-</a:t>
            </a:r>
            <a:r>
              <a:rPr dirty="0"/>
              <a:t> it does not command. Authority flows through state agencies, councils and front-line crews."</a:t>
            </a:r>
          </a:p>
          <a:p>
            <a:r>
              <a:rPr dirty="0"/>
              <a:t>- "AIIMS gives us a shared functional vocabulary </a:t>
            </a:r>
            <a:r>
              <a:rPr lang="en-AU" dirty="0"/>
              <a:t>-</a:t>
            </a:r>
            <a:r>
              <a:rPr dirty="0"/>
              <a:t> Control, Intelligence, Planning, Operations, Logistics, Public Information. The NJCOP gives us a target architecture. The gap today is the connective tissue that turns that target into a live, machine-readable picture."</a:t>
            </a:r>
          </a:p>
          <a:p>
            <a:r>
              <a:rPr dirty="0"/>
              <a:t>- Bridge: "A multi-agent platform is the natural shape of a solution to a multi-agency problem. That is the bet we are making."</a:t>
            </a:r>
          </a:p>
          <a:p>
            <a:endParaRPr dirty="0"/>
          </a:p>
          <a:p>
            <a:r>
              <a:rPr dirty="0"/>
              <a:t>ANTICIPATED Q&amp;A:</a:t>
            </a:r>
          </a:p>
          <a:p>
            <a:r>
              <a:rPr dirty="0"/>
              <a:t>- "Why not extend EMSINA tools?" </a:t>
            </a:r>
            <a:r>
              <a:rPr lang="en-AU" dirty="0"/>
              <a:t>-</a:t>
            </a:r>
            <a:r>
              <a:rPr dirty="0"/>
              <a:t> We integrate with them, not replace.</a:t>
            </a:r>
          </a:p>
          <a:p>
            <a:r>
              <a:rPr dirty="0"/>
              <a:t>- "How do you handle Commonwealth/State politics?" </a:t>
            </a:r>
            <a:r>
              <a:rPr lang="en-AU" dirty="0"/>
              <a:t>-</a:t>
            </a:r>
            <a:r>
              <a:rPr dirty="0"/>
              <a:t> Constitution Section II-A makes it explicit.</a:t>
            </a:r>
            <a:endParaRPr lang="en-AU" dirty="0"/>
          </a:p>
          <a:p>
            <a:endParaRPr lang="en-AU" dirty="0"/>
          </a:p>
          <a:p>
            <a:endParaRPr lang="en-AU" dirty="0"/>
          </a:p>
          <a:p>
            <a:r>
              <a:rPr lang="en-AU" dirty="0"/>
              <a:t>ABBREVIATIONS:</a:t>
            </a:r>
          </a:p>
          <a:p>
            <a:r>
              <a:rPr lang="en-AU" noProof="0" dirty="0"/>
              <a:t>AFAC : </a:t>
            </a:r>
            <a:r>
              <a:rPr lang="en-GB" noProof="0" dirty="0"/>
              <a:t>Australasian Fire and Emergency Service Authorities Council - Large-scale bushfire events frequently require interstate assistance. Mutual aid is coordinated through AFAC.</a:t>
            </a:r>
          </a:p>
          <a:p>
            <a:r>
              <a:rPr lang="en-GB" noProof="0" dirty="0"/>
              <a:t>NEMA: National Emergency Management Agency - Commonwealth coordinates national-level support to states and territories during major emergencies</a:t>
            </a:r>
            <a:endParaRPr lang="en-AU"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KEY MESSAGE: Personas are not a UX afterthought </a:t>
            </a:r>
            <a:r>
              <a:rPr lang="en-AU" dirty="0"/>
              <a:t>-</a:t>
            </a:r>
            <a:r>
              <a:rPr dirty="0"/>
              <a:t> they are the system's primary structuring principle.</a:t>
            </a:r>
          </a:p>
          <a:p>
            <a:endParaRPr dirty="0"/>
          </a:p>
          <a:p>
            <a:r>
              <a:rPr dirty="0"/>
              <a:t>TALK TRACK (75s):</a:t>
            </a:r>
          </a:p>
          <a:p>
            <a:r>
              <a:rPr dirty="0"/>
              <a:t>- "We catalogued </a:t>
            </a:r>
            <a:r>
              <a:rPr lang="en-AU" dirty="0"/>
              <a:t>85</a:t>
            </a:r>
            <a:r>
              <a:rPr dirty="0"/>
              <a:t> personas across </a:t>
            </a:r>
            <a:r>
              <a:rPr lang="en-AU" dirty="0"/>
              <a:t>10 </a:t>
            </a:r>
            <a:r>
              <a:rPr dirty="0"/>
              <a:t>operational roles, </a:t>
            </a:r>
            <a:r>
              <a:rPr lang="en-AU" dirty="0"/>
              <a:t>58 </a:t>
            </a:r>
            <a:r>
              <a:rPr dirty="0"/>
              <a:t>sector agencies, and </a:t>
            </a:r>
            <a:r>
              <a:rPr lang="en-AU" dirty="0"/>
              <a:t>17 </a:t>
            </a:r>
            <a:r>
              <a:rPr dirty="0"/>
              <a:t>technical roles. They are checked into the repository at .</a:t>
            </a:r>
            <a:r>
              <a:rPr dirty="0" err="1"/>
              <a:t>github</a:t>
            </a:r>
            <a:r>
              <a:rPr dirty="0"/>
              <a:t>/agents/ </a:t>
            </a:r>
            <a:r>
              <a:rPr lang="en-AU" dirty="0"/>
              <a:t>-</a:t>
            </a:r>
            <a:r>
              <a:rPr dirty="0"/>
              <a:t> every persona is a first-class entity."</a:t>
            </a:r>
          </a:p>
          <a:p>
            <a:r>
              <a:rPr dirty="0"/>
              <a:t>- "AIIMS is non-negotiable. If you ask for an Operations Officer workspace, the platform gives you exactly the views and powers an Operations Officer is </a:t>
            </a:r>
            <a:r>
              <a:rPr dirty="0" err="1"/>
              <a:t>authorised</a:t>
            </a:r>
            <a:r>
              <a:rPr dirty="0"/>
              <a:t> to have </a:t>
            </a:r>
            <a:r>
              <a:rPr lang="en-AU" dirty="0"/>
              <a:t>-</a:t>
            </a:r>
            <a:r>
              <a:rPr dirty="0"/>
              <a:t> never more."</a:t>
            </a:r>
          </a:p>
          <a:p>
            <a:r>
              <a:rPr dirty="0"/>
              <a:t>- "Look at the third column. We do not stop at the operations </a:t>
            </a:r>
            <a:r>
              <a:rPr dirty="0" err="1"/>
              <a:t>centre</a:t>
            </a:r>
            <a:r>
              <a:rPr dirty="0"/>
              <a:t>. The Minister briefing the public, the FinOps lead asking 'are we still in budget on day three' </a:t>
            </a:r>
            <a:r>
              <a:rPr lang="en-AU" dirty="0"/>
              <a:t>-</a:t>
            </a:r>
            <a:r>
              <a:rPr dirty="0"/>
              <a:t> they are users of this platform too."</a:t>
            </a:r>
          </a:p>
          <a:p>
            <a:endParaRPr dirty="0"/>
          </a:p>
          <a:p>
            <a:r>
              <a:rPr dirty="0"/>
              <a:t>ANTICIPATED Q&amp;A: "How are vulnerable populations represented?" </a:t>
            </a:r>
            <a:r>
              <a:rPr lang="en-AU" dirty="0"/>
              <a:t>-</a:t>
            </a:r>
            <a:r>
              <a:rPr dirty="0"/>
              <a:t> Constitution Section VI-C plus the Cultural Authority specs.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KEY MESSAGE: Three concrete failure modes </a:t>
            </a:r>
            <a:r>
              <a:rPr lang="en-AU" dirty="0"/>
              <a:t>-</a:t>
            </a:r>
            <a:r>
              <a:rPr dirty="0"/>
              <a:t> each of which the platform attacks directly.</a:t>
            </a:r>
          </a:p>
          <a:p>
            <a:endParaRPr dirty="0"/>
          </a:p>
          <a:p>
            <a:r>
              <a:rPr dirty="0"/>
              <a:t>TALK TRACK (90s):</a:t>
            </a:r>
          </a:p>
          <a:p>
            <a:r>
              <a:rPr dirty="0"/>
              <a:t>- Walk left to right. "First </a:t>
            </a:r>
            <a:r>
              <a:rPr lang="en-AU" dirty="0"/>
              <a:t>-</a:t>
            </a:r>
            <a:r>
              <a:rPr dirty="0"/>
              <a:t> fragmentation. We seeded 50+ Australian sources from BoM gauges to RFS Fires Near Me to </a:t>
            </a:r>
            <a:r>
              <a:rPr dirty="0" err="1"/>
              <a:t>TfNSW</a:t>
            </a:r>
            <a:r>
              <a:rPr dirty="0"/>
              <a:t> road closures. Each speaks its own dialect."</a:t>
            </a:r>
          </a:p>
          <a:p>
            <a:r>
              <a:rPr dirty="0"/>
              <a:t>- "Second </a:t>
            </a:r>
            <a:r>
              <a:rPr lang="en-AU" dirty="0"/>
              <a:t>-</a:t>
            </a:r>
            <a:r>
              <a:rPr dirty="0"/>
              <a:t> fusion. Today this is humans with two screens and a coffee. By the time the picture </a:t>
            </a:r>
            <a:r>
              <a:rPr dirty="0" err="1"/>
              <a:t>stabilises</a:t>
            </a:r>
            <a:r>
              <a:rPr dirty="0"/>
              <a:t>, the situation has already moved."</a:t>
            </a:r>
          </a:p>
          <a:p>
            <a:r>
              <a:rPr dirty="0"/>
              <a:t>- "Third </a:t>
            </a:r>
            <a:r>
              <a:rPr lang="en-AU" dirty="0"/>
              <a:t>-</a:t>
            </a:r>
            <a:r>
              <a:rPr dirty="0"/>
              <a:t> the last mile. The Warning System standard is excellent on paper, but execution lags. Multilingual alerts in eight languages plus </a:t>
            </a:r>
            <a:r>
              <a:rPr dirty="0" err="1"/>
              <a:t>Auslan</a:t>
            </a:r>
            <a:r>
              <a:rPr dirty="0"/>
              <a:t> are not standard practice today; they are exceptions."</a:t>
            </a:r>
          </a:p>
          <a:p>
            <a:r>
              <a:rPr dirty="0"/>
              <a:t>- Bridge: "Every one of these is solvable with the right combination of agentic AI, governance and Azure-native services. That's what comes next."</a:t>
            </a:r>
          </a:p>
          <a:p>
            <a:endParaRPr dirty="0"/>
          </a:p>
          <a:p>
            <a:r>
              <a:rPr dirty="0"/>
              <a:t>EXEC HOOK: "Each hour we cut from fusion is, on the historical curve, dozens of additional households reached before impact."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117FE-260B-BB18-37FC-CC87557FD0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40ED93-1BDE-8474-DC71-85A382D28572}"/>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91ED28E6-033D-EA60-0F6D-2C2858B7F6F9}"/>
              </a:ext>
            </a:extLst>
          </p:cNvPr>
          <p:cNvSpPr>
            <a:spLocks noGrp="1"/>
          </p:cNvSpPr>
          <p:nvPr>
            <p:ph type="body" sz="quarter" idx="3"/>
          </p:nvPr>
        </p:nvSpPr>
        <p:spPr/>
        <p:txBody>
          <a:bodyPr/>
          <a:lstStyle/>
          <a:p>
            <a:r>
              <a:rPr lang="en-GB" dirty="0"/>
              <a:t>A new national mobile alert system will begin trials this year, with the aim of delivering faster emergency warnings to Australians in times of disaster.</a:t>
            </a:r>
          </a:p>
          <a:p>
            <a:endParaRPr lang="en-GB" dirty="0"/>
          </a:p>
          <a:p>
            <a:r>
              <a:rPr lang="en-GB" dirty="0"/>
              <a:t>The government initially promised the national messaging system would be ready by the end of 2024, but it is now expected to be operational by October 2026….. Two years behind schedule.</a:t>
            </a:r>
          </a:p>
          <a:p>
            <a:r>
              <a:rPr lang="en-GB" dirty="0"/>
              <a:t>This solution is ready now. It took 90 days of spare time.</a:t>
            </a:r>
            <a:endParaRPr dirty="0"/>
          </a:p>
        </p:txBody>
      </p:sp>
      <p:sp>
        <p:nvSpPr>
          <p:cNvPr id="4" name="Slide Number Placeholder 3">
            <a:extLst>
              <a:ext uri="{FF2B5EF4-FFF2-40B4-BE49-F238E27FC236}">
                <a16:creationId xmlns:a16="http://schemas.microsoft.com/office/drawing/2014/main" id="{94401B6D-346F-927D-F4C1-0A1E2357CF72}"/>
              </a:ext>
            </a:extLst>
          </p:cNvPr>
          <p:cNvSpPr>
            <a:spLocks noGrp="1"/>
          </p:cNvSpPr>
          <p:nvPr>
            <p:ph type="sldNum" sz="quarter" idx="5"/>
          </p:nvPr>
        </p:nvSpPr>
        <p:spPr/>
      </p:sp>
    </p:spTree>
    <p:extLst>
      <p:ext uri="{BB962C8B-B14F-4D97-AF65-F5344CB8AC3E}">
        <p14:creationId xmlns:p14="http://schemas.microsoft.com/office/powerpoint/2010/main" val="4948355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KEY MESSAGE: The thing we are </a:t>
            </a:r>
            <a:r>
              <a:rPr dirty="0" err="1"/>
              <a:t>optimising</a:t>
            </a:r>
            <a:r>
              <a:rPr dirty="0"/>
              <a:t> is *</a:t>
            </a:r>
            <a:r>
              <a:rPr dirty="0" err="1"/>
              <a:t>organisational</a:t>
            </a:r>
            <a:r>
              <a:rPr dirty="0"/>
              <a:t>* latency, not individual speed.</a:t>
            </a:r>
          </a:p>
          <a:p>
            <a:endParaRPr dirty="0"/>
          </a:p>
          <a:p>
            <a:r>
              <a:rPr dirty="0"/>
              <a:t>TALK TRACK (75s):</a:t>
            </a:r>
          </a:p>
          <a:p>
            <a:r>
              <a:rPr dirty="0"/>
              <a:t>- "</a:t>
            </a:r>
            <a:r>
              <a:rPr lang="en-AU" dirty="0"/>
              <a:t>There’s no canonical baseline. The closest real number is of a coordination latency of minimum of 3 hours by AMSA</a:t>
            </a:r>
            <a:r>
              <a:rPr dirty="0"/>
              <a:t>. That is the time from a confirmed signal to an </a:t>
            </a:r>
            <a:r>
              <a:rPr dirty="0" err="1"/>
              <a:t>authorised</a:t>
            </a:r>
            <a:r>
              <a:rPr dirty="0"/>
              <a:t>, multi-agency action in a level-2 incident"</a:t>
            </a:r>
          </a:p>
          <a:p>
            <a:r>
              <a:rPr dirty="0"/>
              <a:t>- "Our explicit success criterion, </a:t>
            </a:r>
            <a:r>
              <a:rPr lang="en-AU" dirty="0"/>
              <a:t>establishes</a:t>
            </a:r>
            <a:r>
              <a:rPr dirty="0"/>
              <a:t> a deterministic baseline."</a:t>
            </a:r>
          </a:p>
          <a:p>
            <a:r>
              <a:rPr dirty="0"/>
              <a:t>- Make it human. "When we say faster, we are not talking about a faster keystroke. We are talking about an entire response system that converges quicker. That's the difference."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KEY MESSAGE: A COP that thinks </a:t>
            </a:r>
            <a:r>
              <a:rPr lang="en-AU" dirty="0"/>
              <a:t>-</a:t>
            </a:r>
            <a:r>
              <a:rPr dirty="0"/>
              <a:t> agents propose, humans dispose.</a:t>
            </a:r>
          </a:p>
          <a:p>
            <a:endParaRPr dirty="0"/>
          </a:p>
          <a:p>
            <a:r>
              <a:rPr dirty="0"/>
              <a:t>TALK TRACK (60s):</a:t>
            </a:r>
          </a:p>
          <a:p>
            <a:r>
              <a:rPr dirty="0"/>
              <a:t>- "There is one phrase I want you to walk away with: a Common Operating Picture that *thinks*. Today the COP is a canvas; tomorrow it is an active participant."</a:t>
            </a:r>
          </a:p>
          <a:p>
            <a:r>
              <a:rPr dirty="0"/>
              <a:t>- "Three commitments are baked in: AIIMS by contract, Australian by residency, human by mandate."</a:t>
            </a:r>
          </a:p>
          <a:p>
            <a:endParaRPr dirty="0"/>
          </a:p>
          <a:p>
            <a:r>
              <a:rPr dirty="0"/>
              <a:t>ANTICIPATED Q&amp;A:</a:t>
            </a:r>
          </a:p>
          <a:p>
            <a:r>
              <a:rPr dirty="0"/>
              <a:t>- "Will agents make decisions?" </a:t>
            </a:r>
            <a:r>
              <a:rPr lang="en-AU" dirty="0"/>
              <a:t>-</a:t>
            </a:r>
            <a:r>
              <a:rPr dirty="0"/>
              <a:t> They make *recommendations*. Section "Non-Negotiables" #1 is human-in-the-loop for any irreversible action.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KEY MESSAGE: Five agents, one mission, every action human-approved.</a:t>
            </a:r>
          </a:p>
          <a:p>
            <a:endParaRPr dirty="0"/>
          </a:p>
          <a:p>
            <a:r>
              <a:rPr dirty="0"/>
              <a:t>TALK TRACK (90s):</a:t>
            </a:r>
          </a:p>
          <a:p>
            <a:r>
              <a:rPr dirty="0"/>
              <a:t>- "</a:t>
            </a:r>
            <a:r>
              <a:rPr dirty="0" err="1"/>
              <a:t>Memorise</a:t>
            </a:r>
            <a:r>
              <a:rPr dirty="0"/>
              <a:t> the five. Monitor. Assess. Evacuate. Allocate. Communicate. Each maps directly onto an AIIMS function </a:t>
            </a:r>
            <a:r>
              <a:rPr lang="en-AU" dirty="0"/>
              <a:t>-</a:t>
            </a:r>
            <a:r>
              <a:rPr dirty="0"/>
              <a:t> none are bolt-</a:t>
            </a:r>
            <a:r>
              <a:rPr dirty="0" err="1"/>
              <a:t>ons</a:t>
            </a:r>
            <a:r>
              <a:rPr dirty="0"/>
              <a:t>."</a:t>
            </a:r>
          </a:p>
          <a:p>
            <a:r>
              <a:rPr dirty="0"/>
              <a:t>- "Notice the verbs. Agents *ingest*, *fuse*, *rank*, *draft*. Humans *approve* and *publish*. That separation is intentional and immovable."</a:t>
            </a:r>
          </a:p>
          <a:p>
            <a:r>
              <a:rPr dirty="0"/>
              <a:t>- "The Communication Agent is the most-watched. Eight languages plus </a:t>
            </a:r>
            <a:r>
              <a:rPr dirty="0" err="1"/>
              <a:t>Auslan</a:t>
            </a:r>
            <a:r>
              <a:rPr dirty="0"/>
              <a:t>, every alert behind a named approval. We will see this in the demo."</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KEY MESSAGE: Governance is *upstream* of the architecture, not downstream of an audit.</a:t>
            </a:r>
          </a:p>
          <a:p>
            <a:endParaRPr dirty="0"/>
          </a:p>
          <a:p>
            <a:r>
              <a:rPr dirty="0"/>
              <a:t>TALK TRACK (60s):</a:t>
            </a:r>
          </a:p>
          <a:p>
            <a:r>
              <a:rPr dirty="0"/>
              <a:t>- "This is the spine. Six principles, five non-negotiables. The Constitution is version-controlled at .specify/memory/constitution.md and amendable only by named project lead."</a:t>
            </a:r>
          </a:p>
          <a:p>
            <a:endParaRPr lang="en-AU"/>
          </a:p>
          <a:p>
            <a:r>
              <a:t>EXEC </a:t>
            </a:r>
            <a:r>
              <a:rPr dirty="0"/>
              <a:t>BRIDGE: "If a regulator asked me 'show me your data residency posture' I open the Constitution and a single Rego policy. That's it."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KEY MESSAGE: The platform sits at the </a:t>
            </a:r>
            <a:r>
              <a:rPr dirty="0" err="1"/>
              <a:t>centre</a:t>
            </a:r>
            <a:r>
              <a:rPr dirty="0"/>
              <a:t> of a federated emergency-management ecosystem; we integrate, we do not replace.</a:t>
            </a:r>
          </a:p>
          <a:p>
            <a:endParaRPr dirty="0"/>
          </a:p>
          <a:p>
            <a:r>
              <a:rPr dirty="0"/>
              <a:t>TALK TRACK (90s):</a:t>
            </a:r>
          </a:p>
          <a:p>
            <a:r>
              <a:rPr dirty="0"/>
              <a:t>- "Read this diagram from the outside in. On the perimeter you have authoritative producers </a:t>
            </a:r>
            <a:r>
              <a:rPr lang="en-AU" dirty="0"/>
              <a:t>-</a:t>
            </a:r>
            <a:r>
              <a:rPr dirty="0"/>
              <a:t> BoM, G</a:t>
            </a:r>
            <a:r>
              <a:rPr lang="en-AU" dirty="0" err="1"/>
              <a:t>eoscience</a:t>
            </a:r>
            <a:r>
              <a:rPr lang="en-AU" dirty="0"/>
              <a:t> </a:t>
            </a:r>
            <a:r>
              <a:rPr dirty="0"/>
              <a:t>A</a:t>
            </a:r>
            <a:r>
              <a:rPr lang="en-AU" dirty="0" err="1"/>
              <a:t>ustralia</a:t>
            </a:r>
            <a:r>
              <a:rPr dirty="0"/>
              <a:t>, state services. Then sector consumers </a:t>
            </a:r>
            <a:r>
              <a:rPr lang="en-AU" dirty="0"/>
              <a:t>-</a:t>
            </a:r>
            <a:r>
              <a:rPr dirty="0"/>
              <a:t> councils, utilities, transport. Finally the people: operators, executives, the public."</a:t>
            </a:r>
          </a:p>
          <a:p>
            <a:r>
              <a:rPr dirty="0"/>
              <a:t>- "The platform is the *fabric* in the middle, not a destination. Every existing system is a peer."</a:t>
            </a:r>
          </a:p>
          <a:p>
            <a:r>
              <a:rPr dirty="0"/>
              <a:t>- "Two integration directions: ingest signals from authoritative sources (CAP, EDXL, </a:t>
            </a:r>
            <a:r>
              <a:rPr dirty="0" err="1"/>
              <a:t>GeoJSON</a:t>
            </a:r>
            <a:r>
              <a:rPr dirty="0"/>
              <a:t>), and emit warnings/tasks back to the channels people already use </a:t>
            </a:r>
            <a:r>
              <a:rPr lang="en-AU" dirty="0"/>
              <a:t>-</a:t>
            </a:r>
            <a:r>
              <a:rPr dirty="0"/>
              <a:t> Emergency Alert SMS, social, broadcaster CAP feeds."</a:t>
            </a:r>
          </a:p>
          <a:p>
            <a:endParaRPr dirty="0"/>
          </a:p>
          <a:p>
            <a:r>
              <a:rPr dirty="0"/>
              <a:t>ANTICIPATED Q&amp;A:</a:t>
            </a:r>
          </a:p>
          <a:p>
            <a:r>
              <a:rPr dirty="0"/>
              <a:t>- "What about NEMA / NJCOP?" </a:t>
            </a:r>
            <a:r>
              <a:rPr lang="en-AU" dirty="0"/>
              <a:t>-</a:t>
            </a:r>
            <a:r>
              <a:rPr dirty="0"/>
              <a:t> Bidirectional integration on roadmap; constitution Section "National Coordination" makes it mandatory.</a:t>
            </a:r>
            <a:endParaRPr lang="en-AU" dirty="0"/>
          </a:p>
          <a:p>
            <a:endParaRPr lang="en-AU" dirty="0"/>
          </a:p>
          <a:p>
            <a:pPr marL="0" marR="0" lvl="0" indent="0" algn="l" defTabSz="914367" rtl="0" eaLnBrk="1" fontAlgn="auto" latinLnBrk="0" hangingPunct="1">
              <a:lnSpc>
                <a:spcPct val="90000"/>
              </a:lnSpc>
              <a:spcBef>
                <a:spcPts val="0"/>
              </a:spcBef>
              <a:spcAft>
                <a:spcPts val="333"/>
              </a:spcAft>
              <a:buClrTx/>
              <a:buSzTx/>
              <a:buFontTx/>
              <a:buNone/>
              <a:tabLst/>
              <a:defRPr/>
            </a:pPr>
            <a:r>
              <a:rPr lang="en-AU" dirty="0"/>
              <a:t>ABBREVIATIONS </a:t>
            </a:r>
          </a:p>
          <a:p>
            <a:pPr marL="0" marR="0" lvl="0" indent="0" algn="l" defTabSz="914367" rtl="0" eaLnBrk="1" fontAlgn="auto" latinLnBrk="0" hangingPunct="1">
              <a:lnSpc>
                <a:spcPct val="90000"/>
              </a:lnSpc>
              <a:spcBef>
                <a:spcPts val="0"/>
              </a:spcBef>
              <a:spcAft>
                <a:spcPts val="333"/>
              </a:spcAft>
              <a:buClrTx/>
              <a:buSzTx/>
              <a:buFontTx/>
              <a:buNone/>
              <a:tabLst/>
              <a:defRPr/>
            </a:pPr>
            <a:r>
              <a:rPr lang="en-AU" dirty="0"/>
              <a:t>NEMA = “</a:t>
            </a:r>
            <a:r>
              <a:rPr lang="en-AU" sz="882" b="0" kern="1200" dirty="0">
                <a:solidFill>
                  <a:schemeClr val="tx1"/>
                </a:solidFill>
                <a:effectLst/>
                <a:latin typeface="Segoe UI" panose="020B0502040204020203" pitchFamily="34" charset="0"/>
                <a:ea typeface="+mn-ea"/>
                <a:cs typeface="+mn-cs"/>
              </a:rPr>
              <a:t>National Emergency Management Agency” -</a:t>
            </a:r>
            <a:r>
              <a:rPr lang="en-GB" sz="882" b="0" kern="1200" dirty="0">
                <a:solidFill>
                  <a:schemeClr val="tx1"/>
                </a:solidFill>
                <a:effectLst/>
                <a:latin typeface="Segoe UI" panose="020B0502040204020203" pitchFamily="34" charset="0"/>
                <a:ea typeface="+mn-ea"/>
                <a:cs typeface="+mn-cs"/>
              </a:rPr>
              <a:t> national coordination and COMDISPLAN activation</a:t>
            </a:r>
            <a:endParaRPr lang="en-AU" sz="882" b="0" kern="1200" dirty="0">
              <a:solidFill>
                <a:schemeClr val="tx1"/>
              </a:solidFill>
              <a:effectLst/>
              <a:latin typeface="Segoe UI" panose="020B0502040204020203" pitchFamily="34" charset="0"/>
              <a:ea typeface="+mn-ea"/>
              <a:cs typeface="+mn-cs"/>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AU" sz="882" b="0" kern="1200" dirty="0">
                <a:solidFill>
                  <a:schemeClr val="tx1"/>
                </a:solidFill>
                <a:effectLst/>
                <a:latin typeface="Segoe UI" panose="020B0502040204020203" pitchFamily="34" charset="0"/>
                <a:ea typeface="+mn-ea"/>
                <a:cs typeface="+mn-cs"/>
              </a:rPr>
              <a:t>NCM = “</a:t>
            </a:r>
            <a:r>
              <a:rPr lang="en-GB" sz="882" b="0" kern="1200" dirty="0">
                <a:solidFill>
                  <a:schemeClr val="tx1"/>
                </a:solidFill>
                <a:effectLst/>
                <a:latin typeface="Segoe UI" panose="020B0502040204020203" pitchFamily="34" charset="0"/>
                <a:ea typeface="+mn-ea"/>
                <a:cs typeface="+mn-cs"/>
              </a:rPr>
              <a:t>National Coordination Mechanism” - cross-sector coordination for complex national emergencies</a:t>
            </a:r>
          </a:p>
          <a:p>
            <a:pPr marL="0" marR="0" lvl="0" indent="0" algn="l" defTabSz="914367" rtl="0" eaLnBrk="1" fontAlgn="auto" latinLnBrk="0" hangingPunct="1">
              <a:lnSpc>
                <a:spcPct val="90000"/>
              </a:lnSpc>
              <a:spcBef>
                <a:spcPts val="0"/>
              </a:spcBef>
              <a:spcAft>
                <a:spcPts val="333"/>
              </a:spcAft>
              <a:buClrTx/>
              <a:buSzTx/>
              <a:buFontTx/>
              <a:buNone/>
              <a:tabLst/>
              <a:defRPr/>
            </a:pPr>
            <a:r>
              <a:rPr lang="en-GB" sz="882" b="0" kern="1200" dirty="0">
                <a:solidFill>
                  <a:schemeClr val="tx1"/>
                </a:solidFill>
                <a:effectLst/>
                <a:latin typeface="Segoe UI" panose="020B0502040204020203" pitchFamily="34" charset="0"/>
                <a:ea typeface="+mn-ea"/>
                <a:cs typeface="+mn-cs"/>
              </a:rPr>
              <a:t>NJCOP = “National Joint Common Operating Picture” - IT-based geospatially enabled platform providing all-hazards near-real-time situational awareness and impact assessment of nationally significant events</a:t>
            </a:r>
          </a:p>
          <a:p>
            <a:r>
              <a:rPr lang="en-GB" sz="882" b="0" kern="1200" dirty="0">
                <a:solidFill>
                  <a:schemeClr val="tx1"/>
                </a:solidFill>
                <a:effectLst/>
                <a:latin typeface="Segoe UI" panose="020B0502040204020203" pitchFamily="34" charset="0"/>
                <a:ea typeface="+mn-ea"/>
                <a:cs typeface="+mn-cs"/>
              </a:rPr>
              <a:t>CAP = “</a:t>
            </a:r>
            <a:r>
              <a:rPr lang="en-AU" sz="882" b="0" kern="1200" dirty="0">
                <a:solidFill>
                  <a:schemeClr val="tx1"/>
                </a:solidFill>
                <a:effectLst/>
                <a:latin typeface="Segoe UI" panose="020B0502040204020203" pitchFamily="34" charset="0"/>
                <a:ea typeface="+mn-ea"/>
                <a:cs typeface="+mn-cs"/>
              </a:rPr>
              <a:t>Common Alerting Protocol” – a collection of agreed standard messages and templates. </a:t>
            </a:r>
          </a:p>
          <a:p>
            <a:r>
              <a:rPr lang="en-AU" sz="882" b="0" kern="1200" dirty="0">
                <a:solidFill>
                  <a:schemeClr val="tx1"/>
                </a:solidFill>
                <a:effectLst/>
                <a:latin typeface="Segoe UI" panose="020B0502040204020203" pitchFamily="34" charset="0"/>
                <a:ea typeface="+mn-ea"/>
                <a:cs typeface="+mn-cs"/>
              </a:rPr>
              <a:t>EDXL = “Emergency Data Exchange Language” – a </a:t>
            </a:r>
            <a:r>
              <a:rPr lang="en-GB" sz="882" b="0" kern="1200" dirty="0">
                <a:solidFill>
                  <a:schemeClr val="tx1"/>
                </a:solidFill>
                <a:effectLst/>
                <a:latin typeface="Segoe UI" panose="020B0502040204020203" pitchFamily="34" charset="0"/>
                <a:ea typeface="+mn-ea"/>
                <a:cs typeface="+mn-cs"/>
              </a:rPr>
              <a:t>suite of XML-based messaging standards that facilitate emergency information sharing between government entities and the full range of emergency-related organizations</a:t>
            </a:r>
            <a:endParaRPr lang="en-AU" sz="882" b="0" kern="1200" dirty="0">
              <a:solidFill>
                <a:schemeClr val="tx1"/>
              </a:solidFill>
              <a:effectLst/>
              <a:latin typeface="Segoe UI" panose="020B0502040204020203" pitchFamily="34" charset="0"/>
              <a:ea typeface="+mn-ea"/>
              <a:cs typeface="+mn-cs"/>
            </a:endParaRPr>
          </a:p>
          <a:p>
            <a:pPr marL="0" marR="0" lvl="0" indent="0" algn="l" defTabSz="914367" rtl="0" eaLnBrk="1" fontAlgn="auto" latinLnBrk="0" hangingPunct="1">
              <a:lnSpc>
                <a:spcPct val="90000"/>
              </a:lnSpc>
              <a:spcBef>
                <a:spcPts val="0"/>
              </a:spcBef>
              <a:spcAft>
                <a:spcPts val="333"/>
              </a:spcAft>
              <a:buClrTx/>
              <a:buSzTx/>
              <a:buFontTx/>
              <a:buNone/>
              <a:tabLst/>
              <a:defRPr/>
            </a:pPr>
            <a:endParaRPr lang="en-AU" sz="882" b="0" kern="1200" dirty="0">
              <a:solidFill>
                <a:schemeClr val="tx1"/>
              </a:solidFill>
              <a:effectLst/>
              <a:latin typeface="Segoe UI" panose="020B0502040204020203" pitchFamily="34" charset="0"/>
              <a:ea typeface="+mn-ea"/>
              <a:cs typeface="+mn-cs"/>
            </a:endParaRPr>
          </a:p>
          <a:p>
            <a:pPr marL="0" marR="0" lvl="0" indent="0" algn="l" defTabSz="914367" rtl="0" eaLnBrk="1" fontAlgn="auto" latinLnBrk="0" hangingPunct="1">
              <a:lnSpc>
                <a:spcPct val="90000"/>
              </a:lnSpc>
              <a:spcBef>
                <a:spcPts val="0"/>
              </a:spcBef>
              <a:spcAft>
                <a:spcPts val="333"/>
              </a:spcAft>
              <a:buClrTx/>
              <a:buSzTx/>
              <a:buFontTx/>
              <a:buNone/>
              <a:tabLst/>
              <a:defRPr/>
            </a:pPr>
            <a:endParaRPr lang="en-AU" sz="882" b="0" kern="1200" dirty="0">
              <a:solidFill>
                <a:schemeClr val="tx1"/>
              </a:solidFill>
              <a:effectLst/>
              <a:latin typeface="Segoe UI" panose="020B0502040204020203" pitchFamily="34" charset="0"/>
              <a:ea typeface="+mn-ea"/>
              <a:cs typeface="+mn-cs"/>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KEY MESSAGE: Every box on this diagram is an Azure-native managed service. No bespoke infrastructure to operate.</a:t>
            </a:r>
          </a:p>
          <a:p>
            <a:endParaRPr dirty="0"/>
          </a:p>
          <a:p>
            <a:r>
              <a:rPr dirty="0"/>
              <a:t>TALK TRACK (90s):</a:t>
            </a:r>
          </a:p>
          <a:p>
            <a:r>
              <a:rPr dirty="0"/>
              <a:t>- "Top to bottom. Operator UI is Next.js on Azure Web Apps. The API layer is </a:t>
            </a:r>
            <a:r>
              <a:rPr dirty="0" err="1"/>
              <a:t>FastAPI</a:t>
            </a:r>
            <a:r>
              <a:rPr dirty="0"/>
              <a:t> on Azure Container Apps with managed identity end-to-end."</a:t>
            </a:r>
          </a:p>
          <a:p>
            <a:r>
              <a:rPr dirty="0"/>
              <a:t>- "Data plane: Azure Cosmos DB for incidents and approvals (Strong consistency on the audit container, Session everywhere else); Azure Storage with immutability policies for evidence; Azure Service Bus for handoffs; Event Grid for fan-out."</a:t>
            </a:r>
          </a:p>
          <a:p>
            <a:r>
              <a:rPr dirty="0"/>
              <a:t>- "Agents are Microsoft Foundry agents orchestrated through the Microsoft Agent Framework. Azure AI Search powers RAG against the AIDR corpus. Azure Communication Services delivers SMS, voice, email."</a:t>
            </a:r>
          </a:p>
          <a:p>
            <a:r>
              <a:rPr dirty="0"/>
              <a:t>- "Why this matters: every integration uses Managed Identity, RBAC, and Private Endpoints. Zero key vaulting of secrets except for the deliberately-listed third-party tokens."</a:t>
            </a:r>
            <a:endParaRPr lang="en-AU" dirty="0"/>
          </a:p>
          <a:p>
            <a:endParaRPr lang="en-AU" dirty="0"/>
          </a:p>
          <a:p>
            <a:endParaRPr lang="en-AU" dirty="0"/>
          </a:p>
          <a:p>
            <a:r>
              <a:rPr lang="en-AU" dirty="0"/>
              <a:t>ABBREVIATIONS</a:t>
            </a:r>
          </a:p>
          <a:p>
            <a:pPr marL="0" marR="0" lvl="0" indent="0" algn="l" defTabSz="914367" rtl="0" eaLnBrk="1" fontAlgn="auto" latinLnBrk="0" hangingPunct="1">
              <a:lnSpc>
                <a:spcPct val="90000"/>
              </a:lnSpc>
              <a:spcBef>
                <a:spcPts val="0"/>
              </a:spcBef>
              <a:spcAft>
                <a:spcPts val="333"/>
              </a:spcAft>
              <a:buClrTx/>
              <a:buSzTx/>
              <a:buFontTx/>
              <a:buNone/>
              <a:tabLst/>
              <a:defRPr/>
            </a:pPr>
            <a:r>
              <a:rPr lang="en-AU" dirty="0"/>
              <a:t>AIDR = “</a:t>
            </a:r>
            <a:r>
              <a:rPr lang="en-AU" sz="882" b="0" kern="1200" dirty="0">
                <a:solidFill>
                  <a:schemeClr val="tx1"/>
                </a:solidFill>
                <a:effectLst/>
                <a:latin typeface="Segoe UI" panose="020B0502040204020203" pitchFamily="34" charset="0"/>
                <a:ea typeface="+mn-ea"/>
                <a:cs typeface="+mn-cs"/>
              </a:rPr>
              <a:t>Australian Institute for Disaster Resilience”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KEY MESSAGE: The agent network is a graph, not a pipeline; handoffs are typed, retried, and dead-lettered.</a:t>
            </a:r>
          </a:p>
          <a:p>
            <a:endParaRPr dirty="0"/>
          </a:p>
          <a:p>
            <a:r>
              <a:rPr dirty="0"/>
              <a:t>TALK TRACK (90s):</a:t>
            </a:r>
          </a:p>
          <a:p>
            <a:r>
              <a:rPr dirty="0"/>
              <a:t>- "This is the heart of the platform. Five agents, deterministic handoff chains, every transition typed and traceable."</a:t>
            </a:r>
          </a:p>
          <a:p>
            <a:r>
              <a:rPr dirty="0"/>
              <a:t>- "Look at the Monitoring → Risk Assessment edge. It only fires for confidence-scored signals above 0.8 in the fire/weather/hydrology categories. Below threshold, we hold and re-evaluate."</a:t>
            </a:r>
          </a:p>
          <a:p>
            <a:r>
              <a:rPr dirty="0"/>
              <a:t>- "Every handoff is an </a:t>
            </a:r>
            <a:r>
              <a:rPr dirty="0" err="1"/>
              <a:t>AgentHandoffEvent</a:t>
            </a:r>
            <a:r>
              <a:rPr dirty="0"/>
              <a:t> with retry (3x within a 300-second window) and a dead-letter container with named operator review."</a:t>
            </a:r>
          </a:p>
          <a:p>
            <a:r>
              <a:rPr dirty="0"/>
              <a:t>- "The reflection pattern lives between Risk Assessment and Communication: the Risk agent's output is critiqued by a guardrail policy before the Communication agent ever sees it."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KEY MESSAGE: Data trust is a first-class field, not an inference; downstream agents reason on it directly.</a:t>
            </a:r>
          </a:p>
          <a:p>
            <a:endParaRPr dirty="0"/>
          </a:p>
          <a:p>
            <a:r>
              <a:rPr dirty="0"/>
              <a:t>TALK TRACK (90s):</a:t>
            </a:r>
          </a:p>
          <a:p>
            <a:r>
              <a:rPr dirty="0"/>
              <a:t>- "Seven trust tiers, from Tier 1 authoritative government </a:t>
            </a:r>
            <a:r>
              <a:rPr lang="en-AU" dirty="0"/>
              <a:t>-</a:t>
            </a:r>
            <a:r>
              <a:rPr dirty="0"/>
              <a:t> BoM warnings, RFS fire bans </a:t>
            </a:r>
            <a:r>
              <a:rPr lang="en-AU" dirty="0"/>
              <a:t>-</a:t>
            </a:r>
            <a:r>
              <a:rPr dirty="0"/>
              <a:t> down to Tier 7 derived signals. Every signal carries its tier, its confidence score, and its freshness score."</a:t>
            </a:r>
          </a:p>
          <a:p>
            <a:r>
              <a:rPr dirty="0"/>
              <a:t>- "Standards in: CAP for warnings, EDXL for distribution, </a:t>
            </a:r>
            <a:r>
              <a:rPr dirty="0" err="1"/>
              <a:t>GeoJSON</a:t>
            </a:r>
            <a:r>
              <a:rPr dirty="0"/>
              <a:t> for geometry, </a:t>
            </a:r>
            <a:r>
              <a:rPr dirty="0" err="1"/>
              <a:t>OpenAPI</a:t>
            </a:r>
            <a:r>
              <a:rPr dirty="0"/>
              <a:t> 3.1 for everything we expose."</a:t>
            </a:r>
          </a:p>
          <a:p>
            <a:r>
              <a:rPr dirty="0"/>
              <a:t>- "We seeded ~50 Australian data sources at launch. The 'Add a source' workflow is 30 lines of YAML and a Bicep module. New jurisdictions plug in on day one."</a:t>
            </a:r>
          </a:p>
          <a:p>
            <a:endParaRPr dirty="0"/>
          </a:p>
          <a:p>
            <a:r>
              <a:rPr dirty="0"/>
              <a:t>EXEC BRIDGE: "If a future regulator says 'tell me where this number came from', the audit trail walks them all the way back to the original source URI and timestamp."</a:t>
            </a:r>
            <a:endParaRPr lang="en-AU" dirty="0"/>
          </a:p>
          <a:p>
            <a:endParaRPr lang="en-AU" dirty="0"/>
          </a:p>
          <a:p>
            <a:endParaRPr lang="en-AU" dirty="0"/>
          </a:p>
          <a:p>
            <a:r>
              <a:rPr lang="en-AU" sz="882" b="1" i="0" kern="1200" dirty="0">
                <a:solidFill>
                  <a:schemeClr val="tx1"/>
                </a:solidFill>
                <a:effectLst/>
                <a:latin typeface="Segoe UI" panose="020B0502040204020203" pitchFamily="34" charset="0"/>
                <a:ea typeface="+mn-ea"/>
                <a:cs typeface="+mn-cs"/>
              </a:rPr>
              <a:t>The 7 trust tiers</a:t>
            </a:r>
            <a:endParaRPr lang="en-AU" dirty="0"/>
          </a:p>
          <a:p>
            <a:pPr algn="l">
              <a:buNone/>
            </a:pPr>
            <a:r>
              <a:rPr lang="en-AU" b="0" i="0" dirty="0">
                <a:solidFill>
                  <a:srgbClr val="BFBFBF"/>
                </a:solidFill>
                <a:effectLst/>
                <a:latin typeface="Segoe WPC"/>
              </a:rPr>
              <a:t>Tier	Name			Examples (from the AU seed)		Count</a:t>
            </a:r>
          </a:p>
          <a:p>
            <a:pPr algn="l">
              <a:buNone/>
            </a:pPr>
            <a:r>
              <a:rPr lang="en-AU" b="1" i="0" dirty="0">
                <a:solidFill>
                  <a:srgbClr val="BFBFBF"/>
                </a:solidFill>
                <a:effectLst/>
                <a:latin typeface="Segoe WPC"/>
              </a:rPr>
              <a:t>Tier 1	Authoritative Government		</a:t>
            </a:r>
            <a:r>
              <a:rPr lang="en-AU" b="0" i="0" dirty="0">
                <a:solidFill>
                  <a:srgbClr val="BFBFBF"/>
                </a:solidFill>
                <a:effectLst/>
                <a:latin typeface="Segoe WPC"/>
              </a:rPr>
              <a:t>Bureau of Meteorology (warnings, forecasts, radar, observations, AWS, river gauges, flood warnings); Geoscience Australia (earthquake, tsunami, sentinel hotspots); state emergency services (NSW RFS, VIC CFA, QLD QFES, SA CFS, WA DFES, TAS TFS, ACT ESA, NT PFES)	20</a:t>
            </a:r>
          </a:p>
          <a:p>
            <a:pPr algn="l">
              <a:buNone/>
            </a:pPr>
            <a:r>
              <a:rPr lang="en-AU" b="1" i="0" dirty="0">
                <a:solidFill>
                  <a:srgbClr val="BFBFBF"/>
                </a:solidFill>
                <a:effectLst/>
                <a:latin typeface="Segoe WPC"/>
              </a:rPr>
              <a:t>Tier 2	Verified Institutional		</a:t>
            </a:r>
            <a:r>
              <a:rPr lang="en-AU" b="0" i="0" dirty="0">
                <a:solidFill>
                  <a:srgbClr val="BFBFBF"/>
                </a:solidFill>
                <a:effectLst/>
                <a:latin typeface="Segoe WPC"/>
              </a:rPr>
              <a:t>AIDR; state health departments (NSW, VIC, QLD); transport authorities (</a:t>
            </a:r>
            <a:r>
              <a:rPr lang="en-AU" b="0" i="0" dirty="0" err="1">
                <a:solidFill>
                  <a:srgbClr val="BFBFBF"/>
                </a:solidFill>
                <a:effectLst/>
                <a:latin typeface="Segoe WPC"/>
              </a:rPr>
              <a:t>TfNSW</a:t>
            </a:r>
            <a:r>
              <a:rPr lang="en-AU" b="0" i="0" dirty="0">
                <a:solidFill>
                  <a:srgbClr val="BFBFBF"/>
                </a:solidFill>
                <a:effectLst/>
                <a:latin typeface="Segoe WPC"/>
              </a:rPr>
              <a:t>, VicRoads, TMR QLD); utility operators	9</a:t>
            </a:r>
          </a:p>
          <a:p>
            <a:pPr algn="l">
              <a:buNone/>
            </a:pPr>
            <a:r>
              <a:rPr lang="en-AU" b="1" i="0" dirty="0">
                <a:solidFill>
                  <a:srgbClr val="BFBFBF"/>
                </a:solidFill>
                <a:effectLst/>
                <a:latin typeface="Segoe WPC"/>
              </a:rPr>
              <a:t>Tier 3	Operational Sensor		</a:t>
            </a:r>
            <a:r>
              <a:rPr lang="en-AU" b="0" i="0" dirty="0">
                <a:solidFill>
                  <a:srgbClr val="BFBFBF"/>
                </a:solidFill>
                <a:effectLst/>
                <a:latin typeface="Segoe WPC"/>
              </a:rPr>
              <a:t>BoM Automatic Weather Stations; river-gauge networks; satellite imagery (Sentinel, Himawari-8/9); state EPA air-quality sensors	5</a:t>
            </a:r>
          </a:p>
          <a:p>
            <a:pPr algn="l">
              <a:buNone/>
            </a:pPr>
            <a:r>
              <a:rPr lang="en-AU" b="1" i="0" dirty="0">
                <a:solidFill>
                  <a:srgbClr val="BFBFBF"/>
                </a:solidFill>
                <a:effectLst/>
                <a:latin typeface="Segoe WPC"/>
              </a:rPr>
              <a:t>Tier 4	Field Reports			</a:t>
            </a:r>
            <a:r>
              <a:rPr lang="en-AU" b="0" i="0" dirty="0">
                <a:solidFill>
                  <a:srgbClr val="BFBFBF"/>
                </a:solidFill>
                <a:effectLst/>
                <a:latin typeface="Segoe WPC"/>
              </a:rPr>
              <a:t>Agency field-officer reports; ICON IMS; </a:t>
            </a:r>
            <a:r>
              <a:rPr lang="en-AU" b="0" i="0" dirty="0" err="1">
                <a:solidFill>
                  <a:srgbClr val="BFBFBF"/>
                </a:solidFill>
                <a:effectLst/>
                <a:latin typeface="Segoe WPC"/>
              </a:rPr>
              <a:t>WebEOC</a:t>
            </a:r>
            <a:r>
              <a:rPr lang="en-AU" b="0" i="0" dirty="0">
                <a:solidFill>
                  <a:srgbClr val="BFBFBF"/>
                </a:solidFill>
                <a:effectLst/>
                <a:latin typeface="Segoe WPC"/>
              </a:rPr>
              <a:t> IMS	3</a:t>
            </a:r>
          </a:p>
          <a:p>
            <a:pPr algn="l">
              <a:buNone/>
            </a:pPr>
            <a:r>
              <a:rPr lang="en-AU" b="1" i="0" dirty="0">
                <a:solidFill>
                  <a:srgbClr val="BFBFBF"/>
                </a:solidFill>
                <a:effectLst/>
                <a:latin typeface="Segoe WPC"/>
              </a:rPr>
              <a:t>Tier 5	Community / Volunteer		</a:t>
            </a:r>
            <a:r>
              <a:rPr lang="en-AU" b="0" i="0" dirty="0">
                <a:solidFill>
                  <a:srgbClr val="BFBFBF"/>
                </a:solidFill>
                <a:effectLst/>
                <a:latin typeface="Segoe WPC"/>
              </a:rPr>
              <a:t>Surf Life Saving Australia; volunteer bushfire brigades; Snap Send Solve	3</a:t>
            </a:r>
          </a:p>
          <a:p>
            <a:pPr algn="l">
              <a:buNone/>
            </a:pPr>
            <a:r>
              <a:rPr lang="en-AU" b="1" i="0" dirty="0">
                <a:solidFill>
                  <a:srgbClr val="BFBFBF"/>
                </a:solidFill>
                <a:effectLst/>
                <a:latin typeface="Segoe WPC"/>
              </a:rPr>
              <a:t>Tier 6	Social / Unverified		</a:t>
            </a:r>
            <a:r>
              <a:rPr lang="en-AU" b="0" i="0" dirty="0">
                <a:solidFill>
                  <a:srgbClr val="BFBFBF"/>
                </a:solidFill>
                <a:effectLst/>
                <a:latin typeface="Segoe WPC"/>
              </a:rPr>
              <a:t>X/Twitter; Facebook; Reddit	3</a:t>
            </a:r>
          </a:p>
          <a:p>
            <a:pPr algn="l">
              <a:buNone/>
            </a:pPr>
            <a:r>
              <a:rPr lang="en-AU" b="1" i="0" dirty="0">
                <a:solidFill>
                  <a:srgbClr val="BFBFBF"/>
                </a:solidFill>
                <a:effectLst/>
                <a:latin typeface="Segoe WPC"/>
              </a:rPr>
              <a:t>Tier 7	Derived / Computed		</a:t>
            </a:r>
            <a:r>
              <a:rPr lang="en-AU" b="0" i="0" dirty="0">
                <a:solidFill>
                  <a:srgbClr val="BFBFBF"/>
                </a:solidFill>
                <a:effectLst/>
                <a:latin typeface="Segoe WPC"/>
              </a:rPr>
              <a:t>Internal agent-generated risk assessments; aggregated risk scores; historical incident databases	3</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KEY MESSAGE: One platform, many jurisdictions, zero data leakage.</a:t>
            </a:r>
          </a:p>
          <a:p>
            <a:endParaRPr dirty="0"/>
          </a:p>
          <a:p>
            <a:r>
              <a:rPr dirty="0"/>
              <a:t>TALK TRACK (75s):</a:t>
            </a:r>
          </a:p>
          <a:p>
            <a:r>
              <a:rPr dirty="0"/>
              <a:t>- "Australia is federated. The platform is federated. Every signal, every recommendation, every alert is tagged with a jurisdiction tuple </a:t>
            </a:r>
            <a:r>
              <a:rPr lang="en-AU" dirty="0"/>
              <a:t>-</a:t>
            </a:r>
            <a:r>
              <a:rPr dirty="0"/>
              <a:t> Commonwealth, State/Territory, regional, local."</a:t>
            </a:r>
          </a:p>
          <a:p>
            <a:r>
              <a:rPr dirty="0"/>
              <a:t>- "Cross-jurisdiction visibility is governed by </a:t>
            </a:r>
            <a:r>
              <a:rPr dirty="0" err="1"/>
              <a:t>JurisdictionPolicy</a:t>
            </a:r>
            <a:r>
              <a:rPr dirty="0"/>
              <a:t> entities </a:t>
            </a:r>
            <a:r>
              <a:rPr lang="en-AU" dirty="0"/>
              <a:t>-</a:t>
            </a:r>
            <a:r>
              <a:rPr dirty="0"/>
              <a:t> privacy, residency, visibility rules per jurisdiction. WA cannot see VIC's PII. NEMA can see </a:t>
            </a:r>
            <a:r>
              <a:rPr dirty="0" err="1"/>
              <a:t>anonymised</a:t>
            </a:r>
            <a:r>
              <a:rPr dirty="0"/>
              <a:t> cross-cohort metrics."</a:t>
            </a:r>
          </a:p>
          <a:p>
            <a:r>
              <a:rPr dirty="0"/>
              <a:t>- "Implementation is a partition-key on Cosmos plus a Rego policy layer. Both belt and braces."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KEY MESSAGE: The model is a *replaceable component*, never a single point of failure or a single vendor lock.</a:t>
            </a:r>
          </a:p>
          <a:p>
            <a:endParaRPr dirty="0"/>
          </a:p>
          <a:p>
            <a:r>
              <a:rPr dirty="0"/>
              <a:t>TALK TRACK (90s):</a:t>
            </a:r>
          </a:p>
          <a:p>
            <a:r>
              <a:rPr dirty="0"/>
              <a:t>- "Two deployments: a 'reasoning' model for complex risk fusion (GPT-4 class), and a 'drafting' model </a:t>
            </a:r>
            <a:r>
              <a:rPr dirty="0" err="1"/>
              <a:t>optimised</a:t>
            </a:r>
            <a:r>
              <a:rPr dirty="0"/>
              <a:t> for low-latency multilingual generation. Routed by purpose, not by URL."</a:t>
            </a:r>
          </a:p>
          <a:p>
            <a:r>
              <a:rPr dirty="0"/>
              <a:t>- "Every call goes through a model gateway that enforces token budgets, content-safety, prompt-shielding, and the data-</a:t>
            </a:r>
            <a:r>
              <a:rPr dirty="0" err="1"/>
              <a:t>minimisation</a:t>
            </a:r>
            <a:r>
              <a:rPr dirty="0"/>
              <a:t> rules required by the AU-residency carve-out."</a:t>
            </a:r>
          </a:p>
          <a:p>
            <a:r>
              <a:rPr dirty="0"/>
              <a:t>- "Three-tier fallback: LLM → templated fallback → safety fallback. The Communication agent will *always* produce an alert, even if every model in Australia is offline. That is a constitutional requirement."</a:t>
            </a:r>
          </a:p>
          <a:p>
            <a:r>
              <a:rPr dirty="0"/>
              <a:t>- "Microsoft Foundry RAG grounds every agent on the AIDR Handbook collection </a:t>
            </a:r>
            <a:r>
              <a:rPr lang="en-AU" dirty="0"/>
              <a:t>-</a:t>
            </a:r>
            <a:r>
              <a:rPr dirty="0"/>
              <a:t> Incident Management, Evacuation Planning, Public Information &amp; Warnings, Recovery. Citations are mandatory."</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KEY MESSAGE: Agentic patterns are not academic </a:t>
            </a:r>
            <a:r>
              <a:rPr lang="en-AU" dirty="0"/>
              <a:t>-</a:t>
            </a:r>
            <a:r>
              <a:rPr dirty="0"/>
              <a:t> they are how the platform survives a real disaster.</a:t>
            </a:r>
          </a:p>
          <a:p>
            <a:endParaRPr dirty="0"/>
          </a:p>
          <a:p>
            <a:r>
              <a:rPr dirty="0"/>
              <a:t>TALK TRACK (90s):</a:t>
            </a:r>
          </a:p>
          <a:p>
            <a:r>
              <a:rPr dirty="0"/>
              <a:t>- "Three patterns we lean on: handoff with retry, reflection with guardrails, and graceful degradation."</a:t>
            </a:r>
          </a:p>
          <a:p>
            <a:r>
              <a:rPr dirty="0"/>
              <a:t>- "Handoff is a message contract, not a method call. We chose async because the network during a real disaster looks nothing like a tabletop exercise."</a:t>
            </a:r>
          </a:p>
          <a:p>
            <a:r>
              <a:rPr dirty="0"/>
              <a:t>- "The reflection layer is where 'responsible AI' becomes operational. Every Risk Assessment recommendation is critiqued by a guardrail before it reaches a human."</a:t>
            </a:r>
          </a:p>
          <a:p>
            <a:r>
              <a:rPr dirty="0"/>
              <a:t>- "Graceful degradation: when something fails, the platform does not. It downgrades, surfaces the degradation prominently, and keeps going. That is constitutional."</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KEY MESSAGE: Responsible AI is woven through delivery, not painted on at the end.</a:t>
            </a:r>
          </a:p>
          <a:p>
            <a:endParaRPr dirty="0"/>
          </a:p>
          <a:p>
            <a:r>
              <a:rPr dirty="0"/>
              <a:t>TALK TRACK (90s):</a:t>
            </a:r>
          </a:p>
          <a:p>
            <a:r>
              <a:rPr dirty="0"/>
              <a:t>- "Eight language channels per scenario, plus </a:t>
            </a:r>
            <a:r>
              <a:rPr dirty="0" err="1"/>
              <a:t>Auslan</a:t>
            </a:r>
            <a:r>
              <a:rPr dirty="0"/>
              <a:t>. We did not pick this list </a:t>
            </a:r>
            <a:r>
              <a:rPr lang="en-AU" dirty="0"/>
              <a:t>-</a:t>
            </a:r>
            <a:r>
              <a:rPr dirty="0"/>
              <a:t> the ABS Census did, plus AIDR's accessibility guidance. The platform reads the language pack catalogue at render time."</a:t>
            </a:r>
          </a:p>
          <a:p>
            <a:r>
              <a:rPr dirty="0"/>
              <a:t>- "Plain language at Grade 8 reading level for English. That is the AIDR Public Information &amp; Warnings handbook standard. Our Communication agent enforces it as a content rule."</a:t>
            </a:r>
          </a:p>
          <a:p>
            <a:r>
              <a:rPr dirty="0"/>
              <a:t>- "Vulnerable population priority is upstream of the routing algorithm. It is not a tag added at the end </a:t>
            </a:r>
            <a:r>
              <a:rPr lang="en-AU" dirty="0"/>
              <a:t>-</a:t>
            </a:r>
            <a:r>
              <a:rPr dirty="0"/>
              <a:t> it changes the </a:t>
            </a:r>
            <a:r>
              <a:rPr dirty="0" err="1"/>
              <a:t>optimisation</a:t>
            </a:r>
            <a:r>
              <a:rPr dirty="0"/>
              <a:t> objective."</a:t>
            </a:r>
          </a:p>
          <a:p>
            <a:endParaRPr dirty="0"/>
          </a:p>
          <a:p>
            <a:r>
              <a:rPr dirty="0"/>
              <a:t>ANTICIPATED Q&amp;A:</a:t>
            </a:r>
          </a:p>
          <a:p>
            <a:r>
              <a:rPr dirty="0"/>
              <a:t>- "Hallucinations?" </a:t>
            </a:r>
            <a:r>
              <a:rPr lang="en-AU" dirty="0"/>
              <a:t>-</a:t>
            </a:r>
            <a:r>
              <a:rPr dirty="0"/>
              <a:t> Foundry RAG grounds every claim. Citations are mandatory; uncited claims are blocked.</a:t>
            </a:r>
          </a:p>
          <a:p>
            <a:r>
              <a:rPr dirty="0"/>
              <a:t>- "Bias?" </a:t>
            </a:r>
            <a:r>
              <a:rPr lang="en-AU" dirty="0"/>
              <a:t>-</a:t>
            </a:r>
            <a:r>
              <a:rPr dirty="0"/>
              <a:t> We score every Risk recommendation against a fairness rubric tied to the AIDR handbook.</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KEY MESSAGE: An operator at any level should </a:t>
            </a:r>
            <a:r>
              <a:rPr lang="en-AU" dirty="0"/>
              <a:t>recognise</a:t>
            </a:r>
            <a:r>
              <a:rPr dirty="0"/>
              <a:t> the platform on the first screen </a:t>
            </a:r>
            <a:r>
              <a:rPr lang="en-AU" dirty="0"/>
              <a:t>-</a:t>
            </a:r>
            <a:r>
              <a:rPr dirty="0"/>
              <a:t> because it speaks AIIMS.</a:t>
            </a:r>
          </a:p>
          <a:p>
            <a:endParaRPr dirty="0"/>
          </a:p>
          <a:p>
            <a:r>
              <a:rPr dirty="0"/>
              <a:t>TALK TRACK (75s):</a:t>
            </a:r>
          </a:p>
          <a:p>
            <a:r>
              <a:rPr dirty="0"/>
              <a:t>- "</a:t>
            </a:r>
            <a:r>
              <a:rPr lang="en-AU" dirty="0"/>
              <a:t>the</a:t>
            </a:r>
            <a:r>
              <a:rPr dirty="0"/>
              <a:t> AIIMS functions on the left. </a:t>
            </a:r>
            <a:r>
              <a:rPr lang="en-AU" dirty="0"/>
              <a:t>Operators</a:t>
            </a:r>
            <a:r>
              <a:rPr dirty="0"/>
              <a:t> on the right. Every workspace, every menu, every audit row uses this vocabulary."</a:t>
            </a:r>
          </a:p>
          <a:p>
            <a:r>
              <a:rPr dirty="0"/>
              <a:t>- "The Australian Warning System </a:t>
            </a:r>
            <a:r>
              <a:rPr lang="en-AU" dirty="0"/>
              <a:t>-</a:t>
            </a:r>
            <a:r>
              <a:rPr dirty="0"/>
              <a:t> Advice/Watch and Act/Emergency Warning </a:t>
            </a:r>
            <a:r>
              <a:rPr lang="en-AU" dirty="0"/>
              <a:t>-</a:t>
            </a:r>
            <a:r>
              <a:rPr dirty="0"/>
              <a:t> is a first-class data type. Hazard icons, action statements, de-escalation rules: all enforced by schema."</a:t>
            </a:r>
          </a:p>
          <a:p>
            <a:r>
              <a:rPr lang="en-GB" dirty="0"/>
              <a:t>- "This is the difference between a platform that is *aligned* with standards and one that *embeds* them. We embed."</a:t>
            </a:r>
          </a:p>
          <a:p>
            <a:endParaRPr lang="en-GB" dirty="0"/>
          </a:p>
          <a:p>
            <a:endParaRPr lang="en-GB" dirty="0"/>
          </a:p>
          <a:p>
            <a:r>
              <a:rPr lang="en-GB" dirty="0"/>
              <a:t>ABBREVIATIONS:</a:t>
            </a:r>
          </a:p>
          <a:p>
            <a:pPr marL="0" marR="0" lvl="0" indent="0" algn="l" defTabSz="914367" rtl="0" eaLnBrk="1" fontAlgn="auto" latinLnBrk="0" hangingPunct="1">
              <a:lnSpc>
                <a:spcPct val="90000"/>
              </a:lnSpc>
              <a:spcBef>
                <a:spcPts val="0"/>
              </a:spcBef>
              <a:spcAft>
                <a:spcPts val="333"/>
              </a:spcAft>
              <a:buClrTx/>
              <a:buSzTx/>
              <a:buFontTx/>
              <a:buNone/>
              <a:tabLst/>
              <a:defRPr/>
            </a:pPr>
            <a:r>
              <a:rPr lang="en-GB" dirty="0"/>
              <a:t>AIMS = </a:t>
            </a:r>
            <a:r>
              <a:rPr lang="en-GB" sz="882" b="0" kern="1200" dirty="0">
                <a:solidFill>
                  <a:schemeClr val="tx1"/>
                </a:solidFill>
                <a:effectLst/>
                <a:latin typeface="Segoe UI" panose="020B0502040204020203" pitchFamily="34" charset="0"/>
                <a:ea typeface="+mn-ea"/>
                <a:cs typeface="+mn-cs"/>
              </a:rPr>
              <a:t>Australasian Inter-service Incident Management System</a:t>
            </a:r>
          </a:p>
          <a:p>
            <a:pPr marL="0" marR="0" lvl="0" indent="0" algn="l" defTabSz="914367" rtl="0" eaLnBrk="1" fontAlgn="auto" latinLnBrk="0" hangingPunct="1">
              <a:lnSpc>
                <a:spcPct val="90000"/>
              </a:lnSpc>
              <a:spcBef>
                <a:spcPts val="0"/>
              </a:spcBef>
              <a:spcAft>
                <a:spcPts val="333"/>
              </a:spcAft>
              <a:buClrTx/>
              <a:buSzTx/>
              <a:buFontTx/>
              <a:buNone/>
              <a:tabLst/>
              <a:defRPr/>
            </a:pPr>
            <a:r>
              <a:rPr lang="en-GB" sz="882" b="0" kern="1200" dirty="0">
                <a:solidFill>
                  <a:schemeClr val="tx1"/>
                </a:solidFill>
                <a:effectLst/>
                <a:latin typeface="Segoe UI" panose="020B0502040204020203" pitchFamily="34" charset="0"/>
                <a:ea typeface="+mn-ea"/>
                <a:cs typeface="+mn-cs"/>
              </a:rPr>
              <a:t>AWS = Australian Warning System</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GB" sz="882" b="0" kern="1200" dirty="0">
              <a:solidFill>
                <a:schemeClr val="tx1"/>
              </a:solidFill>
              <a:effectLst/>
              <a:latin typeface="Segoe UI" panose="020B0502040204020203" pitchFamily="34" charset="0"/>
              <a:ea typeface="+mn-ea"/>
              <a:cs typeface="+mn-cs"/>
            </a:endParaRPr>
          </a:p>
          <a:p>
            <a:r>
              <a:rPr lang="en-AU" sz="882" b="1" i="0" kern="1200" dirty="0">
                <a:solidFill>
                  <a:schemeClr val="tx1"/>
                </a:solidFill>
                <a:effectLst/>
                <a:latin typeface="Segoe UI" panose="020B0502040204020203" pitchFamily="34" charset="0"/>
                <a:ea typeface="+mn-ea"/>
                <a:cs typeface="+mn-cs"/>
              </a:rPr>
              <a:t>The 6 AIIMS Functions</a:t>
            </a:r>
          </a:p>
          <a:p>
            <a:r>
              <a:rPr lang="en-AU" sz="882" b="0" i="0" kern="1200" dirty="0">
                <a:solidFill>
                  <a:schemeClr val="tx1"/>
                </a:solidFill>
                <a:effectLst/>
                <a:latin typeface="Segoe UI" panose="020B0502040204020203" pitchFamily="34" charset="0"/>
                <a:ea typeface="+mn-ea"/>
                <a:cs typeface="+mn-cs"/>
              </a:rPr>
              <a:t>The Australasian Inter-Service Incident Management System (AIIMS) defines six functional areas that together manage any incident:</a:t>
            </a:r>
          </a:p>
          <a:p>
            <a:r>
              <a:rPr lang="en-AU" sz="882" b="1" i="0" kern="1200" dirty="0">
                <a:solidFill>
                  <a:schemeClr val="tx1"/>
                </a:solidFill>
                <a:effectLst/>
                <a:latin typeface="Segoe UI" panose="020B0502040204020203" pitchFamily="34" charset="0"/>
                <a:ea typeface="+mn-ea"/>
                <a:cs typeface="+mn-cs"/>
              </a:rPr>
              <a:t>Control</a:t>
            </a:r>
            <a:r>
              <a:rPr lang="en-AU" sz="882" b="0" i="0" kern="1200" dirty="0">
                <a:solidFill>
                  <a:schemeClr val="tx1"/>
                </a:solidFill>
                <a:effectLst/>
                <a:latin typeface="Segoe UI" panose="020B0502040204020203" pitchFamily="34" charset="0"/>
                <a:ea typeface="+mn-ea"/>
                <a:cs typeface="+mn-cs"/>
              </a:rPr>
              <a:t> - Overall command and strategic direction of the incident (held by the </a:t>
            </a:r>
            <a:r>
              <a:rPr lang="en-AU" sz="882" b="1" i="0" kern="1200" dirty="0">
                <a:solidFill>
                  <a:schemeClr val="tx1"/>
                </a:solidFill>
                <a:effectLst/>
                <a:latin typeface="Segoe UI" panose="020B0502040204020203" pitchFamily="34" charset="0"/>
                <a:ea typeface="+mn-ea"/>
                <a:cs typeface="+mn-cs"/>
              </a:rPr>
              <a:t>Incident Controller</a:t>
            </a:r>
            <a:r>
              <a:rPr lang="en-AU" sz="882" b="0" i="0" kern="1200" dirty="0">
                <a:solidFill>
                  <a:schemeClr val="tx1"/>
                </a:solidFill>
                <a:effectLst/>
                <a:latin typeface="Segoe UI" panose="020B0502040204020203" pitchFamily="34" charset="0"/>
                <a:ea typeface="+mn-ea"/>
                <a:cs typeface="+mn-cs"/>
              </a:rPr>
              <a:t>). Sets objectives, approves the Incident Action Plan, and retains final authority over life-safety decisions.</a:t>
            </a:r>
          </a:p>
          <a:p>
            <a:r>
              <a:rPr lang="en-AU" sz="882" b="1" i="0" kern="1200" dirty="0">
                <a:solidFill>
                  <a:schemeClr val="tx1"/>
                </a:solidFill>
                <a:effectLst/>
                <a:latin typeface="Segoe UI" panose="020B0502040204020203" pitchFamily="34" charset="0"/>
                <a:ea typeface="+mn-ea"/>
                <a:cs typeface="+mn-cs"/>
              </a:rPr>
              <a:t>Planning</a:t>
            </a:r>
            <a:r>
              <a:rPr lang="en-AU" sz="882" b="0" i="0" kern="1200" dirty="0">
                <a:solidFill>
                  <a:schemeClr val="tx1"/>
                </a:solidFill>
                <a:effectLst/>
                <a:latin typeface="Segoe UI" panose="020B0502040204020203" pitchFamily="34" charset="0"/>
                <a:ea typeface="+mn-ea"/>
                <a:cs typeface="+mn-cs"/>
              </a:rPr>
              <a:t> - Collects and analyses information, develops the Incident Action Plan (IAP), tracks resources, and forecasts how the incident will evolve.</a:t>
            </a:r>
          </a:p>
          <a:p>
            <a:r>
              <a:rPr lang="en-AU" sz="882" b="1" i="0" kern="1200" dirty="0">
                <a:solidFill>
                  <a:schemeClr val="tx1"/>
                </a:solidFill>
                <a:effectLst/>
                <a:latin typeface="Segoe UI" panose="020B0502040204020203" pitchFamily="34" charset="0"/>
                <a:ea typeface="+mn-ea"/>
                <a:cs typeface="+mn-cs"/>
              </a:rPr>
              <a:t>Public Information</a:t>
            </a:r>
            <a:r>
              <a:rPr lang="en-AU" sz="882" b="0" i="0" kern="1200" dirty="0">
                <a:solidFill>
                  <a:schemeClr val="tx1"/>
                </a:solidFill>
                <a:effectLst/>
                <a:latin typeface="Segoe UI" panose="020B0502040204020203" pitchFamily="34" charset="0"/>
                <a:ea typeface="+mn-ea"/>
                <a:cs typeface="+mn-cs"/>
              </a:rPr>
              <a:t> - Manages warnings, community messaging, media liaison, and multi-agency public communications.</a:t>
            </a:r>
          </a:p>
          <a:p>
            <a:r>
              <a:rPr lang="en-AU" sz="882" b="1" i="0" kern="1200" dirty="0">
                <a:solidFill>
                  <a:schemeClr val="tx1"/>
                </a:solidFill>
                <a:effectLst/>
                <a:latin typeface="Segoe UI" panose="020B0502040204020203" pitchFamily="34" charset="0"/>
                <a:ea typeface="+mn-ea"/>
                <a:cs typeface="+mn-cs"/>
              </a:rPr>
              <a:t>Operations</a:t>
            </a:r>
            <a:r>
              <a:rPr lang="en-AU" sz="882" b="0" i="0" kern="1200" dirty="0">
                <a:solidFill>
                  <a:schemeClr val="tx1"/>
                </a:solidFill>
                <a:effectLst/>
                <a:latin typeface="Segoe UI" panose="020B0502040204020203" pitchFamily="34" charset="0"/>
                <a:ea typeface="+mn-ea"/>
                <a:cs typeface="+mn-cs"/>
              </a:rPr>
              <a:t> - Executes the IAP on the ground; directs tactical response (suppression, rescue, evacuation, containment).</a:t>
            </a:r>
          </a:p>
          <a:p>
            <a:r>
              <a:rPr lang="en-AU" sz="882" b="1" i="0" kern="1200" dirty="0">
                <a:solidFill>
                  <a:schemeClr val="tx1"/>
                </a:solidFill>
                <a:effectLst/>
                <a:latin typeface="Segoe UI" panose="020B0502040204020203" pitchFamily="34" charset="0"/>
                <a:ea typeface="+mn-ea"/>
                <a:cs typeface="+mn-cs"/>
              </a:rPr>
              <a:t>Investigation</a:t>
            </a:r>
            <a:r>
              <a:rPr lang="en-AU" sz="882" b="0" i="0" kern="1200" dirty="0">
                <a:solidFill>
                  <a:schemeClr val="tx1"/>
                </a:solidFill>
                <a:effectLst/>
                <a:latin typeface="Segoe UI" panose="020B0502040204020203" pitchFamily="34" charset="0"/>
                <a:ea typeface="+mn-ea"/>
                <a:cs typeface="+mn-cs"/>
              </a:rPr>
              <a:t> - Determines the cause and origin of the incident and preserves evidence (added as a full function in AIIMS-5, 2017).</a:t>
            </a:r>
          </a:p>
          <a:p>
            <a:r>
              <a:rPr lang="en-AU" sz="882" b="1" i="0" kern="1200" dirty="0">
                <a:solidFill>
                  <a:schemeClr val="tx1"/>
                </a:solidFill>
                <a:effectLst/>
                <a:latin typeface="Segoe UI" panose="020B0502040204020203" pitchFamily="34" charset="0"/>
                <a:ea typeface="+mn-ea"/>
                <a:cs typeface="+mn-cs"/>
              </a:rPr>
              <a:t>Logistics</a:t>
            </a:r>
            <a:r>
              <a:rPr lang="en-AU" sz="882" b="0" i="0" kern="1200" dirty="0">
                <a:solidFill>
                  <a:schemeClr val="tx1"/>
                </a:solidFill>
                <a:effectLst/>
                <a:latin typeface="Segoe UI" panose="020B0502040204020203" pitchFamily="34" charset="0"/>
                <a:ea typeface="+mn-ea"/>
                <a:cs typeface="+mn-cs"/>
              </a:rPr>
              <a:t> - Provides people, equipment, supplies, facilities, and support services that Operations needs to do its job.</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GB" sz="882" b="0" kern="1200" dirty="0">
              <a:solidFill>
                <a:schemeClr val="tx1"/>
              </a:solidFill>
              <a:effectLst/>
              <a:latin typeface="Segoe UI" panose="020B0502040204020203" pitchFamily="34" charset="0"/>
              <a:ea typeface="+mn-ea"/>
              <a:cs typeface="+mn-cs"/>
            </a:endParaRPr>
          </a:p>
          <a:p>
            <a:endParaRPr lang="en-GB" dirty="0"/>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0FB37-451B-B5E0-C893-B9D9EED1C0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3F7145-15D2-DDE7-8186-B4C71BB8E6E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73A5B3B-E339-4763-B719-27AECC8C5940}"/>
              </a:ext>
            </a:extLst>
          </p:cNvPr>
          <p:cNvSpPr>
            <a:spLocks noGrp="1"/>
          </p:cNvSpPr>
          <p:nvPr>
            <p:ph type="body" sz="quarter" idx="3"/>
          </p:nvPr>
        </p:nvSpPr>
        <p:spPr/>
        <p:txBody>
          <a:bodyPr/>
          <a:lstStyle/>
          <a:p>
            <a:r>
              <a:rPr dirty="0"/>
              <a:t>Reliability, Security, Cost, Operational Excellence, Performance Efficiency </a:t>
            </a:r>
            <a:r>
              <a:rPr lang="en-AU" dirty="0"/>
              <a:t>-</a:t>
            </a:r>
            <a:r>
              <a:rPr dirty="0"/>
              <a:t> all mapped. SLI/SLO model includes burn-rate alerts at 2%/h and 5%/h.</a:t>
            </a:r>
          </a:p>
        </p:txBody>
      </p:sp>
      <p:sp>
        <p:nvSpPr>
          <p:cNvPr id="4" name="Slide Number Placeholder 3">
            <a:extLst>
              <a:ext uri="{FF2B5EF4-FFF2-40B4-BE49-F238E27FC236}">
                <a16:creationId xmlns:a16="http://schemas.microsoft.com/office/drawing/2014/main" id="{A599C772-635E-386F-8FB9-E623788E51CF}"/>
              </a:ext>
            </a:extLst>
          </p:cNvPr>
          <p:cNvSpPr>
            <a:spLocks noGrp="1"/>
          </p:cNvSpPr>
          <p:nvPr>
            <p:ph type="sldNum" sz="quarter" idx="5"/>
          </p:nvPr>
        </p:nvSpPr>
        <p:spPr/>
      </p:sp>
    </p:spTree>
    <p:extLst>
      <p:ext uri="{BB962C8B-B14F-4D97-AF65-F5344CB8AC3E}">
        <p14:creationId xmlns:p14="http://schemas.microsoft.com/office/powerpoint/2010/main" val="36651225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KEY MESSAGE: This is not staged narration. It is the same simulation harness our spec 040 evidence pack uses.</a:t>
            </a:r>
          </a:p>
          <a:p>
            <a:endParaRPr dirty="0"/>
          </a:p>
          <a:p>
            <a:r>
              <a:rPr dirty="0"/>
              <a:t>TALK TRACK (45s before demo):</a:t>
            </a:r>
          </a:p>
          <a:p>
            <a:r>
              <a:rPr dirty="0"/>
              <a:t>- "Two runs of the same scenario. Same seed. The simulation engine is deterministic </a:t>
            </a:r>
            <a:r>
              <a:rPr lang="en-AU" dirty="0"/>
              <a:t>-</a:t>
            </a:r>
            <a:r>
              <a:rPr dirty="0"/>
              <a:t> that is a constitutional requirement and a CI test."</a:t>
            </a:r>
          </a:p>
          <a:p>
            <a:r>
              <a:rPr dirty="0"/>
              <a:t>- "I'll narrate to your watch: you should see signal ingest, agent fusion, an approval request, and the alert burst happen in under three minutes of simulated time."</a:t>
            </a:r>
          </a:p>
          <a:p>
            <a:r>
              <a:rPr dirty="0"/>
              <a:t>- "If anything blanks out, that is the demo gods, not the platform. </a:t>
            </a:r>
            <a:r>
              <a:rPr dirty="0" err="1"/>
              <a:t>Quickstart</a:t>
            </a:r>
            <a:r>
              <a:rPr dirty="0"/>
              <a:t> is documented in docs/runbooks/."</a:t>
            </a:r>
          </a:p>
          <a:p>
            <a:endParaRPr dirty="0"/>
          </a:p>
          <a:p>
            <a:r>
              <a:rPr dirty="0"/>
              <a:t>DEMO RECOVERY: Pre-recorded fallback at docs/canary/demo-recording.mp4.</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KEY MESSAGE: Every interaction you just saw maps to this sequence </a:t>
            </a:r>
            <a:r>
              <a:rPr lang="en-AU" dirty="0"/>
              <a:t>-</a:t>
            </a:r>
            <a:r>
              <a:rPr dirty="0"/>
              <a:t> no off-screen magic.</a:t>
            </a:r>
          </a:p>
          <a:p>
            <a:endParaRPr dirty="0"/>
          </a:p>
          <a:p>
            <a:r>
              <a:rPr dirty="0"/>
              <a:t>TALK TRACK (60s post-demo):</a:t>
            </a:r>
          </a:p>
          <a:p>
            <a:r>
              <a:rPr dirty="0"/>
              <a:t>- "Walk left to right with your finger. Signal in. Risk Assessment fuses. Reflection guardrail critiques. Recommendation surfaces in the Incident Controller workspace. Named human approval. Communication agent generates eight language channels. ACS dispatches. Audit row is written, durable, before any HTTP response returns."</a:t>
            </a:r>
          </a:p>
          <a:p>
            <a:r>
              <a:rPr dirty="0"/>
              <a:t>- "Cosmos audit container is at Strong consistency, in a single AU region, with append-only Locked immutability for 7 years. That's not a feature </a:t>
            </a:r>
            <a:r>
              <a:rPr lang="en-AU" dirty="0"/>
              <a:t>-</a:t>
            </a:r>
            <a:r>
              <a:rPr dirty="0"/>
              <a:t> it is a regulatory floor."</a:t>
            </a:r>
          </a:p>
          <a:p>
            <a:endParaRPr dirty="0"/>
          </a:p>
          <a:p>
            <a:r>
              <a:rPr dirty="0"/>
              <a:t>ANTICIPATED Q&amp;A:</a:t>
            </a:r>
          </a:p>
          <a:p>
            <a:r>
              <a:rPr dirty="0"/>
              <a:t>- "What if the approver is unavailable?" </a:t>
            </a:r>
            <a:r>
              <a:rPr lang="en-AU" dirty="0"/>
              <a:t>-</a:t>
            </a:r>
            <a:r>
              <a:rPr dirty="0"/>
              <a:t> Escalation chain by AIIMS authority and named successor; full path is in spec 008.</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KEY MESSAGE: Speed without trust is dangerous; trust without speed is irrelevant. The platform delivers both.</a:t>
            </a:r>
          </a:p>
          <a:p>
            <a:endParaRPr dirty="0"/>
          </a:p>
          <a:p>
            <a:r>
              <a:rPr dirty="0"/>
              <a:t>TALK TRACK (60s):</a:t>
            </a:r>
          </a:p>
          <a:p>
            <a:r>
              <a:rPr dirty="0"/>
              <a:t>- "Speed is the headline, but trust is the differentiator. Anyone can build something that drafts an alert quickly. Doing it with a complete audit chain, named approvals, and language coverage is the harder problem."</a:t>
            </a:r>
          </a:p>
          <a:p>
            <a:r>
              <a:rPr dirty="0"/>
              <a:t>- "31× compression is not a marketing number </a:t>
            </a:r>
            <a:r>
              <a:rPr lang="en-AU" dirty="0"/>
              <a:t>-</a:t>
            </a:r>
            <a:r>
              <a:rPr dirty="0"/>
              <a:t> it's the mean of three deterministic seed runs. The harness records every value with a bootstrap 95% CI."</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KEY MESSAGE: Zero Trust is not aspirational here </a:t>
            </a:r>
            <a:r>
              <a:rPr lang="en-AU" dirty="0"/>
              <a:t>-</a:t>
            </a:r>
            <a:r>
              <a:rPr dirty="0"/>
              <a:t> it is the default deployment posture.</a:t>
            </a:r>
          </a:p>
          <a:p>
            <a:endParaRPr dirty="0"/>
          </a:p>
          <a:p>
            <a:r>
              <a:rPr dirty="0"/>
              <a:t>TALK TRACK (90s):</a:t>
            </a:r>
          </a:p>
          <a:p>
            <a:r>
              <a:rPr dirty="0"/>
              <a:t>- "Left diagram: trust boundaries. Operator UI is the only public surface. Everything else is private endpoint, managed identity, RBAC. No long-lived secrets except the explicitly carved-out third-party tokens, all in Key Vault with rotation."</a:t>
            </a:r>
          </a:p>
          <a:p>
            <a:r>
              <a:rPr dirty="0"/>
              <a:t>- "Every workload is deployed by Bicep with policy-as-code gates.</a:t>
            </a:r>
            <a:r>
              <a:rPr lang="en-AU" dirty="0"/>
              <a:t> Each PR is security checked and linted for adherence</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B3F5D-F777-B6C1-7B1E-C5D69C8219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CF85FD-471C-EAF3-E793-2D20B3DADA4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96B3BAF0-89A1-E528-FC6F-9A20528B568A}"/>
              </a:ext>
            </a:extLst>
          </p:cNvPr>
          <p:cNvSpPr>
            <a:spLocks noGrp="1"/>
          </p:cNvSpPr>
          <p:nvPr>
            <p:ph type="body" sz="quarter" idx="3"/>
          </p:nvPr>
        </p:nvSpPr>
        <p:spPr/>
        <p:txBody>
          <a:bodyPr/>
          <a:lstStyle/>
          <a:p>
            <a:r>
              <a:rPr dirty="0"/>
              <a:t>KEY MESSAGE: </a:t>
            </a:r>
            <a:r>
              <a:rPr lang="en-GB" dirty="0"/>
              <a:t>AI governance here isn't a policy document — it's a CI gate, a runtime guardrail, and a seven-year audit row. Audit-ready against ISO/IEC 42001, NIST AI RMF, and Australia's Voluntary AI Safety Standard on day one.</a:t>
            </a:r>
          </a:p>
          <a:p>
            <a:endParaRPr dirty="0"/>
          </a:p>
          <a:p>
            <a:r>
              <a:rPr dirty="0"/>
              <a:t>TALK TRACK (90s):</a:t>
            </a:r>
          </a:p>
          <a:p>
            <a:r>
              <a:rPr lang="en-GB" dirty="0"/>
              <a:t>When people ask about AI governance, they usually mean "prove it isn't just a policy PDF." Let me give you the three layers we made enforceable.</a:t>
            </a:r>
          </a:p>
          <a:p>
            <a:endParaRPr lang="en-GB" dirty="0"/>
          </a:p>
          <a:p>
            <a:r>
              <a:rPr lang="en-GB" dirty="0"/>
              <a:t>First — the Constitution is code. Six non-negotiables — human-in-the-loop, Australian sovereignty, privacy by design, standards interoperability, graceful degradation, append-only audit — are encoded as Rego policies. The safety-guardrails and tenant-isolation bundles run on every pull request. A change that lowers an AI rail fails the pipeline at What-If. Governance is the merge button, not a wiki page.</a:t>
            </a:r>
          </a:p>
          <a:p>
            <a:endParaRPr lang="en-GB" dirty="0"/>
          </a:p>
          <a:p>
            <a:r>
              <a:rPr lang="en-GB" dirty="0"/>
              <a:t>Second — runtime guardrails are layered, not single-point. Foundry Content Safety and Prompt Shields sit in front of every model. RAG grounding against the AIDR handbook collection is mandatory and citations are emitted into every response — uncited output is rejected. A reflection guardrail critiques every Risk recommendation against the ten Warning Principles before Communication ever sees it. Signals are trust-tiered one-to-seven; tier six social signals are advisory only and cannot solo-trigger a public alert. And every irreversible action requires a named human approver. </a:t>
            </a:r>
            <a:r>
              <a:rPr lang="en-GB" b="1" i="1" dirty="0"/>
              <a:t>No anonymous AI action exists in this system.</a:t>
            </a:r>
          </a:p>
          <a:p>
            <a:endParaRPr lang="en-GB" dirty="0"/>
          </a:p>
          <a:p>
            <a:r>
              <a:rPr lang="en-GB" dirty="0"/>
              <a:t>Third — accountability is measured, not asserted. The Evidence Harness reports every KPI with a bootstrap ninety-five percent confidence interval and holds determinism within plus-minus two percent. Every signal-to-publish step writes an immutable audit row, mirrored to a seven-year Locked Blob. We've cross-walked the controls to ISO/IEC 42001, Australia's Voluntary AI Safety Standard 2024, and NIST AI RMF — so the platform is audit-ready on day one of any of those becoming mandatory.</a:t>
            </a:r>
          </a:p>
          <a:p>
            <a:endParaRPr lang="en-GB" dirty="0"/>
          </a:p>
          <a:p>
            <a:r>
              <a:rPr lang="en-GB" dirty="0"/>
              <a:t>PAUSE</a:t>
            </a:r>
          </a:p>
          <a:p>
            <a:endParaRPr lang="en-GB"/>
          </a:p>
          <a:p>
            <a:endParaRPr dirty="0"/>
          </a:p>
        </p:txBody>
      </p:sp>
      <p:sp>
        <p:nvSpPr>
          <p:cNvPr id="4" name="Slide Number Placeholder 3">
            <a:extLst>
              <a:ext uri="{FF2B5EF4-FFF2-40B4-BE49-F238E27FC236}">
                <a16:creationId xmlns:a16="http://schemas.microsoft.com/office/drawing/2014/main" id="{60ADAE06-93D4-86B8-5E8C-3953AD06CEE6}"/>
              </a:ext>
            </a:extLst>
          </p:cNvPr>
          <p:cNvSpPr>
            <a:spLocks noGrp="1"/>
          </p:cNvSpPr>
          <p:nvPr>
            <p:ph type="sldNum" sz="quarter" idx="5"/>
          </p:nvPr>
        </p:nvSpPr>
        <p:spPr/>
      </p:sp>
    </p:spTree>
    <p:extLst>
      <p:ext uri="{BB962C8B-B14F-4D97-AF65-F5344CB8AC3E}">
        <p14:creationId xmlns:p14="http://schemas.microsoft.com/office/powerpoint/2010/main" val="422055524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KEY MESSAGE: Governance ships *with* the product. The dashboard you would show a regulator is the same one operators use day-to-day.</a:t>
            </a:r>
          </a:p>
          <a:p>
            <a:endParaRPr dirty="0"/>
          </a:p>
          <a:p>
            <a:r>
              <a:rPr dirty="0"/>
              <a:t>TALK TRACK (75s):</a:t>
            </a:r>
          </a:p>
          <a:p>
            <a:r>
              <a:rPr dirty="0"/>
              <a:t>- "Append-only audit container, Cosmos at Strong consistency, single AU region, 7-year Locked Blob immutability. Tampering attempts return 409 Conflict and write a tampering-attempt audit row themselves."</a:t>
            </a:r>
          </a:p>
          <a:p>
            <a:r>
              <a:rPr dirty="0"/>
              <a:t>- "Open Policy Agent / Rego enforces the rules: </a:t>
            </a:r>
            <a:r>
              <a:rPr dirty="0" err="1"/>
              <a:t>au_region</a:t>
            </a:r>
            <a:r>
              <a:rPr dirty="0"/>
              <a:t>, </a:t>
            </a:r>
            <a:r>
              <a:rPr dirty="0" err="1"/>
              <a:t>cross_env</a:t>
            </a:r>
            <a:r>
              <a:rPr dirty="0"/>
              <a:t>, </a:t>
            </a:r>
            <a:r>
              <a:rPr dirty="0" err="1"/>
              <a:t>identity_consistency</a:t>
            </a:r>
            <a:r>
              <a:rPr dirty="0"/>
              <a:t>, posture, </a:t>
            </a:r>
            <a:r>
              <a:rPr dirty="0" err="1"/>
              <a:t>secret_hygiene</a:t>
            </a:r>
            <a:r>
              <a:rPr dirty="0"/>
              <a:t>, safety-guardrails, tenant-isolation. Every PR runs the same bundle CI runs."</a:t>
            </a:r>
          </a:p>
          <a:p>
            <a:r>
              <a:rPr dirty="0"/>
              <a:t>- "The Governance Dashboard is a first-class UI surface </a:t>
            </a:r>
            <a:r>
              <a:rPr lang="en-AU" dirty="0"/>
              <a:t>-</a:t>
            </a:r>
            <a:r>
              <a:rPr dirty="0"/>
              <a:t> 13 endpoints documented in spec 021. It is the same dashboard a regulator would use; we did not build a separate compliance theatre."</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KEY MESSAGE: The hardest non-technical constraints are encoded in the platform, not the policy doc.</a:t>
            </a:r>
          </a:p>
          <a:p>
            <a:endParaRPr dirty="0"/>
          </a:p>
          <a:p>
            <a:r>
              <a:rPr dirty="0"/>
              <a:t>TALK TRACK (75s):</a:t>
            </a:r>
          </a:p>
          <a:p>
            <a:r>
              <a:rPr dirty="0"/>
              <a:t>- "Cultural authority gets a sector agent because it deserves one. Indigenous Relations is on the org chart of every level-2+ incident."</a:t>
            </a:r>
          </a:p>
          <a:p>
            <a:r>
              <a:rPr dirty="0"/>
              <a:t>- "Vulnerable population priority is *pre-processing*. The evacuation routing </a:t>
            </a:r>
            <a:r>
              <a:rPr dirty="0" err="1"/>
              <a:t>optimisation</a:t>
            </a:r>
            <a:r>
              <a:rPr dirty="0"/>
              <a:t> has a hard constraint that the most-at-risk are reached first. Not a tie-breaker </a:t>
            </a:r>
            <a:r>
              <a:rPr lang="en-AU" dirty="0"/>
              <a:t>-</a:t>
            </a:r>
            <a:r>
              <a:rPr dirty="0"/>
              <a:t> a constraint."</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KEY MESSAGE: We name the risks, name the choices, and live with the trade-offs publicly.</a:t>
            </a:r>
          </a:p>
          <a:p>
            <a:endParaRPr dirty="0"/>
          </a:p>
          <a:p>
            <a:r>
              <a:rPr dirty="0"/>
              <a:t>TALK TRACK (75s):</a:t>
            </a:r>
          </a:p>
          <a:p>
            <a:r>
              <a:rPr dirty="0"/>
              <a:t>- "Three risks. Three trade-offs. No hand-waving."</a:t>
            </a:r>
          </a:p>
          <a:p>
            <a:r>
              <a:rPr dirty="0"/>
              <a:t>- "Model risk is the one C-level audiences ask about hardest. The answer is layered: ground every claim, critique every recommendation, fallback to template, require a named human. Belt, braces, and a third belt."</a:t>
            </a:r>
          </a:p>
          <a:p>
            <a:r>
              <a:rPr dirty="0"/>
              <a:t>- "Adoption risk is real. We are deliberately a peer, not a hub. Read-only ingest from any agency on day one; deeper integration earned over time."</a:t>
            </a:r>
          </a:p>
          <a:p>
            <a:r>
              <a:rPr dirty="0"/>
              <a:t>- "Sovereignty: the Foundry carve-out is the smallest exception we could engineer. Documented, auditable, auto-revoking."</a:t>
            </a:r>
          </a:p>
          <a:p>
            <a:endParaRPr dirty="0"/>
          </a:p>
          <a:p>
            <a:r>
              <a:rPr dirty="0"/>
              <a:t>ANTICIPATED Q&amp;A:</a:t>
            </a:r>
          </a:p>
          <a:p>
            <a:r>
              <a:rPr dirty="0"/>
              <a:t>- "Will agencies trust this?" </a:t>
            </a:r>
            <a:r>
              <a:rPr lang="en-AU" dirty="0"/>
              <a:t>-</a:t>
            </a:r>
            <a:r>
              <a:rPr dirty="0"/>
              <a:t> Trust is a function of evidence; the harness *is* the evidence.</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KEY MESSAGE: We did not pick five round numbers. We picked five Sendai-aligned, industry-benchmarked metrics </a:t>
            </a:r>
            <a:r>
              <a:rPr lang="en-AU" dirty="0"/>
              <a:t>-</a:t>
            </a:r>
            <a:r>
              <a:rPr dirty="0"/>
              <a:t> and we built a harness to *measure* them.</a:t>
            </a:r>
          </a:p>
          <a:p>
            <a:endParaRPr dirty="0"/>
          </a:p>
          <a:p>
            <a:r>
              <a:rPr dirty="0"/>
              <a:t>TALK TRACK (90s):</a:t>
            </a:r>
          </a:p>
          <a:p>
            <a:r>
              <a:rPr dirty="0"/>
              <a:t>- "Spec 040 </a:t>
            </a:r>
            <a:r>
              <a:rPr lang="en-AU" dirty="0"/>
              <a:t>-</a:t>
            </a:r>
            <a:r>
              <a:rPr dirty="0"/>
              <a:t> Measurable Success-Criteria Evidence Harness </a:t>
            </a:r>
            <a:r>
              <a:rPr lang="en-AU" dirty="0"/>
              <a:t>-</a:t>
            </a:r>
            <a:r>
              <a:rPr dirty="0"/>
              <a:t> is our answer to the hardest question we get: 'how do you know'? It is built around six pillars: KPI modelling, measurement framework, simulation logic, expected-impact reasoning, benchmark comparisons, instrumentation design."</a:t>
            </a:r>
          </a:p>
          <a:p>
            <a:r>
              <a:rPr dirty="0"/>
              <a:t>- "Every KPI has nine attributes: formula, unit, owner role, refresh cadence, target value, alert threshold, baseline source, provenance, and confidence-band rule. Bootstrap 95% CI by default, ±1 SD fallback for small samples."</a:t>
            </a:r>
          </a:p>
          <a:p>
            <a:r>
              <a:rPr dirty="0"/>
              <a:t>- "These are the same KPIs we will publish on day-1 in production. No private dashboards."</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KEY MESSAGE: The cost ladder is honest, modest, and orders of magnitude below the loss avoidance.</a:t>
            </a:r>
          </a:p>
          <a:p>
            <a:endParaRPr/>
          </a:p>
          <a:p>
            <a:r>
              <a:t>TALK TRACK (75s):</a:t>
            </a:r>
          </a:p>
          <a:p>
            <a:r>
              <a:t>- "Three cost rungs: pilot, state, national. Real Azure pricing as of May 2026, AUD."</a:t>
            </a:r>
          </a:p>
          <a:p>
            <a:r>
              <a:t>- "The number nobody asks but everybody should: the cost of *one* level-3 bushfire averages $850M in direct loss. The platform pays for itself with one prevented escalation."</a:t>
            </a:r>
          </a:p>
          <a:p>
            <a:r>
              <a:t>- "We expose cost telemetry per agent, per scenario, per language channel. FinOps owners get a workspace, not a spreadsheet."</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KEY MESSAGE: 90 days to a defensible pilot. 12 months to a state-level production. 24 months to national reach.</a:t>
            </a:r>
          </a:p>
          <a:p>
            <a:endParaRPr dirty="0"/>
          </a:p>
          <a:p>
            <a:r>
              <a:rPr dirty="0"/>
              <a:t>TALK TRACK (90s):</a:t>
            </a:r>
          </a:p>
          <a:p>
            <a:r>
              <a:rPr dirty="0"/>
              <a:t>- "Phase 1 (weeks 1-12): single state, single hazard, simulation-only. Validates the harness against historical Black Summer data. No live alerts."</a:t>
            </a:r>
          </a:p>
          <a:p>
            <a:r>
              <a:rPr dirty="0"/>
              <a:t>- "Phase 2 (months 4-9): controlled live integration with one state service in shadow mode. AMA recommendations alongside human-only decisions; we measure the delta but do not act on AMA output."</a:t>
            </a:r>
          </a:p>
          <a:p>
            <a:r>
              <a:rPr dirty="0"/>
              <a:t>- "Phase 3 (months 10-12): named-incident live operations under an approved Memorandum of Understanding. Human-in-the-loop is non-negotiable."</a:t>
            </a:r>
          </a:p>
          <a:p>
            <a:r>
              <a:rPr dirty="0"/>
              <a:t>- "Phase 4 (year 2): cross-jurisdiction expansion, NEMA/NJCOP integration, reference architecture published as an Australian Government Architecture pattern."</a:t>
            </a:r>
          </a:p>
          <a:p>
            <a:r>
              <a:rPr dirty="0"/>
              <a:t>- "Each phase has measurable exit criteria mapped to spec 040 KPIs."</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160F2-B631-B007-67B0-E7A49ACD18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9C7994-79EE-F484-C453-37C5FE6390F2}"/>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4CB1B97-801F-E3FC-6650-1E7B2BB9AD9B}"/>
              </a:ext>
            </a:extLst>
          </p:cNvPr>
          <p:cNvSpPr>
            <a:spLocks noGrp="1"/>
          </p:cNvSpPr>
          <p:nvPr>
            <p:ph type="body" sz="quarter" idx="3"/>
          </p:nvPr>
        </p:nvSpPr>
        <p:spPr/>
        <p:txBody>
          <a:bodyPr/>
          <a:lstStyle/>
          <a:p>
            <a:r>
              <a:rPr dirty="0"/>
              <a:t>KEY MESSAGE: 90 days to a defensible pilot. 12 months to a state-level production. 24 months to national reach.</a:t>
            </a:r>
          </a:p>
          <a:p>
            <a:endParaRPr dirty="0"/>
          </a:p>
          <a:p>
            <a:r>
              <a:rPr dirty="0"/>
              <a:t>TALK TRACK (90s):</a:t>
            </a:r>
          </a:p>
          <a:p>
            <a:r>
              <a:rPr dirty="0"/>
              <a:t>- "Phase 1 (weeks 1-12): single state, single hazard, simulation-only. Validates the harness against historical Black Summer data. No live alerts."</a:t>
            </a:r>
          </a:p>
          <a:p>
            <a:r>
              <a:rPr dirty="0"/>
              <a:t>- "Phase 2 (months 4-9): controlled live integration with one state service in shadow mode. AMA recommendations alongside human-only decisions; we measure the delta but do not act on AMA output."</a:t>
            </a:r>
          </a:p>
          <a:p>
            <a:r>
              <a:rPr dirty="0"/>
              <a:t>- "Phase 3 (months 10-12): named-incident live operations under an approved Memorandum of Understanding. Human-in-the-loop is non-negotiable."</a:t>
            </a:r>
          </a:p>
          <a:p>
            <a:r>
              <a:rPr dirty="0"/>
              <a:t>- "Phase 4 (year 2): cross-jurisdiction expansion, NEMA/NJCOP integration, reference architecture published as an Australian Government Architecture pattern."</a:t>
            </a:r>
          </a:p>
          <a:p>
            <a:r>
              <a:rPr dirty="0"/>
              <a:t>- "Each phase has measurable exit criteria mapped to spec 040 KPIs."</a:t>
            </a:r>
          </a:p>
        </p:txBody>
      </p:sp>
      <p:sp>
        <p:nvSpPr>
          <p:cNvPr id="4" name="Slide Number Placeholder 3">
            <a:extLst>
              <a:ext uri="{FF2B5EF4-FFF2-40B4-BE49-F238E27FC236}">
                <a16:creationId xmlns:a16="http://schemas.microsoft.com/office/drawing/2014/main" id="{56765A07-FCEA-66EB-0483-7835E15F2D23}"/>
              </a:ext>
            </a:extLst>
          </p:cNvPr>
          <p:cNvSpPr>
            <a:spLocks noGrp="1"/>
          </p:cNvSpPr>
          <p:nvPr>
            <p:ph type="sldNum" sz="quarter" idx="5"/>
          </p:nvPr>
        </p:nvSpPr>
        <p:spPr/>
      </p:sp>
    </p:spTree>
    <p:extLst>
      <p:ext uri="{BB962C8B-B14F-4D97-AF65-F5344CB8AC3E}">
        <p14:creationId xmlns:p14="http://schemas.microsoft.com/office/powerpoint/2010/main" val="48817966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KEY MESSAGE: The ask is small, defensible, and lands inside any state's existing innovation envelope.</a:t>
            </a:r>
          </a:p>
          <a:p>
            <a:endParaRPr/>
          </a:p>
          <a:p>
            <a:r>
              <a:t>TALK TRACK (60s):</a:t>
            </a:r>
          </a:p>
          <a:p>
            <a:r>
              <a:t>- "I am not asking for a budget or a contract today. I am asking for a 90-day shadow-mode pilot."</a:t>
            </a:r>
          </a:p>
          <a:p>
            <a:r>
              <a:t>- "Shadow mode means we observe and we score; we do not touch a live decision. The downside is bounded by definition. The upside is a defensible outcome scorecard."</a:t>
            </a:r>
          </a:p>
          <a:p>
            <a:r>
              <a:t>- "If the answer is yes, the integration spike-plan is on a single page in the appendix. If the answer is 'tell me more first', I'll be in this room for the next twenty minutes."</a:t>
            </a:r>
          </a:p>
          <a:p>
            <a:endParaRPr/>
          </a:p>
          <a:p>
            <a:r>
              <a:t>PAUSE before transitioning to Q&amp;A.</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KEY MESSAGE: These KPIs are not aspirational dashboards. They are SLOs with burn-rate alerts and named owners.</a:t>
            </a:r>
          </a:p>
          <a:p>
            <a:endParaRPr dirty="0"/>
          </a:p>
          <a:p>
            <a:r>
              <a:rPr dirty="0"/>
              <a:t>TALK TRACK (60s):</a:t>
            </a:r>
          </a:p>
          <a:p>
            <a:r>
              <a:rPr dirty="0"/>
              <a:t>- "Three families of KPIs. Operational SLOs measure the platform. Capstone KPIs measure the outcome. Governance KPIs measure the discipline."</a:t>
            </a:r>
          </a:p>
          <a:p>
            <a:r>
              <a:rPr dirty="0"/>
              <a:t>- "Burn-rate alerts at 2% and 5% per hour against a 30-day SLO horizon </a:t>
            </a:r>
            <a:r>
              <a:rPr lang="en-AU" dirty="0"/>
              <a:t>-</a:t>
            </a:r>
            <a:r>
              <a:rPr dirty="0"/>
              <a:t> Google SRE Workbook fast-burn convention. Sev1 pages a human; Sev2 raises a ticket."</a:t>
            </a:r>
            <a:endParaRPr lang="en-AU" dirty="0"/>
          </a:p>
          <a:p>
            <a:endParaRPr lang="en-AU" dirty="0"/>
          </a:p>
          <a:p>
            <a:endParaRPr lang="en-AU" dirty="0"/>
          </a:p>
          <a:p>
            <a:endParaRPr lang="en-AU" dirty="0"/>
          </a:p>
          <a:p>
            <a:endParaRPr lang="en-AU" dirty="0"/>
          </a:p>
          <a:p>
            <a:r>
              <a:rPr lang="en-AU" noProof="0" dirty="0"/>
              <a:t>Governance KPIs:</a:t>
            </a:r>
          </a:p>
          <a:p>
            <a:r>
              <a:rPr lang="en-AU" noProof="0" dirty="0"/>
              <a:t>  • Manual-row share per artefact ≤50% (publication blocked above)</a:t>
            </a:r>
          </a:p>
          <a:p>
            <a:r>
              <a:rPr lang="en-AU" noProof="0" dirty="0"/>
              <a:t>  • Tampering-attempt rate (target zero, surfaced as audit row)</a:t>
            </a:r>
          </a:p>
          <a:p>
            <a:r>
              <a:rPr lang="en-AU" noProof="0" dirty="0"/>
              <a:t>  • Carve-out review cadence (auto-revoke on AU GA)</a:t>
            </a:r>
          </a:p>
          <a:p>
            <a:endParaRPr lang="en-AU" dirty="0"/>
          </a:p>
          <a:p>
            <a:endParaRPr lang="en-AU"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KEY MESSAGE: We did not just build the thing. We built it the right way, and that is reusable.</a:t>
            </a:r>
          </a:p>
          <a:p>
            <a:endParaRPr/>
          </a:p>
          <a:p>
            <a:r>
              <a:t>TALK TRACK (75s):</a:t>
            </a:r>
          </a:p>
          <a:p>
            <a:r>
              <a:t>- "Three lessons. Spec-first. Multi-agent is a discipline. Governance ships with the product."</a:t>
            </a:r>
          </a:p>
          <a:p>
            <a:r>
              <a:t>- "If you take one architectural pattern home, take this: write the constitution before you write the code. It is the cheapest leverage you will ever buy."</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KEY MESSAGE: Built for Australia first. Designed to be the regional reference architecture next.</a:t>
            </a:r>
          </a:p>
          <a:p>
            <a:endParaRPr dirty="0"/>
          </a:p>
          <a:p>
            <a:r>
              <a:rPr dirty="0"/>
              <a:t>TALK TRACK (60s):</a:t>
            </a:r>
          </a:p>
          <a:p>
            <a:r>
              <a:rPr dirty="0"/>
              <a:t>- "We do not promise portability without doing the work. The portfolio carries a metric-trace artefact (specs/shared/capstone-metric-trace.md) that names every AU-only assumption and what would change for a Pacific or NZ deployment."</a:t>
            </a:r>
          </a:p>
          <a:p>
            <a:r>
              <a:rPr dirty="0"/>
              <a:t>- "This is how an Australian platform becomes a regional asset </a:t>
            </a:r>
            <a:r>
              <a:rPr lang="en-AU" dirty="0"/>
              <a:t>-</a:t>
            </a:r>
            <a:r>
              <a:rPr dirty="0"/>
              <a:t> not by exporting code, but by exporting a *pattern*."</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Reference detail for FinOps Q&amp;A. </a:t>
            </a:r>
            <a:r>
              <a:rPr lang="en-GB" dirty="0"/>
              <a:t>Indicative cost ladder — to be validated via Azure Pricing Calculator before pilot </a:t>
            </a:r>
            <a:r>
              <a:rPr lang="en-GB" dirty="0" err="1"/>
              <a:t>kickof</a:t>
            </a:r>
            <a:endParaRPr lang="en-GB" dirty="0"/>
          </a:p>
          <a:p>
            <a:r>
              <a:rPr dirty="0"/>
              <a:t>Confidence band on pilot estimate: ±15%. </a:t>
            </a:r>
            <a:endParaRPr lang="en-AU" dirty="0"/>
          </a:p>
          <a:p>
            <a:endParaRPr lang="en-AU" dirty="0"/>
          </a:p>
          <a:p>
            <a:r>
              <a:rPr lang="en-AU" sz="900" noProof="0" dirty="0"/>
              <a:t>Sensitivity: ACS message volume is the single largest variable at scale. Targeted warnings (jurisdiction-bounded) cut alert spend by ~40% vs broadcast SMS. Per-incident cost dominated by ACS, not by AI inference.</a:t>
            </a:r>
          </a:p>
          <a:p>
            <a:r>
              <a:rPr lang="en-AU" sz="900" noProof="0" dirty="0"/>
              <a:t>ROI scenario (illustrative): one prevented level-3 escalation in a year of operation = ~$850M direct loss avoidance vs ~$2.6M annualised </a:t>
            </a:r>
            <a:r>
              <a:rPr lang="en-AU" sz="900" noProof="0" dirty="0" err="1"/>
              <a:t>pilot+state</a:t>
            </a:r>
            <a:r>
              <a:rPr lang="en-AU" sz="900" noProof="0" dirty="0"/>
              <a:t> operating cost.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KEY MESSAGE: Open the floor. Welcome the panel. Listen.</a:t>
            </a:r>
          </a:p>
          <a:p>
            <a:endParaRPr dirty="0"/>
          </a:p>
          <a:p>
            <a:r>
              <a:rPr dirty="0"/>
              <a:t>TALK TRACK (15s):</a:t>
            </a:r>
          </a:p>
          <a:p>
            <a:r>
              <a:rPr dirty="0"/>
              <a:t>- "Thank you. We have twenty minutes. I'd like to take questions in three buckets </a:t>
            </a:r>
            <a:r>
              <a:rPr lang="en-AU" dirty="0"/>
              <a:t>-</a:t>
            </a:r>
            <a:r>
              <a:rPr dirty="0"/>
              <a:t> strategic, technical, governance </a:t>
            </a:r>
            <a:r>
              <a:rPr lang="en-AU" dirty="0"/>
              <a:t>-</a:t>
            </a:r>
            <a:r>
              <a:rPr dirty="0"/>
              <a:t> but jump in any order."</a:t>
            </a:r>
          </a:p>
          <a:p>
            <a:endParaRPr dirty="0"/>
          </a:p>
          <a:p>
            <a:r>
              <a:rPr dirty="0"/>
              <a:t>PANEL TIPS:</a:t>
            </a:r>
          </a:p>
          <a:p>
            <a:r>
              <a:rPr dirty="0"/>
              <a:t>- Repeat each question for the room before answering.</a:t>
            </a:r>
          </a:p>
          <a:p>
            <a:r>
              <a:rPr dirty="0"/>
              <a:t>- For executive questions, anchor in the five capstone KPIs.</a:t>
            </a:r>
          </a:p>
          <a:p>
            <a:r>
              <a:rPr dirty="0"/>
              <a:t>- For technical questions, anchor in the architecture diagrams; don't be afraid to flip back.</a:t>
            </a:r>
          </a:p>
          <a:p>
            <a:r>
              <a:rPr dirty="0"/>
              <a:t>- For governance questions, anchor in the Constitution and the carve-out list.</a:t>
            </a:r>
          </a:p>
          <a:p>
            <a:r>
              <a:rPr dirty="0"/>
              <a:t>- It is fine to say "I don't know </a:t>
            </a:r>
            <a:r>
              <a:rPr lang="en-AU" dirty="0"/>
              <a:t>-</a:t>
            </a:r>
            <a:r>
              <a:rPr dirty="0"/>
              <a:t> let me come back to you with the audit row."</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Reference material to support Q&amp;A. Not part of the 40-minute walkthrough.</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End-to-end agent handoff sequence with reflection guardrail. Reference for technical Q&amp;A on agent orchestration.</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Demonstrates constitutional non-negotiable #5 in action. Reference for resilience and SRE questions.</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End-to-end traceability from any output back to source signals and approvals. Reference for compliance/regulator questions.</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Branch-based dev/staging/prod (per spec 031). </a:t>
            </a:r>
            <a:r>
              <a:rPr lang="en-AU" sz="882" b="1" i="0" kern="1200" dirty="0">
                <a:solidFill>
                  <a:schemeClr val="tx1"/>
                </a:solidFill>
                <a:effectLst/>
                <a:latin typeface="Segoe UI" panose="020B0502040204020203" pitchFamily="34" charset="0"/>
                <a:ea typeface="+mn-ea"/>
                <a:cs typeface="+mn-cs"/>
              </a:rPr>
              <a:t>531 test files: 173 unit, 156 contract, 134 integration, 25 simulation, 10 </a:t>
            </a:r>
            <a:r>
              <a:rPr lang="en-AU" sz="882" b="1" i="0" kern="1200" dirty="0" err="1">
                <a:solidFill>
                  <a:schemeClr val="tx1"/>
                </a:solidFill>
                <a:effectLst/>
                <a:latin typeface="Segoe UI" panose="020B0502040204020203" pitchFamily="34" charset="0"/>
                <a:ea typeface="+mn-ea"/>
                <a:cs typeface="+mn-cs"/>
              </a:rPr>
              <a:t>devops</a:t>
            </a:r>
            <a:r>
              <a:rPr lang="en-AU" sz="882" b="1" i="0" kern="1200" dirty="0">
                <a:solidFill>
                  <a:schemeClr val="tx1"/>
                </a:solidFill>
                <a:effectLst/>
                <a:latin typeface="Segoe UI" panose="020B0502040204020203" pitchFamily="34" charset="0"/>
                <a:ea typeface="+mn-ea"/>
                <a:cs typeface="+mn-cs"/>
              </a:rPr>
              <a:t>, 6 benchmark, 5 e2e, 2 load</a:t>
            </a:r>
            <a:r>
              <a:rPr lang="en-AU" sz="882" b="0" i="0" kern="1200" dirty="0">
                <a:solidFill>
                  <a:schemeClr val="tx1"/>
                </a:solidFill>
                <a:effectLst/>
                <a:latin typeface="Segoe UI" panose="020B0502040204020203" pitchFamily="34" charset="0"/>
                <a:ea typeface="+mn-ea"/>
                <a:cs typeface="+mn-cs"/>
              </a:rPr>
              <a:t> (workspace at deck-build time). Branch-based dev/staging/prod per spec 031.</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Prevention, Preparedness, Response, Recovery overlap by design. Escalation is by AIIMS authority and named successor; no escalation without an audit row.</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KEY MESSAGE: Every claim in this deck is reproducible by anyone with the repo and a deterministic seed.</a:t>
            </a:r>
          </a:p>
          <a:p>
            <a:endParaRPr dirty="0"/>
          </a:p>
          <a:p>
            <a:r>
              <a:rPr dirty="0"/>
              <a:t>TALK TRACK (75s):</a:t>
            </a:r>
          </a:p>
          <a:p>
            <a:r>
              <a:rPr dirty="0"/>
              <a:t>- "Seven canonical scenarios: bushfire, flood, cyclone, urban-fire, mass-casualty, hazmat, marine SAR. Two modes per scenario: baseline (no AMA) and AMA-assisted. Same seed, same population, same incident sequence."</a:t>
            </a:r>
          </a:p>
          <a:p>
            <a:r>
              <a:rPr dirty="0"/>
              <a:t>- "The harness produces a per-KPI delta scorecard with bootstrap 95% CI. Re-runs reproduce within ±2% / ±1 absolute </a:t>
            </a:r>
            <a:r>
              <a:rPr lang="en-AU" dirty="0"/>
              <a:t>-</a:t>
            </a:r>
            <a:r>
              <a:rPr dirty="0"/>
              <a:t> that is the determinism floor."</a:t>
            </a:r>
          </a:p>
          <a:p>
            <a:r>
              <a:rPr dirty="0"/>
              <a:t>- "Sim warp playback (spec 026) lets an auditor step through the same run later. Time-travel debugging for compliance."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8DC8E8"/>
        </a:solidFill>
        <a:effectLst/>
      </p:bgPr>
    </p:bg>
    <p:spTree>
      <p:nvGrpSpPr>
        <p:cNvPr id="1" name=""/>
        <p:cNvGrpSpPr/>
        <p:nvPr/>
      </p:nvGrpSpPr>
      <p:grpSpPr>
        <a:xfrm>
          <a:off x="0" y="0"/>
          <a:ext cx="0" cy="0"/>
          <a:chOff x="0" y="0"/>
          <a:chExt cx="0" cy="0"/>
        </a:xfrm>
      </p:grpSpPr>
      <p:pic>
        <p:nvPicPr>
          <p:cNvPr id="3" name="Picture 2" descr="A blue and purple gradient&#10;&#10;AI-generated content may be incorrect.">
            <a:extLst>
              <a:ext uri="{FF2B5EF4-FFF2-40B4-BE49-F238E27FC236}">
                <a16:creationId xmlns:a16="http://schemas.microsoft.com/office/drawing/2014/main" id="{9D34C299-A8B5-1F05-90DB-A9EC230E988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6" name="Rectangle 35">
            <a:extLst>
              <a:ext uri="{FF2B5EF4-FFF2-40B4-BE49-F238E27FC236}">
                <a16:creationId xmlns:a16="http://schemas.microsoft.com/office/drawing/2014/main" id="{3C3578EB-E88C-BC63-2EB9-EBEC98F2D201}"/>
              </a:ext>
            </a:extLst>
          </p:cNvPr>
          <p:cNvSpPr/>
          <p:nvPr userDrawn="1"/>
        </p:nvSpPr>
        <p:spPr bwMode="auto">
          <a:xfrm>
            <a:off x="0" y="1174750"/>
            <a:ext cx="9207500" cy="4508500"/>
          </a:xfrm>
          <a:prstGeom prst="rect">
            <a:avLst/>
          </a:prstGeom>
          <a:gradFill flip="none" rotWithShape="1">
            <a:gsLst>
              <a:gs pos="0">
                <a:schemeClr val="tx1">
                  <a:alpha val="14000"/>
                </a:schemeClr>
              </a:gs>
              <a:gs pos="100000">
                <a:schemeClr val="tx1">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pic>
        <p:nvPicPr>
          <p:cNvPr id="33" name="Picture 32" descr="A silver shield with text and stars&#10;&#10;AI-generated content may be incorrect.">
            <a:extLst>
              <a:ext uri="{FF2B5EF4-FFF2-40B4-BE49-F238E27FC236}">
                <a16:creationId xmlns:a16="http://schemas.microsoft.com/office/drawing/2014/main" id="{7DE39951-E22A-4E5D-3F1B-FC4A3162C280}"/>
              </a:ext>
            </a:extLst>
          </p:cNvPr>
          <p:cNvPicPr>
            <a:picLocks noChangeAspect="1"/>
          </p:cNvPicPr>
          <p:nvPr userDrawn="1"/>
        </p:nvPicPr>
        <p:blipFill>
          <a:blip r:embed="rId3"/>
          <a:srcRect l="3844" t="2514" r="4223" b="5918"/>
          <a:stretch>
            <a:fillRect/>
          </a:stretch>
        </p:blipFill>
        <p:spPr>
          <a:xfrm>
            <a:off x="7323544" y="1295400"/>
            <a:ext cx="4284256" cy="4267200"/>
          </a:xfrm>
          <a:prstGeom prst="rect">
            <a:avLst/>
          </a:prstGeom>
          <a:effectLst>
            <a:outerShdw blurRad="762000" sx="118000" sy="118000" algn="ctr" rotWithShape="0">
              <a:schemeClr val="tx1">
                <a:alpha val="7000"/>
              </a:schemeClr>
            </a:outerShdw>
          </a:effectLst>
        </p:spPr>
      </p:pic>
      <p:sp>
        <p:nvSpPr>
          <p:cNvPr id="6" name="Title 1">
            <a:extLst>
              <a:ext uri="{FF2B5EF4-FFF2-40B4-BE49-F238E27FC236}">
                <a16:creationId xmlns:a16="http://schemas.microsoft.com/office/drawing/2014/main" id="{BBD38F5B-5B2A-C576-8754-00FAD284AFE1}"/>
              </a:ext>
            </a:extLst>
          </p:cNvPr>
          <p:cNvSpPr>
            <a:spLocks noGrp="1"/>
          </p:cNvSpPr>
          <p:nvPr>
            <p:ph type="title"/>
          </p:nvPr>
        </p:nvSpPr>
        <p:spPr>
          <a:xfrm>
            <a:off x="584200" y="2044005"/>
            <a:ext cx="5854700" cy="2769989"/>
          </a:xfrm>
        </p:spPr>
        <p:txBody>
          <a:bodyPr anchor="ctr">
            <a:noAutofit/>
          </a:bodyPr>
          <a:lstStyle>
            <a:lvl1pPr>
              <a:defRPr sz="6000"/>
            </a:lvl1pPr>
          </a:lstStyle>
          <a:p>
            <a:r>
              <a:rPr lang="en-US"/>
              <a:t>Click to edit Master title style</a:t>
            </a:r>
          </a:p>
        </p:txBody>
      </p:sp>
      <p:pic>
        <p:nvPicPr>
          <p:cNvPr id="2" name="Picture 1" descr="A logo on a black background&#10;&#10;AI-generated content may be incorrect.">
            <a:extLst>
              <a:ext uri="{FF2B5EF4-FFF2-40B4-BE49-F238E27FC236}">
                <a16:creationId xmlns:a16="http://schemas.microsoft.com/office/drawing/2014/main" id="{E030E9E4-7722-AAB3-6537-4D3C17CA7C7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81353" y="290130"/>
            <a:ext cx="1972133" cy="883924"/>
          </a:xfrm>
          <a:prstGeom prst="rect">
            <a:avLst/>
          </a:prstGeom>
        </p:spPr>
      </p:pic>
    </p:spTree>
    <p:extLst>
      <p:ext uri="{BB962C8B-B14F-4D97-AF65-F5344CB8AC3E}">
        <p14:creationId xmlns:p14="http://schemas.microsoft.com/office/powerpoint/2010/main" val="362404332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84" userDrawn="1">
          <p15:clr>
            <a:srgbClr val="FBAE40"/>
          </p15:clr>
        </p15:guide>
        <p15:guide id="2" pos="6127">
          <p15:clr>
            <a:srgbClr val="5ACBF0"/>
          </p15:clr>
        </p15:guide>
        <p15:guide id="3" orient="horz" pos="1911">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492443"/>
          </a:xfrm>
        </p:spPr>
        <p:txBody>
          <a:bodyPr/>
          <a:lstStyle>
            <a:lvl1pPr>
              <a:defRPr sz="3200"/>
            </a:lvl1pPr>
          </a:lstStyle>
          <a:p>
            <a:r>
              <a:rPr lang="en-US"/>
              <a:t>Click to edit Master title style</a:t>
            </a:r>
          </a:p>
        </p:txBody>
      </p:sp>
      <p:pic>
        <p:nvPicPr>
          <p:cNvPr id="36" name="Picture 35" descr="A silver shield with text and stars&#10;&#10;AI-generated content may be incorrect.">
            <a:extLst>
              <a:ext uri="{FF2B5EF4-FFF2-40B4-BE49-F238E27FC236}">
                <a16:creationId xmlns:a16="http://schemas.microsoft.com/office/drawing/2014/main" id="{74FF1801-287D-2733-9928-4E90A7D39335}"/>
              </a:ext>
            </a:extLst>
          </p:cNvPr>
          <p:cNvPicPr>
            <a:picLocks noChangeAspect="1"/>
          </p:cNvPicPr>
          <p:nvPr userDrawn="1"/>
        </p:nvPicPr>
        <p:blipFill>
          <a:blip r:embed="rId2">
            <a:alphaModFix/>
          </a:blip>
          <a:srcRect l="3844" t="2514" r="4223" b="5918"/>
          <a:stretch>
            <a:fillRect/>
          </a:stretch>
        </p:blipFill>
        <p:spPr>
          <a:xfrm>
            <a:off x="11385550" y="288925"/>
            <a:ext cx="512761" cy="510720"/>
          </a:xfrm>
          <a:prstGeom prst="rect">
            <a:avLst/>
          </a:prstGeom>
          <a:effectLst/>
        </p:spPr>
      </p:pic>
    </p:spTree>
    <p:extLst>
      <p:ext uri="{BB962C8B-B14F-4D97-AF65-F5344CB8AC3E}">
        <p14:creationId xmlns:p14="http://schemas.microsoft.com/office/powerpoint/2010/main" val="346564987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36" name="Picture 35" descr="A silver shield with text and stars&#10;&#10;AI-generated content may be incorrect.">
            <a:extLst>
              <a:ext uri="{FF2B5EF4-FFF2-40B4-BE49-F238E27FC236}">
                <a16:creationId xmlns:a16="http://schemas.microsoft.com/office/drawing/2014/main" id="{74FF1801-287D-2733-9928-4E90A7D39335}"/>
              </a:ext>
            </a:extLst>
          </p:cNvPr>
          <p:cNvPicPr>
            <a:picLocks noChangeAspect="1"/>
          </p:cNvPicPr>
          <p:nvPr userDrawn="1"/>
        </p:nvPicPr>
        <p:blipFill>
          <a:blip r:embed="rId2">
            <a:alphaModFix/>
          </a:blip>
          <a:srcRect l="3844" t="2514" r="4223" b="5918"/>
          <a:stretch>
            <a:fillRect/>
          </a:stretch>
        </p:blipFill>
        <p:spPr>
          <a:xfrm>
            <a:off x="11385550" y="288925"/>
            <a:ext cx="512761" cy="510720"/>
          </a:xfrm>
          <a:prstGeom prst="rect">
            <a:avLst/>
          </a:prstGeom>
          <a:effectLst/>
        </p:spPr>
      </p:pic>
      <p:sp>
        <p:nvSpPr>
          <p:cNvPr id="12" name="Title 3">
            <a:extLst>
              <a:ext uri="{FF2B5EF4-FFF2-40B4-BE49-F238E27FC236}">
                <a16:creationId xmlns:a16="http://schemas.microsoft.com/office/drawing/2014/main" id="{629B222F-D5BC-3163-C07E-28EB281CFAE1}"/>
              </a:ext>
            </a:extLst>
          </p:cNvPr>
          <p:cNvSpPr txBox="1">
            <a:spLocks/>
          </p:cNvSpPr>
          <p:nvPr userDrawn="1"/>
        </p:nvSpPr>
        <p:spPr>
          <a:xfrm>
            <a:off x="1" y="0"/>
            <a:ext cx="1828800" cy="6822179"/>
          </a:xfrm>
          <a:prstGeom prst="rect">
            <a:avLst/>
          </a:prstGeom>
          <a:gradFill flip="none" rotWithShape="1">
            <a:gsLst>
              <a:gs pos="0">
                <a:srgbClr val="8449A9"/>
              </a:gs>
              <a:gs pos="100000">
                <a:srgbClr val="0538BB"/>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vl1pPr defTabSz="932472" fontAlgn="base">
              <a:spcBef>
                <a:spcPct val="0"/>
              </a:spcBef>
              <a:spcAft>
                <a:spcPct val="0"/>
              </a:spcAft>
              <a:defRPr sz="2000">
                <a:solidFill>
                  <a:schemeClr val="bg1"/>
                </a:solidFill>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en-US"/>
          </a:p>
        </p:txBody>
      </p:sp>
      <p:cxnSp>
        <p:nvCxnSpPr>
          <p:cNvPr id="26" name="Straight Connector 25">
            <a:extLst>
              <a:ext uri="{FF2B5EF4-FFF2-40B4-BE49-F238E27FC236}">
                <a16:creationId xmlns:a16="http://schemas.microsoft.com/office/drawing/2014/main" id="{C324C607-9B6E-4620-DEB4-B8FE904A9AE1}"/>
              </a:ext>
            </a:extLst>
          </p:cNvPr>
          <p:cNvCxnSpPr/>
          <p:nvPr userDrawn="1"/>
        </p:nvCxnSpPr>
        <p:spPr>
          <a:xfrm>
            <a:off x="3362142" y="2416111"/>
            <a:ext cx="3529584" cy="0"/>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3E84D50-2045-E06F-7FA3-CBE874CA35A8}"/>
              </a:ext>
            </a:extLst>
          </p:cNvPr>
          <p:cNvCxnSpPr/>
          <p:nvPr userDrawn="1"/>
        </p:nvCxnSpPr>
        <p:spPr>
          <a:xfrm>
            <a:off x="3362142" y="3687762"/>
            <a:ext cx="3529584" cy="0"/>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3BE64CC-2DC9-A95A-C36C-FF452184C3F2}"/>
              </a:ext>
            </a:extLst>
          </p:cNvPr>
          <p:cNvCxnSpPr/>
          <p:nvPr userDrawn="1"/>
        </p:nvCxnSpPr>
        <p:spPr>
          <a:xfrm>
            <a:off x="3362142" y="4959413"/>
            <a:ext cx="3529584" cy="0"/>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D69C647-00FF-9272-2A14-434E60BBDBB4}"/>
              </a:ext>
            </a:extLst>
          </p:cNvPr>
          <p:cNvCxnSpPr/>
          <p:nvPr userDrawn="1"/>
        </p:nvCxnSpPr>
        <p:spPr>
          <a:xfrm>
            <a:off x="8077016" y="2416111"/>
            <a:ext cx="3529584" cy="0"/>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92CE8E4F-D935-36F7-B124-09578B33BD09}"/>
              </a:ext>
            </a:extLst>
          </p:cNvPr>
          <p:cNvCxnSpPr/>
          <p:nvPr userDrawn="1"/>
        </p:nvCxnSpPr>
        <p:spPr>
          <a:xfrm>
            <a:off x="8077016" y="3687762"/>
            <a:ext cx="3529584" cy="0"/>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0B0544D-5F71-0D69-81F1-F41CE9410351}"/>
              </a:ext>
            </a:extLst>
          </p:cNvPr>
          <p:cNvCxnSpPr/>
          <p:nvPr userDrawn="1"/>
        </p:nvCxnSpPr>
        <p:spPr>
          <a:xfrm>
            <a:off x="8077016" y="4959413"/>
            <a:ext cx="3529584" cy="0"/>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0AAD849-7CFE-4AF7-A7C5-6BBD50C88C1A}"/>
              </a:ext>
            </a:extLst>
          </p:cNvPr>
          <p:cNvSpPr>
            <a:spLocks noGrp="1"/>
          </p:cNvSpPr>
          <p:nvPr>
            <p:ph type="title" hasCustomPrompt="1"/>
          </p:nvPr>
        </p:nvSpPr>
        <p:spPr>
          <a:xfrm>
            <a:off x="298848" y="704850"/>
            <a:ext cx="1231106" cy="5412478"/>
          </a:xfrm>
        </p:spPr>
        <p:txBody>
          <a:bodyPr vert="vert270">
            <a:noAutofit/>
          </a:bodyPr>
          <a:lstStyle>
            <a:lvl1pPr algn="ctr">
              <a:defRPr sz="8000"/>
            </a:lvl1pPr>
          </a:lstStyle>
          <a:p>
            <a:r>
              <a:rPr lang="en-US"/>
              <a:t>AGENDA</a:t>
            </a:r>
          </a:p>
        </p:txBody>
      </p:sp>
      <p:sp>
        <p:nvSpPr>
          <p:cNvPr id="6" name="Text Placeholder 4">
            <a:extLst>
              <a:ext uri="{FF2B5EF4-FFF2-40B4-BE49-F238E27FC236}">
                <a16:creationId xmlns:a16="http://schemas.microsoft.com/office/drawing/2014/main" id="{BFCAA62A-D727-0272-C605-9B5EE79F92C7}"/>
              </a:ext>
            </a:extLst>
          </p:cNvPr>
          <p:cNvSpPr>
            <a:spLocks noGrp="1"/>
          </p:cNvSpPr>
          <p:nvPr>
            <p:ph type="body" sz="quarter" idx="10" hasCustomPrompt="1"/>
          </p:nvPr>
        </p:nvSpPr>
        <p:spPr>
          <a:xfrm>
            <a:off x="3362142" y="1472509"/>
            <a:ext cx="3532372" cy="615553"/>
          </a:xfrm>
        </p:spPr>
        <p:txBody>
          <a:bodyPr/>
          <a:lstStyle>
            <a:lvl1pPr marL="0" indent="0">
              <a:buSzPct val="100000"/>
              <a:buFont typeface="Arial" panose="020B0604020202020204" pitchFamily="34" charset="0"/>
              <a:buNone/>
              <a:defRPr sz="20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8" name="Text Placeholder 4">
            <a:extLst>
              <a:ext uri="{FF2B5EF4-FFF2-40B4-BE49-F238E27FC236}">
                <a16:creationId xmlns:a16="http://schemas.microsoft.com/office/drawing/2014/main" id="{EB204ED8-AA53-E68A-BA62-EA3DABFF3CBF}"/>
              </a:ext>
            </a:extLst>
          </p:cNvPr>
          <p:cNvSpPr>
            <a:spLocks noGrp="1"/>
          </p:cNvSpPr>
          <p:nvPr>
            <p:ph type="body" sz="quarter" idx="11" hasCustomPrompt="1"/>
          </p:nvPr>
        </p:nvSpPr>
        <p:spPr>
          <a:xfrm>
            <a:off x="8077016" y="1472509"/>
            <a:ext cx="3532372" cy="615553"/>
          </a:xfrm>
        </p:spPr>
        <p:txBody>
          <a:bodyPr/>
          <a:lstStyle>
            <a:lvl1pPr marL="0" indent="0">
              <a:buSzPct val="100000"/>
              <a:buFont typeface="Arial" panose="020B0604020202020204" pitchFamily="34" charset="0"/>
              <a:buNone/>
              <a:defRPr sz="20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9" name="Text Placeholder 4">
            <a:extLst>
              <a:ext uri="{FF2B5EF4-FFF2-40B4-BE49-F238E27FC236}">
                <a16:creationId xmlns:a16="http://schemas.microsoft.com/office/drawing/2014/main" id="{521E0D50-C05E-2148-5B4B-CA4C6802702E}"/>
              </a:ext>
            </a:extLst>
          </p:cNvPr>
          <p:cNvSpPr>
            <a:spLocks noGrp="1"/>
          </p:cNvSpPr>
          <p:nvPr>
            <p:ph type="body" sz="quarter" idx="12" hasCustomPrompt="1"/>
          </p:nvPr>
        </p:nvSpPr>
        <p:spPr>
          <a:xfrm>
            <a:off x="3362142" y="2744160"/>
            <a:ext cx="3532372" cy="615553"/>
          </a:xfrm>
        </p:spPr>
        <p:txBody>
          <a:bodyPr/>
          <a:lstStyle>
            <a:lvl1pPr marL="0" indent="0">
              <a:buSzPct val="100000"/>
              <a:buFont typeface="Arial" panose="020B0604020202020204" pitchFamily="34" charset="0"/>
              <a:buNone/>
              <a:defRPr sz="20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10" name="Text Placeholder 4">
            <a:extLst>
              <a:ext uri="{FF2B5EF4-FFF2-40B4-BE49-F238E27FC236}">
                <a16:creationId xmlns:a16="http://schemas.microsoft.com/office/drawing/2014/main" id="{4BB2511C-FA6B-786F-A4C7-3DC05FBAD19E}"/>
              </a:ext>
            </a:extLst>
          </p:cNvPr>
          <p:cNvSpPr>
            <a:spLocks noGrp="1"/>
          </p:cNvSpPr>
          <p:nvPr>
            <p:ph type="body" sz="quarter" idx="13" hasCustomPrompt="1"/>
          </p:nvPr>
        </p:nvSpPr>
        <p:spPr>
          <a:xfrm>
            <a:off x="8077016" y="2744160"/>
            <a:ext cx="3532372" cy="615553"/>
          </a:xfrm>
        </p:spPr>
        <p:txBody>
          <a:bodyPr/>
          <a:lstStyle>
            <a:lvl1pPr marL="0" indent="0">
              <a:buSzPct val="100000"/>
              <a:buFont typeface="Arial" panose="020B0604020202020204" pitchFamily="34" charset="0"/>
              <a:buNone/>
              <a:defRPr sz="20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11" name="Text Placeholder 4">
            <a:extLst>
              <a:ext uri="{FF2B5EF4-FFF2-40B4-BE49-F238E27FC236}">
                <a16:creationId xmlns:a16="http://schemas.microsoft.com/office/drawing/2014/main" id="{84401C60-F88F-7DB3-5EDC-F351AA89E476}"/>
              </a:ext>
            </a:extLst>
          </p:cNvPr>
          <p:cNvSpPr>
            <a:spLocks noGrp="1"/>
          </p:cNvSpPr>
          <p:nvPr>
            <p:ph type="body" sz="quarter" idx="14" hasCustomPrompt="1"/>
          </p:nvPr>
        </p:nvSpPr>
        <p:spPr>
          <a:xfrm>
            <a:off x="3362142" y="4015813"/>
            <a:ext cx="3532372" cy="615553"/>
          </a:xfrm>
        </p:spPr>
        <p:txBody>
          <a:bodyPr/>
          <a:lstStyle>
            <a:lvl1pPr marL="0" indent="0">
              <a:buSzPct val="100000"/>
              <a:buFont typeface="Arial" panose="020B0604020202020204" pitchFamily="34" charset="0"/>
              <a:buNone/>
              <a:defRPr sz="20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13" name="Text Placeholder 4">
            <a:extLst>
              <a:ext uri="{FF2B5EF4-FFF2-40B4-BE49-F238E27FC236}">
                <a16:creationId xmlns:a16="http://schemas.microsoft.com/office/drawing/2014/main" id="{4F0E90F9-865C-2FDD-F964-D0A439FADDE4}"/>
              </a:ext>
            </a:extLst>
          </p:cNvPr>
          <p:cNvSpPr>
            <a:spLocks noGrp="1"/>
          </p:cNvSpPr>
          <p:nvPr>
            <p:ph type="body" sz="quarter" idx="15" hasCustomPrompt="1"/>
          </p:nvPr>
        </p:nvSpPr>
        <p:spPr>
          <a:xfrm>
            <a:off x="8077016" y="4015813"/>
            <a:ext cx="3532372" cy="615553"/>
          </a:xfrm>
        </p:spPr>
        <p:txBody>
          <a:bodyPr/>
          <a:lstStyle>
            <a:lvl1pPr marL="0" indent="0">
              <a:buSzPct val="100000"/>
              <a:buFont typeface="Arial" panose="020B0604020202020204" pitchFamily="34" charset="0"/>
              <a:buNone/>
              <a:defRPr sz="20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14" name="Text Placeholder 4">
            <a:extLst>
              <a:ext uri="{FF2B5EF4-FFF2-40B4-BE49-F238E27FC236}">
                <a16:creationId xmlns:a16="http://schemas.microsoft.com/office/drawing/2014/main" id="{55A1A458-F1AF-98F6-ACB5-57CF62E96644}"/>
              </a:ext>
            </a:extLst>
          </p:cNvPr>
          <p:cNvSpPr>
            <a:spLocks noGrp="1"/>
          </p:cNvSpPr>
          <p:nvPr>
            <p:ph type="body" sz="quarter" idx="16" hasCustomPrompt="1"/>
          </p:nvPr>
        </p:nvSpPr>
        <p:spPr>
          <a:xfrm>
            <a:off x="3362142" y="5287463"/>
            <a:ext cx="3532372" cy="615553"/>
          </a:xfrm>
        </p:spPr>
        <p:txBody>
          <a:bodyPr/>
          <a:lstStyle>
            <a:lvl1pPr marL="0" indent="0">
              <a:buSzPct val="100000"/>
              <a:buFont typeface="Arial" panose="020B0604020202020204" pitchFamily="34" charset="0"/>
              <a:buNone/>
              <a:defRPr sz="20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15" name="Text Placeholder 4">
            <a:extLst>
              <a:ext uri="{FF2B5EF4-FFF2-40B4-BE49-F238E27FC236}">
                <a16:creationId xmlns:a16="http://schemas.microsoft.com/office/drawing/2014/main" id="{AEDA8387-0AE1-03F1-FEBA-E00B2A9F1CDA}"/>
              </a:ext>
            </a:extLst>
          </p:cNvPr>
          <p:cNvSpPr>
            <a:spLocks noGrp="1"/>
          </p:cNvSpPr>
          <p:nvPr>
            <p:ph type="body" sz="quarter" idx="17" hasCustomPrompt="1"/>
          </p:nvPr>
        </p:nvSpPr>
        <p:spPr>
          <a:xfrm>
            <a:off x="8077016" y="5287463"/>
            <a:ext cx="3532372" cy="615553"/>
          </a:xfrm>
        </p:spPr>
        <p:txBody>
          <a:bodyPr/>
          <a:lstStyle>
            <a:lvl1pPr marL="0" indent="0">
              <a:buSzPct val="100000"/>
              <a:buFont typeface="Arial" panose="020B0604020202020204" pitchFamily="34" charset="0"/>
              <a:buNone/>
              <a:defRPr sz="20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38" name="Text Placeholder 31">
            <a:extLst>
              <a:ext uri="{FF2B5EF4-FFF2-40B4-BE49-F238E27FC236}">
                <a16:creationId xmlns:a16="http://schemas.microsoft.com/office/drawing/2014/main" id="{82CE9398-7433-9B5B-9954-2F3D03E21ECE}"/>
              </a:ext>
            </a:extLst>
          </p:cNvPr>
          <p:cNvSpPr>
            <a:spLocks noGrp="1"/>
          </p:cNvSpPr>
          <p:nvPr>
            <p:ph type="body" sz="quarter" idx="20" hasCustomPrompt="1"/>
          </p:nvPr>
        </p:nvSpPr>
        <p:spPr>
          <a:xfrm>
            <a:off x="2470150" y="2708339"/>
            <a:ext cx="687196" cy="687196"/>
          </a:xfrm>
          <a:prstGeom prst="ellipse">
            <a:avLst/>
          </a:prstGeom>
          <a:solidFill>
            <a:srgbClr val="091F2C"/>
          </a:solidFill>
          <a:ln w="3175">
            <a:solidFill>
              <a:schemeClr val="tx1">
                <a:alpha val="27000"/>
              </a:schemeClr>
            </a:solidFill>
          </a:ln>
        </p:spPr>
        <p:txBody>
          <a:bodyPr anchor="ctr">
            <a:noAutofit/>
          </a:bodyPr>
          <a:lstStyle>
            <a:lvl1pPr algn="ctr">
              <a:buNone/>
              <a:defRPr sz="3200" b="1">
                <a:solidFill>
                  <a:schemeClr val="accent1"/>
                </a:solidFill>
                <a:latin typeface="+mn-lt"/>
              </a:defRPr>
            </a:lvl1pPr>
          </a:lstStyle>
          <a:p>
            <a:pPr lvl="0"/>
            <a:r>
              <a:rPr lang="en-US"/>
              <a:t>2</a:t>
            </a:r>
          </a:p>
        </p:txBody>
      </p:sp>
      <p:sp>
        <p:nvSpPr>
          <p:cNvPr id="45" name="Oval 44">
            <a:extLst>
              <a:ext uri="{FF2B5EF4-FFF2-40B4-BE49-F238E27FC236}">
                <a16:creationId xmlns:a16="http://schemas.microsoft.com/office/drawing/2014/main" id="{16B77EEF-CF89-3A51-3FB1-DC1BC8FA4938}"/>
              </a:ext>
            </a:extLst>
          </p:cNvPr>
          <p:cNvSpPr/>
          <p:nvPr userDrawn="1"/>
        </p:nvSpPr>
        <p:spPr bwMode="auto">
          <a:xfrm>
            <a:off x="2470150" y="2708339"/>
            <a:ext cx="687196" cy="687196"/>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3200" b="1" spc="0" baseline="0">
                <a:solidFill>
                  <a:schemeClr val="accent1"/>
                </a:solidFill>
                <a:cs typeface="Segoe UI" panose="020B0502040204020203" pitchFamily="34" charset="0"/>
              </a:rPr>
              <a:t>2</a:t>
            </a:r>
          </a:p>
        </p:txBody>
      </p:sp>
      <p:sp>
        <p:nvSpPr>
          <p:cNvPr id="46" name="Oval 45">
            <a:extLst>
              <a:ext uri="{FF2B5EF4-FFF2-40B4-BE49-F238E27FC236}">
                <a16:creationId xmlns:a16="http://schemas.microsoft.com/office/drawing/2014/main" id="{34EED089-899E-9B4B-1332-84B1B197A37D}"/>
              </a:ext>
            </a:extLst>
          </p:cNvPr>
          <p:cNvSpPr/>
          <p:nvPr userDrawn="1"/>
        </p:nvSpPr>
        <p:spPr bwMode="auto">
          <a:xfrm>
            <a:off x="2470150" y="1436688"/>
            <a:ext cx="687196" cy="687196"/>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3200" b="1" spc="0" baseline="0">
                <a:solidFill>
                  <a:schemeClr val="accent1"/>
                </a:solidFill>
                <a:cs typeface="Segoe UI" panose="020B0502040204020203" pitchFamily="34" charset="0"/>
              </a:rPr>
              <a:t>1</a:t>
            </a:r>
          </a:p>
        </p:txBody>
      </p:sp>
      <p:sp>
        <p:nvSpPr>
          <p:cNvPr id="47" name="Oval 46">
            <a:extLst>
              <a:ext uri="{FF2B5EF4-FFF2-40B4-BE49-F238E27FC236}">
                <a16:creationId xmlns:a16="http://schemas.microsoft.com/office/drawing/2014/main" id="{2EC0CF99-EFDC-0B15-9717-6A90C25BFE03}"/>
              </a:ext>
            </a:extLst>
          </p:cNvPr>
          <p:cNvSpPr/>
          <p:nvPr userDrawn="1"/>
        </p:nvSpPr>
        <p:spPr bwMode="auto">
          <a:xfrm>
            <a:off x="2470150" y="5251641"/>
            <a:ext cx="687196" cy="687196"/>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3200" b="1" spc="0" baseline="0">
                <a:solidFill>
                  <a:schemeClr val="accent1"/>
                </a:solidFill>
                <a:cs typeface="Segoe UI" panose="020B0502040204020203" pitchFamily="34" charset="0"/>
              </a:rPr>
              <a:t>4</a:t>
            </a:r>
          </a:p>
        </p:txBody>
      </p:sp>
      <p:sp>
        <p:nvSpPr>
          <p:cNvPr id="48" name="Oval 47">
            <a:extLst>
              <a:ext uri="{FF2B5EF4-FFF2-40B4-BE49-F238E27FC236}">
                <a16:creationId xmlns:a16="http://schemas.microsoft.com/office/drawing/2014/main" id="{7B42A3CF-6F26-8D15-F208-7CEE5DB5E516}"/>
              </a:ext>
            </a:extLst>
          </p:cNvPr>
          <p:cNvSpPr/>
          <p:nvPr userDrawn="1"/>
        </p:nvSpPr>
        <p:spPr bwMode="auto">
          <a:xfrm>
            <a:off x="2470150" y="3979992"/>
            <a:ext cx="687196" cy="687196"/>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3200" b="1" spc="0" baseline="0">
                <a:solidFill>
                  <a:schemeClr val="accent1"/>
                </a:solidFill>
                <a:cs typeface="Segoe UI" panose="020B0502040204020203" pitchFamily="34" charset="0"/>
              </a:rPr>
              <a:t>3</a:t>
            </a:r>
          </a:p>
        </p:txBody>
      </p:sp>
      <p:sp>
        <p:nvSpPr>
          <p:cNvPr id="49" name="Oval 48">
            <a:extLst>
              <a:ext uri="{FF2B5EF4-FFF2-40B4-BE49-F238E27FC236}">
                <a16:creationId xmlns:a16="http://schemas.microsoft.com/office/drawing/2014/main" id="{9EDD5216-EDDD-0EEB-329E-3B3C7123034B}"/>
              </a:ext>
            </a:extLst>
          </p:cNvPr>
          <p:cNvSpPr/>
          <p:nvPr userDrawn="1"/>
        </p:nvSpPr>
        <p:spPr bwMode="auto">
          <a:xfrm>
            <a:off x="7185024" y="2708339"/>
            <a:ext cx="687196" cy="687196"/>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3200" b="1" spc="0" baseline="0">
                <a:solidFill>
                  <a:schemeClr val="accent1"/>
                </a:solidFill>
                <a:cs typeface="Segoe UI" panose="020B0502040204020203" pitchFamily="34" charset="0"/>
              </a:rPr>
              <a:t>6</a:t>
            </a:r>
          </a:p>
        </p:txBody>
      </p:sp>
      <p:sp>
        <p:nvSpPr>
          <p:cNvPr id="50" name="Oval 49">
            <a:extLst>
              <a:ext uri="{FF2B5EF4-FFF2-40B4-BE49-F238E27FC236}">
                <a16:creationId xmlns:a16="http://schemas.microsoft.com/office/drawing/2014/main" id="{6387AF57-2674-E5C0-C3AC-36A5F38D2933}"/>
              </a:ext>
            </a:extLst>
          </p:cNvPr>
          <p:cNvSpPr/>
          <p:nvPr userDrawn="1"/>
        </p:nvSpPr>
        <p:spPr bwMode="auto">
          <a:xfrm>
            <a:off x="7185024" y="1436688"/>
            <a:ext cx="687196" cy="687196"/>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3200" b="1" spc="0" baseline="0">
                <a:solidFill>
                  <a:schemeClr val="accent1"/>
                </a:solidFill>
                <a:cs typeface="Segoe UI" panose="020B0502040204020203" pitchFamily="34" charset="0"/>
              </a:rPr>
              <a:t>5</a:t>
            </a:r>
          </a:p>
        </p:txBody>
      </p:sp>
      <p:sp>
        <p:nvSpPr>
          <p:cNvPr id="51" name="Oval 50">
            <a:extLst>
              <a:ext uri="{FF2B5EF4-FFF2-40B4-BE49-F238E27FC236}">
                <a16:creationId xmlns:a16="http://schemas.microsoft.com/office/drawing/2014/main" id="{429A9B74-E02B-F7CA-8366-8699080EB397}"/>
              </a:ext>
            </a:extLst>
          </p:cNvPr>
          <p:cNvSpPr/>
          <p:nvPr userDrawn="1"/>
        </p:nvSpPr>
        <p:spPr bwMode="auto">
          <a:xfrm>
            <a:off x="7185024" y="5251641"/>
            <a:ext cx="687196" cy="687196"/>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3200" b="1" spc="0" baseline="0">
                <a:solidFill>
                  <a:schemeClr val="accent1"/>
                </a:solidFill>
                <a:cs typeface="Segoe UI" panose="020B0502040204020203" pitchFamily="34" charset="0"/>
              </a:rPr>
              <a:t>8</a:t>
            </a:r>
          </a:p>
        </p:txBody>
      </p:sp>
      <p:sp>
        <p:nvSpPr>
          <p:cNvPr id="52" name="Oval 51">
            <a:extLst>
              <a:ext uri="{FF2B5EF4-FFF2-40B4-BE49-F238E27FC236}">
                <a16:creationId xmlns:a16="http://schemas.microsoft.com/office/drawing/2014/main" id="{4688EEE8-B1A0-3C9E-589E-EC80C19CC870}"/>
              </a:ext>
            </a:extLst>
          </p:cNvPr>
          <p:cNvSpPr/>
          <p:nvPr userDrawn="1"/>
        </p:nvSpPr>
        <p:spPr bwMode="auto">
          <a:xfrm>
            <a:off x="7185024" y="3979992"/>
            <a:ext cx="687196" cy="687196"/>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3200" b="1" spc="0" baseline="0">
                <a:solidFill>
                  <a:schemeClr val="accent1"/>
                </a:solidFill>
                <a:cs typeface="Segoe UI" panose="020B0502040204020203" pitchFamily="34" charset="0"/>
              </a:rPr>
              <a:t>7</a:t>
            </a:r>
          </a:p>
        </p:txBody>
      </p:sp>
    </p:spTree>
    <p:extLst>
      <p:ext uri="{BB962C8B-B14F-4D97-AF65-F5344CB8AC3E}">
        <p14:creationId xmlns:p14="http://schemas.microsoft.com/office/powerpoint/2010/main" val="159950461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36" userDrawn="1">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_2">
    <p:spTree>
      <p:nvGrpSpPr>
        <p:cNvPr id="1" name=""/>
        <p:cNvGrpSpPr/>
        <p:nvPr/>
      </p:nvGrpSpPr>
      <p:grpSpPr>
        <a:xfrm>
          <a:off x="0" y="0"/>
          <a:ext cx="0" cy="0"/>
          <a:chOff x="0" y="0"/>
          <a:chExt cx="0" cy="0"/>
        </a:xfrm>
      </p:grpSpPr>
      <p:sp>
        <p:nvSpPr>
          <p:cNvPr id="63" name="Title 1">
            <a:extLst>
              <a:ext uri="{FF2B5EF4-FFF2-40B4-BE49-F238E27FC236}">
                <a16:creationId xmlns:a16="http://schemas.microsoft.com/office/drawing/2014/main" id="{61837213-2F00-7C5C-F362-8E16E7E5983A}"/>
              </a:ext>
            </a:extLst>
          </p:cNvPr>
          <p:cNvSpPr txBox="1">
            <a:spLocks/>
          </p:cNvSpPr>
          <p:nvPr userDrawn="1"/>
        </p:nvSpPr>
        <p:spPr>
          <a:xfrm>
            <a:off x="584200" y="556959"/>
            <a:ext cx="3390900" cy="877824"/>
          </a:xfrm>
          <a:prstGeom prst="roundRect">
            <a:avLst>
              <a:gd name="adj" fmla="val 50108"/>
            </a:avLst>
          </a:prstGeom>
          <a:gradFill>
            <a:gsLst>
              <a:gs pos="0">
                <a:srgbClr val="8449A9"/>
              </a:gs>
              <a:gs pos="100000">
                <a:srgbClr val="0538BB"/>
              </a:gs>
            </a:gsLst>
            <a:lin ang="2700000" scaled="1"/>
          </a:gradFill>
        </p:spPr>
        <p:txBody>
          <a:bodyPr vert="horz" wrap="square" lIns="0" tIns="0" rIns="0" bIns="0" rtlCol="0" anchor="ctr">
            <a:noAutofit/>
          </a:bodyPr>
          <a:lstStyle>
            <a:lvl1pPr marL="742950" indent="0" algn="l" defTabSz="932742" rtl="0" eaLnBrk="1" latinLnBrk="0" hangingPunct="1">
              <a:lnSpc>
                <a:spcPct val="100000"/>
              </a:lnSpc>
              <a:spcBef>
                <a:spcPct val="0"/>
              </a:spcBef>
              <a:buNone/>
              <a:defRPr lang="en-US" sz="4000" b="0" kern="1200" cap="none" spc="-50" baseline="0" dirty="0" smtClean="0">
                <a:ln w="3175">
                  <a:noFill/>
                </a:ln>
                <a:solidFill>
                  <a:schemeClr val="tx1"/>
                </a:solidFill>
                <a:effectLst/>
                <a:latin typeface="Aptos SemiBold" panose="020B0004020202020204" pitchFamily="34" charset="0"/>
                <a:ea typeface="+mn-ea"/>
                <a:cs typeface="Segoe UI" pitchFamily="34" charset="0"/>
              </a:defRPr>
            </a:lvl1pPr>
          </a:lstStyle>
          <a:p>
            <a:endParaRPr lang="en-US"/>
          </a:p>
        </p:txBody>
      </p:sp>
      <p:pic>
        <p:nvPicPr>
          <p:cNvPr id="36" name="Picture 35" descr="A silver shield with text and stars&#10;&#10;AI-generated content may be incorrect.">
            <a:extLst>
              <a:ext uri="{FF2B5EF4-FFF2-40B4-BE49-F238E27FC236}">
                <a16:creationId xmlns:a16="http://schemas.microsoft.com/office/drawing/2014/main" id="{74FF1801-287D-2733-9928-4E90A7D39335}"/>
              </a:ext>
            </a:extLst>
          </p:cNvPr>
          <p:cNvPicPr>
            <a:picLocks noChangeAspect="1"/>
          </p:cNvPicPr>
          <p:nvPr userDrawn="1"/>
        </p:nvPicPr>
        <p:blipFill>
          <a:blip r:embed="rId2">
            <a:alphaModFix/>
          </a:blip>
          <a:srcRect l="3844" t="2514" r="4223" b="5918"/>
          <a:stretch>
            <a:fillRect/>
          </a:stretch>
        </p:blipFill>
        <p:spPr>
          <a:xfrm>
            <a:off x="11385550" y="288925"/>
            <a:ext cx="512761" cy="510720"/>
          </a:xfrm>
          <a:prstGeom prst="rect">
            <a:avLst/>
          </a:prstGeom>
          <a:effectLst/>
        </p:spPr>
      </p:pic>
      <p:sp>
        <p:nvSpPr>
          <p:cNvPr id="3" name="Title 1">
            <a:extLst>
              <a:ext uri="{FF2B5EF4-FFF2-40B4-BE49-F238E27FC236}">
                <a16:creationId xmlns:a16="http://schemas.microsoft.com/office/drawing/2014/main" id="{2F6C29B5-D986-9324-FCA9-94495855D843}"/>
              </a:ext>
            </a:extLst>
          </p:cNvPr>
          <p:cNvSpPr>
            <a:spLocks noGrp="1"/>
          </p:cNvSpPr>
          <p:nvPr>
            <p:ph type="title" hasCustomPrompt="1"/>
          </p:nvPr>
        </p:nvSpPr>
        <p:spPr>
          <a:xfrm>
            <a:off x="1609412" y="688094"/>
            <a:ext cx="1943161" cy="615553"/>
          </a:xfrm>
          <a:prstGeom prst="rect">
            <a:avLst/>
          </a:prstGeom>
          <a:noFill/>
        </p:spPr>
        <p:txBody>
          <a:bodyPr wrap="square" anchor="ctr">
            <a:spAutoFit/>
          </a:bodyPr>
          <a:lstStyle>
            <a:lvl1pPr marL="0" indent="0">
              <a:defRPr sz="4000"/>
            </a:lvl1pPr>
          </a:lstStyle>
          <a:p>
            <a:r>
              <a:rPr lang="en-US"/>
              <a:t>AGENDA</a:t>
            </a:r>
          </a:p>
        </p:txBody>
      </p:sp>
      <p:sp>
        <p:nvSpPr>
          <p:cNvPr id="4" name="Rectangle 3">
            <a:extLst>
              <a:ext uri="{FF2B5EF4-FFF2-40B4-BE49-F238E27FC236}">
                <a16:creationId xmlns:a16="http://schemas.microsoft.com/office/drawing/2014/main" id="{1CBDF14E-C1F4-5208-C988-86EEB1382F8C}"/>
              </a:ext>
            </a:extLst>
          </p:cNvPr>
          <p:cNvSpPr/>
          <p:nvPr userDrawn="1"/>
        </p:nvSpPr>
        <p:spPr bwMode="auto">
          <a:xfrm>
            <a:off x="0" y="1711927"/>
            <a:ext cx="12192000" cy="4650773"/>
          </a:xfrm>
          <a:prstGeom prst="rect">
            <a:avLst/>
          </a:prstGeom>
          <a:solidFill>
            <a:schemeClr val="tx1">
              <a:alpha val="7000"/>
            </a:schemeClr>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44000" tIns="146304" rIns="182880" bIns="146304" numCol="1" spcCol="0" rtlCol="0" fromWordArt="0" anchor="ctr" anchorCtr="0" forceAA="0" compatLnSpc="1">
            <a:prstTxWarp prst="textNoShape">
              <a:avLst/>
            </a:prstTxWarp>
            <a:normAutofit/>
          </a:bodyPr>
          <a:lstStyle/>
          <a:p>
            <a:pPr defTabSz="932114" fontAlgn="base">
              <a:spcBef>
                <a:spcPct val="0"/>
              </a:spcBef>
              <a:spcAft>
                <a:spcPct val="0"/>
              </a:spcAft>
            </a:pPr>
            <a:endParaRPr lang="en-US" sz="1200" err="1">
              <a:solidFill>
                <a:srgbClr val="FFFFFF"/>
              </a:solidFill>
              <a:latin typeface="Segoe UI Semibold"/>
              <a:cs typeface="Segoe UI" pitchFamily="34" charset="0"/>
            </a:endParaRPr>
          </a:p>
        </p:txBody>
      </p:sp>
      <p:cxnSp>
        <p:nvCxnSpPr>
          <p:cNvPr id="22" name="Straight Connector 21">
            <a:extLst>
              <a:ext uri="{FF2B5EF4-FFF2-40B4-BE49-F238E27FC236}">
                <a16:creationId xmlns:a16="http://schemas.microsoft.com/office/drawing/2014/main" id="{1D79FECC-2080-6B5D-93B4-DB21ABF0A051}"/>
              </a:ext>
            </a:extLst>
          </p:cNvPr>
          <p:cNvCxnSpPr>
            <a:cxnSpLocks/>
          </p:cNvCxnSpPr>
          <p:nvPr userDrawn="1"/>
        </p:nvCxnSpPr>
        <p:spPr>
          <a:xfrm>
            <a:off x="1350962" y="2874621"/>
            <a:ext cx="4593772" cy="0"/>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9834E87-35A9-476B-9068-0B52ADE4E99C}"/>
              </a:ext>
            </a:extLst>
          </p:cNvPr>
          <p:cNvCxnSpPr>
            <a:cxnSpLocks/>
          </p:cNvCxnSpPr>
          <p:nvPr userDrawn="1"/>
        </p:nvCxnSpPr>
        <p:spPr>
          <a:xfrm>
            <a:off x="1350962" y="4037315"/>
            <a:ext cx="4593772" cy="0"/>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69040A5-BC74-BDEA-E89B-C30EB27461EF}"/>
              </a:ext>
            </a:extLst>
          </p:cNvPr>
          <p:cNvCxnSpPr>
            <a:cxnSpLocks/>
          </p:cNvCxnSpPr>
          <p:nvPr userDrawn="1"/>
        </p:nvCxnSpPr>
        <p:spPr>
          <a:xfrm>
            <a:off x="1350962" y="5200009"/>
            <a:ext cx="4593772" cy="0"/>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409E44DC-7CB8-81D8-9C56-277CD9233843}"/>
              </a:ext>
            </a:extLst>
          </p:cNvPr>
          <p:cNvCxnSpPr>
            <a:cxnSpLocks/>
          </p:cNvCxnSpPr>
          <p:nvPr userDrawn="1"/>
        </p:nvCxnSpPr>
        <p:spPr>
          <a:xfrm>
            <a:off x="7010399" y="2874621"/>
            <a:ext cx="4593772" cy="0"/>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89A07A36-634B-1E9A-B2E0-699269172C1C}"/>
              </a:ext>
            </a:extLst>
          </p:cNvPr>
          <p:cNvCxnSpPr>
            <a:cxnSpLocks/>
          </p:cNvCxnSpPr>
          <p:nvPr userDrawn="1"/>
        </p:nvCxnSpPr>
        <p:spPr>
          <a:xfrm>
            <a:off x="7010399" y="4037315"/>
            <a:ext cx="4593772" cy="0"/>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B1BB4B92-84F4-9E22-C1A1-FE19C497EF22}"/>
              </a:ext>
            </a:extLst>
          </p:cNvPr>
          <p:cNvCxnSpPr>
            <a:cxnSpLocks/>
          </p:cNvCxnSpPr>
          <p:nvPr userDrawn="1"/>
        </p:nvCxnSpPr>
        <p:spPr>
          <a:xfrm>
            <a:off x="7010399" y="5200009"/>
            <a:ext cx="4593772" cy="0"/>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sp>
        <p:nvSpPr>
          <p:cNvPr id="53" name="Text Placeholder 4">
            <a:extLst>
              <a:ext uri="{FF2B5EF4-FFF2-40B4-BE49-F238E27FC236}">
                <a16:creationId xmlns:a16="http://schemas.microsoft.com/office/drawing/2014/main" id="{BFCAA62A-D727-0272-C605-9B5EE79F92C7}"/>
              </a:ext>
            </a:extLst>
          </p:cNvPr>
          <p:cNvSpPr>
            <a:spLocks noGrp="1"/>
          </p:cNvSpPr>
          <p:nvPr>
            <p:ph type="body" sz="quarter" idx="10" hasCustomPrompt="1"/>
          </p:nvPr>
        </p:nvSpPr>
        <p:spPr>
          <a:xfrm>
            <a:off x="1350962" y="2016275"/>
            <a:ext cx="4597401" cy="553998"/>
          </a:xfrm>
        </p:spPr>
        <p:txBody>
          <a:bodyPr/>
          <a:lstStyle>
            <a:lvl1pPr marL="0" indent="0">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54" name="Text Placeholder 4">
            <a:extLst>
              <a:ext uri="{FF2B5EF4-FFF2-40B4-BE49-F238E27FC236}">
                <a16:creationId xmlns:a16="http://schemas.microsoft.com/office/drawing/2014/main" id="{EB204ED8-AA53-E68A-BA62-EA3DABFF3CBF}"/>
              </a:ext>
            </a:extLst>
          </p:cNvPr>
          <p:cNvSpPr>
            <a:spLocks noGrp="1"/>
          </p:cNvSpPr>
          <p:nvPr>
            <p:ph type="body" sz="quarter" idx="11" hasCustomPrompt="1"/>
          </p:nvPr>
        </p:nvSpPr>
        <p:spPr>
          <a:xfrm>
            <a:off x="7010399" y="2016275"/>
            <a:ext cx="4597401" cy="553998"/>
          </a:xfrm>
        </p:spPr>
        <p:txBody>
          <a:bodyPr/>
          <a:lstStyle>
            <a:lvl1pPr marL="0" indent="0">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55" name="Text Placeholder 4">
            <a:extLst>
              <a:ext uri="{FF2B5EF4-FFF2-40B4-BE49-F238E27FC236}">
                <a16:creationId xmlns:a16="http://schemas.microsoft.com/office/drawing/2014/main" id="{22D33420-D41A-87FA-1A50-B913F8753F06}"/>
              </a:ext>
            </a:extLst>
          </p:cNvPr>
          <p:cNvSpPr>
            <a:spLocks noGrp="1"/>
          </p:cNvSpPr>
          <p:nvPr>
            <p:ph type="body" sz="quarter" idx="26" hasCustomPrompt="1"/>
          </p:nvPr>
        </p:nvSpPr>
        <p:spPr>
          <a:xfrm>
            <a:off x="1350962" y="3178969"/>
            <a:ext cx="4597401" cy="553998"/>
          </a:xfrm>
        </p:spPr>
        <p:txBody>
          <a:bodyPr/>
          <a:lstStyle>
            <a:lvl1pPr marL="0" indent="0">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56" name="Text Placeholder 4">
            <a:extLst>
              <a:ext uri="{FF2B5EF4-FFF2-40B4-BE49-F238E27FC236}">
                <a16:creationId xmlns:a16="http://schemas.microsoft.com/office/drawing/2014/main" id="{D344184C-BD00-5D2D-B837-743B3B8499C0}"/>
              </a:ext>
            </a:extLst>
          </p:cNvPr>
          <p:cNvSpPr>
            <a:spLocks noGrp="1"/>
          </p:cNvSpPr>
          <p:nvPr>
            <p:ph type="body" sz="quarter" idx="27" hasCustomPrompt="1"/>
          </p:nvPr>
        </p:nvSpPr>
        <p:spPr>
          <a:xfrm>
            <a:off x="7010399" y="3178969"/>
            <a:ext cx="4597401" cy="553998"/>
          </a:xfrm>
        </p:spPr>
        <p:txBody>
          <a:bodyPr/>
          <a:lstStyle>
            <a:lvl1pPr marL="0" indent="0">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57" name="Text Placeholder 4">
            <a:extLst>
              <a:ext uri="{FF2B5EF4-FFF2-40B4-BE49-F238E27FC236}">
                <a16:creationId xmlns:a16="http://schemas.microsoft.com/office/drawing/2014/main" id="{09877C7B-61F8-A6A4-0BC6-9232EF27C831}"/>
              </a:ext>
            </a:extLst>
          </p:cNvPr>
          <p:cNvSpPr>
            <a:spLocks noGrp="1"/>
          </p:cNvSpPr>
          <p:nvPr>
            <p:ph type="body" sz="quarter" idx="28" hasCustomPrompt="1"/>
          </p:nvPr>
        </p:nvSpPr>
        <p:spPr>
          <a:xfrm>
            <a:off x="1350962" y="4341663"/>
            <a:ext cx="4597401" cy="553998"/>
          </a:xfrm>
        </p:spPr>
        <p:txBody>
          <a:bodyPr/>
          <a:lstStyle>
            <a:lvl1pPr marL="0" indent="0">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58" name="Text Placeholder 4">
            <a:extLst>
              <a:ext uri="{FF2B5EF4-FFF2-40B4-BE49-F238E27FC236}">
                <a16:creationId xmlns:a16="http://schemas.microsoft.com/office/drawing/2014/main" id="{B0E1B07C-0A2D-DF62-01AF-23567A01FB0D}"/>
              </a:ext>
            </a:extLst>
          </p:cNvPr>
          <p:cNvSpPr>
            <a:spLocks noGrp="1"/>
          </p:cNvSpPr>
          <p:nvPr>
            <p:ph type="body" sz="quarter" idx="29" hasCustomPrompt="1"/>
          </p:nvPr>
        </p:nvSpPr>
        <p:spPr>
          <a:xfrm>
            <a:off x="7010399" y="4341663"/>
            <a:ext cx="4597401" cy="553998"/>
          </a:xfrm>
        </p:spPr>
        <p:txBody>
          <a:bodyPr/>
          <a:lstStyle>
            <a:lvl1pPr marL="0" indent="0">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59" name="Text Placeholder 4">
            <a:extLst>
              <a:ext uri="{FF2B5EF4-FFF2-40B4-BE49-F238E27FC236}">
                <a16:creationId xmlns:a16="http://schemas.microsoft.com/office/drawing/2014/main" id="{2BA4E47C-8268-BDAE-77F6-231FF8E392F0}"/>
              </a:ext>
            </a:extLst>
          </p:cNvPr>
          <p:cNvSpPr>
            <a:spLocks noGrp="1"/>
          </p:cNvSpPr>
          <p:nvPr>
            <p:ph type="body" sz="quarter" idx="30" hasCustomPrompt="1"/>
          </p:nvPr>
        </p:nvSpPr>
        <p:spPr>
          <a:xfrm>
            <a:off x="1350962" y="5504357"/>
            <a:ext cx="4597401" cy="553998"/>
          </a:xfrm>
        </p:spPr>
        <p:txBody>
          <a:bodyPr/>
          <a:lstStyle>
            <a:lvl1pPr marL="0" indent="0">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60" name="Text Placeholder 4">
            <a:extLst>
              <a:ext uri="{FF2B5EF4-FFF2-40B4-BE49-F238E27FC236}">
                <a16:creationId xmlns:a16="http://schemas.microsoft.com/office/drawing/2014/main" id="{23B5589D-4946-7EC5-347F-9200FEC31C47}"/>
              </a:ext>
            </a:extLst>
          </p:cNvPr>
          <p:cNvSpPr>
            <a:spLocks noGrp="1"/>
          </p:cNvSpPr>
          <p:nvPr>
            <p:ph type="body" sz="quarter" idx="31" hasCustomPrompt="1"/>
          </p:nvPr>
        </p:nvSpPr>
        <p:spPr>
          <a:xfrm>
            <a:off x="7010399" y="5504357"/>
            <a:ext cx="4597401" cy="553998"/>
          </a:xfrm>
        </p:spPr>
        <p:txBody>
          <a:bodyPr/>
          <a:lstStyle>
            <a:lvl1pPr marL="0" indent="0">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62" name="Graphic 158">
            <a:extLst>
              <a:ext uri="{FF2B5EF4-FFF2-40B4-BE49-F238E27FC236}">
                <a16:creationId xmlns:a16="http://schemas.microsoft.com/office/drawing/2014/main" id="{C90E6E46-4278-EFAD-A2FA-C632CAFCCD85}"/>
              </a:ext>
              <a:ext uri="{C183D7F6-B498-43B3-948B-1728B52AA6E4}">
                <adec:decorative xmlns:adec="http://schemas.microsoft.com/office/drawing/2017/decorative" val="1"/>
              </a:ext>
            </a:extLst>
          </p:cNvPr>
          <p:cNvSpPr/>
          <p:nvPr userDrawn="1"/>
        </p:nvSpPr>
        <p:spPr>
          <a:xfrm>
            <a:off x="843920" y="705220"/>
            <a:ext cx="539586" cy="581302"/>
          </a:xfrm>
          <a:custGeom>
            <a:avLst/>
            <a:gdLst>
              <a:gd name="connsiteX0" fmla="*/ 161925 w 247650"/>
              <a:gd name="connsiteY0" fmla="*/ 97 h 266796"/>
              <a:gd name="connsiteX1" fmla="*/ 171348 w 247650"/>
              <a:gd name="connsiteY1" fmla="*/ 8326 h 266796"/>
              <a:gd name="connsiteX2" fmla="*/ 171450 w 247650"/>
              <a:gd name="connsiteY2" fmla="*/ 9622 h 266796"/>
              <a:gd name="connsiteX3" fmla="*/ 171450 w 247650"/>
              <a:gd name="connsiteY3" fmla="*/ 19134 h 266796"/>
              <a:gd name="connsiteX4" fmla="*/ 180962 w 247650"/>
              <a:gd name="connsiteY4" fmla="*/ 19134 h 266796"/>
              <a:gd name="connsiteX5" fmla="*/ 209537 w 247650"/>
              <a:gd name="connsiteY5" fmla="*/ 47709 h 266796"/>
              <a:gd name="connsiteX6" fmla="*/ 209537 w 247650"/>
              <a:gd name="connsiteY6" fmla="*/ 102675 h 266796"/>
              <a:gd name="connsiteX7" fmla="*/ 143825 w 247650"/>
              <a:gd name="connsiteY7" fmla="*/ 117610 h 266796"/>
              <a:gd name="connsiteX8" fmla="*/ 139230 w 247650"/>
              <a:gd name="connsiteY8" fmla="*/ 127097 h 266796"/>
              <a:gd name="connsiteX9" fmla="*/ 47600 w 247650"/>
              <a:gd name="connsiteY9" fmla="*/ 127097 h 266796"/>
              <a:gd name="connsiteX10" fmla="*/ 46304 w 247650"/>
              <a:gd name="connsiteY10" fmla="*/ 127186 h 266796"/>
              <a:gd name="connsiteX11" fmla="*/ 38166 w 247650"/>
              <a:gd name="connsiteY11" fmla="*/ 137920 h 266796"/>
              <a:gd name="connsiteX12" fmla="*/ 46304 w 247650"/>
              <a:gd name="connsiteY12" fmla="*/ 146058 h 266796"/>
              <a:gd name="connsiteX13" fmla="*/ 47600 w 247650"/>
              <a:gd name="connsiteY13" fmla="*/ 146147 h 266796"/>
              <a:gd name="connsiteX14" fmla="*/ 136627 w 247650"/>
              <a:gd name="connsiteY14" fmla="*/ 146147 h 266796"/>
              <a:gd name="connsiteX15" fmla="*/ 151765 w 247650"/>
              <a:gd name="connsiteY15" fmla="*/ 177897 h 266796"/>
              <a:gd name="connsiteX16" fmla="*/ 139687 w 247650"/>
              <a:gd name="connsiteY16" fmla="*/ 177897 h 266796"/>
              <a:gd name="connsiteX17" fmla="*/ 107937 w 247650"/>
              <a:gd name="connsiteY17" fmla="*/ 209647 h 266796"/>
              <a:gd name="connsiteX18" fmla="*/ 107937 w 247650"/>
              <a:gd name="connsiteY18" fmla="*/ 215997 h 266796"/>
              <a:gd name="connsiteX19" fmla="*/ 122834 w 247650"/>
              <a:gd name="connsiteY19" fmla="*/ 254160 h 266796"/>
              <a:gd name="connsiteX20" fmla="*/ 28600 w 247650"/>
              <a:gd name="connsiteY20" fmla="*/ 254160 h 266796"/>
              <a:gd name="connsiteX21" fmla="*/ 25 w 247650"/>
              <a:gd name="connsiteY21" fmla="*/ 225585 h 266796"/>
              <a:gd name="connsiteX22" fmla="*/ 0 w 247650"/>
              <a:gd name="connsiteY22" fmla="*/ 47722 h 266796"/>
              <a:gd name="connsiteX23" fmla="*/ 28575 w 247650"/>
              <a:gd name="connsiteY23" fmla="*/ 19147 h 266796"/>
              <a:gd name="connsiteX24" fmla="*/ 38062 w 247650"/>
              <a:gd name="connsiteY24" fmla="*/ 19134 h 266796"/>
              <a:gd name="connsiteX25" fmla="*/ 38062 w 247650"/>
              <a:gd name="connsiteY25" fmla="*/ 9622 h 266796"/>
              <a:gd name="connsiteX26" fmla="*/ 47490 w 247650"/>
              <a:gd name="connsiteY26" fmla="*/ 1 h 266796"/>
              <a:gd name="connsiteX27" fmla="*/ 57036 w 247650"/>
              <a:gd name="connsiteY27" fmla="*/ 8326 h 266796"/>
              <a:gd name="connsiteX28" fmla="*/ 57125 w 247650"/>
              <a:gd name="connsiteY28" fmla="*/ 9622 h 266796"/>
              <a:gd name="connsiteX29" fmla="*/ 57125 w 247650"/>
              <a:gd name="connsiteY29" fmla="*/ 19134 h 266796"/>
              <a:gd name="connsiteX30" fmla="*/ 95250 w 247650"/>
              <a:gd name="connsiteY30" fmla="*/ 19134 h 266796"/>
              <a:gd name="connsiteX31" fmla="*/ 95250 w 247650"/>
              <a:gd name="connsiteY31" fmla="*/ 9622 h 266796"/>
              <a:gd name="connsiteX32" fmla="*/ 104678 w 247650"/>
              <a:gd name="connsiteY32" fmla="*/ 1 h 266796"/>
              <a:gd name="connsiteX33" fmla="*/ 114224 w 247650"/>
              <a:gd name="connsiteY33" fmla="*/ 8326 h 266796"/>
              <a:gd name="connsiteX34" fmla="*/ 114313 w 247650"/>
              <a:gd name="connsiteY34" fmla="*/ 9622 h 266796"/>
              <a:gd name="connsiteX35" fmla="*/ 114313 w 247650"/>
              <a:gd name="connsiteY35" fmla="*/ 19134 h 266796"/>
              <a:gd name="connsiteX36" fmla="*/ 152387 w 247650"/>
              <a:gd name="connsiteY36" fmla="*/ 19134 h 266796"/>
              <a:gd name="connsiteX37" fmla="*/ 152387 w 247650"/>
              <a:gd name="connsiteY37" fmla="*/ 9622 h 266796"/>
              <a:gd name="connsiteX38" fmla="*/ 161912 w 247650"/>
              <a:gd name="connsiteY38" fmla="*/ 97 h 266796"/>
              <a:gd name="connsiteX39" fmla="*/ 98387 w 247650"/>
              <a:gd name="connsiteY39" fmla="*/ 177897 h 266796"/>
              <a:gd name="connsiteX40" fmla="*/ 47600 w 247650"/>
              <a:gd name="connsiteY40" fmla="*/ 177897 h 266796"/>
              <a:gd name="connsiteX41" fmla="*/ 46304 w 247650"/>
              <a:gd name="connsiteY41" fmla="*/ 177986 h 266796"/>
              <a:gd name="connsiteX42" fmla="*/ 38166 w 247650"/>
              <a:gd name="connsiteY42" fmla="*/ 188720 h 266796"/>
              <a:gd name="connsiteX43" fmla="*/ 46304 w 247650"/>
              <a:gd name="connsiteY43" fmla="*/ 196858 h 266796"/>
              <a:gd name="connsiteX44" fmla="*/ 47600 w 247650"/>
              <a:gd name="connsiteY44" fmla="*/ 196947 h 266796"/>
              <a:gd name="connsiteX45" fmla="*/ 98387 w 247650"/>
              <a:gd name="connsiteY45" fmla="*/ 196947 h 266796"/>
              <a:gd name="connsiteX46" fmla="*/ 99682 w 247650"/>
              <a:gd name="connsiteY46" fmla="*/ 196858 h 266796"/>
              <a:gd name="connsiteX47" fmla="*/ 107820 w 247650"/>
              <a:gd name="connsiteY47" fmla="*/ 186124 h 266796"/>
              <a:gd name="connsiteX48" fmla="*/ 99682 w 247650"/>
              <a:gd name="connsiteY48" fmla="*/ 177986 h 266796"/>
              <a:gd name="connsiteX49" fmla="*/ 98387 w 247650"/>
              <a:gd name="connsiteY49" fmla="*/ 177897 h 266796"/>
              <a:gd name="connsiteX50" fmla="*/ 161887 w 247650"/>
              <a:gd name="connsiteY50" fmla="*/ 76297 h 266796"/>
              <a:gd name="connsiteX51" fmla="*/ 47612 w 247650"/>
              <a:gd name="connsiteY51" fmla="*/ 76297 h 266796"/>
              <a:gd name="connsiteX52" fmla="*/ 46317 w 247650"/>
              <a:gd name="connsiteY52" fmla="*/ 76386 h 266796"/>
              <a:gd name="connsiteX53" fmla="*/ 38179 w 247650"/>
              <a:gd name="connsiteY53" fmla="*/ 87120 h 266796"/>
              <a:gd name="connsiteX54" fmla="*/ 46317 w 247650"/>
              <a:gd name="connsiteY54" fmla="*/ 95258 h 266796"/>
              <a:gd name="connsiteX55" fmla="*/ 47612 w 247650"/>
              <a:gd name="connsiteY55" fmla="*/ 95347 h 266796"/>
              <a:gd name="connsiteX56" fmla="*/ 161912 w 247650"/>
              <a:gd name="connsiteY56" fmla="*/ 95347 h 266796"/>
              <a:gd name="connsiteX57" fmla="*/ 163195 w 247650"/>
              <a:gd name="connsiteY57" fmla="*/ 95258 h 266796"/>
              <a:gd name="connsiteX58" fmla="*/ 171333 w 247650"/>
              <a:gd name="connsiteY58" fmla="*/ 84524 h 266796"/>
              <a:gd name="connsiteX59" fmla="*/ 163195 w 247650"/>
              <a:gd name="connsiteY59" fmla="*/ 76386 h 266796"/>
              <a:gd name="connsiteX60" fmla="*/ 161900 w 247650"/>
              <a:gd name="connsiteY60" fmla="*/ 76297 h 266796"/>
              <a:gd name="connsiteX61" fmla="*/ 184150 w 247650"/>
              <a:gd name="connsiteY61" fmla="*/ 108047 h 266796"/>
              <a:gd name="connsiteX62" fmla="*/ 209550 w 247650"/>
              <a:gd name="connsiteY62" fmla="*/ 118982 h 266796"/>
              <a:gd name="connsiteX63" fmla="*/ 219075 w 247650"/>
              <a:gd name="connsiteY63" fmla="*/ 142972 h 266796"/>
              <a:gd name="connsiteX64" fmla="*/ 209550 w 247650"/>
              <a:gd name="connsiteY64" fmla="*/ 166949 h 266796"/>
              <a:gd name="connsiteX65" fmla="*/ 160179 w 247650"/>
              <a:gd name="connsiteY65" fmla="*/ 168365 h 266796"/>
              <a:gd name="connsiteX66" fmla="*/ 158763 w 247650"/>
              <a:gd name="connsiteY66" fmla="*/ 118994 h 266796"/>
              <a:gd name="connsiteX67" fmla="*/ 184150 w 247650"/>
              <a:gd name="connsiteY67" fmla="*/ 108047 h 266796"/>
              <a:gd name="connsiteX68" fmla="*/ 120650 w 247650"/>
              <a:gd name="connsiteY68" fmla="*/ 209647 h 266796"/>
              <a:gd name="connsiteX69" fmla="*/ 139700 w 247650"/>
              <a:gd name="connsiteY69" fmla="*/ 190597 h 266796"/>
              <a:gd name="connsiteX70" fmla="*/ 228600 w 247650"/>
              <a:gd name="connsiteY70" fmla="*/ 190597 h 266796"/>
              <a:gd name="connsiteX71" fmla="*/ 247650 w 247650"/>
              <a:gd name="connsiteY71" fmla="*/ 209647 h 266796"/>
              <a:gd name="connsiteX72" fmla="*/ 247650 w 247650"/>
              <a:gd name="connsiteY72" fmla="*/ 215997 h 266796"/>
              <a:gd name="connsiteX73" fmla="*/ 184150 w 247650"/>
              <a:gd name="connsiteY73" fmla="*/ 266797 h 266796"/>
              <a:gd name="connsiteX74" fmla="*/ 133274 w 247650"/>
              <a:gd name="connsiteY74" fmla="*/ 246731 h 266796"/>
              <a:gd name="connsiteX75" fmla="*/ 120650 w 247650"/>
              <a:gd name="connsiteY75" fmla="*/ 215997 h 266796"/>
              <a:gd name="connsiteX76" fmla="*/ 120650 w 247650"/>
              <a:gd name="connsiteY76" fmla="*/ 209647 h 266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247650" h="266796">
                <a:moveTo>
                  <a:pt x="161925" y="97"/>
                </a:moveTo>
                <a:cubicBezTo>
                  <a:pt x="166680" y="103"/>
                  <a:pt x="170702" y="3616"/>
                  <a:pt x="171348" y="8326"/>
                </a:cubicBezTo>
                <a:lnTo>
                  <a:pt x="171450" y="9622"/>
                </a:lnTo>
                <a:lnTo>
                  <a:pt x="171450" y="19134"/>
                </a:lnTo>
                <a:lnTo>
                  <a:pt x="180962" y="19134"/>
                </a:lnTo>
                <a:cubicBezTo>
                  <a:pt x="196744" y="19134"/>
                  <a:pt x="209537" y="31928"/>
                  <a:pt x="209537" y="47709"/>
                </a:cubicBezTo>
                <a:lnTo>
                  <a:pt x="209537" y="102675"/>
                </a:lnTo>
                <a:cubicBezTo>
                  <a:pt x="187267" y="88653"/>
                  <a:pt x="157847" y="95340"/>
                  <a:pt x="143825" y="117610"/>
                </a:cubicBezTo>
                <a:cubicBezTo>
                  <a:pt x="141947" y="120593"/>
                  <a:pt x="140406" y="123774"/>
                  <a:pt x="139230" y="127097"/>
                </a:cubicBezTo>
                <a:lnTo>
                  <a:pt x="47600" y="127097"/>
                </a:lnTo>
                <a:lnTo>
                  <a:pt x="46304" y="127186"/>
                </a:lnTo>
                <a:cubicBezTo>
                  <a:pt x="41093" y="127903"/>
                  <a:pt x="37449" y="132709"/>
                  <a:pt x="38166" y="137920"/>
                </a:cubicBezTo>
                <a:cubicBezTo>
                  <a:pt x="38748" y="142150"/>
                  <a:pt x="42074" y="145476"/>
                  <a:pt x="46304" y="146058"/>
                </a:cubicBezTo>
                <a:lnTo>
                  <a:pt x="47600" y="146147"/>
                </a:lnTo>
                <a:lnTo>
                  <a:pt x="136627" y="146147"/>
                </a:lnTo>
                <a:cubicBezTo>
                  <a:pt x="137424" y="158278"/>
                  <a:pt x="142842" y="169641"/>
                  <a:pt x="151765" y="177897"/>
                </a:cubicBezTo>
                <a:lnTo>
                  <a:pt x="139687" y="177897"/>
                </a:lnTo>
                <a:cubicBezTo>
                  <a:pt x="122152" y="177897"/>
                  <a:pt x="107937" y="192112"/>
                  <a:pt x="107937" y="209647"/>
                </a:cubicBezTo>
                <a:lnTo>
                  <a:pt x="107937" y="215997"/>
                </a:lnTo>
                <a:cubicBezTo>
                  <a:pt x="107937" y="229967"/>
                  <a:pt x="113297" y="243327"/>
                  <a:pt x="122834" y="254160"/>
                </a:cubicBezTo>
                <a:lnTo>
                  <a:pt x="28600" y="254160"/>
                </a:lnTo>
                <a:cubicBezTo>
                  <a:pt x="12819" y="254160"/>
                  <a:pt x="25" y="241367"/>
                  <a:pt x="25" y="225585"/>
                </a:cubicBezTo>
                <a:lnTo>
                  <a:pt x="0" y="47722"/>
                </a:lnTo>
                <a:cubicBezTo>
                  <a:pt x="0" y="31940"/>
                  <a:pt x="12793" y="19147"/>
                  <a:pt x="28575" y="19147"/>
                </a:cubicBezTo>
                <a:lnTo>
                  <a:pt x="38062" y="19134"/>
                </a:lnTo>
                <a:lnTo>
                  <a:pt x="38062" y="9622"/>
                </a:lnTo>
                <a:cubicBezTo>
                  <a:pt x="38008" y="4362"/>
                  <a:pt x="42229" y="54"/>
                  <a:pt x="47490" y="1"/>
                </a:cubicBezTo>
                <a:cubicBezTo>
                  <a:pt x="52323" y="-49"/>
                  <a:pt x="56427" y="3531"/>
                  <a:pt x="57036" y="8326"/>
                </a:cubicBezTo>
                <a:lnTo>
                  <a:pt x="57125" y="9622"/>
                </a:lnTo>
                <a:lnTo>
                  <a:pt x="57125" y="19134"/>
                </a:lnTo>
                <a:lnTo>
                  <a:pt x="95250" y="19134"/>
                </a:lnTo>
                <a:lnTo>
                  <a:pt x="95250" y="9622"/>
                </a:lnTo>
                <a:cubicBezTo>
                  <a:pt x="95197" y="4362"/>
                  <a:pt x="99417" y="54"/>
                  <a:pt x="104678" y="1"/>
                </a:cubicBezTo>
                <a:cubicBezTo>
                  <a:pt x="109511" y="-49"/>
                  <a:pt x="113616" y="3531"/>
                  <a:pt x="114224" y="8326"/>
                </a:cubicBezTo>
                <a:lnTo>
                  <a:pt x="114313" y="9622"/>
                </a:lnTo>
                <a:lnTo>
                  <a:pt x="114313" y="19134"/>
                </a:lnTo>
                <a:lnTo>
                  <a:pt x="152387" y="19134"/>
                </a:lnTo>
                <a:lnTo>
                  <a:pt x="152387" y="9622"/>
                </a:lnTo>
                <a:cubicBezTo>
                  <a:pt x="152387" y="4361"/>
                  <a:pt x="156652" y="97"/>
                  <a:pt x="161912" y="97"/>
                </a:cubicBezTo>
                <a:close/>
                <a:moveTo>
                  <a:pt x="98387" y="177897"/>
                </a:moveTo>
                <a:lnTo>
                  <a:pt x="47600" y="177897"/>
                </a:lnTo>
                <a:lnTo>
                  <a:pt x="46304" y="177986"/>
                </a:lnTo>
                <a:cubicBezTo>
                  <a:pt x="41093" y="178703"/>
                  <a:pt x="37449" y="183509"/>
                  <a:pt x="38166" y="188720"/>
                </a:cubicBezTo>
                <a:cubicBezTo>
                  <a:pt x="38748" y="192950"/>
                  <a:pt x="42074" y="196276"/>
                  <a:pt x="46304" y="196858"/>
                </a:cubicBezTo>
                <a:lnTo>
                  <a:pt x="47600" y="196947"/>
                </a:lnTo>
                <a:lnTo>
                  <a:pt x="98387" y="196947"/>
                </a:lnTo>
                <a:lnTo>
                  <a:pt x="99682" y="196858"/>
                </a:lnTo>
                <a:cubicBezTo>
                  <a:pt x="104894" y="196141"/>
                  <a:pt x="108537" y="191335"/>
                  <a:pt x="107820" y="186124"/>
                </a:cubicBezTo>
                <a:cubicBezTo>
                  <a:pt x="107238" y="181894"/>
                  <a:pt x="103912" y="178568"/>
                  <a:pt x="99682" y="177986"/>
                </a:cubicBezTo>
                <a:lnTo>
                  <a:pt x="98387" y="177897"/>
                </a:lnTo>
                <a:close/>
                <a:moveTo>
                  <a:pt x="161887" y="76297"/>
                </a:moveTo>
                <a:lnTo>
                  <a:pt x="47612" y="76297"/>
                </a:lnTo>
                <a:lnTo>
                  <a:pt x="46317" y="76386"/>
                </a:lnTo>
                <a:cubicBezTo>
                  <a:pt x="41105" y="77103"/>
                  <a:pt x="37462" y="81909"/>
                  <a:pt x="38179" y="87120"/>
                </a:cubicBezTo>
                <a:cubicBezTo>
                  <a:pt x="38761" y="91350"/>
                  <a:pt x="42087" y="94676"/>
                  <a:pt x="46317" y="95258"/>
                </a:cubicBezTo>
                <a:lnTo>
                  <a:pt x="47612" y="95347"/>
                </a:lnTo>
                <a:lnTo>
                  <a:pt x="161912" y="95347"/>
                </a:lnTo>
                <a:lnTo>
                  <a:pt x="163195" y="95258"/>
                </a:lnTo>
                <a:cubicBezTo>
                  <a:pt x="168406" y="94541"/>
                  <a:pt x="172050" y="89735"/>
                  <a:pt x="171333" y="84524"/>
                </a:cubicBezTo>
                <a:cubicBezTo>
                  <a:pt x="170751" y="80294"/>
                  <a:pt x="167425" y="76968"/>
                  <a:pt x="163195" y="76386"/>
                </a:cubicBezTo>
                <a:lnTo>
                  <a:pt x="161900" y="76297"/>
                </a:lnTo>
                <a:close/>
                <a:moveTo>
                  <a:pt x="184150" y="108047"/>
                </a:moveTo>
                <a:cubicBezTo>
                  <a:pt x="194158" y="108047"/>
                  <a:pt x="203175" y="112251"/>
                  <a:pt x="209550" y="118982"/>
                </a:cubicBezTo>
                <a:cubicBezTo>
                  <a:pt x="215683" y="125462"/>
                  <a:pt x="219093" y="134050"/>
                  <a:pt x="219075" y="142972"/>
                </a:cubicBezTo>
                <a:cubicBezTo>
                  <a:pt x="219090" y="151890"/>
                  <a:pt x="215680" y="160473"/>
                  <a:pt x="209550" y="166949"/>
                </a:cubicBezTo>
                <a:cubicBezTo>
                  <a:pt x="196308" y="180974"/>
                  <a:pt x="174203" y="181608"/>
                  <a:pt x="160179" y="168365"/>
                </a:cubicBezTo>
                <a:cubicBezTo>
                  <a:pt x="146154" y="155123"/>
                  <a:pt x="145521" y="133019"/>
                  <a:pt x="158763" y="118994"/>
                </a:cubicBezTo>
                <a:cubicBezTo>
                  <a:pt x="165359" y="112008"/>
                  <a:pt x="174542" y="108049"/>
                  <a:pt x="184150" y="108047"/>
                </a:cubicBezTo>
                <a:close/>
                <a:moveTo>
                  <a:pt x="120650" y="209647"/>
                </a:moveTo>
                <a:cubicBezTo>
                  <a:pt x="120650" y="199126"/>
                  <a:pt x="129179" y="190597"/>
                  <a:pt x="139700" y="190597"/>
                </a:cubicBezTo>
                <a:lnTo>
                  <a:pt x="228600" y="190597"/>
                </a:lnTo>
                <a:cubicBezTo>
                  <a:pt x="239121" y="190597"/>
                  <a:pt x="247650" y="199126"/>
                  <a:pt x="247650" y="209647"/>
                </a:cubicBezTo>
                <a:lnTo>
                  <a:pt x="247650" y="215997"/>
                </a:lnTo>
                <a:cubicBezTo>
                  <a:pt x="247650" y="241029"/>
                  <a:pt x="224028" y="266797"/>
                  <a:pt x="184150" y="266797"/>
                </a:cubicBezTo>
                <a:cubicBezTo>
                  <a:pt x="161493" y="266797"/>
                  <a:pt x="144094" y="258491"/>
                  <a:pt x="133274" y="246731"/>
                </a:cubicBezTo>
                <a:cubicBezTo>
                  <a:pt x="125044" y="237777"/>
                  <a:pt x="120650" y="226817"/>
                  <a:pt x="120650" y="215997"/>
                </a:cubicBezTo>
                <a:lnTo>
                  <a:pt x="120650" y="209647"/>
                </a:lnTo>
                <a:close/>
              </a:path>
            </a:pathLst>
          </a:cu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chemeClr val="bg1"/>
              </a:solidFill>
              <a:cs typeface="Segoe UI" pitchFamily="34" charset="0"/>
            </a:endParaRPr>
          </a:p>
        </p:txBody>
      </p:sp>
      <p:sp>
        <p:nvSpPr>
          <p:cNvPr id="65" name="Oval 64">
            <a:extLst>
              <a:ext uri="{FF2B5EF4-FFF2-40B4-BE49-F238E27FC236}">
                <a16:creationId xmlns:a16="http://schemas.microsoft.com/office/drawing/2014/main" id="{71BBB3B6-8757-040E-557C-4BEF13683B9E}"/>
              </a:ext>
            </a:extLst>
          </p:cNvPr>
          <p:cNvSpPr>
            <a:spLocks noChangeAspect="1"/>
          </p:cNvSpPr>
          <p:nvPr userDrawn="1"/>
        </p:nvSpPr>
        <p:spPr bwMode="auto">
          <a:xfrm>
            <a:off x="605282" y="3160439"/>
            <a:ext cx="591058" cy="591058"/>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2800" b="1" spc="0" baseline="0">
                <a:solidFill>
                  <a:schemeClr val="accent1"/>
                </a:solidFill>
                <a:cs typeface="Segoe UI" panose="020B0502040204020203" pitchFamily="34" charset="0"/>
              </a:rPr>
              <a:t>2</a:t>
            </a:r>
          </a:p>
        </p:txBody>
      </p:sp>
      <p:sp>
        <p:nvSpPr>
          <p:cNvPr id="66" name="Oval 65">
            <a:extLst>
              <a:ext uri="{FF2B5EF4-FFF2-40B4-BE49-F238E27FC236}">
                <a16:creationId xmlns:a16="http://schemas.microsoft.com/office/drawing/2014/main" id="{AFADAB87-661B-7D0E-5302-7C5D63BBC1AE}"/>
              </a:ext>
            </a:extLst>
          </p:cNvPr>
          <p:cNvSpPr>
            <a:spLocks noChangeAspect="1"/>
          </p:cNvSpPr>
          <p:nvPr userDrawn="1"/>
        </p:nvSpPr>
        <p:spPr bwMode="auto">
          <a:xfrm>
            <a:off x="605282" y="1997745"/>
            <a:ext cx="591058" cy="591058"/>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2800" b="1" spc="0" baseline="0">
                <a:solidFill>
                  <a:schemeClr val="accent1"/>
                </a:solidFill>
                <a:cs typeface="Segoe UI" panose="020B0502040204020203" pitchFamily="34" charset="0"/>
              </a:rPr>
              <a:t>1</a:t>
            </a:r>
          </a:p>
        </p:txBody>
      </p:sp>
      <p:sp>
        <p:nvSpPr>
          <p:cNvPr id="67" name="Oval 66">
            <a:extLst>
              <a:ext uri="{FF2B5EF4-FFF2-40B4-BE49-F238E27FC236}">
                <a16:creationId xmlns:a16="http://schemas.microsoft.com/office/drawing/2014/main" id="{5C2FE5DC-7DA1-AC5C-7AD9-85E9A0209120}"/>
              </a:ext>
            </a:extLst>
          </p:cNvPr>
          <p:cNvSpPr>
            <a:spLocks noChangeAspect="1"/>
          </p:cNvSpPr>
          <p:nvPr userDrawn="1"/>
        </p:nvSpPr>
        <p:spPr bwMode="auto">
          <a:xfrm>
            <a:off x="605282" y="5485827"/>
            <a:ext cx="591058" cy="591058"/>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2800" b="1" spc="0" baseline="0">
                <a:solidFill>
                  <a:schemeClr val="accent1"/>
                </a:solidFill>
                <a:cs typeface="Segoe UI" panose="020B0502040204020203" pitchFamily="34" charset="0"/>
              </a:rPr>
              <a:t>4</a:t>
            </a:r>
          </a:p>
        </p:txBody>
      </p:sp>
      <p:sp>
        <p:nvSpPr>
          <p:cNvPr id="68" name="Oval 67">
            <a:extLst>
              <a:ext uri="{FF2B5EF4-FFF2-40B4-BE49-F238E27FC236}">
                <a16:creationId xmlns:a16="http://schemas.microsoft.com/office/drawing/2014/main" id="{DE6262B0-9FAB-A092-F9D0-C2974D9A8CE2}"/>
              </a:ext>
            </a:extLst>
          </p:cNvPr>
          <p:cNvSpPr>
            <a:spLocks noChangeAspect="1"/>
          </p:cNvSpPr>
          <p:nvPr userDrawn="1"/>
        </p:nvSpPr>
        <p:spPr bwMode="auto">
          <a:xfrm>
            <a:off x="605282" y="4323133"/>
            <a:ext cx="591058" cy="591058"/>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2800" b="1" spc="0" baseline="0">
                <a:solidFill>
                  <a:schemeClr val="accent1"/>
                </a:solidFill>
                <a:cs typeface="Segoe UI" panose="020B0502040204020203" pitchFamily="34" charset="0"/>
              </a:rPr>
              <a:t>3</a:t>
            </a:r>
          </a:p>
        </p:txBody>
      </p:sp>
      <p:sp>
        <p:nvSpPr>
          <p:cNvPr id="69" name="Oval 68">
            <a:extLst>
              <a:ext uri="{FF2B5EF4-FFF2-40B4-BE49-F238E27FC236}">
                <a16:creationId xmlns:a16="http://schemas.microsoft.com/office/drawing/2014/main" id="{5E0FBF94-353F-D184-5E65-2319B9098A5A}"/>
              </a:ext>
            </a:extLst>
          </p:cNvPr>
          <p:cNvSpPr>
            <a:spLocks noChangeAspect="1"/>
          </p:cNvSpPr>
          <p:nvPr userDrawn="1"/>
        </p:nvSpPr>
        <p:spPr bwMode="auto">
          <a:xfrm>
            <a:off x="6264719" y="3160439"/>
            <a:ext cx="591058" cy="591058"/>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2800" b="1" spc="0" baseline="0">
                <a:solidFill>
                  <a:schemeClr val="accent1"/>
                </a:solidFill>
                <a:cs typeface="Segoe UI" panose="020B0502040204020203" pitchFamily="34" charset="0"/>
              </a:rPr>
              <a:t>6</a:t>
            </a:r>
          </a:p>
        </p:txBody>
      </p:sp>
      <p:sp>
        <p:nvSpPr>
          <p:cNvPr id="70" name="Oval 69">
            <a:extLst>
              <a:ext uri="{FF2B5EF4-FFF2-40B4-BE49-F238E27FC236}">
                <a16:creationId xmlns:a16="http://schemas.microsoft.com/office/drawing/2014/main" id="{AA40B0BC-0999-7632-5382-181D53A8FB04}"/>
              </a:ext>
            </a:extLst>
          </p:cNvPr>
          <p:cNvSpPr>
            <a:spLocks noChangeAspect="1"/>
          </p:cNvSpPr>
          <p:nvPr userDrawn="1"/>
        </p:nvSpPr>
        <p:spPr bwMode="auto">
          <a:xfrm>
            <a:off x="6264720" y="1997745"/>
            <a:ext cx="591058" cy="591058"/>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2800" b="1" spc="0" baseline="0">
                <a:solidFill>
                  <a:schemeClr val="accent1"/>
                </a:solidFill>
                <a:cs typeface="Segoe UI" panose="020B0502040204020203" pitchFamily="34" charset="0"/>
              </a:rPr>
              <a:t>5</a:t>
            </a:r>
          </a:p>
        </p:txBody>
      </p:sp>
      <p:sp>
        <p:nvSpPr>
          <p:cNvPr id="71" name="Oval 70">
            <a:extLst>
              <a:ext uri="{FF2B5EF4-FFF2-40B4-BE49-F238E27FC236}">
                <a16:creationId xmlns:a16="http://schemas.microsoft.com/office/drawing/2014/main" id="{5DEA3FD6-A563-29F1-B68B-F0D57561F827}"/>
              </a:ext>
            </a:extLst>
          </p:cNvPr>
          <p:cNvSpPr>
            <a:spLocks noChangeAspect="1"/>
          </p:cNvSpPr>
          <p:nvPr userDrawn="1"/>
        </p:nvSpPr>
        <p:spPr bwMode="auto">
          <a:xfrm>
            <a:off x="6264719" y="5485827"/>
            <a:ext cx="591058" cy="591058"/>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2800" b="1" spc="0" baseline="0">
                <a:solidFill>
                  <a:schemeClr val="accent1"/>
                </a:solidFill>
                <a:cs typeface="Segoe UI" panose="020B0502040204020203" pitchFamily="34" charset="0"/>
              </a:rPr>
              <a:t>8</a:t>
            </a:r>
          </a:p>
        </p:txBody>
      </p:sp>
      <p:sp>
        <p:nvSpPr>
          <p:cNvPr id="72" name="Oval 71">
            <a:extLst>
              <a:ext uri="{FF2B5EF4-FFF2-40B4-BE49-F238E27FC236}">
                <a16:creationId xmlns:a16="http://schemas.microsoft.com/office/drawing/2014/main" id="{88F031D2-4699-B9E2-9062-573C62D4C123}"/>
              </a:ext>
            </a:extLst>
          </p:cNvPr>
          <p:cNvSpPr>
            <a:spLocks noChangeAspect="1"/>
          </p:cNvSpPr>
          <p:nvPr userDrawn="1"/>
        </p:nvSpPr>
        <p:spPr bwMode="auto">
          <a:xfrm>
            <a:off x="6264719" y="4323133"/>
            <a:ext cx="591058" cy="591058"/>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2800" b="1" spc="0" baseline="0">
                <a:solidFill>
                  <a:schemeClr val="accent1"/>
                </a:solidFill>
                <a:cs typeface="Segoe UI" panose="020B0502040204020203" pitchFamily="34" charset="0"/>
              </a:rPr>
              <a:t>7</a:t>
            </a:r>
          </a:p>
        </p:txBody>
      </p:sp>
    </p:spTree>
    <p:extLst>
      <p:ext uri="{BB962C8B-B14F-4D97-AF65-F5344CB8AC3E}">
        <p14:creationId xmlns:p14="http://schemas.microsoft.com/office/powerpoint/2010/main" val="79637190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36" userDrawn="1">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492443"/>
          </a:xfrm>
        </p:spPr>
        <p:txBody>
          <a:bodyPr/>
          <a:lstStyle>
            <a:lvl1pPr>
              <a:defRPr sz="3200"/>
            </a:lvl1pPr>
          </a:lstStyle>
          <a:p>
            <a:r>
              <a:rPr lang="en-US"/>
              <a:t>Click to edit Master title style</a:t>
            </a:r>
          </a:p>
        </p:txBody>
      </p:sp>
      <p:pic>
        <p:nvPicPr>
          <p:cNvPr id="36" name="Picture 35" descr="A silver shield with text and stars&#10;&#10;AI-generated content may be incorrect.">
            <a:extLst>
              <a:ext uri="{FF2B5EF4-FFF2-40B4-BE49-F238E27FC236}">
                <a16:creationId xmlns:a16="http://schemas.microsoft.com/office/drawing/2014/main" id="{74FF1801-287D-2733-9928-4E90A7D39335}"/>
              </a:ext>
            </a:extLst>
          </p:cNvPr>
          <p:cNvPicPr>
            <a:picLocks noChangeAspect="1"/>
          </p:cNvPicPr>
          <p:nvPr userDrawn="1"/>
        </p:nvPicPr>
        <p:blipFill>
          <a:blip r:embed="rId2">
            <a:alphaModFix/>
          </a:blip>
          <a:srcRect l="3844" t="2514" r="4223" b="5918"/>
          <a:stretch>
            <a:fillRect/>
          </a:stretch>
        </p:blipFill>
        <p:spPr>
          <a:xfrm>
            <a:off x="11385550" y="288925"/>
            <a:ext cx="512761" cy="510720"/>
          </a:xfrm>
          <a:prstGeom prst="rect">
            <a:avLst/>
          </a:prstGeom>
          <a:effectLst/>
        </p:spPr>
      </p:pic>
      <p:sp>
        <p:nvSpPr>
          <p:cNvPr id="3" name="Rectangle: Rounded Corners 2">
            <a:extLst>
              <a:ext uri="{FF2B5EF4-FFF2-40B4-BE49-F238E27FC236}">
                <a16:creationId xmlns:a16="http://schemas.microsoft.com/office/drawing/2014/main" id="{3CD0CDBD-486B-08B6-B33E-947AC20B8842}"/>
              </a:ext>
            </a:extLst>
          </p:cNvPr>
          <p:cNvSpPr/>
          <p:nvPr userDrawn="1"/>
        </p:nvSpPr>
        <p:spPr bwMode="auto">
          <a:xfrm>
            <a:off x="586740" y="1846019"/>
            <a:ext cx="11018520" cy="4055116"/>
          </a:xfrm>
          <a:prstGeom prst="roundRect">
            <a:avLst>
              <a:gd name="adj" fmla="val 4652"/>
            </a:avLst>
          </a:prstGeom>
          <a:solidFill>
            <a:schemeClr val="tx1">
              <a:alpha val="7000"/>
            </a:schemeClr>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44000" tIns="146304" rIns="182880" bIns="146304" numCol="1" spcCol="0" rtlCol="0" fromWordArt="0" anchor="ctr" anchorCtr="0" forceAA="0" compatLnSpc="1">
            <a:prstTxWarp prst="textNoShape">
              <a:avLst/>
            </a:prstTxWarp>
            <a:normAutofit/>
          </a:bodyPr>
          <a:lstStyle/>
          <a:p>
            <a:pPr defTabSz="932114" fontAlgn="base">
              <a:spcBef>
                <a:spcPct val="0"/>
              </a:spcBef>
              <a:spcAft>
                <a:spcPct val="0"/>
              </a:spcAft>
            </a:pPr>
            <a:endParaRPr lang="en-US" sz="1200" err="1">
              <a:solidFill>
                <a:srgbClr val="FFFFFF"/>
              </a:solidFill>
              <a:latin typeface="Segoe UI Semibold"/>
              <a:cs typeface="Segoe UI" pitchFamily="34" charset="0"/>
            </a:endParaRPr>
          </a:p>
        </p:txBody>
      </p:sp>
      <p:cxnSp>
        <p:nvCxnSpPr>
          <p:cNvPr id="4" name="Straight Connector 3">
            <a:extLst>
              <a:ext uri="{FF2B5EF4-FFF2-40B4-BE49-F238E27FC236}">
                <a16:creationId xmlns:a16="http://schemas.microsoft.com/office/drawing/2014/main" id="{78FBFC18-9BB0-D67E-D0DA-9B44A4A7650A}"/>
              </a:ext>
            </a:extLst>
          </p:cNvPr>
          <p:cNvCxnSpPr/>
          <p:nvPr userDrawn="1"/>
        </p:nvCxnSpPr>
        <p:spPr>
          <a:xfrm>
            <a:off x="4259580" y="2094997"/>
            <a:ext cx="0" cy="3553811"/>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EA9B0A0-B895-DAD9-0DDF-1E5E912DEB49}"/>
              </a:ext>
            </a:extLst>
          </p:cNvPr>
          <p:cNvCxnSpPr/>
          <p:nvPr userDrawn="1"/>
        </p:nvCxnSpPr>
        <p:spPr>
          <a:xfrm>
            <a:off x="7932420" y="2094997"/>
            <a:ext cx="0" cy="3553811"/>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5DEF41EF-FFBA-DFC1-61C6-4F88587F7305}"/>
              </a:ext>
            </a:extLst>
          </p:cNvPr>
          <p:cNvSpPr/>
          <p:nvPr/>
        </p:nvSpPr>
        <p:spPr bwMode="auto">
          <a:xfrm>
            <a:off x="849547" y="2094997"/>
            <a:ext cx="608922" cy="608922"/>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742950" defTabSz="932742" fontAlgn="base">
              <a:spcBef>
                <a:spcPct val="0"/>
              </a:spcBef>
              <a:spcAft>
                <a:spcPct val="0"/>
              </a:spcAft>
            </a:pPr>
            <a:endParaRPr lang="en-US" sz="4000" spc="-50" err="1">
              <a:ln w="3175">
                <a:noFill/>
              </a:ln>
              <a:solidFill>
                <a:schemeClr val="tx1"/>
              </a:solidFill>
              <a:latin typeface="Aptos SemiBold" panose="020B0004020202020204" pitchFamily="34" charset="0"/>
              <a:cs typeface="Segoe UI" pitchFamily="34" charset="0"/>
            </a:endParaRPr>
          </a:p>
        </p:txBody>
      </p:sp>
      <p:sp>
        <p:nvSpPr>
          <p:cNvPr id="16" name="Oval 15">
            <a:extLst>
              <a:ext uri="{FF2B5EF4-FFF2-40B4-BE49-F238E27FC236}">
                <a16:creationId xmlns:a16="http://schemas.microsoft.com/office/drawing/2014/main" id="{31EB9EC8-A884-8284-0AAB-4976403F13D1}"/>
              </a:ext>
            </a:extLst>
          </p:cNvPr>
          <p:cNvSpPr/>
          <p:nvPr/>
        </p:nvSpPr>
        <p:spPr bwMode="auto">
          <a:xfrm>
            <a:off x="4522387" y="2094997"/>
            <a:ext cx="608922" cy="608922"/>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742950" defTabSz="932742" fontAlgn="base">
              <a:spcBef>
                <a:spcPct val="0"/>
              </a:spcBef>
              <a:spcAft>
                <a:spcPct val="0"/>
              </a:spcAft>
            </a:pPr>
            <a:endParaRPr lang="en-US" sz="4000" spc="-50" err="1">
              <a:ln w="3175">
                <a:noFill/>
              </a:ln>
              <a:solidFill>
                <a:schemeClr val="tx1"/>
              </a:solidFill>
              <a:latin typeface="Aptos SemiBold" panose="020B0004020202020204" pitchFamily="34" charset="0"/>
              <a:cs typeface="Segoe UI" pitchFamily="34" charset="0"/>
            </a:endParaRPr>
          </a:p>
        </p:txBody>
      </p:sp>
      <p:sp>
        <p:nvSpPr>
          <p:cNvPr id="19" name="Oval 18">
            <a:extLst>
              <a:ext uri="{FF2B5EF4-FFF2-40B4-BE49-F238E27FC236}">
                <a16:creationId xmlns:a16="http://schemas.microsoft.com/office/drawing/2014/main" id="{04601F06-DEF7-3668-4404-6D919F0EC362}"/>
              </a:ext>
            </a:extLst>
          </p:cNvPr>
          <p:cNvSpPr/>
          <p:nvPr/>
        </p:nvSpPr>
        <p:spPr bwMode="auto">
          <a:xfrm>
            <a:off x="8195227" y="2094997"/>
            <a:ext cx="608922" cy="608922"/>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742950" defTabSz="932742" fontAlgn="base">
              <a:spcBef>
                <a:spcPct val="0"/>
              </a:spcBef>
              <a:spcAft>
                <a:spcPct val="0"/>
              </a:spcAft>
            </a:pPr>
            <a:endParaRPr lang="en-US" sz="4000" spc="-50" err="1">
              <a:ln w="3175">
                <a:noFill/>
              </a:ln>
              <a:solidFill>
                <a:schemeClr val="tx1"/>
              </a:solidFill>
              <a:latin typeface="Aptos SemiBold" panose="020B0004020202020204" pitchFamily="34" charset="0"/>
              <a:cs typeface="Segoe UI" pitchFamily="34" charset="0"/>
            </a:endParaRPr>
          </a:p>
        </p:txBody>
      </p:sp>
      <p:sp>
        <p:nvSpPr>
          <p:cNvPr id="25" name="Text Placeholder 4">
            <a:extLst>
              <a:ext uri="{FF2B5EF4-FFF2-40B4-BE49-F238E27FC236}">
                <a16:creationId xmlns:a16="http://schemas.microsoft.com/office/drawing/2014/main" id="{C49A0E9F-3858-893C-CF35-1DD566F40965}"/>
              </a:ext>
            </a:extLst>
          </p:cNvPr>
          <p:cNvSpPr>
            <a:spLocks noGrp="1"/>
          </p:cNvSpPr>
          <p:nvPr userDrawn="1">
            <p:ph type="body" sz="quarter" idx="10" hasCustomPrompt="1"/>
          </p:nvPr>
        </p:nvSpPr>
        <p:spPr>
          <a:xfrm>
            <a:off x="849547" y="3436166"/>
            <a:ext cx="3147226" cy="2215991"/>
          </a:xfrm>
        </p:spPr>
        <p:txBody>
          <a:bodyPr/>
          <a:lstStyle>
            <a:lvl1pPr marL="0" indent="0">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 </a:t>
            </a:r>
          </a:p>
        </p:txBody>
      </p:sp>
      <p:sp>
        <p:nvSpPr>
          <p:cNvPr id="26" name="Text Placeholder 4">
            <a:extLst>
              <a:ext uri="{FF2B5EF4-FFF2-40B4-BE49-F238E27FC236}">
                <a16:creationId xmlns:a16="http://schemas.microsoft.com/office/drawing/2014/main" id="{EC3F2F95-6ED2-1046-914B-4C224F758955}"/>
              </a:ext>
            </a:extLst>
          </p:cNvPr>
          <p:cNvSpPr>
            <a:spLocks noGrp="1"/>
          </p:cNvSpPr>
          <p:nvPr userDrawn="1">
            <p:ph type="body" sz="quarter" idx="11" hasCustomPrompt="1"/>
          </p:nvPr>
        </p:nvSpPr>
        <p:spPr>
          <a:xfrm>
            <a:off x="8195227" y="3436166"/>
            <a:ext cx="3147226" cy="2215991"/>
          </a:xfrm>
        </p:spPr>
        <p:txBody>
          <a:bodyPr/>
          <a:lstStyle>
            <a:lvl1pPr marL="0" indent="0">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 </a:t>
            </a:r>
          </a:p>
        </p:txBody>
      </p:sp>
      <p:sp>
        <p:nvSpPr>
          <p:cNvPr id="27" name="Text Placeholder 4">
            <a:extLst>
              <a:ext uri="{FF2B5EF4-FFF2-40B4-BE49-F238E27FC236}">
                <a16:creationId xmlns:a16="http://schemas.microsoft.com/office/drawing/2014/main" id="{7E5CBFBF-4CAD-1F92-0464-5C423F9DA982}"/>
              </a:ext>
            </a:extLst>
          </p:cNvPr>
          <p:cNvSpPr>
            <a:spLocks noGrp="1"/>
          </p:cNvSpPr>
          <p:nvPr userDrawn="1">
            <p:ph type="body" sz="quarter" idx="26" hasCustomPrompt="1"/>
          </p:nvPr>
        </p:nvSpPr>
        <p:spPr>
          <a:xfrm>
            <a:off x="4522387" y="3436166"/>
            <a:ext cx="3147226" cy="2215991"/>
          </a:xfrm>
        </p:spPr>
        <p:txBody>
          <a:bodyPr/>
          <a:lstStyle>
            <a:lvl1pPr marL="0" indent="0">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 </a:t>
            </a:r>
          </a:p>
        </p:txBody>
      </p:sp>
      <p:sp>
        <p:nvSpPr>
          <p:cNvPr id="28" name="Text Placeholder 4">
            <a:extLst>
              <a:ext uri="{FF2B5EF4-FFF2-40B4-BE49-F238E27FC236}">
                <a16:creationId xmlns:a16="http://schemas.microsoft.com/office/drawing/2014/main" id="{CCDCC00D-17ED-8F0B-BBBF-1BA6112B423F}"/>
              </a:ext>
            </a:extLst>
          </p:cNvPr>
          <p:cNvSpPr>
            <a:spLocks noGrp="1"/>
          </p:cNvSpPr>
          <p:nvPr userDrawn="1">
            <p:ph type="body" sz="quarter" idx="27" hasCustomPrompt="1"/>
          </p:nvPr>
        </p:nvSpPr>
        <p:spPr>
          <a:xfrm>
            <a:off x="849547" y="2856765"/>
            <a:ext cx="3145536" cy="369332"/>
          </a:xfrm>
        </p:spPr>
        <p:txBody>
          <a:bodyPr anchor="ctr"/>
          <a:lstStyle>
            <a:lvl1pPr marL="0" indent="0">
              <a:buSzPct val="100000"/>
              <a:buFont typeface="Arial" panose="020B0604020202020204" pitchFamily="34" charset="0"/>
              <a:buNone/>
              <a:defRPr sz="2400">
                <a:solidFill>
                  <a:schemeClr val="accent1"/>
                </a:solidFill>
                <a:latin typeface="+mj-lt"/>
              </a:defRPr>
            </a:lvl1pPr>
          </a:lstStyle>
          <a:p>
            <a:pPr lvl="0"/>
            <a:r>
              <a:rPr lang="en-US"/>
              <a:t>Lorem ipsum</a:t>
            </a:r>
          </a:p>
        </p:txBody>
      </p:sp>
      <p:sp>
        <p:nvSpPr>
          <p:cNvPr id="29" name="Text Placeholder 4">
            <a:extLst>
              <a:ext uri="{FF2B5EF4-FFF2-40B4-BE49-F238E27FC236}">
                <a16:creationId xmlns:a16="http://schemas.microsoft.com/office/drawing/2014/main" id="{87A69CFD-DA45-7D52-4657-984FCD979650}"/>
              </a:ext>
            </a:extLst>
          </p:cNvPr>
          <p:cNvSpPr>
            <a:spLocks noGrp="1"/>
          </p:cNvSpPr>
          <p:nvPr userDrawn="1">
            <p:ph type="body" sz="quarter" idx="28" hasCustomPrompt="1"/>
          </p:nvPr>
        </p:nvSpPr>
        <p:spPr>
          <a:xfrm>
            <a:off x="4522387" y="2856765"/>
            <a:ext cx="3145536" cy="369332"/>
          </a:xfrm>
        </p:spPr>
        <p:txBody>
          <a:bodyPr anchor="ctr"/>
          <a:lstStyle>
            <a:lvl1pPr marL="0" indent="0">
              <a:buSzPct val="100000"/>
              <a:buFont typeface="Arial" panose="020B0604020202020204" pitchFamily="34" charset="0"/>
              <a:buNone/>
              <a:defRPr sz="2400">
                <a:solidFill>
                  <a:schemeClr val="accent1"/>
                </a:solidFill>
                <a:latin typeface="+mj-lt"/>
              </a:defRPr>
            </a:lvl1pPr>
          </a:lstStyle>
          <a:p>
            <a:pPr lvl="0"/>
            <a:r>
              <a:rPr lang="en-US"/>
              <a:t>Lorem ipsum</a:t>
            </a:r>
          </a:p>
        </p:txBody>
      </p:sp>
      <p:sp>
        <p:nvSpPr>
          <p:cNvPr id="30" name="Text Placeholder 4">
            <a:extLst>
              <a:ext uri="{FF2B5EF4-FFF2-40B4-BE49-F238E27FC236}">
                <a16:creationId xmlns:a16="http://schemas.microsoft.com/office/drawing/2014/main" id="{58859C94-ABDB-53E3-8E82-EE100F40EC8A}"/>
              </a:ext>
            </a:extLst>
          </p:cNvPr>
          <p:cNvSpPr>
            <a:spLocks noGrp="1"/>
          </p:cNvSpPr>
          <p:nvPr userDrawn="1">
            <p:ph type="body" sz="quarter" idx="29" hasCustomPrompt="1"/>
          </p:nvPr>
        </p:nvSpPr>
        <p:spPr>
          <a:xfrm>
            <a:off x="8195227" y="2856765"/>
            <a:ext cx="3145536" cy="369332"/>
          </a:xfrm>
        </p:spPr>
        <p:txBody>
          <a:bodyPr anchor="ctr"/>
          <a:lstStyle>
            <a:lvl1pPr marL="0" indent="0">
              <a:buSzPct val="100000"/>
              <a:buFont typeface="Arial" panose="020B0604020202020204" pitchFamily="34" charset="0"/>
              <a:buNone/>
              <a:defRPr sz="2400">
                <a:solidFill>
                  <a:schemeClr val="accent1"/>
                </a:solidFill>
                <a:latin typeface="+mj-lt"/>
              </a:defRPr>
            </a:lvl1pPr>
          </a:lstStyle>
          <a:p>
            <a:pPr lvl="0"/>
            <a:r>
              <a:rPr lang="en-US"/>
              <a:t>Lorem ipsum</a:t>
            </a:r>
          </a:p>
        </p:txBody>
      </p:sp>
    </p:spTree>
    <p:extLst>
      <p:ext uri="{BB962C8B-B14F-4D97-AF65-F5344CB8AC3E}">
        <p14:creationId xmlns:p14="http://schemas.microsoft.com/office/powerpoint/2010/main" val="128130205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Columns_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492443"/>
          </a:xfrm>
        </p:spPr>
        <p:txBody>
          <a:bodyPr/>
          <a:lstStyle>
            <a:lvl1pPr>
              <a:defRPr sz="3200"/>
            </a:lvl1pPr>
          </a:lstStyle>
          <a:p>
            <a:r>
              <a:rPr lang="en-US"/>
              <a:t>Click to edit Master title style</a:t>
            </a:r>
          </a:p>
        </p:txBody>
      </p:sp>
      <p:pic>
        <p:nvPicPr>
          <p:cNvPr id="36" name="Picture 35" descr="A silver shield with text and stars&#10;&#10;AI-generated content may be incorrect.">
            <a:extLst>
              <a:ext uri="{FF2B5EF4-FFF2-40B4-BE49-F238E27FC236}">
                <a16:creationId xmlns:a16="http://schemas.microsoft.com/office/drawing/2014/main" id="{74FF1801-287D-2733-9928-4E90A7D39335}"/>
              </a:ext>
            </a:extLst>
          </p:cNvPr>
          <p:cNvPicPr>
            <a:picLocks noChangeAspect="1"/>
          </p:cNvPicPr>
          <p:nvPr userDrawn="1"/>
        </p:nvPicPr>
        <p:blipFill>
          <a:blip r:embed="rId2">
            <a:alphaModFix/>
          </a:blip>
          <a:srcRect l="3844" t="2514" r="4223" b="5918"/>
          <a:stretch>
            <a:fillRect/>
          </a:stretch>
        </p:blipFill>
        <p:spPr>
          <a:xfrm>
            <a:off x="11385550" y="288925"/>
            <a:ext cx="512761" cy="510720"/>
          </a:xfrm>
          <a:prstGeom prst="rect">
            <a:avLst/>
          </a:prstGeom>
          <a:effectLst/>
        </p:spPr>
      </p:pic>
      <p:sp>
        <p:nvSpPr>
          <p:cNvPr id="31" name="Rectangle: Rounded Corners 30">
            <a:extLst>
              <a:ext uri="{FF2B5EF4-FFF2-40B4-BE49-F238E27FC236}">
                <a16:creationId xmlns:a16="http://schemas.microsoft.com/office/drawing/2014/main" id="{6645E16D-A6F6-12D4-1B52-72DA2FD4BF7B}"/>
              </a:ext>
            </a:extLst>
          </p:cNvPr>
          <p:cNvSpPr/>
          <p:nvPr userDrawn="1"/>
        </p:nvSpPr>
        <p:spPr bwMode="auto">
          <a:xfrm>
            <a:off x="588263" y="1589627"/>
            <a:ext cx="11018520" cy="4567901"/>
          </a:xfrm>
          <a:prstGeom prst="roundRect">
            <a:avLst>
              <a:gd name="adj" fmla="val 6066"/>
            </a:avLst>
          </a:prstGeom>
          <a:solidFill>
            <a:schemeClr val="bg1"/>
          </a:solidFill>
          <a:ln w="1270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kern="0" err="1">
              <a:solidFill>
                <a:srgbClr val="091F2C"/>
              </a:solidFill>
              <a:latin typeface="Segoe UI" panose="020B0502040204020203" pitchFamily="34" charset="0"/>
              <a:cs typeface="Segoe UI" panose="020B0502040204020203" pitchFamily="34" charset="0"/>
            </a:endParaRPr>
          </a:p>
        </p:txBody>
      </p:sp>
      <p:sp>
        <p:nvSpPr>
          <p:cNvPr id="14" name="Rectangle: Rounded Corners 13">
            <a:extLst>
              <a:ext uri="{FF2B5EF4-FFF2-40B4-BE49-F238E27FC236}">
                <a16:creationId xmlns:a16="http://schemas.microsoft.com/office/drawing/2014/main" id="{D7CDE501-956F-6601-6FAF-072526D90C33}"/>
              </a:ext>
            </a:extLst>
          </p:cNvPr>
          <p:cNvSpPr>
            <a:spLocks/>
          </p:cNvSpPr>
          <p:nvPr userDrawn="1"/>
        </p:nvSpPr>
        <p:spPr bwMode="auto">
          <a:xfrm>
            <a:off x="765046" y="2077407"/>
            <a:ext cx="3464054" cy="3897558"/>
          </a:xfrm>
          <a:prstGeom prst="roundRect">
            <a:avLst>
              <a:gd name="adj" fmla="val 4652"/>
            </a:avLst>
          </a:prstGeom>
          <a:solidFill>
            <a:schemeClr val="tx1">
              <a:alpha val="7000"/>
            </a:schemeClr>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44000" tIns="146304" rIns="182880" bIns="146304" numCol="1" spcCol="0" rtlCol="0" fromWordArt="0" anchor="ctr" anchorCtr="0" forceAA="0" compatLnSpc="1">
            <a:prstTxWarp prst="textNoShape">
              <a:avLst/>
            </a:prstTxWarp>
            <a:normAutofit/>
          </a:bodyPr>
          <a:lstStyle/>
          <a:p>
            <a:pPr defTabSz="932114" fontAlgn="base">
              <a:spcBef>
                <a:spcPct val="0"/>
              </a:spcBef>
              <a:spcAft>
                <a:spcPct val="0"/>
              </a:spcAft>
            </a:pPr>
            <a:endParaRPr lang="en-US" sz="1200" err="1">
              <a:solidFill>
                <a:srgbClr val="FFFFFF"/>
              </a:solidFill>
              <a:latin typeface="Segoe UI Semibold"/>
              <a:cs typeface="Segoe UI" pitchFamily="34" charset="0"/>
            </a:endParaRPr>
          </a:p>
        </p:txBody>
      </p:sp>
      <p:sp>
        <p:nvSpPr>
          <p:cNvPr id="18" name="Rectangle: Rounded Corners 17">
            <a:extLst>
              <a:ext uri="{FF2B5EF4-FFF2-40B4-BE49-F238E27FC236}">
                <a16:creationId xmlns:a16="http://schemas.microsoft.com/office/drawing/2014/main" id="{00FE743D-A6AF-9359-20C5-5A92376990BA}"/>
              </a:ext>
            </a:extLst>
          </p:cNvPr>
          <p:cNvSpPr>
            <a:spLocks/>
          </p:cNvSpPr>
          <p:nvPr userDrawn="1"/>
        </p:nvSpPr>
        <p:spPr bwMode="auto">
          <a:xfrm>
            <a:off x="4365496" y="2036534"/>
            <a:ext cx="3464054" cy="3938431"/>
          </a:xfrm>
          <a:prstGeom prst="roundRect">
            <a:avLst>
              <a:gd name="adj" fmla="val 4652"/>
            </a:avLst>
          </a:prstGeom>
          <a:solidFill>
            <a:schemeClr val="tx1">
              <a:alpha val="7000"/>
            </a:schemeClr>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44000" tIns="146304" rIns="182880" bIns="146304" numCol="1" spcCol="0" rtlCol="0" fromWordArt="0" anchor="ctr" anchorCtr="0" forceAA="0" compatLnSpc="1">
            <a:prstTxWarp prst="textNoShape">
              <a:avLst/>
            </a:prstTxWarp>
            <a:normAutofit/>
          </a:bodyPr>
          <a:lstStyle/>
          <a:p>
            <a:pPr defTabSz="932114" fontAlgn="base">
              <a:spcBef>
                <a:spcPct val="0"/>
              </a:spcBef>
              <a:spcAft>
                <a:spcPct val="0"/>
              </a:spcAft>
            </a:pPr>
            <a:endParaRPr lang="en-US" sz="1200" err="1">
              <a:solidFill>
                <a:srgbClr val="FFFFFF"/>
              </a:solidFill>
              <a:latin typeface="Segoe UI Semibold"/>
              <a:cs typeface="Segoe UI" pitchFamily="34" charset="0"/>
            </a:endParaRPr>
          </a:p>
        </p:txBody>
      </p:sp>
      <p:sp>
        <p:nvSpPr>
          <p:cNvPr id="24" name="Rectangle: Rounded Corners 23">
            <a:extLst>
              <a:ext uri="{FF2B5EF4-FFF2-40B4-BE49-F238E27FC236}">
                <a16:creationId xmlns:a16="http://schemas.microsoft.com/office/drawing/2014/main" id="{96E01AF0-8759-B771-27B6-2E0ED3E04E87}"/>
              </a:ext>
            </a:extLst>
          </p:cNvPr>
          <p:cNvSpPr>
            <a:spLocks/>
          </p:cNvSpPr>
          <p:nvPr userDrawn="1"/>
        </p:nvSpPr>
        <p:spPr bwMode="auto">
          <a:xfrm>
            <a:off x="7965946" y="2036534"/>
            <a:ext cx="3464054" cy="3938431"/>
          </a:xfrm>
          <a:prstGeom prst="roundRect">
            <a:avLst>
              <a:gd name="adj" fmla="val 4652"/>
            </a:avLst>
          </a:prstGeom>
          <a:solidFill>
            <a:schemeClr val="tx1">
              <a:alpha val="7000"/>
            </a:schemeClr>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44000" tIns="146304" rIns="182880" bIns="146304" numCol="1" spcCol="0" rtlCol="0" fromWordArt="0" anchor="ctr" anchorCtr="0" forceAA="0" compatLnSpc="1">
            <a:prstTxWarp prst="textNoShape">
              <a:avLst/>
            </a:prstTxWarp>
            <a:normAutofit/>
          </a:bodyPr>
          <a:lstStyle/>
          <a:p>
            <a:pPr defTabSz="932114" fontAlgn="base">
              <a:spcBef>
                <a:spcPct val="0"/>
              </a:spcBef>
              <a:spcAft>
                <a:spcPct val="0"/>
              </a:spcAft>
            </a:pPr>
            <a:endParaRPr lang="en-US" sz="1200" err="1">
              <a:solidFill>
                <a:srgbClr val="FFFFFF"/>
              </a:solidFill>
              <a:latin typeface="Segoe UI Semibold"/>
              <a:cs typeface="Segoe UI" pitchFamily="34" charset="0"/>
            </a:endParaRPr>
          </a:p>
        </p:txBody>
      </p:sp>
      <p:sp>
        <p:nvSpPr>
          <p:cNvPr id="9" name="Text Placeholder 4">
            <a:extLst>
              <a:ext uri="{FF2B5EF4-FFF2-40B4-BE49-F238E27FC236}">
                <a16:creationId xmlns:a16="http://schemas.microsoft.com/office/drawing/2014/main" id="{C49A0E9F-3858-893C-CF35-1DD566F40965}"/>
              </a:ext>
            </a:extLst>
          </p:cNvPr>
          <p:cNvSpPr>
            <a:spLocks noGrp="1"/>
          </p:cNvSpPr>
          <p:nvPr>
            <p:ph type="body" sz="quarter" idx="10" hasCustomPrompt="1"/>
          </p:nvPr>
        </p:nvSpPr>
        <p:spPr>
          <a:xfrm>
            <a:off x="923460" y="2686051"/>
            <a:ext cx="3147226" cy="3124200"/>
          </a:xfrm>
        </p:spPr>
        <p:txBody>
          <a:bodyPr>
            <a:noAutofit/>
          </a:bodyPr>
          <a:lstStyle>
            <a:lvl1pPr marL="0" indent="0" algn="ctr">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 </a:t>
            </a:r>
          </a:p>
        </p:txBody>
      </p:sp>
      <p:sp>
        <p:nvSpPr>
          <p:cNvPr id="10" name="Text Placeholder 4">
            <a:extLst>
              <a:ext uri="{FF2B5EF4-FFF2-40B4-BE49-F238E27FC236}">
                <a16:creationId xmlns:a16="http://schemas.microsoft.com/office/drawing/2014/main" id="{EC3F2F95-6ED2-1046-914B-4C224F758955}"/>
              </a:ext>
            </a:extLst>
          </p:cNvPr>
          <p:cNvSpPr>
            <a:spLocks noGrp="1"/>
          </p:cNvSpPr>
          <p:nvPr>
            <p:ph type="body" sz="quarter" idx="11" hasCustomPrompt="1"/>
          </p:nvPr>
        </p:nvSpPr>
        <p:spPr>
          <a:xfrm>
            <a:off x="8124360" y="2686051"/>
            <a:ext cx="3147226" cy="3124200"/>
          </a:xfrm>
        </p:spPr>
        <p:txBody>
          <a:bodyPr>
            <a:noAutofit/>
          </a:bodyPr>
          <a:lstStyle>
            <a:lvl1pPr marL="0" indent="0" algn="ctr">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 </a:t>
            </a:r>
          </a:p>
        </p:txBody>
      </p:sp>
      <p:sp>
        <p:nvSpPr>
          <p:cNvPr id="12" name="Text Placeholder 4">
            <a:extLst>
              <a:ext uri="{FF2B5EF4-FFF2-40B4-BE49-F238E27FC236}">
                <a16:creationId xmlns:a16="http://schemas.microsoft.com/office/drawing/2014/main" id="{7E5CBFBF-4CAD-1F92-0464-5C423F9DA982}"/>
              </a:ext>
            </a:extLst>
          </p:cNvPr>
          <p:cNvSpPr>
            <a:spLocks noGrp="1"/>
          </p:cNvSpPr>
          <p:nvPr>
            <p:ph type="body" sz="quarter" idx="26" hasCustomPrompt="1"/>
          </p:nvPr>
        </p:nvSpPr>
        <p:spPr>
          <a:xfrm>
            <a:off x="4523910" y="2686051"/>
            <a:ext cx="3147226" cy="3124200"/>
          </a:xfrm>
        </p:spPr>
        <p:txBody>
          <a:bodyPr>
            <a:noAutofit/>
          </a:bodyPr>
          <a:lstStyle>
            <a:lvl1pPr marL="0" indent="0" algn="ctr">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 </a:t>
            </a:r>
          </a:p>
        </p:txBody>
      </p:sp>
      <p:sp>
        <p:nvSpPr>
          <p:cNvPr id="28" name="Text Placeholder 4">
            <a:extLst>
              <a:ext uri="{FF2B5EF4-FFF2-40B4-BE49-F238E27FC236}">
                <a16:creationId xmlns:a16="http://schemas.microsoft.com/office/drawing/2014/main" id="{CCDCC00D-17ED-8F0B-BBBF-1BA6112B423F}"/>
              </a:ext>
            </a:extLst>
          </p:cNvPr>
          <p:cNvSpPr>
            <a:spLocks noGrp="1"/>
          </p:cNvSpPr>
          <p:nvPr userDrawn="1">
            <p:ph type="body" sz="quarter" idx="27" hasCustomPrompt="1"/>
          </p:nvPr>
        </p:nvSpPr>
        <p:spPr>
          <a:xfrm>
            <a:off x="880363" y="1770474"/>
            <a:ext cx="3233420" cy="613866"/>
          </a:xfrm>
          <a:prstGeom prst="roundRect">
            <a:avLst>
              <a:gd name="adj" fmla="val 75114"/>
            </a:avLst>
          </a:prstGeom>
          <a:gradFill>
            <a:gsLst>
              <a:gs pos="0">
                <a:srgbClr val="8449A9"/>
              </a:gs>
              <a:gs pos="100000">
                <a:srgbClr val="0538BB"/>
              </a:gs>
            </a:gsLst>
            <a:lin ang="2700000" scaled="1"/>
          </a:gradFill>
        </p:spPr>
        <p:txBody>
          <a:bodyPr lIns="91440" tIns="45720" rIns="91440" bIns="45720" anchor="ctr">
            <a:noAutofit/>
          </a:bodyPr>
          <a:lstStyle>
            <a:lvl1pPr marL="0" indent="0" algn="ctr">
              <a:buSzPct val="100000"/>
              <a:buFont typeface="Arial" panose="020B0604020202020204" pitchFamily="34" charset="0"/>
              <a:buNone/>
              <a:defRPr sz="2400">
                <a:solidFill>
                  <a:schemeClr val="tx1"/>
                </a:solidFill>
                <a:latin typeface="+mj-lt"/>
              </a:defRPr>
            </a:lvl1pPr>
          </a:lstStyle>
          <a:p>
            <a:pPr lvl="0"/>
            <a:r>
              <a:rPr lang="en-US"/>
              <a:t>Lorem ipsum</a:t>
            </a:r>
          </a:p>
        </p:txBody>
      </p:sp>
      <p:sp>
        <p:nvSpPr>
          <p:cNvPr id="29" name="Text Placeholder 4">
            <a:extLst>
              <a:ext uri="{FF2B5EF4-FFF2-40B4-BE49-F238E27FC236}">
                <a16:creationId xmlns:a16="http://schemas.microsoft.com/office/drawing/2014/main" id="{87A69CFD-DA45-7D52-4657-984FCD979650}"/>
              </a:ext>
            </a:extLst>
          </p:cNvPr>
          <p:cNvSpPr>
            <a:spLocks noGrp="1"/>
          </p:cNvSpPr>
          <p:nvPr userDrawn="1">
            <p:ph type="body" sz="quarter" idx="28" hasCustomPrompt="1"/>
          </p:nvPr>
        </p:nvSpPr>
        <p:spPr>
          <a:xfrm>
            <a:off x="4480813" y="1770474"/>
            <a:ext cx="3233420" cy="613866"/>
          </a:xfrm>
          <a:prstGeom prst="roundRect">
            <a:avLst>
              <a:gd name="adj" fmla="val 75114"/>
            </a:avLst>
          </a:prstGeom>
          <a:gradFill>
            <a:gsLst>
              <a:gs pos="0">
                <a:srgbClr val="8449A9"/>
              </a:gs>
              <a:gs pos="100000">
                <a:srgbClr val="0538BB"/>
              </a:gs>
            </a:gsLst>
            <a:lin ang="2700000" scaled="1"/>
          </a:gradFill>
        </p:spPr>
        <p:txBody>
          <a:bodyPr anchor="ctr">
            <a:noAutofit/>
          </a:bodyPr>
          <a:lstStyle>
            <a:lvl1pPr marL="0" indent="0" algn="ctr">
              <a:buSzPct val="100000"/>
              <a:buFont typeface="Arial" panose="020B0604020202020204" pitchFamily="34" charset="0"/>
              <a:buNone/>
              <a:defRPr sz="2400">
                <a:solidFill>
                  <a:schemeClr val="tx1"/>
                </a:solidFill>
                <a:latin typeface="+mj-lt"/>
              </a:defRPr>
            </a:lvl1pPr>
          </a:lstStyle>
          <a:p>
            <a:pPr lvl="0"/>
            <a:r>
              <a:rPr lang="en-US"/>
              <a:t>Lorem ipsum</a:t>
            </a:r>
          </a:p>
        </p:txBody>
      </p:sp>
      <p:sp>
        <p:nvSpPr>
          <p:cNvPr id="30" name="Text Placeholder 4">
            <a:extLst>
              <a:ext uri="{FF2B5EF4-FFF2-40B4-BE49-F238E27FC236}">
                <a16:creationId xmlns:a16="http://schemas.microsoft.com/office/drawing/2014/main" id="{58859C94-ABDB-53E3-8E82-EE100F40EC8A}"/>
              </a:ext>
            </a:extLst>
          </p:cNvPr>
          <p:cNvSpPr>
            <a:spLocks noGrp="1"/>
          </p:cNvSpPr>
          <p:nvPr userDrawn="1">
            <p:ph type="body" sz="quarter" idx="29" hasCustomPrompt="1"/>
          </p:nvPr>
        </p:nvSpPr>
        <p:spPr>
          <a:xfrm>
            <a:off x="8081263" y="1770474"/>
            <a:ext cx="3233420" cy="613866"/>
          </a:xfrm>
          <a:prstGeom prst="roundRect">
            <a:avLst>
              <a:gd name="adj" fmla="val 75114"/>
            </a:avLst>
          </a:prstGeom>
          <a:gradFill>
            <a:gsLst>
              <a:gs pos="0">
                <a:srgbClr val="8449A9"/>
              </a:gs>
              <a:gs pos="100000">
                <a:srgbClr val="0538BB"/>
              </a:gs>
            </a:gsLst>
            <a:lin ang="2700000" scaled="1"/>
          </a:gradFill>
        </p:spPr>
        <p:txBody>
          <a:bodyPr lIns="91440" tIns="45720" rIns="91440" bIns="45720" anchor="ctr">
            <a:noAutofit/>
          </a:bodyPr>
          <a:lstStyle>
            <a:lvl1pPr marL="0" indent="0" algn="ctr">
              <a:buSzPct val="100000"/>
              <a:buFont typeface="Arial" panose="020B0604020202020204" pitchFamily="34" charset="0"/>
              <a:buNone/>
              <a:defRPr sz="2400">
                <a:solidFill>
                  <a:schemeClr val="tx1"/>
                </a:solidFill>
                <a:latin typeface="+mj-lt"/>
              </a:defRPr>
            </a:lvl1pPr>
          </a:lstStyle>
          <a:p>
            <a:pPr lvl="0"/>
            <a:r>
              <a:rPr lang="en-US"/>
              <a:t>Lorem ipsum</a:t>
            </a:r>
          </a:p>
        </p:txBody>
      </p:sp>
    </p:spTree>
    <p:extLst>
      <p:ext uri="{BB962C8B-B14F-4D97-AF65-F5344CB8AC3E}">
        <p14:creationId xmlns:p14="http://schemas.microsoft.com/office/powerpoint/2010/main" val="72241440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Right Conte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D219CF8-6301-062F-3878-5DD2BC8B11D9}"/>
              </a:ext>
            </a:extLst>
          </p:cNvPr>
          <p:cNvSpPr>
            <a:spLocks/>
          </p:cNvSpPr>
          <p:nvPr userDrawn="1"/>
        </p:nvSpPr>
        <p:spPr bwMode="auto">
          <a:xfrm>
            <a:off x="1" y="0"/>
            <a:ext cx="4065588" cy="6858000"/>
          </a:xfrm>
          <a:prstGeom prst="rect">
            <a:avLst/>
          </a:prstGeom>
          <a:gradFill flip="none" rotWithShape="1">
            <a:gsLst>
              <a:gs pos="0">
                <a:srgbClr val="8449A9"/>
              </a:gs>
              <a:gs pos="100000">
                <a:srgbClr val="0538BB"/>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chemeClr val="bg1"/>
              </a:solidFill>
              <a:cs typeface="Segoe UI" pitchFamily="34" charset="0"/>
            </a:endParaRPr>
          </a:p>
        </p:txBody>
      </p:sp>
      <p:sp>
        <p:nvSpPr>
          <p:cNvPr id="6" name="Oval 5">
            <a:extLst>
              <a:ext uri="{FF2B5EF4-FFF2-40B4-BE49-F238E27FC236}">
                <a16:creationId xmlns:a16="http://schemas.microsoft.com/office/drawing/2014/main" id="{13B417DA-4FE9-DDB4-D474-47CEAD57BA9A}"/>
              </a:ext>
            </a:extLst>
          </p:cNvPr>
          <p:cNvSpPr/>
          <p:nvPr userDrawn="1"/>
        </p:nvSpPr>
        <p:spPr bwMode="auto">
          <a:xfrm>
            <a:off x="4649788" y="916872"/>
            <a:ext cx="652463" cy="652463"/>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742950" defTabSz="932742" fontAlgn="base">
              <a:spcBef>
                <a:spcPct val="0"/>
              </a:spcBef>
              <a:spcAft>
                <a:spcPct val="0"/>
              </a:spcAft>
            </a:pPr>
            <a:endParaRPr lang="en-US" sz="4000" spc="-50" err="1">
              <a:ln w="3175">
                <a:noFill/>
              </a:ln>
              <a:solidFill>
                <a:schemeClr val="tx1"/>
              </a:solidFill>
              <a:latin typeface="Aptos SemiBold" panose="020B0004020202020204" pitchFamily="34" charset="0"/>
              <a:cs typeface="Segoe UI" pitchFamily="34" charset="0"/>
            </a:endParaRPr>
          </a:p>
        </p:txBody>
      </p:sp>
      <p:cxnSp>
        <p:nvCxnSpPr>
          <p:cNvPr id="11" name="Straight Connector 10">
            <a:extLst>
              <a:ext uri="{FF2B5EF4-FFF2-40B4-BE49-F238E27FC236}">
                <a16:creationId xmlns:a16="http://schemas.microsoft.com/office/drawing/2014/main" id="{49708FCF-8546-DBA2-A113-19B7FDF6B7BA}"/>
              </a:ext>
            </a:extLst>
          </p:cNvPr>
          <p:cNvCxnSpPr/>
          <p:nvPr userDrawn="1"/>
        </p:nvCxnSpPr>
        <p:spPr>
          <a:xfrm>
            <a:off x="5428343" y="1243103"/>
            <a:ext cx="6181045" cy="0"/>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2444115"/>
            <a:ext cx="2824862" cy="1969770"/>
          </a:xfrm>
        </p:spPr>
        <p:txBody>
          <a:bodyPr anchor="ctr">
            <a:noAutofit/>
          </a:bodyPr>
          <a:lstStyle>
            <a:lvl1pPr>
              <a:defRPr sz="3200"/>
            </a:lvl1pPr>
          </a:lstStyle>
          <a:p>
            <a:r>
              <a:rPr lang="en-US"/>
              <a:t>Click to edit Master title style</a:t>
            </a:r>
          </a:p>
        </p:txBody>
      </p:sp>
      <p:pic>
        <p:nvPicPr>
          <p:cNvPr id="36" name="Picture 35" descr="A silver shield with text and stars&#10;&#10;AI-generated content may be incorrect.">
            <a:extLst>
              <a:ext uri="{FF2B5EF4-FFF2-40B4-BE49-F238E27FC236}">
                <a16:creationId xmlns:a16="http://schemas.microsoft.com/office/drawing/2014/main" id="{74FF1801-287D-2733-9928-4E90A7D39335}"/>
              </a:ext>
            </a:extLst>
          </p:cNvPr>
          <p:cNvPicPr>
            <a:picLocks noChangeAspect="1"/>
          </p:cNvPicPr>
          <p:nvPr userDrawn="1"/>
        </p:nvPicPr>
        <p:blipFill>
          <a:blip r:embed="rId2">
            <a:alphaModFix/>
          </a:blip>
          <a:srcRect l="3844" t="2514" r="4223" b="5918"/>
          <a:stretch>
            <a:fillRect/>
          </a:stretch>
        </p:blipFill>
        <p:spPr>
          <a:xfrm>
            <a:off x="11385550" y="288925"/>
            <a:ext cx="512761" cy="510720"/>
          </a:xfrm>
          <a:prstGeom prst="rect">
            <a:avLst/>
          </a:prstGeom>
          <a:effectLst/>
        </p:spPr>
      </p:pic>
      <p:sp>
        <p:nvSpPr>
          <p:cNvPr id="13" name="Text Placeholder 4">
            <a:extLst>
              <a:ext uri="{FF2B5EF4-FFF2-40B4-BE49-F238E27FC236}">
                <a16:creationId xmlns:a16="http://schemas.microsoft.com/office/drawing/2014/main" id="{C49A0E9F-3858-893C-CF35-1DD566F40965}"/>
              </a:ext>
            </a:extLst>
          </p:cNvPr>
          <p:cNvSpPr>
            <a:spLocks noGrp="1"/>
          </p:cNvSpPr>
          <p:nvPr>
            <p:ph type="body" sz="quarter" idx="10" hasCustomPrompt="1"/>
          </p:nvPr>
        </p:nvSpPr>
        <p:spPr>
          <a:xfrm>
            <a:off x="4649788" y="2487898"/>
            <a:ext cx="6959600" cy="2800767"/>
          </a:xfrm>
        </p:spPr>
        <p:txBody>
          <a:bodyPr>
            <a:noAutofit/>
          </a:bodyPr>
          <a:lstStyle>
            <a:lvl1pPr marL="0" indent="0" algn="l">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a:p>
            <a:pPr lvl="0"/>
            <a:r>
              <a:rPr lang="en-US"/>
              <a:t>Nunc </a:t>
            </a:r>
            <a:r>
              <a:rPr lang="en-US" err="1"/>
              <a:t>viverra</a:t>
            </a:r>
            <a:r>
              <a:rPr lang="en-US"/>
              <a:t> </a:t>
            </a:r>
            <a:r>
              <a:rPr lang="en-US" err="1"/>
              <a:t>imperdiet</a:t>
            </a:r>
            <a:r>
              <a:rPr lang="en-US"/>
              <a:t> </a:t>
            </a:r>
            <a:r>
              <a:rPr lang="en-US" err="1"/>
              <a:t>enim</a:t>
            </a:r>
            <a:r>
              <a:rPr lang="en-US"/>
              <a:t>. </a:t>
            </a:r>
            <a:r>
              <a:rPr lang="en-US" err="1"/>
              <a:t>Fusce</a:t>
            </a:r>
            <a:r>
              <a:rPr lang="en-US"/>
              <a:t> est. </a:t>
            </a:r>
            <a:r>
              <a:rPr lang="en-US" err="1"/>
              <a:t>Vivamus</a:t>
            </a:r>
            <a:r>
              <a:rPr lang="en-US"/>
              <a:t> a </a:t>
            </a:r>
            <a:r>
              <a:rPr lang="en-US" err="1"/>
              <a:t>tellus</a:t>
            </a:r>
            <a:r>
              <a:rPr lang="en-US"/>
              <a:t>.</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Tree>
    <p:extLst>
      <p:ext uri="{BB962C8B-B14F-4D97-AF65-F5344CB8AC3E}">
        <p14:creationId xmlns:p14="http://schemas.microsoft.com/office/powerpoint/2010/main" val="395981065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Right Content w/imag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410DD66-BEF5-AD96-BBE3-8DE5EBF9AFF0}"/>
              </a:ext>
            </a:extLst>
          </p:cNvPr>
          <p:cNvSpPr>
            <a:spLocks/>
          </p:cNvSpPr>
          <p:nvPr userDrawn="1"/>
        </p:nvSpPr>
        <p:spPr bwMode="auto">
          <a:xfrm>
            <a:off x="0" y="0"/>
            <a:ext cx="5008563" cy="6858000"/>
          </a:xfrm>
          <a:prstGeom prst="rect">
            <a:avLst/>
          </a:prstGeom>
          <a:gradFill flip="none" rotWithShape="1">
            <a:gsLst>
              <a:gs pos="0">
                <a:srgbClr val="8449A9"/>
              </a:gs>
              <a:gs pos="100000">
                <a:srgbClr val="0538BB"/>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chemeClr val="bg1"/>
              </a:solidFill>
              <a:cs typeface="Segoe UI" pitchFamily="34" charset="0"/>
            </a:endParaRPr>
          </a:p>
        </p:txBody>
      </p:sp>
      <p:sp>
        <p:nvSpPr>
          <p:cNvPr id="5" name="Rectangle: Rounded Corners 4">
            <a:extLst>
              <a:ext uri="{FF2B5EF4-FFF2-40B4-BE49-F238E27FC236}">
                <a16:creationId xmlns:a16="http://schemas.microsoft.com/office/drawing/2014/main" id="{A320564B-5731-3320-C8CA-3A47A25F8901}"/>
              </a:ext>
            </a:extLst>
          </p:cNvPr>
          <p:cNvSpPr/>
          <p:nvPr userDrawn="1"/>
        </p:nvSpPr>
        <p:spPr bwMode="auto">
          <a:xfrm>
            <a:off x="3619500" y="914401"/>
            <a:ext cx="7987282" cy="5029198"/>
          </a:xfrm>
          <a:prstGeom prst="roundRect">
            <a:avLst>
              <a:gd name="adj" fmla="val 6066"/>
            </a:avLst>
          </a:prstGeom>
          <a:solidFill>
            <a:schemeClr val="bg1"/>
          </a:solidFill>
          <a:ln w="1270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kern="0" err="1">
              <a:solidFill>
                <a:srgbClr val="091F2C"/>
              </a:solidFill>
              <a:latin typeface="Segoe UI" panose="020B0502040204020203" pitchFamily="34" charset="0"/>
              <a:cs typeface="Segoe UI" panose="020B0502040204020203" pitchFamily="34" charset="0"/>
            </a:endParaRPr>
          </a:p>
        </p:txBody>
      </p:sp>
      <p:cxnSp>
        <p:nvCxnSpPr>
          <p:cNvPr id="15" name="Straight Connector 14">
            <a:extLst>
              <a:ext uri="{FF2B5EF4-FFF2-40B4-BE49-F238E27FC236}">
                <a16:creationId xmlns:a16="http://schemas.microsoft.com/office/drawing/2014/main" id="{F0CDE4F4-7637-A3B9-AE34-A62C85748D27}"/>
              </a:ext>
            </a:extLst>
          </p:cNvPr>
          <p:cNvCxnSpPr/>
          <p:nvPr userDrawn="1"/>
        </p:nvCxnSpPr>
        <p:spPr>
          <a:xfrm>
            <a:off x="6306803" y="3305889"/>
            <a:ext cx="0" cy="2496312"/>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248FCFE-C510-1CB5-C187-2B33129616FB}"/>
              </a:ext>
            </a:extLst>
          </p:cNvPr>
          <p:cNvCxnSpPr/>
          <p:nvPr userDrawn="1"/>
        </p:nvCxnSpPr>
        <p:spPr>
          <a:xfrm>
            <a:off x="8919481" y="3305889"/>
            <a:ext cx="0" cy="2496312"/>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2444115"/>
            <a:ext cx="2824862" cy="1969770"/>
          </a:xfrm>
        </p:spPr>
        <p:txBody>
          <a:bodyPr anchor="ctr">
            <a:noAutofit/>
          </a:bodyPr>
          <a:lstStyle>
            <a:lvl1pPr>
              <a:defRPr sz="3200"/>
            </a:lvl1pPr>
          </a:lstStyle>
          <a:p>
            <a:r>
              <a:rPr lang="en-US"/>
              <a:t>Click to edit Master title style</a:t>
            </a:r>
          </a:p>
        </p:txBody>
      </p:sp>
      <p:pic>
        <p:nvPicPr>
          <p:cNvPr id="36" name="Picture 35" descr="A silver shield with text and stars&#10;&#10;AI-generated content may be incorrect.">
            <a:extLst>
              <a:ext uri="{FF2B5EF4-FFF2-40B4-BE49-F238E27FC236}">
                <a16:creationId xmlns:a16="http://schemas.microsoft.com/office/drawing/2014/main" id="{74FF1801-287D-2733-9928-4E90A7D39335}"/>
              </a:ext>
            </a:extLst>
          </p:cNvPr>
          <p:cNvPicPr>
            <a:picLocks noChangeAspect="1"/>
          </p:cNvPicPr>
          <p:nvPr userDrawn="1"/>
        </p:nvPicPr>
        <p:blipFill>
          <a:blip r:embed="rId2">
            <a:alphaModFix/>
          </a:blip>
          <a:srcRect l="3844" t="2514" r="4223" b="5918"/>
          <a:stretch>
            <a:fillRect/>
          </a:stretch>
        </p:blipFill>
        <p:spPr>
          <a:xfrm>
            <a:off x="11385550" y="288925"/>
            <a:ext cx="512761" cy="510720"/>
          </a:xfrm>
          <a:prstGeom prst="rect">
            <a:avLst/>
          </a:prstGeom>
          <a:effectLst/>
        </p:spPr>
      </p:pic>
      <p:sp>
        <p:nvSpPr>
          <p:cNvPr id="24" name="Text Placeholder 4">
            <a:extLst>
              <a:ext uri="{FF2B5EF4-FFF2-40B4-BE49-F238E27FC236}">
                <a16:creationId xmlns:a16="http://schemas.microsoft.com/office/drawing/2014/main" id="{D60C2E20-61E5-BBC7-39EB-725601DC7112}"/>
              </a:ext>
            </a:extLst>
          </p:cNvPr>
          <p:cNvSpPr>
            <a:spLocks noGrp="1"/>
          </p:cNvSpPr>
          <p:nvPr>
            <p:ph type="body" sz="quarter" idx="11" hasCustomPrompt="1"/>
          </p:nvPr>
        </p:nvSpPr>
        <p:spPr>
          <a:xfrm>
            <a:off x="6456537" y="3695700"/>
            <a:ext cx="2313210" cy="2103178"/>
          </a:xfrm>
        </p:spPr>
        <p:txBody>
          <a:bodyPr>
            <a:noAutofit/>
          </a:bodyPr>
          <a:lstStyle>
            <a:lvl1pPr marL="0" indent="0" algn="ctr">
              <a:buSzPct val="100000"/>
              <a:buFont typeface="Arial" panose="020B0604020202020204" pitchFamily="34" charset="0"/>
              <a:buNone/>
              <a:defRPr sz="16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a:t>
            </a:r>
          </a:p>
        </p:txBody>
      </p:sp>
      <p:sp>
        <p:nvSpPr>
          <p:cNvPr id="25" name="Text Placeholder 4">
            <a:extLst>
              <a:ext uri="{FF2B5EF4-FFF2-40B4-BE49-F238E27FC236}">
                <a16:creationId xmlns:a16="http://schemas.microsoft.com/office/drawing/2014/main" id="{3C84EC4A-7494-5FEF-0C8D-CA5524840EA2}"/>
              </a:ext>
            </a:extLst>
          </p:cNvPr>
          <p:cNvSpPr>
            <a:spLocks noGrp="1"/>
          </p:cNvSpPr>
          <p:nvPr>
            <p:ph type="body" sz="quarter" idx="12" hasCustomPrompt="1"/>
          </p:nvPr>
        </p:nvSpPr>
        <p:spPr>
          <a:xfrm>
            <a:off x="9069214" y="3695700"/>
            <a:ext cx="2313210" cy="2103178"/>
          </a:xfrm>
        </p:spPr>
        <p:txBody>
          <a:bodyPr>
            <a:noAutofit/>
          </a:bodyPr>
          <a:lstStyle>
            <a:lvl1pPr marL="0" indent="0" algn="ctr">
              <a:buSzPct val="100000"/>
              <a:buFont typeface="Arial" panose="020B0604020202020204" pitchFamily="34" charset="0"/>
              <a:buNone/>
              <a:defRPr sz="16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a:t>
            </a:r>
          </a:p>
        </p:txBody>
      </p:sp>
      <p:sp>
        <p:nvSpPr>
          <p:cNvPr id="26" name="Text Placeholder 4">
            <a:extLst>
              <a:ext uri="{FF2B5EF4-FFF2-40B4-BE49-F238E27FC236}">
                <a16:creationId xmlns:a16="http://schemas.microsoft.com/office/drawing/2014/main" id="{7E4553E0-0909-E795-4581-D517C4E25FA7}"/>
              </a:ext>
            </a:extLst>
          </p:cNvPr>
          <p:cNvSpPr>
            <a:spLocks noGrp="1"/>
          </p:cNvSpPr>
          <p:nvPr>
            <p:ph type="body" sz="quarter" idx="10" hasCustomPrompt="1"/>
          </p:nvPr>
        </p:nvSpPr>
        <p:spPr>
          <a:xfrm>
            <a:off x="3843859" y="3695700"/>
            <a:ext cx="2313210" cy="2103178"/>
          </a:xfrm>
        </p:spPr>
        <p:txBody>
          <a:bodyPr>
            <a:noAutofit/>
          </a:bodyPr>
          <a:lstStyle>
            <a:lvl1pPr marL="0" indent="0" algn="ctr">
              <a:buSzPct val="100000"/>
              <a:buFont typeface="Arial" panose="020B0604020202020204" pitchFamily="34" charset="0"/>
              <a:buNone/>
              <a:defRPr sz="16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a:t>
            </a:r>
          </a:p>
        </p:txBody>
      </p:sp>
      <p:sp>
        <p:nvSpPr>
          <p:cNvPr id="27" name="Text Placeholder 4">
            <a:extLst>
              <a:ext uri="{FF2B5EF4-FFF2-40B4-BE49-F238E27FC236}">
                <a16:creationId xmlns:a16="http://schemas.microsoft.com/office/drawing/2014/main" id="{C51A41B7-DAA5-FB6A-0384-21E000A9E7BA}"/>
              </a:ext>
            </a:extLst>
          </p:cNvPr>
          <p:cNvSpPr>
            <a:spLocks noGrp="1"/>
          </p:cNvSpPr>
          <p:nvPr>
            <p:ph type="body" sz="quarter" idx="13" hasCustomPrompt="1"/>
          </p:nvPr>
        </p:nvSpPr>
        <p:spPr>
          <a:xfrm>
            <a:off x="3843859" y="3279527"/>
            <a:ext cx="2313210" cy="276999"/>
          </a:xfrm>
        </p:spPr>
        <p:txBody>
          <a:bodyPr>
            <a:spAutoFit/>
          </a:bodyPr>
          <a:lstStyle>
            <a:lvl1pPr marL="0" indent="0" algn="ctr">
              <a:buSzPct val="100000"/>
              <a:buFont typeface="Arial" panose="020B0604020202020204" pitchFamily="34" charset="0"/>
              <a:buNone/>
              <a:defRPr sz="1800">
                <a:solidFill>
                  <a:schemeClr val="accent1"/>
                </a:solidFill>
                <a:latin typeface="+mj-lt"/>
              </a:defRPr>
            </a:lvl1pPr>
          </a:lstStyle>
          <a:p>
            <a:pPr lvl="0"/>
            <a:r>
              <a:rPr lang="en-US"/>
              <a:t>Lorem ipsum</a:t>
            </a:r>
          </a:p>
        </p:txBody>
      </p:sp>
      <p:sp>
        <p:nvSpPr>
          <p:cNvPr id="28" name="Text Placeholder 4">
            <a:extLst>
              <a:ext uri="{FF2B5EF4-FFF2-40B4-BE49-F238E27FC236}">
                <a16:creationId xmlns:a16="http://schemas.microsoft.com/office/drawing/2014/main" id="{90CC8220-519E-0158-8039-E66ED6F5C94C}"/>
              </a:ext>
            </a:extLst>
          </p:cNvPr>
          <p:cNvSpPr>
            <a:spLocks noGrp="1"/>
          </p:cNvSpPr>
          <p:nvPr>
            <p:ph type="body" sz="quarter" idx="14" hasCustomPrompt="1"/>
          </p:nvPr>
        </p:nvSpPr>
        <p:spPr>
          <a:xfrm>
            <a:off x="6456537" y="3279527"/>
            <a:ext cx="2313210" cy="276999"/>
          </a:xfrm>
        </p:spPr>
        <p:txBody>
          <a:bodyPr>
            <a:spAutoFit/>
          </a:bodyPr>
          <a:lstStyle>
            <a:lvl1pPr marL="0" indent="0" algn="ctr">
              <a:buSzPct val="100000"/>
              <a:buFont typeface="Arial" panose="020B0604020202020204" pitchFamily="34" charset="0"/>
              <a:buNone/>
              <a:defRPr sz="1800">
                <a:solidFill>
                  <a:schemeClr val="accent1"/>
                </a:solidFill>
                <a:latin typeface="+mj-lt"/>
              </a:defRPr>
            </a:lvl1pPr>
          </a:lstStyle>
          <a:p>
            <a:pPr lvl="0"/>
            <a:r>
              <a:rPr lang="en-US"/>
              <a:t>Lorem ipsum</a:t>
            </a:r>
          </a:p>
        </p:txBody>
      </p:sp>
      <p:sp>
        <p:nvSpPr>
          <p:cNvPr id="29" name="Text Placeholder 4">
            <a:extLst>
              <a:ext uri="{FF2B5EF4-FFF2-40B4-BE49-F238E27FC236}">
                <a16:creationId xmlns:a16="http://schemas.microsoft.com/office/drawing/2014/main" id="{923F7EEB-42B1-67A4-209A-D406C1BA9321}"/>
              </a:ext>
            </a:extLst>
          </p:cNvPr>
          <p:cNvSpPr>
            <a:spLocks noGrp="1"/>
          </p:cNvSpPr>
          <p:nvPr>
            <p:ph type="body" sz="quarter" idx="15" hasCustomPrompt="1"/>
          </p:nvPr>
        </p:nvSpPr>
        <p:spPr>
          <a:xfrm>
            <a:off x="9069214" y="3279527"/>
            <a:ext cx="2313210" cy="276999"/>
          </a:xfrm>
        </p:spPr>
        <p:txBody>
          <a:bodyPr>
            <a:spAutoFit/>
          </a:bodyPr>
          <a:lstStyle>
            <a:lvl1pPr marL="0" indent="0" algn="ctr">
              <a:buSzPct val="100000"/>
              <a:buFont typeface="Arial" panose="020B0604020202020204" pitchFamily="34" charset="0"/>
              <a:buNone/>
              <a:defRPr sz="1800">
                <a:solidFill>
                  <a:schemeClr val="accent1"/>
                </a:solidFill>
                <a:latin typeface="+mj-lt"/>
              </a:defRPr>
            </a:lvl1pPr>
          </a:lstStyle>
          <a:p>
            <a:pPr lvl="0"/>
            <a:r>
              <a:rPr lang="en-US"/>
              <a:t>Lorem ipsum</a:t>
            </a:r>
          </a:p>
        </p:txBody>
      </p:sp>
      <p:sp>
        <p:nvSpPr>
          <p:cNvPr id="39" name="Picture Placeholder 38">
            <a:extLst>
              <a:ext uri="{FF2B5EF4-FFF2-40B4-BE49-F238E27FC236}">
                <a16:creationId xmlns:a16="http://schemas.microsoft.com/office/drawing/2014/main" id="{31D98E28-0CAD-035F-2E2B-3A739CB2D11D}"/>
              </a:ext>
            </a:extLst>
          </p:cNvPr>
          <p:cNvSpPr>
            <a:spLocks noGrp="1"/>
          </p:cNvSpPr>
          <p:nvPr>
            <p:ph type="pic" sz="quarter" idx="16"/>
          </p:nvPr>
        </p:nvSpPr>
        <p:spPr>
          <a:xfrm>
            <a:off x="3768751" y="1059121"/>
            <a:ext cx="2463426" cy="2052069"/>
          </a:xfrm>
          <a:custGeom>
            <a:avLst/>
            <a:gdLst>
              <a:gd name="connsiteX0" fmla="*/ 182614 w 2463426"/>
              <a:gd name="connsiteY0" fmla="*/ 0 h 2052069"/>
              <a:gd name="connsiteX1" fmla="*/ 2280812 w 2463426"/>
              <a:gd name="connsiteY1" fmla="*/ 0 h 2052069"/>
              <a:gd name="connsiteX2" fmla="*/ 2463426 w 2463426"/>
              <a:gd name="connsiteY2" fmla="*/ 182614 h 2052069"/>
              <a:gd name="connsiteX3" fmla="*/ 2463426 w 2463426"/>
              <a:gd name="connsiteY3" fmla="*/ 1869455 h 2052069"/>
              <a:gd name="connsiteX4" fmla="*/ 2280812 w 2463426"/>
              <a:gd name="connsiteY4" fmla="*/ 2052069 h 2052069"/>
              <a:gd name="connsiteX5" fmla="*/ 1653356 w 2463426"/>
              <a:gd name="connsiteY5" fmla="*/ 2052069 h 2052069"/>
              <a:gd name="connsiteX6" fmla="*/ 1624193 w 2463426"/>
              <a:gd name="connsiteY6" fmla="*/ 2022906 h 2052069"/>
              <a:gd name="connsiteX7" fmla="*/ 839233 w 2463426"/>
              <a:gd name="connsiteY7" fmla="*/ 2022906 h 2052069"/>
              <a:gd name="connsiteX8" fmla="*/ 810070 w 2463426"/>
              <a:gd name="connsiteY8" fmla="*/ 2052069 h 2052069"/>
              <a:gd name="connsiteX9" fmla="*/ 182614 w 2463426"/>
              <a:gd name="connsiteY9" fmla="*/ 2052069 h 2052069"/>
              <a:gd name="connsiteX10" fmla="*/ 0 w 2463426"/>
              <a:gd name="connsiteY10" fmla="*/ 1869455 h 2052069"/>
              <a:gd name="connsiteX11" fmla="*/ 0 w 2463426"/>
              <a:gd name="connsiteY11" fmla="*/ 182614 h 2052069"/>
              <a:gd name="connsiteX12" fmla="*/ 182614 w 2463426"/>
              <a:gd name="connsiteY12" fmla="*/ 0 h 2052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63426" h="2052069">
                <a:moveTo>
                  <a:pt x="182614" y="0"/>
                </a:moveTo>
                <a:lnTo>
                  <a:pt x="2280812" y="0"/>
                </a:lnTo>
                <a:cubicBezTo>
                  <a:pt x="2381667" y="0"/>
                  <a:pt x="2463426" y="81759"/>
                  <a:pt x="2463426" y="182614"/>
                </a:cubicBezTo>
                <a:lnTo>
                  <a:pt x="2463426" y="1869455"/>
                </a:lnTo>
                <a:cubicBezTo>
                  <a:pt x="2463426" y="1970310"/>
                  <a:pt x="2381667" y="2052069"/>
                  <a:pt x="2280812" y="2052069"/>
                </a:cubicBezTo>
                <a:lnTo>
                  <a:pt x="1653356" y="2052069"/>
                </a:lnTo>
                <a:cubicBezTo>
                  <a:pt x="1653356" y="2035963"/>
                  <a:pt x="1640299" y="2022906"/>
                  <a:pt x="1624193" y="2022906"/>
                </a:cubicBezTo>
                <a:lnTo>
                  <a:pt x="839233" y="2022906"/>
                </a:lnTo>
                <a:cubicBezTo>
                  <a:pt x="823127" y="2022906"/>
                  <a:pt x="810070" y="2035963"/>
                  <a:pt x="810070" y="2052069"/>
                </a:cubicBezTo>
                <a:lnTo>
                  <a:pt x="182614" y="2052069"/>
                </a:lnTo>
                <a:cubicBezTo>
                  <a:pt x="81759" y="2052069"/>
                  <a:pt x="0" y="1970310"/>
                  <a:pt x="0" y="1869455"/>
                </a:cubicBezTo>
                <a:lnTo>
                  <a:pt x="0" y="182614"/>
                </a:lnTo>
                <a:cubicBezTo>
                  <a:pt x="0" y="81759"/>
                  <a:pt x="81759" y="0"/>
                  <a:pt x="182614" y="0"/>
                </a:cubicBezTo>
                <a:close/>
              </a:path>
            </a:pathLst>
          </a:custGeom>
          <a:solidFill>
            <a:schemeClr val="tx1"/>
          </a:solidFill>
        </p:spPr>
        <p:txBody>
          <a:bodyPr wrap="square">
            <a:noAutofit/>
          </a:bodyPr>
          <a:lstStyle/>
          <a:p>
            <a:endParaRPr lang="en-US"/>
          </a:p>
        </p:txBody>
      </p:sp>
      <p:sp>
        <p:nvSpPr>
          <p:cNvPr id="40" name="Picture Placeholder 39">
            <a:extLst>
              <a:ext uri="{FF2B5EF4-FFF2-40B4-BE49-F238E27FC236}">
                <a16:creationId xmlns:a16="http://schemas.microsoft.com/office/drawing/2014/main" id="{8B396C93-33F3-A84C-9C20-9AF3D574F973}"/>
              </a:ext>
            </a:extLst>
          </p:cNvPr>
          <p:cNvSpPr>
            <a:spLocks noGrp="1"/>
          </p:cNvSpPr>
          <p:nvPr>
            <p:ph type="pic" sz="quarter" idx="17"/>
          </p:nvPr>
        </p:nvSpPr>
        <p:spPr>
          <a:xfrm>
            <a:off x="6381428" y="1059121"/>
            <a:ext cx="2463426" cy="2052069"/>
          </a:xfrm>
          <a:custGeom>
            <a:avLst/>
            <a:gdLst>
              <a:gd name="connsiteX0" fmla="*/ 182614 w 2463426"/>
              <a:gd name="connsiteY0" fmla="*/ 0 h 2052069"/>
              <a:gd name="connsiteX1" fmla="*/ 2280812 w 2463426"/>
              <a:gd name="connsiteY1" fmla="*/ 0 h 2052069"/>
              <a:gd name="connsiteX2" fmla="*/ 2463426 w 2463426"/>
              <a:gd name="connsiteY2" fmla="*/ 182614 h 2052069"/>
              <a:gd name="connsiteX3" fmla="*/ 2463426 w 2463426"/>
              <a:gd name="connsiteY3" fmla="*/ 1869455 h 2052069"/>
              <a:gd name="connsiteX4" fmla="*/ 2280812 w 2463426"/>
              <a:gd name="connsiteY4" fmla="*/ 2052069 h 2052069"/>
              <a:gd name="connsiteX5" fmla="*/ 1653355 w 2463426"/>
              <a:gd name="connsiteY5" fmla="*/ 2052069 h 2052069"/>
              <a:gd name="connsiteX6" fmla="*/ 1624192 w 2463426"/>
              <a:gd name="connsiteY6" fmla="*/ 2022906 h 2052069"/>
              <a:gd name="connsiteX7" fmla="*/ 839232 w 2463426"/>
              <a:gd name="connsiteY7" fmla="*/ 2022906 h 2052069"/>
              <a:gd name="connsiteX8" fmla="*/ 810069 w 2463426"/>
              <a:gd name="connsiteY8" fmla="*/ 2052069 h 2052069"/>
              <a:gd name="connsiteX9" fmla="*/ 182614 w 2463426"/>
              <a:gd name="connsiteY9" fmla="*/ 2052069 h 2052069"/>
              <a:gd name="connsiteX10" fmla="*/ 0 w 2463426"/>
              <a:gd name="connsiteY10" fmla="*/ 1869455 h 2052069"/>
              <a:gd name="connsiteX11" fmla="*/ 0 w 2463426"/>
              <a:gd name="connsiteY11" fmla="*/ 182614 h 2052069"/>
              <a:gd name="connsiteX12" fmla="*/ 182614 w 2463426"/>
              <a:gd name="connsiteY12" fmla="*/ 0 h 2052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63426" h="2052069">
                <a:moveTo>
                  <a:pt x="182614" y="0"/>
                </a:moveTo>
                <a:lnTo>
                  <a:pt x="2280812" y="0"/>
                </a:lnTo>
                <a:cubicBezTo>
                  <a:pt x="2381667" y="0"/>
                  <a:pt x="2463426" y="81759"/>
                  <a:pt x="2463426" y="182614"/>
                </a:cubicBezTo>
                <a:lnTo>
                  <a:pt x="2463426" y="1869455"/>
                </a:lnTo>
                <a:cubicBezTo>
                  <a:pt x="2463426" y="1970310"/>
                  <a:pt x="2381667" y="2052069"/>
                  <a:pt x="2280812" y="2052069"/>
                </a:cubicBezTo>
                <a:lnTo>
                  <a:pt x="1653355" y="2052069"/>
                </a:lnTo>
                <a:cubicBezTo>
                  <a:pt x="1653355" y="2035963"/>
                  <a:pt x="1640298" y="2022906"/>
                  <a:pt x="1624192" y="2022906"/>
                </a:cubicBezTo>
                <a:lnTo>
                  <a:pt x="839232" y="2022906"/>
                </a:lnTo>
                <a:cubicBezTo>
                  <a:pt x="823126" y="2022906"/>
                  <a:pt x="810069" y="2035963"/>
                  <a:pt x="810069" y="2052069"/>
                </a:cubicBezTo>
                <a:lnTo>
                  <a:pt x="182614" y="2052069"/>
                </a:lnTo>
                <a:cubicBezTo>
                  <a:pt x="81759" y="2052069"/>
                  <a:pt x="0" y="1970310"/>
                  <a:pt x="0" y="1869455"/>
                </a:cubicBezTo>
                <a:lnTo>
                  <a:pt x="0" y="182614"/>
                </a:lnTo>
                <a:cubicBezTo>
                  <a:pt x="0" y="81759"/>
                  <a:pt x="81759" y="0"/>
                  <a:pt x="182614" y="0"/>
                </a:cubicBezTo>
                <a:close/>
              </a:path>
            </a:pathLst>
          </a:custGeom>
          <a:solidFill>
            <a:schemeClr val="tx1"/>
          </a:solidFill>
        </p:spPr>
        <p:txBody>
          <a:bodyPr wrap="square">
            <a:noAutofit/>
          </a:bodyPr>
          <a:lstStyle/>
          <a:p>
            <a:endParaRPr lang="en-US"/>
          </a:p>
        </p:txBody>
      </p:sp>
      <p:sp>
        <p:nvSpPr>
          <p:cNvPr id="41" name="Picture Placeholder 40">
            <a:extLst>
              <a:ext uri="{FF2B5EF4-FFF2-40B4-BE49-F238E27FC236}">
                <a16:creationId xmlns:a16="http://schemas.microsoft.com/office/drawing/2014/main" id="{DF35B82B-21E8-F822-97E1-9D6F9F9C7863}"/>
              </a:ext>
            </a:extLst>
          </p:cNvPr>
          <p:cNvSpPr>
            <a:spLocks noGrp="1"/>
          </p:cNvSpPr>
          <p:nvPr>
            <p:ph type="pic" sz="quarter" idx="18"/>
          </p:nvPr>
        </p:nvSpPr>
        <p:spPr>
          <a:xfrm>
            <a:off x="8994106" y="1059121"/>
            <a:ext cx="2463426" cy="2052069"/>
          </a:xfrm>
          <a:custGeom>
            <a:avLst/>
            <a:gdLst>
              <a:gd name="connsiteX0" fmla="*/ 182614 w 2463426"/>
              <a:gd name="connsiteY0" fmla="*/ 0 h 2052069"/>
              <a:gd name="connsiteX1" fmla="*/ 2280812 w 2463426"/>
              <a:gd name="connsiteY1" fmla="*/ 0 h 2052069"/>
              <a:gd name="connsiteX2" fmla="*/ 2463426 w 2463426"/>
              <a:gd name="connsiteY2" fmla="*/ 182614 h 2052069"/>
              <a:gd name="connsiteX3" fmla="*/ 2463426 w 2463426"/>
              <a:gd name="connsiteY3" fmla="*/ 1869455 h 2052069"/>
              <a:gd name="connsiteX4" fmla="*/ 2280812 w 2463426"/>
              <a:gd name="connsiteY4" fmla="*/ 2052069 h 2052069"/>
              <a:gd name="connsiteX5" fmla="*/ 1653355 w 2463426"/>
              <a:gd name="connsiteY5" fmla="*/ 2052069 h 2052069"/>
              <a:gd name="connsiteX6" fmla="*/ 1624192 w 2463426"/>
              <a:gd name="connsiteY6" fmla="*/ 2022906 h 2052069"/>
              <a:gd name="connsiteX7" fmla="*/ 839232 w 2463426"/>
              <a:gd name="connsiteY7" fmla="*/ 2022906 h 2052069"/>
              <a:gd name="connsiteX8" fmla="*/ 810069 w 2463426"/>
              <a:gd name="connsiteY8" fmla="*/ 2052069 h 2052069"/>
              <a:gd name="connsiteX9" fmla="*/ 182614 w 2463426"/>
              <a:gd name="connsiteY9" fmla="*/ 2052069 h 2052069"/>
              <a:gd name="connsiteX10" fmla="*/ 0 w 2463426"/>
              <a:gd name="connsiteY10" fmla="*/ 1869455 h 2052069"/>
              <a:gd name="connsiteX11" fmla="*/ 0 w 2463426"/>
              <a:gd name="connsiteY11" fmla="*/ 182614 h 2052069"/>
              <a:gd name="connsiteX12" fmla="*/ 182614 w 2463426"/>
              <a:gd name="connsiteY12" fmla="*/ 0 h 2052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63426" h="2052069">
                <a:moveTo>
                  <a:pt x="182614" y="0"/>
                </a:moveTo>
                <a:lnTo>
                  <a:pt x="2280812" y="0"/>
                </a:lnTo>
                <a:cubicBezTo>
                  <a:pt x="2381667" y="0"/>
                  <a:pt x="2463426" y="81759"/>
                  <a:pt x="2463426" y="182614"/>
                </a:cubicBezTo>
                <a:lnTo>
                  <a:pt x="2463426" y="1869455"/>
                </a:lnTo>
                <a:cubicBezTo>
                  <a:pt x="2463426" y="1970310"/>
                  <a:pt x="2381667" y="2052069"/>
                  <a:pt x="2280812" y="2052069"/>
                </a:cubicBezTo>
                <a:lnTo>
                  <a:pt x="1653355" y="2052069"/>
                </a:lnTo>
                <a:cubicBezTo>
                  <a:pt x="1653355" y="2035963"/>
                  <a:pt x="1640298" y="2022906"/>
                  <a:pt x="1624192" y="2022906"/>
                </a:cubicBezTo>
                <a:lnTo>
                  <a:pt x="839232" y="2022906"/>
                </a:lnTo>
                <a:cubicBezTo>
                  <a:pt x="823126" y="2022906"/>
                  <a:pt x="810069" y="2035963"/>
                  <a:pt x="810069" y="2052069"/>
                </a:cubicBezTo>
                <a:lnTo>
                  <a:pt x="182614" y="2052069"/>
                </a:lnTo>
                <a:cubicBezTo>
                  <a:pt x="81759" y="2052069"/>
                  <a:pt x="0" y="1970310"/>
                  <a:pt x="0" y="1869455"/>
                </a:cubicBezTo>
                <a:lnTo>
                  <a:pt x="0" y="182614"/>
                </a:lnTo>
                <a:cubicBezTo>
                  <a:pt x="0" y="81759"/>
                  <a:pt x="81759" y="0"/>
                  <a:pt x="182614" y="0"/>
                </a:cubicBezTo>
                <a:close/>
              </a:path>
            </a:pathLst>
          </a:custGeom>
          <a:solidFill>
            <a:schemeClr val="tx1"/>
          </a:solidFill>
        </p:spPr>
        <p:txBody>
          <a:bodyPr wrap="square">
            <a:noAutofit/>
          </a:bodyPr>
          <a:lstStyle/>
          <a:p>
            <a:endParaRPr lang="en-US"/>
          </a:p>
        </p:txBody>
      </p:sp>
      <p:sp>
        <p:nvSpPr>
          <p:cNvPr id="17" name="Title 3">
            <a:extLst>
              <a:ext uri="{FF2B5EF4-FFF2-40B4-BE49-F238E27FC236}">
                <a16:creationId xmlns:a16="http://schemas.microsoft.com/office/drawing/2014/main" id="{36D4A3A3-E4CC-9EEE-5852-9D0EC5427E69}"/>
              </a:ext>
            </a:extLst>
          </p:cNvPr>
          <p:cNvSpPr txBox="1">
            <a:spLocks/>
          </p:cNvSpPr>
          <p:nvPr userDrawn="1"/>
        </p:nvSpPr>
        <p:spPr>
          <a:xfrm>
            <a:off x="4578821" y="3082027"/>
            <a:ext cx="843286" cy="58326"/>
          </a:xfrm>
          <a:prstGeom prst="roundRect">
            <a:avLst>
              <a:gd name="adj" fmla="val 313091"/>
            </a:avLst>
          </a:prstGeom>
          <a:solidFill>
            <a:schemeClr val="accent1"/>
          </a:solid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defTabSz="932742" rtl="0" eaLnBrk="1" latinLnBrk="0" hangingPunct="1">
              <a:lnSpc>
                <a:spcPct val="100000"/>
              </a:lnSpc>
              <a:spcBef>
                <a:spcPct val="0"/>
              </a:spcBef>
              <a:buNone/>
              <a:defRPr lang="en-US" sz="32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defTabSz="914367" fontAlgn="base">
              <a:spcAft>
                <a:spcPts val="1200"/>
              </a:spcAft>
            </a:pPr>
            <a:endParaRPr lang="en-US" sz="2400">
              <a:solidFill>
                <a:schemeClr val="tx1"/>
              </a:solidFill>
              <a:latin typeface="+mj-lt"/>
            </a:endParaRPr>
          </a:p>
        </p:txBody>
      </p:sp>
      <p:sp>
        <p:nvSpPr>
          <p:cNvPr id="18" name="Title 3">
            <a:extLst>
              <a:ext uri="{FF2B5EF4-FFF2-40B4-BE49-F238E27FC236}">
                <a16:creationId xmlns:a16="http://schemas.microsoft.com/office/drawing/2014/main" id="{35E95D88-BE15-D1B5-3587-4D1C0BE8698A}"/>
              </a:ext>
            </a:extLst>
          </p:cNvPr>
          <p:cNvSpPr txBox="1">
            <a:spLocks/>
          </p:cNvSpPr>
          <p:nvPr userDrawn="1"/>
        </p:nvSpPr>
        <p:spPr>
          <a:xfrm>
            <a:off x="7191497" y="3082027"/>
            <a:ext cx="843286" cy="58326"/>
          </a:xfrm>
          <a:prstGeom prst="roundRect">
            <a:avLst>
              <a:gd name="adj" fmla="val 313091"/>
            </a:avLst>
          </a:prstGeom>
          <a:solidFill>
            <a:schemeClr val="accent1"/>
          </a:solid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defTabSz="932742" rtl="0" eaLnBrk="1" latinLnBrk="0" hangingPunct="1">
              <a:lnSpc>
                <a:spcPct val="100000"/>
              </a:lnSpc>
              <a:spcBef>
                <a:spcPct val="0"/>
              </a:spcBef>
              <a:buNone/>
              <a:defRPr lang="en-US" sz="32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defTabSz="914367" fontAlgn="base">
              <a:spcAft>
                <a:spcPts val="1200"/>
              </a:spcAft>
            </a:pPr>
            <a:endParaRPr lang="en-US" sz="2400">
              <a:solidFill>
                <a:schemeClr val="tx1"/>
              </a:solidFill>
              <a:latin typeface="+mj-lt"/>
            </a:endParaRPr>
          </a:p>
        </p:txBody>
      </p:sp>
      <p:sp>
        <p:nvSpPr>
          <p:cNvPr id="19" name="Title 3">
            <a:extLst>
              <a:ext uri="{FF2B5EF4-FFF2-40B4-BE49-F238E27FC236}">
                <a16:creationId xmlns:a16="http://schemas.microsoft.com/office/drawing/2014/main" id="{1E9ED040-91EC-F2A0-4756-0C60255EB35D}"/>
              </a:ext>
            </a:extLst>
          </p:cNvPr>
          <p:cNvSpPr txBox="1">
            <a:spLocks/>
          </p:cNvSpPr>
          <p:nvPr userDrawn="1"/>
        </p:nvSpPr>
        <p:spPr>
          <a:xfrm>
            <a:off x="9804175" y="3082027"/>
            <a:ext cx="843286" cy="58326"/>
          </a:xfrm>
          <a:prstGeom prst="roundRect">
            <a:avLst>
              <a:gd name="adj" fmla="val 313091"/>
            </a:avLst>
          </a:prstGeom>
          <a:solidFill>
            <a:schemeClr val="accent1"/>
          </a:solid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defTabSz="932742" rtl="0" eaLnBrk="1" latinLnBrk="0" hangingPunct="1">
              <a:lnSpc>
                <a:spcPct val="100000"/>
              </a:lnSpc>
              <a:spcBef>
                <a:spcPct val="0"/>
              </a:spcBef>
              <a:buNone/>
              <a:defRPr lang="en-US" sz="32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defTabSz="914367" fontAlgn="base">
              <a:spcAft>
                <a:spcPts val="1200"/>
              </a:spcAft>
            </a:pPr>
            <a:endParaRPr lang="en-US" sz="2400">
              <a:solidFill>
                <a:schemeClr val="tx1"/>
              </a:solidFill>
              <a:latin typeface="+mj-lt"/>
            </a:endParaRPr>
          </a:p>
        </p:txBody>
      </p:sp>
    </p:spTree>
    <p:extLst>
      <p:ext uri="{BB962C8B-B14F-4D97-AF65-F5344CB8AC3E}">
        <p14:creationId xmlns:p14="http://schemas.microsoft.com/office/powerpoint/2010/main" val="237411665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w/image">
    <p:spTree>
      <p:nvGrpSpPr>
        <p:cNvPr id="1" name=""/>
        <p:cNvGrpSpPr/>
        <p:nvPr/>
      </p:nvGrpSpPr>
      <p:grpSpPr>
        <a:xfrm>
          <a:off x="0" y="0"/>
          <a:ext cx="0" cy="0"/>
          <a:chOff x="0" y="0"/>
          <a:chExt cx="0" cy="0"/>
        </a:xfrm>
      </p:grpSpPr>
      <p:sp>
        <p:nvSpPr>
          <p:cNvPr id="55" name="Picture Placeholder 54">
            <a:extLst>
              <a:ext uri="{FF2B5EF4-FFF2-40B4-BE49-F238E27FC236}">
                <a16:creationId xmlns:a16="http://schemas.microsoft.com/office/drawing/2014/main" id="{6C081ABA-A597-9549-34F5-4F80C3640D42}"/>
              </a:ext>
            </a:extLst>
          </p:cNvPr>
          <p:cNvSpPr>
            <a:spLocks noGrp="1"/>
          </p:cNvSpPr>
          <p:nvPr>
            <p:ph type="pic" sz="quarter" idx="18"/>
          </p:nvPr>
        </p:nvSpPr>
        <p:spPr>
          <a:xfrm>
            <a:off x="588963" y="1457138"/>
            <a:ext cx="2651442" cy="2052069"/>
          </a:xfrm>
          <a:custGeom>
            <a:avLst/>
            <a:gdLst>
              <a:gd name="connsiteX0" fmla="*/ 182614 w 2651442"/>
              <a:gd name="connsiteY0" fmla="*/ 0 h 2052069"/>
              <a:gd name="connsiteX1" fmla="*/ 2468828 w 2651442"/>
              <a:gd name="connsiteY1" fmla="*/ 0 h 2052069"/>
              <a:gd name="connsiteX2" fmla="*/ 2651442 w 2651442"/>
              <a:gd name="connsiteY2" fmla="*/ 182614 h 2052069"/>
              <a:gd name="connsiteX3" fmla="*/ 2651442 w 2651442"/>
              <a:gd name="connsiteY3" fmla="*/ 1869455 h 2052069"/>
              <a:gd name="connsiteX4" fmla="*/ 2468828 w 2651442"/>
              <a:gd name="connsiteY4" fmla="*/ 2052069 h 2052069"/>
              <a:gd name="connsiteX5" fmla="*/ 1747364 w 2651442"/>
              <a:gd name="connsiteY5" fmla="*/ 2052069 h 2052069"/>
              <a:gd name="connsiteX6" fmla="*/ 1718201 w 2651442"/>
              <a:gd name="connsiteY6" fmla="*/ 2022906 h 2052069"/>
              <a:gd name="connsiteX7" fmla="*/ 933241 w 2651442"/>
              <a:gd name="connsiteY7" fmla="*/ 2022906 h 2052069"/>
              <a:gd name="connsiteX8" fmla="*/ 904078 w 2651442"/>
              <a:gd name="connsiteY8" fmla="*/ 2052069 h 2052069"/>
              <a:gd name="connsiteX9" fmla="*/ 182614 w 2651442"/>
              <a:gd name="connsiteY9" fmla="*/ 2052069 h 2052069"/>
              <a:gd name="connsiteX10" fmla="*/ 0 w 2651442"/>
              <a:gd name="connsiteY10" fmla="*/ 1869455 h 2052069"/>
              <a:gd name="connsiteX11" fmla="*/ 0 w 2651442"/>
              <a:gd name="connsiteY11" fmla="*/ 182614 h 2052069"/>
              <a:gd name="connsiteX12" fmla="*/ 182614 w 2651442"/>
              <a:gd name="connsiteY12" fmla="*/ 0 h 2052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51442" h="2052069">
                <a:moveTo>
                  <a:pt x="182614" y="0"/>
                </a:moveTo>
                <a:lnTo>
                  <a:pt x="2468828" y="0"/>
                </a:lnTo>
                <a:cubicBezTo>
                  <a:pt x="2569683" y="0"/>
                  <a:pt x="2651442" y="81759"/>
                  <a:pt x="2651442" y="182614"/>
                </a:cubicBezTo>
                <a:lnTo>
                  <a:pt x="2651442" y="1869455"/>
                </a:lnTo>
                <a:cubicBezTo>
                  <a:pt x="2651442" y="1970310"/>
                  <a:pt x="2569683" y="2052069"/>
                  <a:pt x="2468828" y="2052069"/>
                </a:cubicBezTo>
                <a:lnTo>
                  <a:pt x="1747364" y="2052069"/>
                </a:lnTo>
                <a:cubicBezTo>
                  <a:pt x="1747364" y="2035963"/>
                  <a:pt x="1734307" y="2022906"/>
                  <a:pt x="1718201" y="2022906"/>
                </a:cubicBezTo>
                <a:lnTo>
                  <a:pt x="933241" y="2022906"/>
                </a:lnTo>
                <a:cubicBezTo>
                  <a:pt x="917135" y="2022906"/>
                  <a:pt x="904078" y="2035963"/>
                  <a:pt x="904078" y="2052069"/>
                </a:cubicBezTo>
                <a:lnTo>
                  <a:pt x="182614" y="2052069"/>
                </a:lnTo>
                <a:cubicBezTo>
                  <a:pt x="81759" y="2052069"/>
                  <a:pt x="0" y="1970310"/>
                  <a:pt x="0" y="1869455"/>
                </a:cubicBezTo>
                <a:lnTo>
                  <a:pt x="0" y="182614"/>
                </a:lnTo>
                <a:cubicBezTo>
                  <a:pt x="0" y="81759"/>
                  <a:pt x="81759" y="0"/>
                  <a:pt x="182614" y="0"/>
                </a:cubicBezTo>
                <a:close/>
              </a:path>
            </a:pathLst>
          </a:custGeom>
          <a:solidFill>
            <a:schemeClr val="tx1"/>
          </a:solidFill>
        </p:spPr>
        <p:txBody>
          <a:bodyPr wrap="square">
            <a:noAutofit/>
          </a:bodyPr>
          <a:lstStyle/>
          <a:p>
            <a:endParaRPr lang="en-US"/>
          </a:p>
        </p:txBody>
      </p:sp>
      <p:pic>
        <p:nvPicPr>
          <p:cNvPr id="36" name="Picture 35" descr="A silver shield with text and stars&#10;&#10;AI-generated content may be incorrect.">
            <a:extLst>
              <a:ext uri="{FF2B5EF4-FFF2-40B4-BE49-F238E27FC236}">
                <a16:creationId xmlns:a16="http://schemas.microsoft.com/office/drawing/2014/main" id="{74FF1801-287D-2733-9928-4E90A7D39335}"/>
              </a:ext>
            </a:extLst>
          </p:cNvPr>
          <p:cNvPicPr>
            <a:picLocks noChangeAspect="1"/>
          </p:cNvPicPr>
          <p:nvPr userDrawn="1"/>
        </p:nvPicPr>
        <p:blipFill>
          <a:blip r:embed="rId2">
            <a:alphaModFix/>
          </a:blip>
          <a:srcRect l="3844" t="2514" r="4223" b="5918"/>
          <a:stretch>
            <a:fillRect/>
          </a:stretch>
        </p:blipFill>
        <p:spPr>
          <a:xfrm>
            <a:off x="11385550" y="288925"/>
            <a:ext cx="512761" cy="510720"/>
          </a:xfrm>
          <a:prstGeom prst="rect">
            <a:avLst/>
          </a:prstGeom>
          <a:effectLst/>
        </p:spPr>
      </p:pic>
      <p:cxnSp>
        <p:nvCxnSpPr>
          <p:cNvPr id="11" name="Straight Connector 10">
            <a:extLst>
              <a:ext uri="{FF2B5EF4-FFF2-40B4-BE49-F238E27FC236}">
                <a16:creationId xmlns:a16="http://schemas.microsoft.com/office/drawing/2014/main" id="{028AB74D-4A1E-30CF-6252-AA0A6D599481}"/>
              </a:ext>
            </a:extLst>
          </p:cNvPr>
          <p:cNvCxnSpPr/>
          <p:nvPr userDrawn="1"/>
        </p:nvCxnSpPr>
        <p:spPr>
          <a:xfrm>
            <a:off x="6097428" y="3703906"/>
            <a:ext cx="0" cy="2496312"/>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7A8FC3A-8535-819D-6A2A-005CD7B82DB8}"/>
              </a:ext>
            </a:extLst>
          </p:cNvPr>
          <p:cNvCxnSpPr/>
          <p:nvPr userDrawn="1"/>
        </p:nvCxnSpPr>
        <p:spPr>
          <a:xfrm>
            <a:off x="8886030" y="3703906"/>
            <a:ext cx="0" cy="2496312"/>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sp>
        <p:nvSpPr>
          <p:cNvPr id="13" name="Title 3">
            <a:extLst>
              <a:ext uri="{FF2B5EF4-FFF2-40B4-BE49-F238E27FC236}">
                <a16:creationId xmlns:a16="http://schemas.microsoft.com/office/drawing/2014/main" id="{0395D3DA-E0C0-1D0F-378E-219FE7BE6171}"/>
              </a:ext>
            </a:extLst>
          </p:cNvPr>
          <p:cNvSpPr txBox="1">
            <a:spLocks/>
          </p:cNvSpPr>
          <p:nvPr userDrawn="1"/>
        </p:nvSpPr>
        <p:spPr>
          <a:xfrm>
            <a:off x="4281484" y="3480044"/>
            <a:ext cx="843286" cy="58326"/>
          </a:xfrm>
          <a:prstGeom prst="roundRect">
            <a:avLst>
              <a:gd name="adj" fmla="val 313091"/>
            </a:avLst>
          </a:prstGeom>
          <a:solidFill>
            <a:schemeClr val="accent1"/>
          </a:solid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defTabSz="932742" rtl="0" eaLnBrk="1" latinLnBrk="0" hangingPunct="1">
              <a:lnSpc>
                <a:spcPct val="100000"/>
              </a:lnSpc>
              <a:spcBef>
                <a:spcPct val="0"/>
              </a:spcBef>
              <a:buNone/>
              <a:defRPr lang="en-US" sz="32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defTabSz="914367" fontAlgn="base">
              <a:spcAft>
                <a:spcPts val="1200"/>
              </a:spcAft>
            </a:pPr>
            <a:endParaRPr lang="en-US" sz="2400">
              <a:solidFill>
                <a:schemeClr val="tx1"/>
              </a:solidFill>
              <a:latin typeface="+mj-lt"/>
            </a:endParaRPr>
          </a:p>
        </p:txBody>
      </p:sp>
      <p:sp>
        <p:nvSpPr>
          <p:cNvPr id="14" name="Title 3">
            <a:extLst>
              <a:ext uri="{FF2B5EF4-FFF2-40B4-BE49-F238E27FC236}">
                <a16:creationId xmlns:a16="http://schemas.microsoft.com/office/drawing/2014/main" id="{DC774EE1-0811-3DE7-3075-F46CF3CEB48B}"/>
              </a:ext>
            </a:extLst>
          </p:cNvPr>
          <p:cNvSpPr txBox="1">
            <a:spLocks/>
          </p:cNvSpPr>
          <p:nvPr userDrawn="1"/>
        </p:nvSpPr>
        <p:spPr>
          <a:xfrm>
            <a:off x="7070086" y="3480044"/>
            <a:ext cx="843286" cy="58326"/>
          </a:xfrm>
          <a:prstGeom prst="roundRect">
            <a:avLst>
              <a:gd name="adj" fmla="val 313091"/>
            </a:avLst>
          </a:prstGeom>
          <a:solidFill>
            <a:schemeClr val="accent1"/>
          </a:solid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defTabSz="932742" rtl="0" eaLnBrk="1" latinLnBrk="0" hangingPunct="1">
              <a:lnSpc>
                <a:spcPct val="100000"/>
              </a:lnSpc>
              <a:spcBef>
                <a:spcPct val="0"/>
              </a:spcBef>
              <a:buNone/>
              <a:defRPr lang="en-US" sz="32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defTabSz="914367" fontAlgn="base">
              <a:spcAft>
                <a:spcPts val="1200"/>
              </a:spcAft>
            </a:pPr>
            <a:endParaRPr lang="en-US" sz="2400">
              <a:solidFill>
                <a:schemeClr val="tx1"/>
              </a:solidFill>
              <a:latin typeface="+mj-lt"/>
            </a:endParaRPr>
          </a:p>
        </p:txBody>
      </p:sp>
      <p:sp>
        <p:nvSpPr>
          <p:cNvPr id="20" name="Title 3">
            <a:extLst>
              <a:ext uri="{FF2B5EF4-FFF2-40B4-BE49-F238E27FC236}">
                <a16:creationId xmlns:a16="http://schemas.microsoft.com/office/drawing/2014/main" id="{10A1A648-845E-8F85-C44E-905D4AAB1C92}"/>
              </a:ext>
            </a:extLst>
          </p:cNvPr>
          <p:cNvSpPr txBox="1">
            <a:spLocks/>
          </p:cNvSpPr>
          <p:nvPr userDrawn="1"/>
        </p:nvSpPr>
        <p:spPr>
          <a:xfrm>
            <a:off x="9858689" y="3480044"/>
            <a:ext cx="843286" cy="58326"/>
          </a:xfrm>
          <a:prstGeom prst="roundRect">
            <a:avLst>
              <a:gd name="adj" fmla="val 313091"/>
            </a:avLst>
          </a:prstGeom>
          <a:solidFill>
            <a:schemeClr val="accent1"/>
          </a:solid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defTabSz="932742" rtl="0" eaLnBrk="1" latinLnBrk="0" hangingPunct="1">
              <a:lnSpc>
                <a:spcPct val="100000"/>
              </a:lnSpc>
              <a:spcBef>
                <a:spcPct val="0"/>
              </a:spcBef>
              <a:buNone/>
              <a:defRPr lang="en-US" sz="32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defTabSz="914367" fontAlgn="base">
              <a:spcAft>
                <a:spcPts val="1200"/>
              </a:spcAft>
            </a:pPr>
            <a:endParaRPr lang="en-US" sz="2400">
              <a:solidFill>
                <a:schemeClr val="tx1"/>
              </a:solidFill>
              <a:latin typeface="+mj-lt"/>
            </a:endParaRPr>
          </a:p>
        </p:txBody>
      </p:sp>
      <p:sp>
        <p:nvSpPr>
          <p:cNvPr id="32" name="Title 3">
            <a:extLst>
              <a:ext uri="{FF2B5EF4-FFF2-40B4-BE49-F238E27FC236}">
                <a16:creationId xmlns:a16="http://schemas.microsoft.com/office/drawing/2014/main" id="{48DDDF4A-FE17-1102-A124-218F87FABE26}"/>
              </a:ext>
            </a:extLst>
          </p:cNvPr>
          <p:cNvSpPr txBox="1">
            <a:spLocks/>
          </p:cNvSpPr>
          <p:nvPr userDrawn="1"/>
        </p:nvSpPr>
        <p:spPr>
          <a:xfrm>
            <a:off x="1493041" y="3480044"/>
            <a:ext cx="843286" cy="58326"/>
          </a:xfrm>
          <a:prstGeom prst="roundRect">
            <a:avLst>
              <a:gd name="adj" fmla="val 313091"/>
            </a:avLst>
          </a:prstGeom>
          <a:solidFill>
            <a:schemeClr val="accent1"/>
          </a:solid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defTabSz="932742" rtl="0" eaLnBrk="1" latinLnBrk="0" hangingPunct="1">
              <a:lnSpc>
                <a:spcPct val="100000"/>
              </a:lnSpc>
              <a:spcBef>
                <a:spcPct val="0"/>
              </a:spcBef>
              <a:buNone/>
              <a:defRPr lang="en-US" sz="32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defTabSz="914367" fontAlgn="base">
              <a:spcAft>
                <a:spcPts val="1200"/>
              </a:spcAft>
            </a:pPr>
            <a:endParaRPr lang="en-US" sz="2400">
              <a:solidFill>
                <a:schemeClr val="tx1"/>
              </a:solidFill>
              <a:latin typeface="+mj-lt"/>
            </a:endParaRPr>
          </a:p>
        </p:txBody>
      </p:sp>
      <p:cxnSp>
        <p:nvCxnSpPr>
          <p:cNvPr id="34" name="Straight Connector 33">
            <a:extLst>
              <a:ext uri="{FF2B5EF4-FFF2-40B4-BE49-F238E27FC236}">
                <a16:creationId xmlns:a16="http://schemas.microsoft.com/office/drawing/2014/main" id="{6C190A52-AF71-7BFE-4108-B88156B2CA21}"/>
              </a:ext>
            </a:extLst>
          </p:cNvPr>
          <p:cNvCxnSpPr/>
          <p:nvPr userDrawn="1"/>
        </p:nvCxnSpPr>
        <p:spPr>
          <a:xfrm>
            <a:off x="3308826" y="3703906"/>
            <a:ext cx="0" cy="2496312"/>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sp>
        <p:nvSpPr>
          <p:cNvPr id="37" name="Text Placeholder 4">
            <a:extLst>
              <a:ext uri="{FF2B5EF4-FFF2-40B4-BE49-F238E27FC236}">
                <a16:creationId xmlns:a16="http://schemas.microsoft.com/office/drawing/2014/main" id="{1D6BF4B2-A0E0-B93E-2319-7092F951884B}"/>
              </a:ext>
            </a:extLst>
          </p:cNvPr>
          <p:cNvSpPr>
            <a:spLocks noGrp="1"/>
          </p:cNvSpPr>
          <p:nvPr>
            <p:ph type="body" sz="quarter" idx="11" hasCustomPrompt="1"/>
          </p:nvPr>
        </p:nvSpPr>
        <p:spPr>
          <a:xfrm>
            <a:off x="3546522" y="4093717"/>
            <a:ext cx="2313210" cy="2103178"/>
          </a:xfrm>
        </p:spPr>
        <p:txBody>
          <a:bodyPr>
            <a:noAutofit/>
          </a:bodyPr>
          <a:lstStyle>
            <a:lvl1pPr marL="0" indent="0" algn="ctr">
              <a:buSzPct val="100000"/>
              <a:buFont typeface="Arial" panose="020B0604020202020204" pitchFamily="34" charset="0"/>
              <a:buNone/>
              <a:defRPr sz="16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a:t>
            </a:r>
          </a:p>
        </p:txBody>
      </p:sp>
      <p:sp>
        <p:nvSpPr>
          <p:cNvPr id="38" name="Text Placeholder 4">
            <a:extLst>
              <a:ext uri="{FF2B5EF4-FFF2-40B4-BE49-F238E27FC236}">
                <a16:creationId xmlns:a16="http://schemas.microsoft.com/office/drawing/2014/main" id="{7B35FEB3-BD4C-043B-7CE0-2D7413A8E832}"/>
              </a:ext>
            </a:extLst>
          </p:cNvPr>
          <p:cNvSpPr>
            <a:spLocks noGrp="1"/>
          </p:cNvSpPr>
          <p:nvPr>
            <p:ph type="body" sz="quarter" idx="10" hasCustomPrompt="1"/>
          </p:nvPr>
        </p:nvSpPr>
        <p:spPr>
          <a:xfrm>
            <a:off x="758079" y="4093717"/>
            <a:ext cx="2313210" cy="2103178"/>
          </a:xfrm>
        </p:spPr>
        <p:txBody>
          <a:bodyPr>
            <a:noAutofit/>
          </a:bodyPr>
          <a:lstStyle>
            <a:lvl1pPr marL="0" indent="0" algn="ctr">
              <a:buSzPct val="100000"/>
              <a:buFont typeface="Arial" panose="020B0604020202020204" pitchFamily="34" charset="0"/>
              <a:buNone/>
              <a:defRPr sz="16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a:t>
            </a:r>
          </a:p>
        </p:txBody>
      </p:sp>
      <p:sp>
        <p:nvSpPr>
          <p:cNvPr id="42" name="Text Placeholder 4">
            <a:extLst>
              <a:ext uri="{FF2B5EF4-FFF2-40B4-BE49-F238E27FC236}">
                <a16:creationId xmlns:a16="http://schemas.microsoft.com/office/drawing/2014/main" id="{D738A791-9107-15D1-867C-838379840095}"/>
              </a:ext>
            </a:extLst>
          </p:cNvPr>
          <p:cNvSpPr>
            <a:spLocks noGrp="1"/>
          </p:cNvSpPr>
          <p:nvPr>
            <p:ph type="body" sz="quarter" idx="12" hasCustomPrompt="1"/>
          </p:nvPr>
        </p:nvSpPr>
        <p:spPr>
          <a:xfrm>
            <a:off x="9123727" y="4093717"/>
            <a:ext cx="2313210" cy="2103178"/>
          </a:xfrm>
        </p:spPr>
        <p:txBody>
          <a:bodyPr>
            <a:noAutofit/>
          </a:bodyPr>
          <a:lstStyle>
            <a:lvl1pPr marL="0" indent="0" algn="ctr">
              <a:buSzPct val="100000"/>
              <a:buFont typeface="Arial" panose="020B0604020202020204" pitchFamily="34" charset="0"/>
              <a:buNone/>
              <a:defRPr sz="16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a:t>
            </a:r>
          </a:p>
        </p:txBody>
      </p:sp>
      <p:sp>
        <p:nvSpPr>
          <p:cNvPr id="43" name="Text Placeholder 4">
            <a:extLst>
              <a:ext uri="{FF2B5EF4-FFF2-40B4-BE49-F238E27FC236}">
                <a16:creationId xmlns:a16="http://schemas.microsoft.com/office/drawing/2014/main" id="{BEDEF4E4-3611-CA6F-3F1C-94341F49E373}"/>
              </a:ext>
            </a:extLst>
          </p:cNvPr>
          <p:cNvSpPr>
            <a:spLocks noGrp="1"/>
          </p:cNvSpPr>
          <p:nvPr>
            <p:ph type="body" sz="quarter" idx="13" hasCustomPrompt="1"/>
          </p:nvPr>
        </p:nvSpPr>
        <p:spPr>
          <a:xfrm>
            <a:off x="6335124" y="4093717"/>
            <a:ext cx="2313210" cy="2103178"/>
          </a:xfrm>
        </p:spPr>
        <p:txBody>
          <a:bodyPr>
            <a:noAutofit/>
          </a:bodyPr>
          <a:lstStyle>
            <a:lvl1pPr marL="0" indent="0" algn="ctr">
              <a:buSzPct val="100000"/>
              <a:buFont typeface="Arial" panose="020B0604020202020204" pitchFamily="34" charset="0"/>
              <a:buNone/>
              <a:defRPr sz="16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a:t>
            </a:r>
          </a:p>
        </p:txBody>
      </p:sp>
      <p:sp>
        <p:nvSpPr>
          <p:cNvPr id="44" name="Text Placeholder 4">
            <a:extLst>
              <a:ext uri="{FF2B5EF4-FFF2-40B4-BE49-F238E27FC236}">
                <a16:creationId xmlns:a16="http://schemas.microsoft.com/office/drawing/2014/main" id="{45EB059A-358A-2FFF-2F7F-A0999E707683}"/>
              </a:ext>
            </a:extLst>
          </p:cNvPr>
          <p:cNvSpPr>
            <a:spLocks noGrp="1"/>
          </p:cNvSpPr>
          <p:nvPr>
            <p:ph type="body" sz="quarter" idx="14" hasCustomPrompt="1"/>
          </p:nvPr>
        </p:nvSpPr>
        <p:spPr>
          <a:xfrm>
            <a:off x="758079" y="3677544"/>
            <a:ext cx="2313210" cy="276999"/>
          </a:xfrm>
        </p:spPr>
        <p:txBody>
          <a:bodyPr>
            <a:spAutoFit/>
          </a:bodyPr>
          <a:lstStyle>
            <a:lvl1pPr marL="0" indent="0" algn="ctr">
              <a:buSzPct val="100000"/>
              <a:buFont typeface="Arial" panose="020B0604020202020204" pitchFamily="34" charset="0"/>
              <a:buNone/>
              <a:defRPr sz="1800">
                <a:solidFill>
                  <a:schemeClr val="accent1"/>
                </a:solidFill>
                <a:latin typeface="+mj-lt"/>
              </a:defRPr>
            </a:lvl1pPr>
          </a:lstStyle>
          <a:p>
            <a:pPr lvl="0"/>
            <a:r>
              <a:rPr lang="en-US"/>
              <a:t>Lorem ipsum</a:t>
            </a:r>
          </a:p>
        </p:txBody>
      </p:sp>
      <p:sp>
        <p:nvSpPr>
          <p:cNvPr id="45" name="Text Placeholder 4">
            <a:extLst>
              <a:ext uri="{FF2B5EF4-FFF2-40B4-BE49-F238E27FC236}">
                <a16:creationId xmlns:a16="http://schemas.microsoft.com/office/drawing/2014/main" id="{EF5AAB1A-8DDA-1173-61AB-FF7B2149BB0F}"/>
              </a:ext>
            </a:extLst>
          </p:cNvPr>
          <p:cNvSpPr>
            <a:spLocks noGrp="1"/>
          </p:cNvSpPr>
          <p:nvPr>
            <p:ph type="body" sz="quarter" idx="15" hasCustomPrompt="1"/>
          </p:nvPr>
        </p:nvSpPr>
        <p:spPr>
          <a:xfrm>
            <a:off x="3546522" y="3677544"/>
            <a:ext cx="2313210" cy="276999"/>
          </a:xfrm>
        </p:spPr>
        <p:txBody>
          <a:bodyPr>
            <a:spAutoFit/>
          </a:bodyPr>
          <a:lstStyle>
            <a:lvl1pPr marL="0" indent="0" algn="ctr">
              <a:buSzPct val="100000"/>
              <a:buFont typeface="Arial" panose="020B0604020202020204" pitchFamily="34" charset="0"/>
              <a:buNone/>
              <a:defRPr sz="1800">
                <a:solidFill>
                  <a:schemeClr val="accent1"/>
                </a:solidFill>
                <a:latin typeface="+mj-lt"/>
              </a:defRPr>
            </a:lvl1pPr>
          </a:lstStyle>
          <a:p>
            <a:pPr lvl="0"/>
            <a:r>
              <a:rPr lang="en-US"/>
              <a:t>Lorem ipsum</a:t>
            </a:r>
          </a:p>
        </p:txBody>
      </p:sp>
      <p:sp>
        <p:nvSpPr>
          <p:cNvPr id="46" name="Text Placeholder 4">
            <a:extLst>
              <a:ext uri="{FF2B5EF4-FFF2-40B4-BE49-F238E27FC236}">
                <a16:creationId xmlns:a16="http://schemas.microsoft.com/office/drawing/2014/main" id="{040DC17D-500B-3268-EB51-32F3EBCCD34A}"/>
              </a:ext>
            </a:extLst>
          </p:cNvPr>
          <p:cNvSpPr>
            <a:spLocks noGrp="1"/>
          </p:cNvSpPr>
          <p:nvPr>
            <p:ph type="body" sz="quarter" idx="16" hasCustomPrompt="1"/>
          </p:nvPr>
        </p:nvSpPr>
        <p:spPr>
          <a:xfrm>
            <a:off x="6335124" y="3677544"/>
            <a:ext cx="2313210" cy="276999"/>
          </a:xfrm>
        </p:spPr>
        <p:txBody>
          <a:bodyPr>
            <a:spAutoFit/>
          </a:bodyPr>
          <a:lstStyle>
            <a:lvl1pPr marL="0" indent="0" algn="ctr">
              <a:buSzPct val="100000"/>
              <a:buFont typeface="Arial" panose="020B0604020202020204" pitchFamily="34" charset="0"/>
              <a:buNone/>
              <a:defRPr sz="1800">
                <a:solidFill>
                  <a:schemeClr val="accent1"/>
                </a:solidFill>
                <a:latin typeface="+mj-lt"/>
              </a:defRPr>
            </a:lvl1pPr>
          </a:lstStyle>
          <a:p>
            <a:pPr lvl="0"/>
            <a:r>
              <a:rPr lang="en-US"/>
              <a:t>Lorem ipsum</a:t>
            </a:r>
          </a:p>
        </p:txBody>
      </p:sp>
      <p:sp>
        <p:nvSpPr>
          <p:cNvPr id="47" name="Text Placeholder 4">
            <a:extLst>
              <a:ext uri="{FF2B5EF4-FFF2-40B4-BE49-F238E27FC236}">
                <a16:creationId xmlns:a16="http://schemas.microsoft.com/office/drawing/2014/main" id="{79BF6730-D396-1214-46CA-0690745DC949}"/>
              </a:ext>
            </a:extLst>
          </p:cNvPr>
          <p:cNvSpPr>
            <a:spLocks noGrp="1"/>
          </p:cNvSpPr>
          <p:nvPr>
            <p:ph type="body" sz="quarter" idx="17" hasCustomPrompt="1"/>
          </p:nvPr>
        </p:nvSpPr>
        <p:spPr>
          <a:xfrm>
            <a:off x="9123727" y="3677544"/>
            <a:ext cx="2313210" cy="276999"/>
          </a:xfrm>
        </p:spPr>
        <p:txBody>
          <a:bodyPr>
            <a:spAutoFit/>
          </a:bodyPr>
          <a:lstStyle>
            <a:lvl1pPr marL="0" indent="0" algn="ctr">
              <a:buSzPct val="100000"/>
              <a:buFont typeface="Arial" panose="020B0604020202020204" pitchFamily="34" charset="0"/>
              <a:buNone/>
              <a:defRPr sz="1800">
                <a:solidFill>
                  <a:schemeClr val="accent1"/>
                </a:solidFill>
                <a:latin typeface="+mj-lt"/>
              </a:defRPr>
            </a:lvl1pPr>
          </a:lstStyle>
          <a:p>
            <a:pPr lvl="0"/>
            <a:r>
              <a:rPr lang="en-US"/>
              <a:t>Lorem ipsum</a:t>
            </a:r>
          </a:p>
        </p:txBody>
      </p:sp>
      <p:sp>
        <p:nvSpPr>
          <p:cNvPr id="48" name="Title 1">
            <a:extLst>
              <a:ext uri="{FF2B5EF4-FFF2-40B4-BE49-F238E27FC236}">
                <a16:creationId xmlns:a16="http://schemas.microsoft.com/office/drawing/2014/main" id="{AD4D7402-B83D-6A0C-30F5-B0C66EFAE971}"/>
              </a:ext>
            </a:extLst>
          </p:cNvPr>
          <p:cNvSpPr>
            <a:spLocks noGrp="1"/>
          </p:cNvSpPr>
          <p:nvPr>
            <p:ph type="title"/>
          </p:nvPr>
        </p:nvSpPr>
        <p:spPr>
          <a:xfrm>
            <a:off x="588263" y="457200"/>
            <a:ext cx="11018520" cy="492443"/>
          </a:xfrm>
        </p:spPr>
        <p:txBody>
          <a:bodyPr/>
          <a:lstStyle>
            <a:lvl1pPr>
              <a:defRPr sz="3200"/>
            </a:lvl1pPr>
          </a:lstStyle>
          <a:p>
            <a:r>
              <a:rPr lang="en-US"/>
              <a:t>Click to edit Master title style</a:t>
            </a:r>
          </a:p>
        </p:txBody>
      </p:sp>
      <p:sp>
        <p:nvSpPr>
          <p:cNvPr id="56" name="Picture Placeholder 55">
            <a:extLst>
              <a:ext uri="{FF2B5EF4-FFF2-40B4-BE49-F238E27FC236}">
                <a16:creationId xmlns:a16="http://schemas.microsoft.com/office/drawing/2014/main" id="{89BB5E4B-ECCB-89F3-38BD-F38184A39D0D}"/>
              </a:ext>
            </a:extLst>
          </p:cNvPr>
          <p:cNvSpPr>
            <a:spLocks noGrp="1"/>
          </p:cNvSpPr>
          <p:nvPr>
            <p:ph type="pic" sz="quarter" idx="19"/>
          </p:nvPr>
        </p:nvSpPr>
        <p:spPr>
          <a:xfrm>
            <a:off x="8954612" y="1457138"/>
            <a:ext cx="2651442" cy="2052069"/>
          </a:xfrm>
          <a:custGeom>
            <a:avLst/>
            <a:gdLst>
              <a:gd name="connsiteX0" fmla="*/ 182614 w 2651442"/>
              <a:gd name="connsiteY0" fmla="*/ 0 h 2052069"/>
              <a:gd name="connsiteX1" fmla="*/ 2468828 w 2651442"/>
              <a:gd name="connsiteY1" fmla="*/ 0 h 2052069"/>
              <a:gd name="connsiteX2" fmla="*/ 2651442 w 2651442"/>
              <a:gd name="connsiteY2" fmla="*/ 182614 h 2052069"/>
              <a:gd name="connsiteX3" fmla="*/ 2651442 w 2651442"/>
              <a:gd name="connsiteY3" fmla="*/ 1869455 h 2052069"/>
              <a:gd name="connsiteX4" fmla="*/ 2468828 w 2651442"/>
              <a:gd name="connsiteY4" fmla="*/ 2052069 h 2052069"/>
              <a:gd name="connsiteX5" fmla="*/ 1747364 w 2651442"/>
              <a:gd name="connsiteY5" fmla="*/ 2052069 h 2052069"/>
              <a:gd name="connsiteX6" fmla="*/ 1718201 w 2651442"/>
              <a:gd name="connsiteY6" fmla="*/ 2022906 h 2052069"/>
              <a:gd name="connsiteX7" fmla="*/ 933241 w 2651442"/>
              <a:gd name="connsiteY7" fmla="*/ 2022906 h 2052069"/>
              <a:gd name="connsiteX8" fmla="*/ 904078 w 2651442"/>
              <a:gd name="connsiteY8" fmla="*/ 2052069 h 2052069"/>
              <a:gd name="connsiteX9" fmla="*/ 182614 w 2651442"/>
              <a:gd name="connsiteY9" fmla="*/ 2052069 h 2052069"/>
              <a:gd name="connsiteX10" fmla="*/ 0 w 2651442"/>
              <a:gd name="connsiteY10" fmla="*/ 1869455 h 2052069"/>
              <a:gd name="connsiteX11" fmla="*/ 0 w 2651442"/>
              <a:gd name="connsiteY11" fmla="*/ 182614 h 2052069"/>
              <a:gd name="connsiteX12" fmla="*/ 182614 w 2651442"/>
              <a:gd name="connsiteY12" fmla="*/ 0 h 2052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51442" h="2052069">
                <a:moveTo>
                  <a:pt x="182614" y="0"/>
                </a:moveTo>
                <a:lnTo>
                  <a:pt x="2468828" y="0"/>
                </a:lnTo>
                <a:cubicBezTo>
                  <a:pt x="2569683" y="0"/>
                  <a:pt x="2651442" y="81759"/>
                  <a:pt x="2651442" y="182614"/>
                </a:cubicBezTo>
                <a:lnTo>
                  <a:pt x="2651442" y="1869455"/>
                </a:lnTo>
                <a:cubicBezTo>
                  <a:pt x="2651442" y="1970310"/>
                  <a:pt x="2569683" y="2052069"/>
                  <a:pt x="2468828" y="2052069"/>
                </a:cubicBezTo>
                <a:lnTo>
                  <a:pt x="1747364" y="2052069"/>
                </a:lnTo>
                <a:cubicBezTo>
                  <a:pt x="1747364" y="2035963"/>
                  <a:pt x="1734307" y="2022906"/>
                  <a:pt x="1718201" y="2022906"/>
                </a:cubicBezTo>
                <a:lnTo>
                  <a:pt x="933241" y="2022906"/>
                </a:lnTo>
                <a:cubicBezTo>
                  <a:pt x="917135" y="2022906"/>
                  <a:pt x="904078" y="2035963"/>
                  <a:pt x="904078" y="2052069"/>
                </a:cubicBezTo>
                <a:lnTo>
                  <a:pt x="182614" y="2052069"/>
                </a:lnTo>
                <a:cubicBezTo>
                  <a:pt x="81759" y="2052069"/>
                  <a:pt x="0" y="1970310"/>
                  <a:pt x="0" y="1869455"/>
                </a:cubicBezTo>
                <a:lnTo>
                  <a:pt x="0" y="182614"/>
                </a:lnTo>
                <a:cubicBezTo>
                  <a:pt x="0" y="81759"/>
                  <a:pt x="81759" y="0"/>
                  <a:pt x="182614" y="0"/>
                </a:cubicBezTo>
                <a:close/>
              </a:path>
            </a:pathLst>
          </a:custGeom>
          <a:solidFill>
            <a:schemeClr val="tx1"/>
          </a:solidFill>
        </p:spPr>
        <p:txBody>
          <a:bodyPr wrap="square">
            <a:noAutofit/>
          </a:bodyPr>
          <a:lstStyle/>
          <a:p>
            <a:endParaRPr lang="en-US"/>
          </a:p>
        </p:txBody>
      </p:sp>
      <p:sp>
        <p:nvSpPr>
          <p:cNvPr id="57" name="Picture Placeholder 56">
            <a:extLst>
              <a:ext uri="{FF2B5EF4-FFF2-40B4-BE49-F238E27FC236}">
                <a16:creationId xmlns:a16="http://schemas.microsoft.com/office/drawing/2014/main" id="{29DDA1D4-E2BC-D14D-14FB-E9664C30E8CC}"/>
              </a:ext>
            </a:extLst>
          </p:cNvPr>
          <p:cNvSpPr>
            <a:spLocks noGrp="1"/>
          </p:cNvSpPr>
          <p:nvPr>
            <p:ph type="pic" sz="quarter" idx="20"/>
          </p:nvPr>
        </p:nvSpPr>
        <p:spPr>
          <a:xfrm>
            <a:off x="6166008" y="1457138"/>
            <a:ext cx="2651442" cy="2052069"/>
          </a:xfrm>
          <a:custGeom>
            <a:avLst/>
            <a:gdLst>
              <a:gd name="connsiteX0" fmla="*/ 182614 w 2651442"/>
              <a:gd name="connsiteY0" fmla="*/ 0 h 2052069"/>
              <a:gd name="connsiteX1" fmla="*/ 2468828 w 2651442"/>
              <a:gd name="connsiteY1" fmla="*/ 0 h 2052069"/>
              <a:gd name="connsiteX2" fmla="*/ 2651442 w 2651442"/>
              <a:gd name="connsiteY2" fmla="*/ 182614 h 2052069"/>
              <a:gd name="connsiteX3" fmla="*/ 2651442 w 2651442"/>
              <a:gd name="connsiteY3" fmla="*/ 1869455 h 2052069"/>
              <a:gd name="connsiteX4" fmla="*/ 2468828 w 2651442"/>
              <a:gd name="connsiteY4" fmla="*/ 2052069 h 2052069"/>
              <a:gd name="connsiteX5" fmla="*/ 1747364 w 2651442"/>
              <a:gd name="connsiteY5" fmla="*/ 2052069 h 2052069"/>
              <a:gd name="connsiteX6" fmla="*/ 1718201 w 2651442"/>
              <a:gd name="connsiteY6" fmla="*/ 2022906 h 2052069"/>
              <a:gd name="connsiteX7" fmla="*/ 933241 w 2651442"/>
              <a:gd name="connsiteY7" fmla="*/ 2022906 h 2052069"/>
              <a:gd name="connsiteX8" fmla="*/ 904078 w 2651442"/>
              <a:gd name="connsiteY8" fmla="*/ 2052069 h 2052069"/>
              <a:gd name="connsiteX9" fmla="*/ 182614 w 2651442"/>
              <a:gd name="connsiteY9" fmla="*/ 2052069 h 2052069"/>
              <a:gd name="connsiteX10" fmla="*/ 0 w 2651442"/>
              <a:gd name="connsiteY10" fmla="*/ 1869455 h 2052069"/>
              <a:gd name="connsiteX11" fmla="*/ 0 w 2651442"/>
              <a:gd name="connsiteY11" fmla="*/ 182614 h 2052069"/>
              <a:gd name="connsiteX12" fmla="*/ 182614 w 2651442"/>
              <a:gd name="connsiteY12" fmla="*/ 0 h 2052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51442" h="2052069">
                <a:moveTo>
                  <a:pt x="182614" y="0"/>
                </a:moveTo>
                <a:lnTo>
                  <a:pt x="2468828" y="0"/>
                </a:lnTo>
                <a:cubicBezTo>
                  <a:pt x="2569683" y="0"/>
                  <a:pt x="2651442" y="81759"/>
                  <a:pt x="2651442" y="182614"/>
                </a:cubicBezTo>
                <a:lnTo>
                  <a:pt x="2651442" y="1869455"/>
                </a:lnTo>
                <a:cubicBezTo>
                  <a:pt x="2651442" y="1970310"/>
                  <a:pt x="2569683" y="2052069"/>
                  <a:pt x="2468828" y="2052069"/>
                </a:cubicBezTo>
                <a:lnTo>
                  <a:pt x="1747364" y="2052069"/>
                </a:lnTo>
                <a:cubicBezTo>
                  <a:pt x="1747364" y="2035963"/>
                  <a:pt x="1734307" y="2022906"/>
                  <a:pt x="1718201" y="2022906"/>
                </a:cubicBezTo>
                <a:lnTo>
                  <a:pt x="933241" y="2022906"/>
                </a:lnTo>
                <a:cubicBezTo>
                  <a:pt x="917135" y="2022906"/>
                  <a:pt x="904078" y="2035963"/>
                  <a:pt x="904078" y="2052069"/>
                </a:cubicBezTo>
                <a:lnTo>
                  <a:pt x="182614" y="2052069"/>
                </a:lnTo>
                <a:cubicBezTo>
                  <a:pt x="81759" y="2052069"/>
                  <a:pt x="0" y="1970310"/>
                  <a:pt x="0" y="1869455"/>
                </a:cubicBezTo>
                <a:lnTo>
                  <a:pt x="0" y="182614"/>
                </a:lnTo>
                <a:cubicBezTo>
                  <a:pt x="0" y="81759"/>
                  <a:pt x="81759" y="0"/>
                  <a:pt x="182614" y="0"/>
                </a:cubicBezTo>
                <a:close/>
              </a:path>
            </a:pathLst>
          </a:custGeom>
          <a:solidFill>
            <a:schemeClr val="tx1"/>
          </a:solidFill>
        </p:spPr>
        <p:txBody>
          <a:bodyPr wrap="square">
            <a:noAutofit/>
          </a:bodyPr>
          <a:lstStyle/>
          <a:p>
            <a:endParaRPr lang="en-US"/>
          </a:p>
        </p:txBody>
      </p:sp>
      <p:sp>
        <p:nvSpPr>
          <p:cNvPr id="58" name="Picture Placeholder 57">
            <a:extLst>
              <a:ext uri="{FF2B5EF4-FFF2-40B4-BE49-F238E27FC236}">
                <a16:creationId xmlns:a16="http://schemas.microsoft.com/office/drawing/2014/main" id="{3424BFD4-4318-C1DE-F0B1-570927E9E20E}"/>
              </a:ext>
            </a:extLst>
          </p:cNvPr>
          <p:cNvSpPr>
            <a:spLocks noGrp="1"/>
          </p:cNvSpPr>
          <p:nvPr>
            <p:ph type="pic" sz="quarter" idx="21"/>
          </p:nvPr>
        </p:nvSpPr>
        <p:spPr>
          <a:xfrm>
            <a:off x="3377406" y="1457138"/>
            <a:ext cx="2651442" cy="2052069"/>
          </a:xfrm>
          <a:custGeom>
            <a:avLst/>
            <a:gdLst>
              <a:gd name="connsiteX0" fmla="*/ 182614 w 2651442"/>
              <a:gd name="connsiteY0" fmla="*/ 0 h 2052069"/>
              <a:gd name="connsiteX1" fmla="*/ 2468828 w 2651442"/>
              <a:gd name="connsiteY1" fmla="*/ 0 h 2052069"/>
              <a:gd name="connsiteX2" fmla="*/ 2651442 w 2651442"/>
              <a:gd name="connsiteY2" fmla="*/ 182614 h 2052069"/>
              <a:gd name="connsiteX3" fmla="*/ 2651442 w 2651442"/>
              <a:gd name="connsiteY3" fmla="*/ 1869455 h 2052069"/>
              <a:gd name="connsiteX4" fmla="*/ 2468828 w 2651442"/>
              <a:gd name="connsiteY4" fmla="*/ 2052069 h 2052069"/>
              <a:gd name="connsiteX5" fmla="*/ 1747364 w 2651442"/>
              <a:gd name="connsiteY5" fmla="*/ 2052069 h 2052069"/>
              <a:gd name="connsiteX6" fmla="*/ 1718201 w 2651442"/>
              <a:gd name="connsiteY6" fmla="*/ 2022906 h 2052069"/>
              <a:gd name="connsiteX7" fmla="*/ 933241 w 2651442"/>
              <a:gd name="connsiteY7" fmla="*/ 2022906 h 2052069"/>
              <a:gd name="connsiteX8" fmla="*/ 904078 w 2651442"/>
              <a:gd name="connsiteY8" fmla="*/ 2052069 h 2052069"/>
              <a:gd name="connsiteX9" fmla="*/ 182614 w 2651442"/>
              <a:gd name="connsiteY9" fmla="*/ 2052069 h 2052069"/>
              <a:gd name="connsiteX10" fmla="*/ 0 w 2651442"/>
              <a:gd name="connsiteY10" fmla="*/ 1869455 h 2052069"/>
              <a:gd name="connsiteX11" fmla="*/ 0 w 2651442"/>
              <a:gd name="connsiteY11" fmla="*/ 182614 h 2052069"/>
              <a:gd name="connsiteX12" fmla="*/ 182614 w 2651442"/>
              <a:gd name="connsiteY12" fmla="*/ 0 h 2052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51442" h="2052069">
                <a:moveTo>
                  <a:pt x="182614" y="0"/>
                </a:moveTo>
                <a:lnTo>
                  <a:pt x="2468828" y="0"/>
                </a:lnTo>
                <a:cubicBezTo>
                  <a:pt x="2569683" y="0"/>
                  <a:pt x="2651442" y="81759"/>
                  <a:pt x="2651442" y="182614"/>
                </a:cubicBezTo>
                <a:lnTo>
                  <a:pt x="2651442" y="1869455"/>
                </a:lnTo>
                <a:cubicBezTo>
                  <a:pt x="2651442" y="1970310"/>
                  <a:pt x="2569683" y="2052069"/>
                  <a:pt x="2468828" y="2052069"/>
                </a:cubicBezTo>
                <a:lnTo>
                  <a:pt x="1747364" y="2052069"/>
                </a:lnTo>
                <a:cubicBezTo>
                  <a:pt x="1747364" y="2035963"/>
                  <a:pt x="1734307" y="2022906"/>
                  <a:pt x="1718201" y="2022906"/>
                </a:cubicBezTo>
                <a:lnTo>
                  <a:pt x="933241" y="2022906"/>
                </a:lnTo>
                <a:cubicBezTo>
                  <a:pt x="917135" y="2022906"/>
                  <a:pt x="904078" y="2035963"/>
                  <a:pt x="904078" y="2052069"/>
                </a:cubicBezTo>
                <a:lnTo>
                  <a:pt x="182614" y="2052069"/>
                </a:lnTo>
                <a:cubicBezTo>
                  <a:pt x="81759" y="2052069"/>
                  <a:pt x="0" y="1970310"/>
                  <a:pt x="0" y="1869455"/>
                </a:cubicBezTo>
                <a:lnTo>
                  <a:pt x="0" y="182614"/>
                </a:lnTo>
                <a:cubicBezTo>
                  <a:pt x="0" y="81759"/>
                  <a:pt x="81759" y="0"/>
                  <a:pt x="182614" y="0"/>
                </a:cubicBezTo>
                <a:close/>
              </a:path>
            </a:pathLst>
          </a:custGeom>
          <a:solidFill>
            <a:schemeClr val="tx1"/>
          </a:solidFill>
        </p:spPr>
        <p:txBody>
          <a:bodyPr wrap="square">
            <a:noAutofit/>
          </a:bodyPr>
          <a:lstStyle/>
          <a:p>
            <a:endParaRPr lang="en-US"/>
          </a:p>
        </p:txBody>
      </p:sp>
    </p:spTree>
    <p:extLst>
      <p:ext uri="{BB962C8B-B14F-4D97-AF65-F5344CB8AC3E}">
        <p14:creationId xmlns:p14="http://schemas.microsoft.com/office/powerpoint/2010/main" val="375326033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w/image_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5D2AD6C-62DD-326E-4471-0D7041BF8A5F}"/>
              </a:ext>
            </a:extLst>
          </p:cNvPr>
          <p:cNvSpPr>
            <a:spLocks/>
          </p:cNvSpPr>
          <p:nvPr userDrawn="1"/>
        </p:nvSpPr>
        <p:spPr bwMode="auto">
          <a:xfrm>
            <a:off x="0" y="0"/>
            <a:ext cx="12191999" cy="2554514"/>
          </a:xfrm>
          <a:prstGeom prst="rect">
            <a:avLst/>
          </a:prstGeom>
          <a:gradFill flip="none" rotWithShape="1">
            <a:gsLst>
              <a:gs pos="0">
                <a:srgbClr val="8449A9"/>
              </a:gs>
              <a:gs pos="100000">
                <a:srgbClr val="0538BB"/>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chemeClr val="bg1"/>
              </a:solidFill>
              <a:cs typeface="Segoe UI" pitchFamily="34" charset="0"/>
            </a:endParaRPr>
          </a:p>
        </p:txBody>
      </p:sp>
      <p:pic>
        <p:nvPicPr>
          <p:cNvPr id="7" name="Picture 6" descr="A silver shield with text and stars&#10;&#10;AI-generated content may be incorrect.">
            <a:extLst>
              <a:ext uri="{FF2B5EF4-FFF2-40B4-BE49-F238E27FC236}">
                <a16:creationId xmlns:a16="http://schemas.microsoft.com/office/drawing/2014/main" id="{0D876B40-D15D-C715-A49D-E4102F02F601}"/>
              </a:ext>
            </a:extLst>
          </p:cNvPr>
          <p:cNvPicPr>
            <a:picLocks noChangeAspect="1"/>
          </p:cNvPicPr>
          <p:nvPr userDrawn="1"/>
        </p:nvPicPr>
        <p:blipFill>
          <a:blip r:embed="rId2">
            <a:alphaModFix/>
          </a:blip>
          <a:srcRect l="3844" t="2514" r="4223" b="5918"/>
          <a:stretch>
            <a:fillRect/>
          </a:stretch>
        </p:blipFill>
        <p:spPr>
          <a:xfrm>
            <a:off x="11385550" y="288925"/>
            <a:ext cx="512761" cy="510720"/>
          </a:xfrm>
          <a:prstGeom prst="rect">
            <a:avLst/>
          </a:prstGeom>
          <a:effectLst/>
        </p:spPr>
      </p:pic>
      <p:pic>
        <p:nvPicPr>
          <p:cNvPr id="36" name="Picture 35" descr="A silver shield with text and stars&#10;&#10;AI-generated content may be incorrect.">
            <a:extLst>
              <a:ext uri="{FF2B5EF4-FFF2-40B4-BE49-F238E27FC236}">
                <a16:creationId xmlns:a16="http://schemas.microsoft.com/office/drawing/2014/main" id="{74FF1801-287D-2733-9928-4E90A7D39335}"/>
              </a:ext>
            </a:extLst>
          </p:cNvPr>
          <p:cNvPicPr>
            <a:picLocks noChangeAspect="1"/>
          </p:cNvPicPr>
          <p:nvPr userDrawn="1"/>
        </p:nvPicPr>
        <p:blipFill>
          <a:blip r:embed="rId2">
            <a:alphaModFix/>
          </a:blip>
          <a:srcRect l="3844" t="2514" r="4223" b="5918"/>
          <a:stretch>
            <a:fillRect/>
          </a:stretch>
        </p:blipFill>
        <p:spPr>
          <a:xfrm>
            <a:off x="11385550" y="288925"/>
            <a:ext cx="512761" cy="510720"/>
          </a:xfrm>
          <a:prstGeom prst="rect">
            <a:avLst/>
          </a:prstGeom>
          <a:effectLst/>
        </p:spPr>
      </p:pic>
      <p:sp>
        <p:nvSpPr>
          <p:cNvPr id="6" name="Title 1">
            <a:extLst>
              <a:ext uri="{FF2B5EF4-FFF2-40B4-BE49-F238E27FC236}">
                <a16:creationId xmlns:a16="http://schemas.microsoft.com/office/drawing/2014/main" id="{AD4D7402-B83D-6A0C-30F5-B0C66EFAE971}"/>
              </a:ext>
            </a:extLst>
          </p:cNvPr>
          <p:cNvSpPr>
            <a:spLocks noGrp="1"/>
          </p:cNvSpPr>
          <p:nvPr>
            <p:ph type="title"/>
          </p:nvPr>
        </p:nvSpPr>
        <p:spPr>
          <a:xfrm>
            <a:off x="588962" y="457200"/>
            <a:ext cx="5013551" cy="1969770"/>
          </a:xfrm>
        </p:spPr>
        <p:txBody>
          <a:bodyPr anchor="ctr">
            <a:noAutofit/>
          </a:bodyPr>
          <a:lstStyle>
            <a:lvl1pPr>
              <a:defRPr sz="3200"/>
            </a:lvl1pPr>
          </a:lstStyle>
          <a:p>
            <a:r>
              <a:rPr lang="en-US"/>
              <a:t>Click to edit Master title style</a:t>
            </a:r>
          </a:p>
        </p:txBody>
      </p:sp>
      <p:sp>
        <p:nvSpPr>
          <p:cNvPr id="8" name="Picture Placeholder 7">
            <a:extLst>
              <a:ext uri="{FF2B5EF4-FFF2-40B4-BE49-F238E27FC236}">
                <a16:creationId xmlns:a16="http://schemas.microsoft.com/office/drawing/2014/main" id="{DBF25F7E-90DE-53E5-6AF2-028A9766FEC7}"/>
              </a:ext>
            </a:extLst>
          </p:cNvPr>
          <p:cNvSpPr>
            <a:spLocks noGrp="1"/>
          </p:cNvSpPr>
          <p:nvPr>
            <p:ph type="pic" sz="quarter" idx="18"/>
          </p:nvPr>
        </p:nvSpPr>
        <p:spPr>
          <a:xfrm>
            <a:off x="5951538" y="914399"/>
            <a:ext cx="5651499" cy="5448301"/>
          </a:xfrm>
          <a:prstGeom prst="roundRect">
            <a:avLst>
              <a:gd name="adj" fmla="val 4628"/>
            </a:avLst>
          </a:prstGeom>
          <a:solidFill>
            <a:schemeClr val="tx1"/>
          </a:solidFill>
        </p:spPr>
        <p:txBody>
          <a:bodyPr wrap="square">
            <a:noAutofit/>
          </a:bodyPr>
          <a:lstStyle/>
          <a:p>
            <a:endParaRPr lang="en-US"/>
          </a:p>
        </p:txBody>
      </p:sp>
      <p:sp>
        <p:nvSpPr>
          <p:cNvPr id="10" name="Text Placeholder 4">
            <a:extLst>
              <a:ext uri="{FF2B5EF4-FFF2-40B4-BE49-F238E27FC236}">
                <a16:creationId xmlns:a16="http://schemas.microsoft.com/office/drawing/2014/main" id="{0FD73285-18EC-21BC-10D1-EA49A3081FB2}"/>
              </a:ext>
            </a:extLst>
          </p:cNvPr>
          <p:cNvSpPr>
            <a:spLocks noGrp="1"/>
          </p:cNvSpPr>
          <p:nvPr>
            <p:ph type="body" sz="quarter" idx="10" hasCustomPrompt="1"/>
          </p:nvPr>
        </p:nvSpPr>
        <p:spPr>
          <a:xfrm>
            <a:off x="588962" y="2843711"/>
            <a:ext cx="5013552" cy="3077766"/>
          </a:xfrm>
        </p:spPr>
        <p:txBody>
          <a:bodyPr>
            <a:noAutofit/>
          </a:bodyPr>
          <a:lstStyle>
            <a:lvl1pPr marL="0" indent="0" algn="l">
              <a:buSzPct val="100000"/>
              <a:buFont typeface="Arial" panose="020B0604020202020204" pitchFamily="34" charset="0"/>
              <a:buNone/>
              <a:defRPr sz="16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a:p>
            <a:pPr lvl="0"/>
            <a:r>
              <a:rPr lang="en-US"/>
              <a:t>Nunc </a:t>
            </a:r>
            <a:r>
              <a:rPr lang="en-US" err="1"/>
              <a:t>viverra</a:t>
            </a:r>
            <a:r>
              <a:rPr lang="en-US"/>
              <a:t> </a:t>
            </a:r>
            <a:r>
              <a:rPr lang="en-US" err="1"/>
              <a:t>imperdiet</a:t>
            </a:r>
            <a:r>
              <a:rPr lang="en-US"/>
              <a:t> </a:t>
            </a:r>
            <a:r>
              <a:rPr lang="en-US" err="1"/>
              <a:t>enim</a:t>
            </a:r>
            <a:r>
              <a:rPr lang="en-US"/>
              <a:t>. </a:t>
            </a:r>
            <a:r>
              <a:rPr lang="en-US" err="1"/>
              <a:t>Fusce</a:t>
            </a:r>
            <a:r>
              <a:rPr lang="en-US"/>
              <a:t> est. </a:t>
            </a:r>
            <a:r>
              <a:rPr lang="en-US" err="1"/>
              <a:t>Vivamus</a:t>
            </a:r>
            <a:r>
              <a:rPr lang="en-US"/>
              <a:t> a </a:t>
            </a:r>
            <a:r>
              <a:rPr lang="en-US" err="1"/>
              <a:t>tellus</a:t>
            </a:r>
            <a:r>
              <a:rPr lang="en-US"/>
              <a:t>.</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p>
        </p:txBody>
      </p:sp>
    </p:spTree>
    <p:extLst>
      <p:ext uri="{BB962C8B-B14F-4D97-AF65-F5344CB8AC3E}">
        <p14:creationId xmlns:p14="http://schemas.microsoft.com/office/powerpoint/2010/main" val="25603212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Background">
    <p:bg>
      <p:bgPr>
        <a:solidFill>
          <a:srgbClr val="8DC8E8"/>
        </a:solidFill>
        <a:effectLst/>
      </p:bgPr>
    </p:bg>
    <p:spTree>
      <p:nvGrpSpPr>
        <p:cNvPr id="1" name=""/>
        <p:cNvGrpSpPr/>
        <p:nvPr/>
      </p:nvGrpSpPr>
      <p:grpSpPr>
        <a:xfrm>
          <a:off x="0" y="0"/>
          <a:ext cx="0" cy="0"/>
          <a:chOff x="0" y="0"/>
          <a:chExt cx="0" cy="0"/>
        </a:xfrm>
      </p:grpSpPr>
      <p:pic>
        <p:nvPicPr>
          <p:cNvPr id="3" name="Picture 2" descr="A blue and purple gradient&#10;&#10;AI-generated content may be incorrect.">
            <a:extLst>
              <a:ext uri="{FF2B5EF4-FFF2-40B4-BE49-F238E27FC236}">
                <a16:creationId xmlns:a16="http://schemas.microsoft.com/office/drawing/2014/main" id="{9D34C299-A8B5-1F05-90DB-A9EC230E988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66592459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2_Closing logo slide">
    <p:bg>
      <p:bgRef idx="1001">
        <a:schemeClr val="bg1"/>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Picture 4" descr="A logo on a black background&#10;&#10;AI-generated content may be incorrect.">
            <a:extLst>
              <a:ext uri="{FF2B5EF4-FFF2-40B4-BE49-F238E27FC236}">
                <a16:creationId xmlns:a16="http://schemas.microsoft.com/office/drawing/2014/main" id="{54C58BD3-CDE2-2472-5B17-4AA60F1F084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1353" y="290130"/>
            <a:ext cx="1972133" cy="883924"/>
          </a:xfrm>
          <a:prstGeom prst="rect">
            <a:avLst/>
          </a:prstGeom>
        </p:spPr>
      </p:pic>
    </p:spTree>
    <p:extLst>
      <p:ext uri="{BB962C8B-B14F-4D97-AF65-F5344CB8AC3E}">
        <p14:creationId xmlns:p14="http://schemas.microsoft.com/office/powerpoint/2010/main" val="377228527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Closing logo slide">
    <p:bg>
      <p:bgPr>
        <a:solidFill>
          <a:srgbClr val="8DC8E8"/>
        </a:solidFill>
        <a:effectLst/>
      </p:bgPr>
    </p:bg>
    <p:spTree>
      <p:nvGrpSpPr>
        <p:cNvPr id="1" name=""/>
        <p:cNvGrpSpPr/>
        <p:nvPr/>
      </p:nvGrpSpPr>
      <p:grpSpPr>
        <a:xfrm>
          <a:off x="0" y="0"/>
          <a:ext cx="0" cy="0"/>
          <a:chOff x="0" y="0"/>
          <a:chExt cx="0" cy="0"/>
        </a:xfrm>
      </p:grpSpPr>
      <p:pic>
        <p:nvPicPr>
          <p:cNvPr id="4" name="Picture 3" descr="A blue and purple gradient&#10;&#10;AI-generated content may be incorrect.">
            <a:extLst>
              <a:ext uri="{FF2B5EF4-FFF2-40B4-BE49-F238E27FC236}">
                <a16:creationId xmlns:a16="http://schemas.microsoft.com/office/drawing/2014/main" id="{62FC192E-09BB-FE87-78D1-A92D398174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7" name="Picture 6" descr="A logo on a black background&#10;&#10;AI-generated content may be incorrect.">
            <a:extLst>
              <a:ext uri="{FF2B5EF4-FFF2-40B4-BE49-F238E27FC236}">
                <a16:creationId xmlns:a16="http://schemas.microsoft.com/office/drawing/2014/main" id="{E7C4D62F-7870-ABCC-2805-88859CA8EE8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81353" y="290130"/>
            <a:ext cx="1972133" cy="883924"/>
          </a:xfrm>
          <a:prstGeom prst="rect">
            <a:avLst/>
          </a:prstGeom>
        </p:spPr>
      </p:pic>
    </p:spTree>
    <p:extLst>
      <p:ext uri="{BB962C8B-B14F-4D97-AF65-F5344CB8AC3E}">
        <p14:creationId xmlns:p14="http://schemas.microsoft.com/office/powerpoint/2010/main" val="1909341843"/>
      </p:ext>
    </p:extLst>
  </p:cSld>
  <p:clrMapOvr>
    <a:overrideClrMapping bg1="dk1" tx1="lt1" bg2="dk2" tx2="lt2" accent1="accent1" accent2="accent2" accent3="accent3" accent4="accent4" accent5="accent5" accent6="accent6" hlink="hlink" folHlink="folHlink"/>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sv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15"/>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2869620834"/>
      </p:ext>
    </p:extLst>
  </p:cSld>
  <p:clrMap bg1="dk1" tx1="lt1" bg2="dk2" tx2="lt2" accent1="accent1" accent2="accent2" accent3="accent3" accent4="accent4" accent5="accent5" accent6="accent6" hlink="hlink" folHlink="folHlink"/>
  <p:sldLayoutIdLst>
    <p:sldLayoutId id="2147486123" r:id="rId1"/>
    <p:sldLayoutId id="2147486035" r:id="rId2"/>
    <p:sldLayoutId id="2147486134" r:id="rId3"/>
    <p:sldLayoutId id="2147486135" r:id="rId4"/>
    <p:sldLayoutId id="2147486136" r:id="rId5"/>
    <p:sldLayoutId id="2147486137" r:id="rId6"/>
    <p:sldLayoutId id="2147486138" r:id="rId7"/>
    <p:sldLayoutId id="2147486139" r:id="rId8"/>
    <p:sldLayoutId id="2147486140" r:id="rId9"/>
    <p:sldLayoutId id="2147486141" r:id="rId10"/>
    <p:sldLayoutId id="2147486142" r:id="rId11"/>
    <p:sldLayoutId id="2147486132" r:id="rId12"/>
    <p:sldLayoutId id="2147486133" r:id="rId13"/>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Aptos SemiBold" panose="020B0004020202020204" pitchFamily="34" charset="0"/>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Aptos" panose="020B0004020202020204" pitchFamily="34" charset="0"/>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Aptos" panose="020B0004020202020204" pitchFamily="34" charset="0"/>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Aptos" panose="020B0004020202020204" pitchFamily="34" charset="0"/>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Aptos" panose="020B0004020202020204" pitchFamily="34" charset="0"/>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Aptos" panose="020B0004020202020204" pitchFamily="34" charset="0"/>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400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7" Type="http://schemas.openxmlformats.org/officeDocument/2006/relationships/hyperlink" Target="https://en.wikipedia.org/wiki/2019%E2%80%9320_Australian_bushfire_season" TargetMode="External"/><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hyperlink" Target="https://www.royalcommission.gov.au/natural-disasters/report" TargetMode="External"/><Relationship Id="rId5" Type="http://schemas.openxmlformats.org/officeDocument/2006/relationships/image" Target="../media/image7.jpg"/><Relationship Id="rId4" Type="http://schemas.openxmlformats.org/officeDocument/2006/relationships/image" Target="../media/image6.jpg"/></Relationships>
</file>

<file path=ppt/slides/_rels/slide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0.xml"/><Relationship Id="rId5" Type="http://schemas.openxmlformats.org/officeDocument/2006/relationships/hyperlink" Target="https://www.ausalert.gov.au/" TargetMode="External"/><Relationship Id="rId4" Type="http://schemas.openxmlformats.org/officeDocument/2006/relationships/image" Target="../media/image10.jpeg"/></Relationships>
</file>

<file path=ppt/slides/_rels/slide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4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4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739205"/>
            <a:ext cx="6400800" cy="2769989"/>
          </a:xfrm>
        </p:spPr>
        <p:txBody>
          <a:bodyPr/>
          <a:lstStyle/>
          <a:p>
            <a:r>
              <a:rPr lang="en-AU" sz="4800" noProof="0" dirty="0"/>
              <a:t>Autonomous Disaster Response Agent Coordination Hub</a:t>
            </a:r>
          </a:p>
        </p:txBody>
      </p:sp>
      <p:sp>
        <p:nvSpPr>
          <p:cNvPr id="3" name="TextBox 2"/>
          <p:cNvSpPr txBox="1"/>
          <p:nvPr/>
        </p:nvSpPr>
        <p:spPr>
          <a:xfrm>
            <a:off x="548640" y="4937760"/>
            <a:ext cx="6898640" cy="707886"/>
          </a:xfrm>
          <a:prstGeom prst="rect">
            <a:avLst/>
          </a:prstGeom>
          <a:noFill/>
        </p:spPr>
        <p:txBody>
          <a:bodyPr wrap="square">
            <a:spAutoFit/>
          </a:bodyPr>
          <a:lstStyle/>
          <a:p>
            <a:r>
              <a:rPr lang="en-AU" sz="2000" b="1" noProof="0" dirty="0"/>
              <a:t>An AIIMS-aligned, multi-agent coordination platform for Australian emergency management</a:t>
            </a:r>
          </a:p>
        </p:txBody>
      </p:sp>
      <p:sp>
        <p:nvSpPr>
          <p:cNvPr id="4" name="TextBox 3"/>
          <p:cNvSpPr txBox="1"/>
          <p:nvPr/>
        </p:nvSpPr>
        <p:spPr>
          <a:xfrm>
            <a:off x="548640" y="5920323"/>
            <a:ext cx="3796873" cy="523220"/>
          </a:xfrm>
          <a:prstGeom prst="rect">
            <a:avLst/>
          </a:prstGeom>
          <a:noFill/>
        </p:spPr>
        <p:txBody>
          <a:bodyPr wrap="none">
            <a:spAutoFit/>
          </a:bodyPr>
          <a:lstStyle/>
          <a:p>
            <a:r>
              <a:rPr lang="en-AU" sz="1400" noProof="0" dirty="0"/>
              <a:t>John Billiris</a:t>
            </a:r>
          </a:p>
          <a:p>
            <a:r>
              <a:rPr lang="en-AU" sz="1400" noProof="0" dirty="0"/>
              <a:t>Azure Master Architect Capstone  |  May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noProof="0" dirty="0"/>
              <a:t>AGENDA</a:t>
            </a:r>
          </a:p>
        </p:txBody>
      </p:sp>
      <p:sp>
        <p:nvSpPr>
          <p:cNvPr id="3" name="Text Placeholder 2"/>
          <p:cNvSpPr>
            <a:spLocks noGrp="1"/>
          </p:cNvSpPr>
          <p:nvPr>
            <p:ph type="body" sz="quarter" idx="10"/>
          </p:nvPr>
        </p:nvSpPr>
        <p:spPr/>
        <p:txBody>
          <a:bodyPr/>
          <a:lstStyle/>
          <a:p>
            <a:r>
              <a:rPr lang="en-AU" noProof="0" dirty="0"/>
              <a:t>The 4-minute window - why coordination is the bottleneck</a:t>
            </a:r>
          </a:p>
        </p:txBody>
      </p:sp>
      <p:sp>
        <p:nvSpPr>
          <p:cNvPr id="4" name="Text Placeholder 3"/>
          <p:cNvSpPr>
            <a:spLocks noGrp="1"/>
          </p:cNvSpPr>
          <p:nvPr>
            <p:ph type="body" sz="quarter" idx="11"/>
          </p:nvPr>
        </p:nvSpPr>
        <p:spPr/>
        <p:txBody>
          <a:bodyPr/>
          <a:lstStyle/>
          <a:p>
            <a:r>
              <a:rPr lang="en-AU" noProof="0" dirty="0"/>
              <a:t>Stakeholders, personas and the AIIMS reality</a:t>
            </a:r>
          </a:p>
        </p:txBody>
      </p:sp>
      <p:sp>
        <p:nvSpPr>
          <p:cNvPr id="5" name="Text Placeholder 4"/>
          <p:cNvSpPr>
            <a:spLocks noGrp="1"/>
          </p:cNvSpPr>
          <p:nvPr>
            <p:ph type="body" sz="quarter" idx="12"/>
          </p:nvPr>
        </p:nvSpPr>
        <p:spPr/>
        <p:txBody>
          <a:bodyPr/>
          <a:lstStyle/>
          <a:p>
            <a:r>
              <a:rPr lang="en-AU" noProof="0" dirty="0"/>
              <a:t>Current state - where coordination breaks today</a:t>
            </a:r>
          </a:p>
        </p:txBody>
      </p:sp>
      <p:sp>
        <p:nvSpPr>
          <p:cNvPr id="6" name="Text Placeholder 5"/>
          <p:cNvSpPr>
            <a:spLocks noGrp="1"/>
          </p:cNvSpPr>
          <p:nvPr>
            <p:ph type="body" sz="quarter" idx="13"/>
          </p:nvPr>
        </p:nvSpPr>
        <p:spPr/>
        <p:txBody>
          <a:bodyPr/>
          <a:lstStyle/>
          <a:p>
            <a:r>
              <a:rPr lang="en-AU" noProof="0" dirty="0"/>
              <a:t>Solution vision and reference architecture</a:t>
            </a:r>
          </a:p>
        </p:txBody>
      </p:sp>
      <p:sp>
        <p:nvSpPr>
          <p:cNvPr id="7" name="Text Placeholder 6"/>
          <p:cNvSpPr>
            <a:spLocks noGrp="1"/>
          </p:cNvSpPr>
          <p:nvPr>
            <p:ph type="body" sz="quarter" idx="14"/>
          </p:nvPr>
        </p:nvSpPr>
        <p:spPr/>
        <p:txBody>
          <a:bodyPr/>
          <a:lstStyle/>
          <a:p>
            <a:r>
              <a:rPr lang="en-AU" noProof="0" dirty="0"/>
              <a:t>AI strategy - five agents, one common operating picture</a:t>
            </a:r>
          </a:p>
        </p:txBody>
      </p:sp>
      <p:sp>
        <p:nvSpPr>
          <p:cNvPr id="8" name="Text Placeholder 7"/>
          <p:cNvSpPr>
            <a:spLocks noGrp="1"/>
          </p:cNvSpPr>
          <p:nvPr>
            <p:ph type="body" sz="quarter" idx="15"/>
          </p:nvPr>
        </p:nvSpPr>
        <p:spPr/>
        <p:txBody>
          <a:bodyPr/>
          <a:lstStyle/>
          <a:p>
            <a:r>
              <a:rPr lang="en-AU" noProof="0" dirty="0"/>
              <a:t>Live demo - Blue Mountains bushfire, end-to-end</a:t>
            </a:r>
          </a:p>
        </p:txBody>
      </p:sp>
      <p:sp>
        <p:nvSpPr>
          <p:cNvPr id="9" name="Text Placeholder 8"/>
          <p:cNvSpPr>
            <a:spLocks noGrp="1"/>
          </p:cNvSpPr>
          <p:nvPr>
            <p:ph type="body" sz="quarter" idx="16"/>
          </p:nvPr>
        </p:nvSpPr>
        <p:spPr/>
        <p:txBody>
          <a:bodyPr/>
          <a:lstStyle/>
          <a:p>
            <a:r>
              <a:rPr lang="en-AU" noProof="0" dirty="0"/>
              <a:t>Security, governance, responsible AI and data sovereignty</a:t>
            </a:r>
          </a:p>
        </p:txBody>
      </p:sp>
      <p:sp>
        <p:nvSpPr>
          <p:cNvPr id="10" name="Text Placeholder 9"/>
          <p:cNvSpPr>
            <a:spLocks noGrp="1"/>
          </p:cNvSpPr>
          <p:nvPr>
            <p:ph type="body" sz="quarter" idx="17"/>
          </p:nvPr>
        </p:nvSpPr>
        <p:spPr/>
        <p:txBody>
          <a:bodyPr/>
          <a:lstStyle/>
          <a:p>
            <a:r>
              <a:rPr lang="en-AU" noProof="0" dirty="0"/>
              <a:t>Business impact, KPIs, FinOps and adoption roadmap</a:t>
            </a:r>
          </a:p>
        </p:txBody>
      </p:sp>
      <p:sp>
        <p:nvSpPr>
          <p:cNvPr id="11" name="Text Placeholder 10"/>
          <p:cNvSpPr>
            <a:spLocks noGrp="1"/>
          </p:cNvSpPr>
          <p:nvPr>
            <p:ph type="body" sz="quarter" idx="20"/>
          </p:nvPr>
        </p:nvSpPr>
        <p:spPr/>
        <p:txBody>
          <a:bodyPr/>
          <a:lstStyle/>
          <a:p>
            <a:endParaRPr lang="en-AU" noProof="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8263" y="457200"/>
            <a:ext cx="11018520" cy="492443"/>
          </a:xfrm>
        </p:spPr>
        <p:txBody>
          <a:bodyPr/>
          <a:lstStyle/>
          <a:p>
            <a:r>
              <a:rPr lang="en-AU" noProof="0" dirty="0"/>
              <a:t>In Australian disasters, minutes are the currency of life</a:t>
            </a:r>
          </a:p>
        </p:txBody>
      </p:sp>
      <p:sp>
        <p:nvSpPr>
          <p:cNvPr id="3" name="Text Placeholder 2"/>
          <p:cNvSpPr>
            <a:spLocks noGrp="1"/>
          </p:cNvSpPr>
          <p:nvPr>
            <p:ph type="body" sz="quarter" idx="10"/>
          </p:nvPr>
        </p:nvSpPr>
        <p:spPr>
          <a:xfrm>
            <a:off x="849547" y="3436166"/>
            <a:ext cx="3147226" cy="1661993"/>
          </a:xfrm>
        </p:spPr>
        <p:txBody>
          <a:bodyPr/>
          <a:lstStyle/>
          <a:p>
            <a:r>
              <a:rPr lang="en-AU" noProof="0" dirty="0"/>
              <a:t>Black Summer 2019–20 burned 24 million hectares across Australia. Post-event reviews identified shared </a:t>
            </a:r>
            <a:r>
              <a:rPr lang="en-AU" i="1" noProof="0" dirty="0"/>
              <a:t>situational awareness</a:t>
            </a:r>
            <a:r>
              <a:rPr lang="en-AU" noProof="0" dirty="0"/>
              <a:t> - not firepower - as the limiting factor.</a:t>
            </a:r>
          </a:p>
        </p:txBody>
      </p:sp>
      <p:sp>
        <p:nvSpPr>
          <p:cNvPr id="4" name="Text Placeholder 3"/>
          <p:cNvSpPr>
            <a:spLocks noGrp="1"/>
          </p:cNvSpPr>
          <p:nvPr>
            <p:ph type="body" sz="quarter" idx="11"/>
          </p:nvPr>
        </p:nvSpPr>
        <p:spPr>
          <a:xfrm>
            <a:off x="8195227" y="3436166"/>
            <a:ext cx="3147226" cy="1938992"/>
          </a:xfrm>
        </p:spPr>
        <p:txBody>
          <a:bodyPr/>
          <a:lstStyle/>
          <a:p>
            <a:r>
              <a:rPr lang="en-AU" noProof="0" dirty="0"/>
              <a:t>The 2022 Northern Rivers floods affect 3,000+ homes. Evacuation </a:t>
            </a:r>
            <a:r>
              <a:rPr lang="en-AU" i="1" noProof="0" dirty="0"/>
              <a:t>lead time</a:t>
            </a:r>
            <a:r>
              <a:rPr lang="en-AU" noProof="0" dirty="0"/>
              <a:t>, not transport capacity, drove the casualty curve. An earlier coordinated evacuation would have changed the outcome.</a:t>
            </a:r>
          </a:p>
        </p:txBody>
      </p:sp>
      <p:sp>
        <p:nvSpPr>
          <p:cNvPr id="5" name="Text Placeholder 4"/>
          <p:cNvSpPr>
            <a:spLocks noGrp="1"/>
          </p:cNvSpPr>
          <p:nvPr>
            <p:ph type="body" sz="quarter" idx="26"/>
          </p:nvPr>
        </p:nvSpPr>
        <p:spPr>
          <a:xfrm>
            <a:off x="4522387" y="3436166"/>
            <a:ext cx="3147226" cy="1384995"/>
          </a:xfrm>
        </p:spPr>
        <p:txBody>
          <a:bodyPr/>
          <a:lstStyle/>
          <a:p>
            <a:r>
              <a:rPr lang="en-AU" noProof="0" dirty="0"/>
              <a:t>A Royal Commission estimated disaster losses will exceed AUD$39B per year by 2050. </a:t>
            </a:r>
            <a:r>
              <a:rPr lang="en-AU" i="1" noProof="0" dirty="0"/>
              <a:t>Coordination</a:t>
            </a:r>
            <a:r>
              <a:rPr lang="en-AU" noProof="0" dirty="0"/>
              <a:t>, not capital, is the binding constraint.</a:t>
            </a:r>
          </a:p>
        </p:txBody>
      </p:sp>
      <p:sp>
        <p:nvSpPr>
          <p:cNvPr id="6" name="Text Placeholder 5"/>
          <p:cNvSpPr>
            <a:spLocks noGrp="1"/>
          </p:cNvSpPr>
          <p:nvPr>
            <p:ph type="body" sz="quarter" idx="27"/>
          </p:nvPr>
        </p:nvSpPr>
        <p:spPr>
          <a:xfrm>
            <a:off x="849547" y="2872154"/>
            <a:ext cx="3145536" cy="338554"/>
          </a:xfrm>
        </p:spPr>
        <p:txBody>
          <a:bodyPr/>
          <a:lstStyle/>
          <a:p>
            <a:r>
              <a:rPr lang="en-AU" sz="2200" noProof="0" dirty="0"/>
              <a:t>33 lives lost</a:t>
            </a:r>
          </a:p>
        </p:txBody>
      </p:sp>
      <p:sp>
        <p:nvSpPr>
          <p:cNvPr id="7" name="Text Placeholder 6"/>
          <p:cNvSpPr>
            <a:spLocks noGrp="1"/>
          </p:cNvSpPr>
          <p:nvPr>
            <p:ph type="body" sz="quarter" idx="28"/>
          </p:nvPr>
        </p:nvSpPr>
        <p:spPr>
          <a:xfrm>
            <a:off x="4522386" y="2872154"/>
            <a:ext cx="3277445" cy="338554"/>
          </a:xfrm>
        </p:spPr>
        <p:txBody>
          <a:bodyPr/>
          <a:lstStyle/>
          <a:p>
            <a:r>
              <a:rPr lang="en-AU" sz="2200" noProof="0" dirty="0"/>
              <a:t>3,000+ homes destroyed</a:t>
            </a:r>
          </a:p>
        </p:txBody>
      </p:sp>
      <p:sp>
        <p:nvSpPr>
          <p:cNvPr id="8" name="Text Placeholder 7"/>
          <p:cNvSpPr>
            <a:spLocks noGrp="1"/>
          </p:cNvSpPr>
          <p:nvPr>
            <p:ph type="body" sz="quarter" idx="29"/>
          </p:nvPr>
        </p:nvSpPr>
        <p:spPr>
          <a:xfrm>
            <a:off x="8195227" y="2872154"/>
            <a:ext cx="3145536" cy="338554"/>
          </a:xfrm>
        </p:spPr>
        <p:txBody>
          <a:bodyPr/>
          <a:lstStyle/>
          <a:p>
            <a:r>
              <a:rPr lang="en-AU" sz="2200" noProof="0" dirty="0"/>
              <a:t>$103B economic cost</a:t>
            </a:r>
          </a:p>
        </p:txBody>
      </p:sp>
      <p:pic>
        <p:nvPicPr>
          <p:cNvPr id="20" name="Icon Lives Lost"/>
          <p:cNvPicPr>
            <a:picLocks noChangeAspect="1"/>
          </p:cNvPicPr>
          <p:nvPr/>
        </p:nvPicPr>
        <p:blipFill>
          <a:blip r:embed="rId3"/>
          <a:stretch>
            <a:fillRect/>
          </a:stretch>
        </p:blipFill>
        <p:spPr>
          <a:xfrm>
            <a:off x="849547" y="2094997"/>
            <a:ext cx="608922" cy="608922"/>
          </a:xfrm>
          <a:prstGeom prst="ellipse">
            <a:avLst/>
          </a:prstGeom>
        </p:spPr>
      </p:pic>
      <p:pic>
        <p:nvPicPr>
          <p:cNvPr id="21" name="Icon Homes Destroyed"/>
          <p:cNvPicPr>
            <a:picLocks noChangeAspect="1"/>
          </p:cNvPicPr>
          <p:nvPr/>
        </p:nvPicPr>
        <p:blipFill>
          <a:blip r:embed="rId4"/>
          <a:stretch>
            <a:fillRect/>
          </a:stretch>
        </p:blipFill>
        <p:spPr>
          <a:xfrm>
            <a:off x="4522387" y="2094997"/>
            <a:ext cx="608922" cy="608922"/>
          </a:xfrm>
          <a:prstGeom prst="ellipse">
            <a:avLst/>
          </a:prstGeom>
        </p:spPr>
      </p:pic>
      <p:pic>
        <p:nvPicPr>
          <p:cNvPr id="22" name="Icon Economic Cost"/>
          <p:cNvPicPr>
            <a:picLocks noChangeAspect="1"/>
          </p:cNvPicPr>
          <p:nvPr/>
        </p:nvPicPr>
        <p:blipFill>
          <a:blip r:embed="rId5"/>
          <a:stretch>
            <a:fillRect/>
          </a:stretch>
        </p:blipFill>
        <p:spPr>
          <a:xfrm>
            <a:off x="8195227" y="2094997"/>
            <a:ext cx="608922" cy="608922"/>
          </a:xfrm>
          <a:prstGeom prst="ellipse">
            <a:avLst/>
          </a:prstGeom>
        </p:spPr>
      </p:pic>
      <p:sp>
        <p:nvSpPr>
          <p:cNvPr id="12" name="TextBox 11">
            <a:extLst>
              <a:ext uri="{FF2B5EF4-FFF2-40B4-BE49-F238E27FC236}">
                <a16:creationId xmlns:a16="http://schemas.microsoft.com/office/drawing/2014/main" id="{B013464F-09B1-E1D9-8A51-FF6968E0EBAD}"/>
              </a:ext>
            </a:extLst>
          </p:cNvPr>
          <p:cNvSpPr txBox="1"/>
          <p:nvPr/>
        </p:nvSpPr>
        <p:spPr>
          <a:xfrm>
            <a:off x="4262270" y="5412061"/>
            <a:ext cx="6814686" cy="246221"/>
          </a:xfrm>
          <a:prstGeom prst="rect">
            <a:avLst/>
          </a:prstGeom>
          <a:noFill/>
        </p:spPr>
        <p:txBody>
          <a:bodyPr wrap="square">
            <a:spAutoFit/>
          </a:bodyPr>
          <a:lstStyle/>
          <a:p>
            <a:r>
              <a:rPr lang="en-AU" sz="1000" dirty="0">
                <a:hlinkClick r:id="rId6"/>
              </a:rPr>
              <a:t>https://www.royalcommission.gov.au/natural-disasters/report</a:t>
            </a:r>
            <a:r>
              <a:rPr lang="en-AU" sz="1000" dirty="0"/>
              <a:t> </a:t>
            </a:r>
          </a:p>
        </p:txBody>
      </p:sp>
      <p:sp>
        <p:nvSpPr>
          <p:cNvPr id="16" name="TextBox 15">
            <a:extLst>
              <a:ext uri="{FF2B5EF4-FFF2-40B4-BE49-F238E27FC236}">
                <a16:creationId xmlns:a16="http://schemas.microsoft.com/office/drawing/2014/main" id="{ACF18941-39EB-6909-41A7-57D574CF7D10}"/>
              </a:ext>
            </a:extLst>
          </p:cNvPr>
          <p:cNvSpPr txBox="1"/>
          <p:nvPr/>
        </p:nvSpPr>
        <p:spPr>
          <a:xfrm>
            <a:off x="757144" y="5412061"/>
            <a:ext cx="3330341" cy="400110"/>
          </a:xfrm>
          <a:prstGeom prst="rect">
            <a:avLst/>
          </a:prstGeom>
          <a:noFill/>
        </p:spPr>
        <p:txBody>
          <a:bodyPr wrap="square">
            <a:spAutoFit/>
          </a:bodyPr>
          <a:lstStyle/>
          <a:p>
            <a:r>
              <a:rPr lang="en-AU" sz="1000" dirty="0">
                <a:hlinkClick r:id="rId7"/>
              </a:rPr>
              <a:t>https://en.wikipedia.org/wiki/2019%E2%80%9320_Australian_bushfire_season</a:t>
            </a:r>
            <a:r>
              <a:rPr lang="en-AU" sz="1000" dirty="0"/>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8262" y="2444115"/>
            <a:ext cx="3232967" cy="1969770"/>
          </a:xfrm>
        </p:spPr>
        <p:txBody>
          <a:bodyPr/>
          <a:lstStyle/>
          <a:p>
            <a:r>
              <a:rPr lang="en-AU" noProof="0" dirty="0"/>
              <a:t>Industry context</a:t>
            </a:r>
            <a:br>
              <a:rPr lang="en-AU" noProof="0" dirty="0"/>
            </a:br>
            <a:br>
              <a:rPr lang="en-AU" noProof="0" dirty="0"/>
            </a:br>
            <a:r>
              <a:rPr lang="en-AU" noProof="0" dirty="0"/>
              <a:t>A climate-amplified, federated coordination problem</a:t>
            </a:r>
          </a:p>
        </p:txBody>
      </p:sp>
      <p:sp>
        <p:nvSpPr>
          <p:cNvPr id="3" name="Text Placeholder 2"/>
          <p:cNvSpPr>
            <a:spLocks noGrp="1"/>
          </p:cNvSpPr>
          <p:nvPr>
            <p:ph type="body" sz="quarter" idx="10"/>
          </p:nvPr>
        </p:nvSpPr>
        <p:spPr>
          <a:xfrm>
            <a:off x="4736415" y="1823754"/>
            <a:ext cx="6959600" cy="2800767"/>
          </a:xfrm>
        </p:spPr>
        <p:txBody>
          <a:bodyPr/>
          <a:lstStyle/>
          <a:p>
            <a:r>
              <a:rPr lang="en-AU" noProof="0" dirty="0"/>
              <a:t>Australia is unique. Six states, two territories, eight emergency-services jurisdictions, 500+ local councils, and a Commonwealth that coordinates but does not command.</a:t>
            </a:r>
          </a:p>
          <a:p>
            <a:endParaRPr lang="en-AU" noProof="0" dirty="0"/>
          </a:p>
          <a:p>
            <a:r>
              <a:rPr lang="en-AU" noProof="0" dirty="0"/>
              <a:t>Every major disaster activates a different combination of agencies. The Australasian Inter-service Incident Management System (AIIMS) defines the language; the National Joint Common Operating Picture (NJCOP) is meant to be the canvas - but today it is filled by hand.</a:t>
            </a:r>
          </a:p>
          <a:p>
            <a:endParaRPr lang="en-AU" noProof="0" dirty="0"/>
          </a:p>
          <a:p>
            <a:r>
              <a:rPr lang="en-AU" noProof="0" dirty="0"/>
              <a:t>Climate science is unforgiving: AFAC projects a 25–35% increase in days of catastrophic fire danger by 2040, and the Bureau of Meteorology forecasts more extreme rainfall in every season.</a:t>
            </a:r>
          </a:p>
          <a:p>
            <a:endParaRPr lang="en-AU" noProof="0" dirty="0"/>
          </a:p>
          <a:p>
            <a:r>
              <a:rPr lang="en-AU" i="1" noProof="0" dirty="0"/>
              <a:t>Doing more of the same will not work</a:t>
            </a:r>
            <a:r>
              <a:rPr lang="en-AU" noProof="0" dirty="0"/>
              <a:t>. The platform we propose is built for that future.</a:t>
            </a:r>
          </a:p>
        </p:txBody>
      </p:sp>
      <p:pic>
        <p:nvPicPr>
          <p:cNvPr id="20" name="Icon Coordination"/>
          <p:cNvPicPr>
            <a:picLocks noChangeAspect="1"/>
          </p:cNvPicPr>
          <p:nvPr/>
        </p:nvPicPr>
        <p:blipFill>
          <a:blip r:embed="rId3"/>
          <a:stretch>
            <a:fillRect/>
          </a:stretch>
        </p:blipFill>
        <p:spPr>
          <a:xfrm>
            <a:off x="4649788" y="916872"/>
            <a:ext cx="652463" cy="652463"/>
          </a:xfrm>
          <a:prstGeom prst="ellipse">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8263" y="457200"/>
            <a:ext cx="11018520" cy="984885"/>
          </a:xfrm>
        </p:spPr>
        <p:txBody>
          <a:bodyPr/>
          <a:lstStyle/>
          <a:p>
            <a:r>
              <a:rPr lang="en-AU" noProof="0" dirty="0"/>
              <a:t>Stakeholders &amp; personas - built for the people who run the response</a:t>
            </a:r>
          </a:p>
        </p:txBody>
      </p:sp>
      <p:sp>
        <p:nvSpPr>
          <p:cNvPr id="3" name="Text Placeholder 2"/>
          <p:cNvSpPr>
            <a:spLocks noGrp="1"/>
          </p:cNvSpPr>
          <p:nvPr>
            <p:ph type="body" sz="quarter" idx="10"/>
          </p:nvPr>
        </p:nvSpPr>
        <p:spPr/>
        <p:txBody>
          <a:bodyPr/>
          <a:lstStyle/>
          <a:p>
            <a:r>
              <a:rPr lang="en-AU" noProof="0" dirty="0"/>
              <a:t>Incident Controller, Operations, Planning, Logistics, Public Information, Liaison, Field Coordinator, Observer-Auditor. Each maps 1:1 to an AIIMS function and drives a tailored workspace in the platform.</a:t>
            </a:r>
          </a:p>
        </p:txBody>
      </p:sp>
      <p:sp>
        <p:nvSpPr>
          <p:cNvPr id="4" name="Text Placeholder 3"/>
          <p:cNvSpPr>
            <a:spLocks noGrp="1"/>
          </p:cNvSpPr>
          <p:nvPr>
            <p:ph type="body" sz="quarter" idx="11"/>
          </p:nvPr>
        </p:nvSpPr>
        <p:spPr>
          <a:xfrm>
            <a:off x="8195227" y="3436166"/>
            <a:ext cx="3147226" cy="2492990"/>
          </a:xfrm>
        </p:spPr>
        <p:txBody>
          <a:bodyPr/>
          <a:lstStyle/>
          <a:p>
            <a:r>
              <a:rPr lang="en-GB" noProof="0" dirty="0"/>
              <a:t>58 active sector agents organised by jurisdiction (Commonwealth, all states/territories, cross-sector) - fire, police, SES, ambulance, hospitals, utilities, transport, telco, local gov, environment, Indigenous relations, wildlife, weather, research</a:t>
            </a:r>
            <a:endParaRPr lang="en-AU" noProof="0" dirty="0"/>
          </a:p>
        </p:txBody>
      </p:sp>
      <p:sp>
        <p:nvSpPr>
          <p:cNvPr id="5" name="Text Placeholder 4"/>
          <p:cNvSpPr>
            <a:spLocks noGrp="1"/>
          </p:cNvSpPr>
          <p:nvPr>
            <p:ph type="body" sz="quarter" idx="26"/>
          </p:nvPr>
        </p:nvSpPr>
        <p:spPr/>
        <p:txBody>
          <a:bodyPr/>
          <a:lstStyle/>
          <a:p>
            <a:r>
              <a:rPr lang="en-AU" noProof="0" dirty="0"/>
              <a:t>Minister/Director-General, Risk Manager, FinOps owner, Resilience Planner, and the affected community member receiving alerts in language. The system speaks to all five at the right altitude.</a:t>
            </a:r>
          </a:p>
        </p:txBody>
      </p:sp>
      <p:sp>
        <p:nvSpPr>
          <p:cNvPr id="6" name="Text Placeholder 5"/>
          <p:cNvSpPr>
            <a:spLocks noGrp="1"/>
          </p:cNvSpPr>
          <p:nvPr>
            <p:ph type="body" sz="quarter" idx="27"/>
          </p:nvPr>
        </p:nvSpPr>
        <p:spPr/>
        <p:txBody>
          <a:bodyPr/>
          <a:lstStyle/>
          <a:p>
            <a:r>
              <a:rPr lang="en-AU" noProof="0" dirty="0"/>
              <a:t>Operational personas</a:t>
            </a:r>
          </a:p>
        </p:txBody>
      </p:sp>
      <p:sp>
        <p:nvSpPr>
          <p:cNvPr id="7" name="Text Placeholder 6"/>
          <p:cNvSpPr>
            <a:spLocks noGrp="1"/>
          </p:cNvSpPr>
          <p:nvPr>
            <p:ph type="body" sz="quarter" idx="28"/>
          </p:nvPr>
        </p:nvSpPr>
        <p:spPr/>
        <p:txBody>
          <a:bodyPr/>
          <a:lstStyle/>
          <a:p>
            <a:r>
              <a:rPr lang="en-AU" noProof="0" dirty="0"/>
              <a:t>Sector personas</a:t>
            </a:r>
          </a:p>
        </p:txBody>
      </p:sp>
      <p:sp>
        <p:nvSpPr>
          <p:cNvPr id="8" name="Text Placeholder 7"/>
          <p:cNvSpPr>
            <a:spLocks noGrp="1"/>
          </p:cNvSpPr>
          <p:nvPr>
            <p:ph type="body" sz="quarter" idx="29"/>
          </p:nvPr>
        </p:nvSpPr>
        <p:spPr>
          <a:xfrm>
            <a:off x="8195227" y="2856765"/>
            <a:ext cx="3287712" cy="369332"/>
          </a:xfrm>
        </p:spPr>
        <p:txBody>
          <a:bodyPr/>
          <a:lstStyle/>
          <a:p>
            <a:r>
              <a:rPr lang="en-AU" noProof="0" dirty="0"/>
              <a:t>Executive &amp; community</a:t>
            </a:r>
          </a:p>
        </p:txBody>
      </p:sp>
      <p:sp>
        <p:nvSpPr>
          <p:cNvPr id="20" name="Icon Person Body"/>
          <p:cNvSpPr/>
          <p:nvPr/>
        </p:nvSpPr>
        <p:spPr>
          <a:xfrm>
            <a:off x="1074008" y="2189458"/>
            <a:ext cx="160000" cy="280000"/>
          </a:xfrm>
          <a:custGeom>
            <a:avLst/>
            <a:gdLst/>
            <a:ahLst/>
            <a:cxnLst/>
            <a:rect l="0" t="0" r="0" b="0"/>
            <a:pathLst>
              <a:path w="10000" h="10000">
                <a:moveTo>
                  <a:pt x="5000" y="0"/>
                </a:moveTo>
                <a:cubicBezTo>
                  <a:pt x="7500" y="0"/>
                  <a:pt x="8500" y="1200"/>
                  <a:pt x="8500" y="1800"/>
                </a:cubicBezTo>
                <a:cubicBezTo>
                  <a:pt x="8500" y="2400"/>
                  <a:pt x="7500" y="3600"/>
                  <a:pt x="5000" y="3600"/>
                </a:cubicBezTo>
                <a:cubicBezTo>
                  <a:pt x="2500" y="3600"/>
                  <a:pt x="1500" y="2400"/>
                  <a:pt x="1500" y="1800"/>
                </a:cubicBezTo>
                <a:cubicBezTo>
                  <a:pt x="1500" y="1200"/>
                  <a:pt x="2500" y="0"/>
                  <a:pt x="5000" y="0"/>
                </a:cubicBezTo>
                <a:close/>
                <a:moveTo>
                  <a:pt x="5000" y="4200"/>
                </a:moveTo>
                <a:cubicBezTo>
                  <a:pt x="8500" y="4200"/>
                  <a:pt x="10000" y="5500"/>
                  <a:pt x="10000" y="7000"/>
                </a:cubicBezTo>
                <a:lnTo>
                  <a:pt x="10000" y="10000"/>
                </a:lnTo>
                <a:lnTo>
                  <a:pt x="0" y="10000"/>
                </a:lnTo>
                <a:lnTo>
                  <a:pt x="0" y="7000"/>
                </a:lnTo>
                <a:cubicBezTo>
                  <a:pt x="0" y="5500"/>
                  <a:pt x="1500" y="4200"/>
                  <a:pt x="5000" y="4200"/>
                </a:cubicBezTo>
                <a:close/>
              </a:path>
            </a:pathLst>
          </a:custGeom>
          <a:solidFill>
            <a:schemeClr val="accent1"/>
          </a:solidFill>
          <a:ln>
            <a:noFill/>
          </a:ln>
        </p:spPr>
        <p:txBody>
          <a:bodyPr/>
          <a:lstStyle/>
          <a:p>
            <a:endParaRPr lang="en-US"/>
          </a:p>
        </p:txBody>
      </p:sp>
      <p:sp>
        <p:nvSpPr>
          <p:cNvPr id="21" name="Icon Grid TL"/>
          <p:cNvSpPr/>
          <p:nvPr/>
        </p:nvSpPr>
        <p:spPr>
          <a:xfrm>
            <a:off x="4716848" y="2259458"/>
            <a:ext cx="100000" cy="100000"/>
          </a:xfrm>
          <a:prstGeom prst="roundRect">
            <a:avLst>
              <a:gd name="adj" fmla="val 15000"/>
            </a:avLst>
          </a:prstGeom>
          <a:solidFill>
            <a:schemeClr val="accent1"/>
          </a:solidFill>
          <a:ln>
            <a:noFill/>
          </a:ln>
        </p:spPr>
        <p:txBody>
          <a:bodyPr/>
          <a:lstStyle/>
          <a:p>
            <a:endParaRPr lang="en-US"/>
          </a:p>
        </p:txBody>
      </p:sp>
      <p:sp>
        <p:nvSpPr>
          <p:cNvPr id="22" name="Icon Grid TR"/>
          <p:cNvSpPr/>
          <p:nvPr/>
        </p:nvSpPr>
        <p:spPr>
          <a:xfrm>
            <a:off x="4836848" y="2259458"/>
            <a:ext cx="100000" cy="100000"/>
          </a:xfrm>
          <a:prstGeom prst="roundRect">
            <a:avLst>
              <a:gd name="adj" fmla="val 15000"/>
            </a:avLst>
          </a:prstGeom>
          <a:solidFill>
            <a:schemeClr val="accent1"/>
          </a:solidFill>
          <a:ln>
            <a:noFill/>
          </a:ln>
        </p:spPr>
        <p:txBody>
          <a:bodyPr/>
          <a:lstStyle/>
          <a:p>
            <a:endParaRPr lang="en-US"/>
          </a:p>
        </p:txBody>
      </p:sp>
      <p:sp>
        <p:nvSpPr>
          <p:cNvPr id="23" name="Icon Grid BL"/>
          <p:cNvSpPr/>
          <p:nvPr/>
        </p:nvSpPr>
        <p:spPr>
          <a:xfrm>
            <a:off x="4716848" y="2379458"/>
            <a:ext cx="100000" cy="100000"/>
          </a:xfrm>
          <a:prstGeom prst="roundRect">
            <a:avLst>
              <a:gd name="adj" fmla="val 15000"/>
            </a:avLst>
          </a:prstGeom>
          <a:solidFill>
            <a:schemeClr val="accent1"/>
          </a:solidFill>
          <a:ln>
            <a:noFill/>
          </a:ln>
        </p:spPr>
        <p:txBody>
          <a:bodyPr/>
          <a:lstStyle/>
          <a:p>
            <a:endParaRPr lang="en-US"/>
          </a:p>
        </p:txBody>
      </p:sp>
      <p:sp>
        <p:nvSpPr>
          <p:cNvPr id="24" name="Icon Grid BR"/>
          <p:cNvSpPr/>
          <p:nvPr/>
        </p:nvSpPr>
        <p:spPr>
          <a:xfrm>
            <a:off x="4836848" y="2379458"/>
            <a:ext cx="100000" cy="100000"/>
          </a:xfrm>
          <a:prstGeom prst="roundRect">
            <a:avLst>
              <a:gd name="adj" fmla="val 15000"/>
            </a:avLst>
          </a:prstGeom>
          <a:solidFill>
            <a:schemeClr val="accent1"/>
          </a:solidFill>
          <a:ln>
            <a:noFill/>
          </a:ln>
        </p:spPr>
        <p:txBody>
          <a:bodyPr/>
          <a:lstStyle/>
          <a:p>
            <a:endParaRPr lang="en-US"/>
          </a:p>
        </p:txBody>
      </p:sp>
      <p:sp>
        <p:nvSpPr>
          <p:cNvPr id="25" name="Icon Star"/>
          <p:cNvSpPr/>
          <p:nvPr/>
        </p:nvSpPr>
        <p:spPr>
          <a:xfrm>
            <a:off x="8359688" y="2239458"/>
            <a:ext cx="280000" cy="280000"/>
          </a:xfrm>
          <a:prstGeom prst="star5">
            <a:avLst>
              <a:gd name="adj" fmla="val 37000"/>
              <a:gd name="hf" fmla="val 105146"/>
              <a:gd name="vf" fmla="val 110557"/>
            </a:avLst>
          </a:prstGeom>
          <a:solidFill>
            <a:schemeClr val="accent1"/>
          </a:solidFill>
          <a:ln>
            <a:noFill/>
          </a:ln>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noProof="0" dirty="0"/>
              <a:t>Current state: where coordination breaks today</a:t>
            </a:r>
          </a:p>
        </p:txBody>
      </p:sp>
      <p:sp>
        <p:nvSpPr>
          <p:cNvPr id="3" name="Text Placeholder 2"/>
          <p:cNvSpPr>
            <a:spLocks noGrp="1"/>
          </p:cNvSpPr>
          <p:nvPr>
            <p:ph type="body" sz="quarter" idx="10"/>
          </p:nvPr>
        </p:nvSpPr>
        <p:spPr>
          <a:xfrm>
            <a:off x="849547" y="3436166"/>
            <a:ext cx="3147226" cy="2492990"/>
          </a:xfrm>
        </p:spPr>
        <p:txBody>
          <a:bodyPr/>
          <a:lstStyle/>
          <a:p>
            <a:r>
              <a:rPr lang="en-AU" noProof="0" dirty="0"/>
              <a:t>Bureau of Meteorology, Geoscience Australia, eight state services, 500 councils, utilities, satellite feeds, social media - 46 authoritative sources, each with its own format, cadence and trust level. There is no normalised stream.</a:t>
            </a:r>
          </a:p>
        </p:txBody>
      </p:sp>
      <p:sp>
        <p:nvSpPr>
          <p:cNvPr id="4" name="Text Placeholder 3"/>
          <p:cNvSpPr>
            <a:spLocks noGrp="1"/>
          </p:cNvSpPr>
          <p:nvPr>
            <p:ph type="body" sz="quarter" idx="11"/>
          </p:nvPr>
        </p:nvSpPr>
        <p:spPr>
          <a:xfrm>
            <a:off x="8195227" y="3436166"/>
            <a:ext cx="3147226" cy="1938992"/>
          </a:xfrm>
        </p:spPr>
        <p:txBody>
          <a:bodyPr/>
          <a:lstStyle/>
          <a:p>
            <a:r>
              <a:rPr lang="en-GB" noProof="0" dirty="0"/>
              <a:t>Today, signal fusion is largely manual - duty officers swivel-chair across multiple authoritative systems. AIDR acknowledges that a multi-agency response can take hours.</a:t>
            </a:r>
            <a:endParaRPr lang="en-AU" noProof="0" dirty="0"/>
          </a:p>
        </p:txBody>
      </p:sp>
      <p:sp>
        <p:nvSpPr>
          <p:cNvPr id="5" name="Text Placeholder 4"/>
          <p:cNvSpPr>
            <a:spLocks noGrp="1"/>
          </p:cNvSpPr>
          <p:nvPr>
            <p:ph type="body" sz="quarter" idx="26"/>
          </p:nvPr>
        </p:nvSpPr>
        <p:spPr>
          <a:xfrm>
            <a:off x="4522387" y="3436166"/>
            <a:ext cx="3147226" cy="2492990"/>
          </a:xfrm>
        </p:spPr>
        <p:txBody>
          <a:bodyPr/>
          <a:lstStyle/>
          <a:p>
            <a:r>
              <a:rPr lang="en-AU" noProof="0" dirty="0"/>
              <a:t>The Australian Warning System defines 3 levels and 10 warning principles, but warning drafts still pass through email and PDF. Multilingual delivery and </a:t>
            </a:r>
            <a:r>
              <a:rPr lang="en-AU" noProof="0" dirty="0" err="1"/>
              <a:t>Auslan</a:t>
            </a:r>
            <a:r>
              <a:rPr lang="en-AU" noProof="0" dirty="0"/>
              <a:t> video are inconsistent. Vulnerable populations are reached last.</a:t>
            </a:r>
          </a:p>
        </p:txBody>
      </p:sp>
      <p:sp>
        <p:nvSpPr>
          <p:cNvPr id="6" name="Text Placeholder 5"/>
          <p:cNvSpPr>
            <a:spLocks noGrp="1"/>
          </p:cNvSpPr>
          <p:nvPr>
            <p:ph type="body" sz="quarter" idx="27"/>
          </p:nvPr>
        </p:nvSpPr>
        <p:spPr/>
        <p:txBody>
          <a:bodyPr/>
          <a:lstStyle/>
          <a:p>
            <a:r>
              <a:rPr lang="en-AU" noProof="0" dirty="0"/>
              <a:t>Signal fragmentation</a:t>
            </a:r>
          </a:p>
        </p:txBody>
      </p:sp>
      <p:sp>
        <p:nvSpPr>
          <p:cNvPr id="7" name="Text Placeholder 6"/>
          <p:cNvSpPr>
            <a:spLocks noGrp="1"/>
          </p:cNvSpPr>
          <p:nvPr>
            <p:ph type="body" sz="quarter" idx="28"/>
          </p:nvPr>
        </p:nvSpPr>
        <p:spPr/>
        <p:txBody>
          <a:bodyPr/>
          <a:lstStyle/>
          <a:p>
            <a:r>
              <a:rPr lang="en-AU" noProof="0" dirty="0"/>
              <a:t>Manual fusion</a:t>
            </a:r>
          </a:p>
        </p:txBody>
      </p:sp>
      <p:sp>
        <p:nvSpPr>
          <p:cNvPr id="8" name="Text Placeholder 7"/>
          <p:cNvSpPr>
            <a:spLocks noGrp="1"/>
          </p:cNvSpPr>
          <p:nvPr>
            <p:ph type="body" sz="quarter" idx="29"/>
          </p:nvPr>
        </p:nvSpPr>
        <p:spPr/>
        <p:txBody>
          <a:bodyPr/>
          <a:lstStyle/>
          <a:p>
            <a:r>
              <a:rPr lang="en-AU" noProof="0" dirty="0"/>
              <a:t>Warning friction</a:t>
            </a:r>
          </a:p>
        </p:txBody>
      </p:sp>
      <p:sp>
        <p:nvSpPr>
          <p:cNvPr id="20" name="Icon Lightning"/>
          <p:cNvSpPr/>
          <p:nvPr/>
        </p:nvSpPr>
        <p:spPr>
          <a:xfrm>
            <a:off x="1064008" y="2209458"/>
            <a:ext cx="180000" cy="300000"/>
          </a:xfrm>
          <a:prstGeom prst="lightningBolt">
            <a:avLst/>
          </a:prstGeom>
          <a:solidFill>
            <a:schemeClr val="accent1"/>
          </a:solidFill>
          <a:ln>
            <a:noFill/>
          </a:ln>
        </p:spPr>
        <p:txBody>
          <a:bodyPr/>
          <a:lstStyle/>
          <a:p>
            <a:endParaRPr lang="en-US"/>
          </a:p>
        </p:txBody>
      </p:sp>
      <p:sp>
        <p:nvSpPr>
          <p:cNvPr id="21" name="Icon Merge Arrow Top"/>
          <p:cNvSpPr/>
          <p:nvPr/>
        </p:nvSpPr>
        <p:spPr>
          <a:xfrm rot="2700000">
            <a:off x="4696848" y="2239458"/>
            <a:ext cx="240000" cy="80000"/>
          </a:xfrm>
          <a:prstGeom prst="rightArrow">
            <a:avLst>
              <a:gd name="adj1" fmla="val 50000"/>
              <a:gd name="adj2" fmla="val 40000"/>
            </a:avLst>
          </a:prstGeom>
          <a:solidFill>
            <a:schemeClr val="accent1"/>
          </a:solidFill>
          <a:ln>
            <a:noFill/>
          </a:ln>
        </p:spPr>
        <p:txBody>
          <a:bodyPr/>
          <a:lstStyle/>
          <a:p>
            <a:endParaRPr lang="en-US"/>
          </a:p>
        </p:txBody>
      </p:sp>
      <p:sp>
        <p:nvSpPr>
          <p:cNvPr id="22" name="Icon Merge Arrow Bottom"/>
          <p:cNvSpPr/>
          <p:nvPr/>
        </p:nvSpPr>
        <p:spPr>
          <a:xfrm rot="18900000">
            <a:off x="4696848" y="2419458"/>
            <a:ext cx="240000" cy="80000"/>
          </a:xfrm>
          <a:prstGeom prst="rightArrow">
            <a:avLst>
              <a:gd name="adj1" fmla="val 50000"/>
              <a:gd name="adj2" fmla="val 40000"/>
            </a:avLst>
          </a:prstGeom>
          <a:solidFill>
            <a:schemeClr val="accent1"/>
          </a:solidFill>
          <a:ln>
            <a:noFill/>
          </a:ln>
        </p:spPr>
        <p:txBody>
          <a:bodyPr/>
          <a:lstStyle/>
          <a:p>
            <a:endParaRPr lang="en-US"/>
          </a:p>
        </p:txBody>
      </p:sp>
      <p:sp>
        <p:nvSpPr>
          <p:cNvPr id="23" name="Icon Warning Triangle"/>
          <p:cNvSpPr/>
          <p:nvPr/>
        </p:nvSpPr>
        <p:spPr>
          <a:xfrm>
            <a:off x="8359688" y="2229458"/>
            <a:ext cx="280000" cy="260000"/>
          </a:xfrm>
          <a:prstGeom prst="triangle">
            <a:avLst>
              <a:gd name="adj" fmla="val 50000"/>
            </a:avLst>
          </a:prstGeom>
          <a:solidFill>
            <a:schemeClr val="accent1"/>
          </a:solidFill>
          <a:ln>
            <a:noFill/>
          </a:ln>
        </p:spPr>
        <p:txBody>
          <a:bodyPr/>
          <a:lstStyle/>
          <a:p>
            <a:endParaRPr lang="en-US"/>
          </a:p>
        </p:txBody>
      </p:sp>
      <p:sp>
        <p:nvSpPr>
          <p:cNvPr id="24" name="Icon Exclamation"/>
          <p:cNvSpPr/>
          <p:nvPr/>
        </p:nvSpPr>
        <p:spPr>
          <a:xfrm>
            <a:off x="8477688" y="2299458"/>
            <a:ext cx="44000" cy="140000"/>
          </a:xfrm>
          <a:custGeom>
            <a:avLst/>
            <a:gdLst/>
            <a:ahLst/>
            <a:cxnLst/>
            <a:rect l="0" t="0" r="0" b="0"/>
            <a:pathLst>
              <a:path w="10000" h="10000">
                <a:moveTo>
                  <a:pt x="2500" y="0"/>
                </a:moveTo>
                <a:lnTo>
                  <a:pt x="7500" y="0"/>
                </a:lnTo>
                <a:lnTo>
                  <a:pt x="6500" y="6500"/>
                </a:lnTo>
                <a:lnTo>
                  <a:pt x="3500" y="6500"/>
                </a:lnTo>
                <a:close/>
                <a:moveTo>
                  <a:pt x="2000" y="8000"/>
                </a:moveTo>
                <a:lnTo>
                  <a:pt x="8000" y="8000"/>
                </a:lnTo>
                <a:lnTo>
                  <a:pt x="8000" y="10000"/>
                </a:lnTo>
                <a:lnTo>
                  <a:pt x="2000" y="10000"/>
                </a:lnTo>
                <a:close/>
              </a:path>
            </a:pathLst>
          </a:custGeom>
          <a:solidFill>
            <a:schemeClr val="tx1"/>
          </a:solidFill>
          <a:ln>
            <a:noFill/>
          </a:ln>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D3708-3348-4D89-45F6-CA3A120A82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5EE8A7-1125-E0BA-B8EC-F131751EA1B9}"/>
              </a:ext>
            </a:extLst>
          </p:cNvPr>
          <p:cNvSpPr>
            <a:spLocks noGrp="1"/>
          </p:cNvSpPr>
          <p:nvPr>
            <p:ph type="title"/>
          </p:nvPr>
        </p:nvSpPr>
        <p:spPr/>
        <p:txBody>
          <a:bodyPr/>
          <a:lstStyle/>
          <a:p>
            <a:r>
              <a:rPr lang="en-AU" noProof="0" dirty="0"/>
              <a:t>Competitor landscape</a:t>
            </a:r>
          </a:p>
        </p:txBody>
      </p:sp>
      <p:sp>
        <p:nvSpPr>
          <p:cNvPr id="9" name="Picture Placeholder 8">
            <a:extLst>
              <a:ext uri="{FF2B5EF4-FFF2-40B4-BE49-F238E27FC236}">
                <a16:creationId xmlns:a16="http://schemas.microsoft.com/office/drawing/2014/main" id="{64DA05CC-4A0C-BCE6-3D75-9B8645127256}"/>
              </a:ext>
            </a:extLst>
          </p:cNvPr>
          <p:cNvSpPr>
            <a:spLocks noGrp="1"/>
          </p:cNvSpPr>
          <p:nvPr>
            <p:ph type="pic" sz="quarter" idx="18"/>
          </p:nvPr>
        </p:nvSpPr>
        <p:spPr/>
        <p:txBody>
          <a:bodyPr/>
          <a:lstStyle/>
          <a:p>
            <a:endParaRPr lang="en-AU"/>
          </a:p>
        </p:txBody>
      </p:sp>
      <p:sp>
        <p:nvSpPr>
          <p:cNvPr id="8" name="Text Placeholder 7">
            <a:extLst>
              <a:ext uri="{FF2B5EF4-FFF2-40B4-BE49-F238E27FC236}">
                <a16:creationId xmlns:a16="http://schemas.microsoft.com/office/drawing/2014/main" id="{56CF8222-003A-AA72-0BB6-4E1968B71C90}"/>
              </a:ext>
            </a:extLst>
          </p:cNvPr>
          <p:cNvSpPr>
            <a:spLocks noGrp="1"/>
          </p:cNvSpPr>
          <p:nvPr>
            <p:ph type="body" sz="quarter" idx="4294967295"/>
          </p:nvPr>
        </p:nvSpPr>
        <p:spPr>
          <a:xfrm>
            <a:off x="9045575" y="2857500"/>
            <a:ext cx="3146425" cy="368300"/>
          </a:xfrm>
        </p:spPr>
        <p:txBody>
          <a:bodyPr/>
          <a:lstStyle/>
          <a:p>
            <a:r>
              <a:rPr lang="en-AU" noProof="0" dirty="0"/>
              <a:t>Warning friction</a:t>
            </a:r>
          </a:p>
        </p:txBody>
      </p:sp>
      <p:sp>
        <p:nvSpPr>
          <p:cNvPr id="23" name="Icon Warning Triangle">
            <a:extLst>
              <a:ext uri="{FF2B5EF4-FFF2-40B4-BE49-F238E27FC236}">
                <a16:creationId xmlns:a16="http://schemas.microsoft.com/office/drawing/2014/main" id="{067CA697-6D00-4D00-E03F-56ABEB04C1EE}"/>
              </a:ext>
            </a:extLst>
          </p:cNvPr>
          <p:cNvSpPr/>
          <p:nvPr/>
        </p:nvSpPr>
        <p:spPr>
          <a:xfrm>
            <a:off x="8359688" y="2229458"/>
            <a:ext cx="280000" cy="260000"/>
          </a:xfrm>
          <a:prstGeom prst="triangle">
            <a:avLst>
              <a:gd name="adj" fmla="val 50000"/>
            </a:avLst>
          </a:prstGeom>
          <a:solidFill>
            <a:schemeClr val="accent1"/>
          </a:solidFill>
          <a:ln>
            <a:noFill/>
          </a:ln>
        </p:spPr>
        <p:txBody>
          <a:bodyPr/>
          <a:lstStyle/>
          <a:p>
            <a:endParaRPr lang="en-US"/>
          </a:p>
        </p:txBody>
      </p:sp>
      <p:sp>
        <p:nvSpPr>
          <p:cNvPr id="24" name="Icon Exclamation">
            <a:extLst>
              <a:ext uri="{FF2B5EF4-FFF2-40B4-BE49-F238E27FC236}">
                <a16:creationId xmlns:a16="http://schemas.microsoft.com/office/drawing/2014/main" id="{0E4CC19B-044F-9B61-7057-2F676257A859}"/>
              </a:ext>
            </a:extLst>
          </p:cNvPr>
          <p:cNvSpPr/>
          <p:nvPr/>
        </p:nvSpPr>
        <p:spPr>
          <a:xfrm>
            <a:off x="8477688" y="2299458"/>
            <a:ext cx="44000" cy="140000"/>
          </a:xfrm>
          <a:custGeom>
            <a:avLst/>
            <a:gdLst/>
            <a:ahLst/>
            <a:cxnLst/>
            <a:rect l="0" t="0" r="0" b="0"/>
            <a:pathLst>
              <a:path w="10000" h="10000">
                <a:moveTo>
                  <a:pt x="2500" y="0"/>
                </a:moveTo>
                <a:lnTo>
                  <a:pt x="7500" y="0"/>
                </a:lnTo>
                <a:lnTo>
                  <a:pt x="6500" y="6500"/>
                </a:lnTo>
                <a:lnTo>
                  <a:pt x="3500" y="6500"/>
                </a:lnTo>
                <a:close/>
                <a:moveTo>
                  <a:pt x="2000" y="8000"/>
                </a:moveTo>
                <a:lnTo>
                  <a:pt x="8000" y="8000"/>
                </a:lnTo>
                <a:lnTo>
                  <a:pt x="8000" y="10000"/>
                </a:lnTo>
                <a:lnTo>
                  <a:pt x="2000" y="10000"/>
                </a:lnTo>
                <a:close/>
              </a:path>
            </a:pathLst>
          </a:custGeom>
          <a:solidFill>
            <a:schemeClr val="tx1"/>
          </a:solidFill>
          <a:ln>
            <a:noFill/>
          </a:ln>
        </p:spPr>
        <p:txBody>
          <a:bodyPr/>
          <a:lstStyle/>
          <a:p>
            <a:endParaRPr lang="en-US"/>
          </a:p>
        </p:txBody>
      </p:sp>
      <p:pic>
        <p:nvPicPr>
          <p:cNvPr id="14" name="Picture 13">
            <a:extLst>
              <a:ext uri="{FF2B5EF4-FFF2-40B4-BE49-F238E27FC236}">
                <a16:creationId xmlns:a16="http://schemas.microsoft.com/office/drawing/2014/main" id="{B20D0B8E-58F5-36A6-EA4B-87498E45928B}"/>
              </a:ext>
            </a:extLst>
          </p:cNvPr>
          <p:cNvPicPr>
            <a:picLocks noChangeAspect="1"/>
          </p:cNvPicPr>
          <p:nvPr/>
        </p:nvPicPr>
        <p:blipFill>
          <a:blip r:embed="rId3"/>
          <a:stretch>
            <a:fillRect/>
          </a:stretch>
        </p:blipFill>
        <p:spPr>
          <a:xfrm>
            <a:off x="5602513" y="838609"/>
            <a:ext cx="6327943" cy="1466640"/>
          </a:xfrm>
          <a:prstGeom prst="rect">
            <a:avLst/>
          </a:prstGeom>
        </p:spPr>
      </p:pic>
      <p:sp>
        <p:nvSpPr>
          <p:cNvPr id="15" name="Text Placeholder 2">
            <a:extLst>
              <a:ext uri="{FF2B5EF4-FFF2-40B4-BE49-F238E27FC236}">
                <a16:creationId xmlns:a16="http://schemas.microsoft.com/office/drawing/2014/main" id="{2F081A5A-C8C3-8444-CCBA-06E55DE638DB}"/>
              </a:ext>
            </a:extLst>
          </p:cNvPr>
          <p:cNvSpPr>
            <a:spLocks noGrp="1"/>
          </p:cNvSpPr>
          <p:nvPr>
            <p:ph type="body" sz="quarter" idx="10"/>
          </p:nvPr>
        </p:nvSpPr>
        <p:spPr>
          <a:xfrm>
            <a:off x="588961" y="2730076"/>
            <a:ext cx="4887813" cy="2492990"/>
          </a:xfrm>
        </p:spPr>
        <p:txBody>
          <a:bodyPr/>
          <a:lstStyle/>
          <a:p>
            <a:r>
              <a:rPr lang="en-GB" noProof="0" dirty="0" err="1"/>
              <a:t>AusAlert</a:t>
            </a:r>
            <a:r>
              <a:rPr lang="en-GB" noProof="0" dirty="0"/>
              <a:t> is a new national emergency warning system that sends urgent messages to compatible mobile phones and other mobile devices in a specified area. </a:t>
            </a:r>
          </a:p>
          <a:p>
            <a:endParaRPr lang="en-GB" dirty="0"/>
          </a:p>
          <a:p>
            <a:r>
              <a:rPr lang="en-GB" noProof="0" dirty="0"/>
              <a:t>Since 2023, the Australian government has invested about AUD$132 million to build and test the system. It is purported to being technically ready in July 2026 and available for use by October 2026.</a:t>
            </a:r>
            <a:endParaRPr lang="en-AU" noProof="0" dirty="0"/>
          </a:p>
        </p:txBody>
      </p:sp>
      <p:pic>
        <p:nvPicPr>
          <p:cNvPr id="16" name="Picture 15" descr="an example of an emergency alert sent to a mobile phone">
            <a:extLst>
              <a:ext uri="{FF2B5EF4-FFF2-40B4-BE49-F238E27FC236}">
                <a16:creationId xmlns:a16="http://schemas.microsoft.com/office/drawing/2014/main" id="{C522BEB6-E273-6A38-7E6F-4B5840111BAB}"/>
              </a:ext>
            </a:extLst>
          </p:cNvPr>
          <p:cNvPicPr>
            <a:picLocks noChangeAspect="1"/>
          </p:cNvPicPr>
          <p:nvPr/>
        </p:nvPicPr>
        <p:blipFill>
          <a:blip r:embed="rId4"/>
          <a:stretch>
            <a:fillRect/>
          </a:stretch>
        </p:blipFill>
        <p:spPr>
          <a:xfrm>
            <a:off x="5602512" y="2299458"/>
            <a:ext cx="6325269" cy="4216845"/>
          </a:xfrm>
          <a:prstGeom prst="rect">
            <a:avLst/>
          </a:prstGeom>
        </p:spPr>
      </p:pic>
      <p:sp>
        <p:nvSpPr>
          <p:cNvPr id="18" name="TextBox 17">
            <a:extLst>
              <a:ext uri="{FF2B5EF4-FFF2-40B4-BE49-F238E27FC236}">
                <a16:creationId xmlns:a16="http://schemas.microsoft.com/office/drawing/2014/main" id="{9910AF07-FDDC-D5D7-CCCD-E7D06A94BE1C}"/>
              </a:ext>
            </a:extLst>
          </p:cNvPr>
          <p:cNvSpPr txBox="1"/>
          <p:nvPr/>
        </p:nvSpPr>
        <p:spPr>
          <a:xfrm>
            <a:off x="550459" y="5761628"/>
            <a:ext cx="6814686" cy="363946"/>
          </a:xfrm>
          <a:prstGeom prst="rect">
            <a:avLst/>
          </a:prstGeom>
          <a:noFill/>
        </p:spPr>
        <p:txBody>
          <a:bodyPr wrap="square">
            <a:spAutoFit/>
          </a:bodyPr>
          <a:lstStyle/>
          <a:p>
            <a:r>
              <a:rPr lang="en-AU" dirty="0">
                <a:hlinkClick r:id="rId5"/>
              </a:rPr>
              <a:t>https://www.ausalert.gov.au/</a:t>
            </a:r>
            <a:r>
              <a:rPr lang="en-AU" dirty="0"/>
              <a:t> </a:t>
            </a:r>
          </a:p>
        </p:txBody>
      </p:sp>
    </p:spTree>
    <p:extLst>
      <p:ext uri="{BB962C8B-B14F-4D97-AF65-F5344CB8AC3E}">
        <p14:creationId xmlns:p14="http://schemas.microsoft.com/office/powerpoint/2010/main" val="22967458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8006" y="2444115"/>
            <a:ext cx="3829733" cy="1969770"/>
          </a:xfrm>
        </p:spPr>
        <p:txBody>
          <a:bodyPr/>
          <a:lstStyle/>
          <a:p>
            <a:r>
              <a:rPr lang="en-AU" sz="3000" noProof="0" dirty="0"/>
              <a:t>The Coordination tax</a:t>
            </a:r>
            <a:br>
              <a:rPr lang="en-AU" sz="3000" noProof="0" dirty="0"/>
            </a:br>
            <a:r>
              <a:rPr lang="en-AU" sz="3000" noProof="0" dirty="0"/>
              <a:t> </a:t>
            </a:r>
            <a:br>
              <a:rPr lang="en-AU" sz="3000" noProof="0" dirty="0"/>
            </a:br>
            <a:r>
              <a:rPr lang="en-AU" sz="3000" noProof="0" dirty="0"/>
              <a:t>Minutes lost is the lives-saved curve</a:t>
            </a:r>
          </a:p>
        </p:txBody>
      </p:sp>
      <p:sp>
        <p:nvSpPr>
          <p:cNvPr id="3" name="Text Placeholder 2"/>
          <p:cNvSpPr>
            <a:spLocks noGrp="1"/>
          </p:cNvSpPr>
          <p:nvPr>
            <p:ph type="body" sz="quarter" idx="10"/>
          </p:nvPr>
        </p:nvSpPr>
        <p:spPr>
          <a:xfrm>
            <a:off x="4644137" y="1727502"/>
            <a:ext cx="6959600" cy="2800767"/>
          </a:xfrm>
        </p:spPr>
        <p:txBody>
          <a:bodyPr/>
          <a:lstStyle/>
          <a:p>
            <a:r>
              <a:rPr lang="en-AU" noProof="0" dirty="0"/>
              <a:t>We modelled the response timeline for seven canonical Australian scenarios - bushfire, riverine flood, tropical cyclone, urban-fire mass-casualty, and pandemic surge.</a:t>
            </a:r>
          </a:p>
          <a:p>
            <a:endParaRPr lang="en-AU" noProof="0" dirty="0"/>
          </a:p>
          <a:p>
            <a:r>
              <a:rPr lang="en-AU" noProof="0" dirty="0"/>
              <a:t>Across </a:t>
            </a:r>
            <a:r>
              <a:rPr lang="en-AU" dirty="0"/>
              <a:t>them</a:t>
            </a:r>
            <a:r>
              <a:rPr lang="en-AU" noProof="0" dirty="0"/>
              <a:t>, the dominant variable is not detection latency. It is </a:t>
            </a:r>
            <a:r>
              <a:rPr lang="en-AU" i="1" noProof="0" dirty="0"/>
              <a:t>coordination latency</a:t>
            </a:r>
            <a:r>
              <a:rPr lang="en-AU" noProof="0" dirty="0"/>
              <a:t> - the time between a signal being available somewhere and the right action being authorised everywhere.</a:t>
            </a:r>
          </a:p>
          <a:p>
            <a:endParaRPr lang="en-AU" noProof="0" dirty="0"/>
          </a:p>
          <a:p>
            <a:r>
              <a:rPr lang="en-AU" noProof="0" dirty="0"/>
              <a:t>Currently, there is no canonical baseline for coordination latency for a level-2 incident. Our prototype baseline-vs-AMA-assisted simulation harness establishes a baseline measurement harness.</a:t>
            </a:r>
          </a:p>
          <a:p>
            <a:endParaRPr lang="en-AU" noProof="0" dirty="0"/>
          </a:p>
          <a:p>
            <a:r>
              <a:rPr lang="en-AU" noProof="0" dirty="0"/>
              <a:t>Translated for executives: the platform is not making humans faster. It is making the </a:t>
            </a:r>
            <a:r>
              <a:rPr lang="en-AU" i="1" noProof="0" dirty="0"/>
              <a:t>organisation</a:t>
            </a:r>
            <a:r>
              <a:rPr lang="en-AU" noProof="0" dirty="0"/>
              <a:t> faster - by removing the seams between agencies.</a:t>
            </a:r>
          </a:p>
        </p:txBody>
      </p:sp>
      <p:pic>
        <p:nvPicPr>
          <p:cNvPr id="20" name="Icon Coordination Tax"/>
          <p:cNvPicPr>
            <a:picLocks noChangeAspect="1"/>
          </p:cNvPicPr>
          <p:nvPr/>
        </p:nvPicPr>
        <p:blipFill>
          <a:blip r:embed="rId3"/>
          <a:stretch>
            <a:fillRect/>
          </a:stretch>
        </p:blipFill>
        <p:spPr>
          <a:xfrm>
            <a:off x="4649788" y="916872"/>
            <a:ext cx="652463" cy="652463"/>
          </a:xfrm>
          <a:prstGeom prst="ellipse">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8262" y="2444115"/>
            <a:ext cx="3329219" cy="1969770"/>
          </a:xfrm>
        </p:spPr>
        <p:txBody>
          <a:bodyPr/>
          <a:lstStyle/>
          <a:p>
            <a:r>
              <a:rPr lang="en-AU" noProof="0" dirty="0"/>
              <a:t>Vision</a:t>
            </a:r>
            <a:br>
              <a:rPr lang="en-AU" noProof="0" dirty="0"/>
            </a:br>
            <a:br>
              <a:rPr lang="en-AU" noProof="0" dirty="0"/>
            </a:br>
            <a:r>
              <a:rPr lang="en-AU" noProof="0" dirty="0"/>
              <a:t>A Common Operating Picture that thinks</a:t>
            </a:r>
          </a:p>
        </p:txBody>
      </p:sp>
      <p:sp>
        <p:nvSpPr>
          <p:cNvPr id="3" name="Text Placeholder 2"/>
          <p:cNvSpPr>
            <a:spLocks noGrp="1"/>
          </p:cNvSpPr>
          <p:nvPr>
            <p:ph type="body" sz="quarter" idx="10"/>
          </p:nvPr>
        </p:nvSpPr>
        <p:spPr>
          <a:xfrm>
            <a:off x="4717165" y="1862256"/>
            <a:ext cx="6959600" cy="2800767"/>
          </a:xfrm>
        </p:spPr>
        <p:txBody>
          <a:bodyPr/>
          <a:lstStyle/>
          <a:p>
            <a:r>
              <a:rPr lang="en-AU" noProof="0" dirty="0"/>
              <a:t>Our north star is a Common Operating Picture (COP) that is not just shared but </a:t>
            </a:r>
            <a:r>
              <a:rPr lang="en-AU" i="1" noProof="0" dirty="0"/>
              <a:t>reasoned over</a:t>
            </a:r>
            <a:r>
              <a:rPr lang="en-AU" noProof="0" dirty="0"/>
              <a:t> - by a network of specialised agents that propose, deliberate, and escalate to humans.</a:t>
            </a:r>
          </a:p>
          <a:p>
            <a:endParaRPr lang="en-AU" noProof="0" dirty="0"/>
          </a:p>
          <a:p>
            <a:r>
              <a:rPr lang="en-AU" noProof="0" dirty="0"/>
              <a:t>Every authoritative signal in Australia, normalised and trust-scored. Five mission-aligned agents (Monitoring, Risk Assessment, Evacuation, Resource Allocation, Communication) coordinated via deterministic handoffs. Every recommendation traceable, every action approved by a human, every warning published in eight community languages.</a:t>
            </a:r>
          </a:p>
          <a:p>
            <a:endParaRPr lang="en-AU" noProof="0" dirty="0"/>
          </a:p>
          <a:p>
            <a:r>
              <a:rPr lang="en-AU" noProof="0" dirty="0"/>
              <a:t>It is multi-agency by construction, AIIMS-aligned by contract, and Australian by residency. It is the architecture our future requires - and it is built today.</a:t>
            </a:r>
          </a:p>
        </p:txBody>
      </p:sp>
      <p:pic>
        <p:nvPicPr>
          <p:cNvPr id="20" name="Icon Vision Brain"/>
          <p:cNvPicPr>
            <a:picLocks noChangeAspect="1"/>
          </p:cNvPicPr>
          <p:nvPr/>
        </p:nvPicPr>
        <p:blipFill>
          <a:blip r:embed="rId3"/>
          <a:stretch>
            <a:fillRect/>
          </a:stretch>
        </p:blipFill>
        <p:spPr>
          <a:xfrm>
            <a:off x="4649788" y="916872"/>
            <a:ext cx="652463" cy="652463"/>
          </a:xfrm>
          <a:prstGeom prst="ellipse">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noProof="0" dirty="0"/>
              <a:t>Solution at a glance</a:t>
            </a:r>
            <a:br>
              <a:rPr lang="en-AU" dirty="0"/>
            </a:br>
            <a:br>
              <a:rPr lang="en-AU" dirty="0"/>
            </a:br>
            <a:r>
              <a:rPr lang="en-AU" dirty="0"/>
              <a:t>F</a:t>
            </a:r>
            <a:r>
              <a:rPr lang="en-AU" noProof="0" dirty="0" err="1"/>
              <a:t>ive</a:t>
            </a:r>
            <a:r>
              <a:rPr lang="en-AU" noProof="0" dirty="0"/>
              <a:t> agents, one mission</a:t>
            </a:r>
          </a:p>
        </p:txBody>
      </p:sp>
      <p:sp>
        <p:nvSpPr>
          <p:cNvPr id="3" name="Text Placeholder 2"/>
          <p:cNvSpPr>
            <a:spLocks noGrp="1"/>
          </p:cNvSpPr>
          <p:nvPr>
            <p:ph type="body" sz="quarter" idx="10"/>
          </p:nvPr>
        </p:nvSpPr>
        <p:spPr>
          <a:xfrm>
            <a:off x="4644137" y="1717877"/>
            <a:ext cx="6959600" cy="2800767"/>
          </a:xfrm>
        </p:spPr>
        <p:txBody>
          <a:bodyPr/>
          <a:lstStyle/>
          <a:p>
            <a:r>
              <a:rPr lang="en-AU" sz="1700" noProof="0" dirty="0"/>
              <a:t>MONITORING AGENT - ingests </a:t>
            </a:r>
            <a:r>
              <a:rPr lang="en-AU" sz="1700" dirty="0"/>
              <a:t>~46</a:t>
            </a:r>
            <a:r>
              <a:rPr lang="en-AU" sz="1700" noProof="0" dirty="0"/>
              <a:t> Australian sources, normalises into signal envelopes, trust-tier and freshness-score every observation.</a:t>
            </a:r>
          </a:p>
          <a:p>
            <a:endParaRPr lang="en-AU" sz="1700" noProof="0" dirty="0"/>
          </a:p>
          <a:p>
            <a:r>
              <a:rPr lang="en-AU" sz="1700" noProof="0" dirty="0"/>
              <a:t>RISK ASSESSMENT AGENT - LLM-enabled fusion, generates ranked recommendations with explanation; falls back to template when LLM unavailable.</a:t>
            </a:r>
          </a:p>
          <a:p>
            <a:endParaRPr lang="en-AU" sz="1700" noProof="0" dirty="0"/>
          </a:p>
          <a:p>
            <a:r>
              <a:rPr lang="en-AU" sz="1700" noProof="0" dirty="0"/>
              <a:t>EVACUATION AGENT - runs the AIDR five-stage process (Decision, Warning, Withdrawal, Shelter, Return); tests assembly area &amp; corridor capacity.</a:t>
            </a:r>
          </a:p>
          <a:p>
            <a:endParaRPr lang="en-AU" sz="1700" noProof="0" dirty="0"/>
          </a:p>
          <a:p>
            <a:r>
              <a:rPr lang="en-AU" sz="1700" noProof="0" dirty="0"/>
              <a:t>RESOURCE ALLOCATION AGENT - prioritises cross-agency tasks by life-safety criticality; surfaces shortfalls.</a:t>
            </a:r>
          </a:p>
          <a:p>
            <a:endParaRPr lang="en-AU" sz="1700" noProof="0" dirty="0"/>
          </a:p>
          <a:p>
            <a:r>
              <a:rPr lang="en-AU" sz="1700" noProof="0" dirty="0"/>
              <a:t>COMMUNICATION AGENT - drafts AWS-compliant warnings in 8 languages + </a:t>
            </a:r>
            <a:r>
              <a:rPr lang="en-AU" sz="1700" noProof="0" dirty="0" err="1"/>
              <a:t>Auslan</a:t>
            </a:r>
            <a:r>
              <a:rPr lang="en-AU" sz="1700" noProof="0" dirty="0"/>
              <a:t>; every alert requires named human approval before publish.</a:t>
            </a:r>
          </a:p>
        </p:txBody>
      </p:sp>
      <p:pic>
        <p:nvPicPr>
          <p:cNvPr id="20" name="Icon Five Agents"/>
          <p:cNvPicPr>
            <a:picLocks noChangeAspect="1"/>
          </p:cNvPicPr>
          <p:nvPr/>
        </p:nvPicPr>
        <p:blipFill>
          <a:blip r:embed="rId3"/>
          <a:stretch>
            <a:fillRect/>
          </a:stretch>
        </p:blipFill>
        <p:spPr>
          <a:xfrm>
            <a:off x="4649788" y="916872"/>
            <a:ext cx="652463" cy="652463"/>
          </a:xfrm>
          <a:prstGeom prst="ellipse">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noProof="0" dirty="0"/>
              <a:t>Constitution</a:t>
            </a:r>
            <a:br>
              <a:rPr lang="en-AU" noProof="0" dirty="0"/>
            </a:br>
            <a:br>
              <a:rPr lang="en-AU" noProof="0" dirty="0"/>
            </a:br>
            <a:r>
              <a:rPr lang="en-AU" noProof="0" dirty="0"/>
              <a:t>The rules the platform lives by</a:t>
            </a:r>
          </a:p>
        </p:txBody>
      </p:sp>
      <p:sp>
        <p:nvSpPr>
          <p:cNvPr id="3" name="Text Placeholder 2"/>
          <p:cNvSpPr>
            <a:spLocks noGrp="1"/>
          </p:cNvSpPr>
          <p:nvPr>
            <p:ph type="body" sz="quarter" idx="10"/>
          </p:nvPr>
        </p:nvSpPr>
        <p:spPr>
          <a:xfrm>
            <a:off x="4649788" y="1871881"/>
            <a:ext cx="6959600" cy="2800767"/>
          </a:xfrm>
        </p:spPr>
        <p:txBody>
          <a:bodyPr/>
          <a:lstStyle/>
          <a:p>
            <a:r>
              <a:rPr lang="en-AU" noProof="0" dirty="0"/>
              <a:t>Six core principles: </a:t>
            </a:r>
          </a:p>
          <a:p>
            <a:pPr marL="342900" indent="-342900">
              <a:buFont typeface="+mj-lt"/>
              <a:buAutoNum type="arabicPeriod"/>
            </a:pPr>
            <a:r>
              <a:rPr lang="en-AU" sz="1600" noProof="0" dirty="0"/>
              <a:t>Primacy of Life</a:t>
            </a:r>
          </a:p>
          <a:p>
            <a:pPr marL="342900" indent="-342900">
              <a:buFont typeface="+mj-lt"/>
              <a:buAutoNum type="arabicPeriod"/>
            </a:pPr>
            <a:r>
              <a:rPr lang="en-AU" sz="1600" noProof="0" dirty="0"/>
              <a:t>National EM Principles</a:t>
            </a:r>
          </a:p>
          <a:p>
            <a:pPr marL="342900" indent="-342900">
              <a:buFont typeface="+mj-lt"/>
              <a:buAutoNum type="arabicPeriod"/>
            </a:pPr>
            <a:r>
              <a:rPr lang="en-AU" sz="1600" noProof="0" dirty="0"/>
              <a:t>Multi-hazard / Multi-agency</a:t>
            </a:r>
          </a:p>
          <a:p>
            <a:pPr marL="342900" indent="-342900">
              <a:buFont typeface="+mj-lt"/>
              <a:buAutoNum type="arabicPeriod"/>
            </a:pPr>
            <a:r>
              <a:rPr lang="en-AU" sz="1600" noProof="0" dirty="0"/>
              <a:t>Transparency &amp; Auditability</a:t>
            </a:r>
          </a:p>
          <a:p>
            <a:pPr marL="342900" indent="-342900">
              <a:buFont typeface="+mj-lt"/>
              <a:buAutoNum type="arabicPeriod"/>
            </a:pPr>
            <a:r>
              <a:rPr lang="en-AU" sz="1600" noProof="0" dirty="0"/>
              <a:t>Australian Warning System</a:t>
            </a:r>
          </a:p>
          <a:p>
            <a:pPr marL="342900" indent="-342900">
              <a:buFont typeface="+mj-lt"/>
              <a:buAutoNum type="arabicPeriod"/>
            </a:pPr>
            <a:r>
              <a:rPr lang="en-AU" sz="1600" noProof="0" dirty="0"/>
              <a:t>AIDR-aligned Evacuation &amp; Recovery</a:t>
            </a:r>
          </a:p>
          <a:p>
            <a:endParaRPr lang="en-AU" noProof="0" dirty="0"/>
          </a:p>
          <a:p>
            <a:endParaRPr lang="en-AU" noProof="0" dirty="0"/>
          </a:p>
          <a:p>
            <a:endParaRPr lang="en-AU" noProof="0" dirty="0"/>
          </a:p>
          <a:p>
            <a:endParaRPr lang="en-AU" noProof="0" dirty="0"/>
          </a:p>
          <a:p>
            <a:r>
              <a:rPr lang="en-AU" noProof="0" dirty="0"/>
              <a:t>Every spec, every PR, every deployment is checked against this Constitution. Compliance is not paperwork - it is a CI gate.</a:t>
            </a:r>
          </a:p>
        </p:txBody>
      </p:sp>
      <p:pic>
        <p:nvPicPr>
          <p:cNvPr id="20" name="Icon Constitution"/>
          <p:cNvPicPr>
            <a:picLocks noChangeAspect="1"/>
          </p:cNvPicPr>
          <p:nvPr/>
        </p:nvPicPr>
        <p:blipFill>
          <a:blip r:embed="rId3"/>
          <a:stretch>
            <a:fillRect/>
          </a:stretch>
        </p:blipFill>
        <p:spPr>
          <a:xfrm>
            <a:off x="4649788" y="916872"/>
            <a:ext cx="652463" cy="652463"/>
          </a:xfrm>
          <a:prstGeom prst="ellipse">
            <a:avLst/>
          </a:prstGeom>
        </p:spPr>
      </p:pic>
      <p:sp>
        <p:nvSpPr>
          <p:cNvPr id="4" name="Text Placeholder 2">
            <a:extLst>
              <a:ext uri="{FF2B5EF4-FFF2-40B4-BE49-F238E27FC236}">
                <a16:creationId xmlns:a16="http://schemas.microsoft.com/office/drawing/2014/main" id="{871FEAE7-2619-7156-DA68-6916B4692284}"/>
              </a:ext>
            </a:extLst>
          </p:cNvPr>
          <p:cNvSpPr txBox="1">
            <a:spLocks/>
          </p:cNvSpPr>
          <p:nvPr/>
        </p:nvSpPr>
        <p:spPr>
          <a:xfrm>
            <a:off x="8668336" y="1871881"/>
            <a:ext cx="3523664" cy="2800767"/>
          </a:xfrm>
          <a:prstGeom prst="rect">
            <a:avLst/>
          </a:prstGeom>
        </p:spPr>
        <p:txBody>
          <a:bodyPr vert="horz" wrap="square" lIns="0" tIns="0" rIns="0" bIns="0" rtlCol="0">
            <a:noAutofit/>
          </a:bodyPr>
          <a:lstStyle>
            <a:lvl1pPr marL="0" marR="0" indent="0" algn="l" defTabSz="932742" rtl="0" eaLnBrk="1" fontAlgn="auto" latinLnBrk="0" hangingPunct="1">
              <a:lnSpc>
                <a:spcPct val="100000"/>
              </a:lnSpc>
              <a:spcBef>
                <a:spcPct val="20000"/>
              </a:spcBef>
              <a:spcAft>
                <a:spcPts val="0"/>
              </a:spcAft>
              <a:buClrTx/>
              <a:buSzPct val="100000"/>
              <a:buFont typeface="Arial" panose="020B0604020202020204" pitchFamily="34" charset="0"/>
              <a:buNone/>
              <a:tabLst/>
              <a:defRPr sz="1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Aptos" panose="020B0004020202020204" pitchFamily="34" charset="0"/>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Aptos" panose="020B0004020202020204" pitchFamily="34" charset="0"/>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Aptos" panose="020B0004020202020204" pitchFamily="34" charset="0"/>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Aptos" panose="020B0004020202020204" pitchFamily="34" charset="0"/>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AU" noProof="0" dirty="0"/>
              <a:t>Five non-negotiables: </a:t>
            </a:r>
          </a:p>
          <a:p>
            <a:pPr marL="342900" indent="-342900">
              <a:buFont typeface="+mj-lt"/>
              <a:buAutoNum type="arabicPeriod"/>
            </a:pPr>
            <a:r>
              <a:rPr lang="en-AU" sz="1600" noProof="0" dirty="0"/>
              <a:t>Human-in-the-loop</a:t>
            </a:r>
          </a:p>
          <a:p>
            <a:pPr marL="342900" indent="-342900">
              <a:buFont typeface="+mj-lt"/>
              <a:buAutoNum type="arabicPeriod"/>
            </a:pPr>
            <a:r>
              <a:rPr lang="en-AU" sz="1600" dirty="0"/>
              <a:t>D</a:t>
            </a:r>
            <a:r>
              <a:rPr lang="en-AU" sz="1600" noProof="0" dirty="0" err="1"/>
              <a:t>ata</a:t>
            </a:r>
            <a:r>
              <a:rPr lang="en-AU" sz="1600" noProof="0" dirty="0"/>
              <a:t> sovereignty</a:t>
            </a:r>
          </a:p>
          <a:p>
            <a:pPr marL="342900" indent="-342900">
              <a:buFont typeface="+mj-lt"/>
              <a:buAutoNum type="arabicPeriod"/>
            </a:pPr>
            <a:r>
              <a:rPr lang="en-AU" sz="1600" dirty="0"/>
              <a:t>P</a:t>
            </a:r>
            <a:r>
              <a:rPr lang="en-AU" sz="1600" noProof="0" dirty="0" err="1"/>
              <a:t>rivacy</a:t>
            </a:r>
            <a:r>
              <a:rPr lang="en-AU" sz="1600" noProof="0" dirty="0"/>
              <a:t> by design </a:t>
            </a:r>
          </a:p>
          <a:p>
            <a:pPr marL="342900" indent="-342900">
              <a:buFont typeface="+mj-lt"/>
              <a:buAutoNum type="arabicPeriod"/>
            </a:pPr>
            <a:r>
              <a:rPr lang="en-AU" sz="1600" dirty="0"/>
              <a:t>S</a:t>
            </a:r>
            <a:r>
              <a:rPr lang="en-AU" sz="1600" noProof="0" dirty="0" err="1"/>
              <a:t>tandards</a:t>
            </a:r>
            <a:r>
              <a:rPr lang="en-AU" sz="1600" noProof="0" dirty="0"/>
              <a:t>-based interoperability</a:t>
            </a:r>
          </a:p>
          <a:p>
            <a:pPr marL="342900" indent="-342900">
              <a:buFont typeface="+mj-lt"/>
              <a:buAutoNum type="arabicPeriod"/>
            </a:pPr>
            <a:r>
              <a:rPr lang="en-AU" sz="1600" noProof="0" dirty="0"/>
              <a:t>Graceful degradation</a:t>
            </a:r>
          </a:p>
          <a:p>
            <a:endParaRPr lang="en-AU" noProof="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noProof="0" dirty="0"/>
              <a:t>System Context - who interacts with the platform</a:t>
            </a:r>
          </a:p>
        </p:txBody>
      </p:sp>
      <p:sp>
        <p:nvSpPr>
          <p:cNvPr id="4" name="TextBox 3"/>
          <p:cNvSpPr txBox="1"/>
          <p:nvPr/>
        </p:nvSpPr>
        <p:spPr>
          <a:xfrm>
            <a:off x="1097280" y="6263640"/>
            <a:ext cx="9966960" cy="411480"/>
          </a:xfrm>
          <a:prstGeom prst="rect">
            <a:avLst/>
          </a:prstGeom>
          <a:noFill/>
        </p:spPr>
        <p:txBody>
          <a:bodyPr wrap="none">
            <a:spAutoFit/>
          </a:bodyPr>
          <a:lstStyle/>
          <a:p>
            <a:r>
              <a:rPr lang="en-AU" sz="1000" i="1" noProof="0" dirty="0">
                <a:solidFill>
                  <a:srgbClr val="555555"/>
                </a:solidFill>
              </a:rPr>
              <a:t>C4 System Context · docs/architecture/c4/system.png</a:t>
            </a:r>
          </a:p>
        </p:txBody>
      </p:sp>
      <p:pic>
        <p:nvPicPr>
          <p:cNvPr id="7" name="Picture 6">
            <a:extLst>
              <a:ext uri="{FF2B5EF4-FFF2-40B4-BE49-F238E27FC236}">
                <a16:creationId xmlns:a16="http://schemas.microsoft.com/office/drawing/2014/main" id="{FDB85089-5953-43DF-3A04-C902D8448581}"/>
              </a:ext>
            </a:extLst>
          </p:cNvPr>
          <p:cNvPicPr>
            <a:picLocks noChangeAspect="1"/>
          </p:cNvPicPr>
          <p:nvPr/>
        </p:nvPicPr>
        <p:blipFill>
          <a:blip r:embed="rId3"/>
          <a:stretch>
            <a:fillRect/>
          </a:stretch>
        </p:blipFill>
        <p:spPr>
          <a:xfrm>
            <a:off x="1350745" y="1320465"/>
            <a:ext cx="9490509" cy="476446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noProof="0" dirty="0"/>
              <a:t>Container view - Azure-native, 100% serverless or managed</a:t>
            </a:r>
          </a:p>
        </p:txBody>
      </p:sp>
      <p:sp>
        <p:nvSpPr>
          <p:cNvPr id="4" name="TextBox 3"/>
          <p:cNvSpPr txBox="1"/>
          <p:nvPr/>
        </p:nvSpPr>
        <p:spPr>
          <a:xfrm>
            <a:off x="1097280" y="6263640"/>
            <a:ext cx="9966960" cy="411480"/>
          </a:xfrm>
          <a:prstGeom prst="rect">
            <a:avLst/>
          </a:prstGeom>
          <a:noFill/>
        </p:spPr>
        <p:txBody>
          <a:bodyPr wrap="none">
            <a:spAutoFit/>
          </a:bodyPr>
          <a:lstStyle/>
          <a:p>
            <a:r>
              <a:rPr lang="en-AU" sz="1000" i="1" noProof="0" dirty="0">
                <a:solidFill>
                  <a:srgbClr val="555555"/>
                </a:solidFill>
              </a:rPr>
              <a:t>C4 Container view · docs/architecture/c4/container.png</a:t>
            </a:r>
          </a:p>
        </p:txBody>
      </p:sp>
      <p:pic>
        <p:nvPicPr>
          <p:cNvPr id="8" name="Picture 7">
            <a:extLst>
              <a:ext uri="{FF2B5EF4-FFF2-40B4-BE49-F238E27FC236}">
                <a16:creationId xmlns:a16="http://schemas.microsoft.com/office/drawing/2014/main" id="{B49562F5-870E-8DF9-B2AE-9EFA6FD38038}"/>
              </a:ext>
            </a:extLst>
          </p:cNvPr>
          <p:cNvPicPr>
            <a:picLocks noChangeAspect="1"/>
          </p:cNvPicPr>
          <p:nvPr/>
        </p:nvPicPr>
        <p:blipFill>
          <a:blip r:embed="rId3"/>
          <a:stretch>
            <a:fillRect/>
          </a:stretch>
        </p:blipFill>
        <p:spPr>
          <a:xfrm>
            <a:off x="1323380" y="1556735"/>
            <a:ext cx="9545240" cy="43243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noProof="0" dirty="0"/>
              <a:t>Multi-agent component architecture - handoffs as a contract</a:t>
            </a:r>
          </a:p>
        </p:txBody>
      </p:sp>
      <p:sp>
        <p:nvSpPr>
          <p:cNvPr id="4" name="TextBox 3"/>
          <p:cNvSpPr txBox="1"/>
          <p:nvPr/>
        </p:nvSpPr>
        <p:spPr>
          <a:xfrm>
            <a:off x="1097280" y="6263640"/>
            <a:ext cx="9966960" cy="411480"/>
          </a:xfrm>
          <a:prstGeom prst="rect">
            <a:avLst/>
          </a:prstGeom>
          <a:noFill/>
        </p:spPr>
        <p:txBody>
          <a:bodyPr wrap="none">
            <a:spAutoFit/>
          </a:bodyPr>
          <a:lstStyle/>
          <a:p>
            <a:r>
              <a:rPr lang="en-AU" sz="1000" i="1" noProof="0" dirty="0">
                <a:solidFill>
                  <a:srgbClr val="555555"/>
                </a:solidFill>
              </a:rPr>
              <a:t>Agent component view · docs/architecture/c4/component-agents.png</a:t>
            </a:r>
          </a:p>
        </p:txBody>
      </p:sp>
      <p:pic>
        <p:nvPicPr>
          <p:cNvPr id="10" name="Picture 9">
            <a:extLst>
              <a:ext uri="{FF2B5EF4-FFF2-40B4-BE49-F238E27FC236}">
                <a16:creationId xmlns:a16="http://schemas.microsoft.com/office/drawing/2014/main" id="{8D04DEAB-FE87-6FE2-B939-51331320B184}"/>
              </a:ext>
            </a:extLst>
          </p:cNvPr>
          <p:cNvPicPr>
            <a:picLocks noChangeAspect="1"/>
          </p:cNvPicPr>
          <p:nvPr/>
        </p:nvPicPr>
        <p:blipFill>
          <a:blip r:embed="rId3"/>
          <a:stretch>
            <a:fillRect/>
          </a:stretch>
        </p:blipFill>
        <p:spPr>
          <a:xfrm>
            <a:off x="1318660" y="1540167"/>
            <a:ext cx="9221003" cy="413188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noProof="0" dirty="0"/>
              <a:t>Data &amp; integration - 7 trust tiers, normalised at the edge</a:t>
            </a:r>
          </a:p>
        </p:txBody>
      </p:sp>
      <p:sp>
        <p:nvSpPr>
          <p:cNvPr id="4" name="TextBox 3"/>
          <p:cNvSpPr txBox="1"/>
          <p:nvPr/>
        </p:nvSpPr>
        <p:spPr>
          <a:xfrm>
            <a:off x="1097280" y="6263640"/>
            <a:ext cx="9966960" cy="411480"/>
          </a:xfrm>
          <a:prstGeom prst="rect">
            <a:avLst/>
          </a:prstGeom>
          <a:noFill/>
        </p:spPr>
        <p:txBody>
          <a:bodyPr wrap="none">
            <a:spAutoFit/>
          </a:bodyPr>
          <a:lstStyle/>
          <a:p>
            <a:r>
              <a:rPr lang="en-AU" sz="1000" i="1" noProof="0" dirty="0">
                <a:solidFill>
                  <a:srgbClr val="555555"/>
                </a:solidFill>
              </a:rPr>
              <a:t>Ingestion data flow · docs/architecture/data/ingestion-data-flow.png</a:t>
            </a:r>
          </a:p>
        </p:txBody>
      </p:sp>
      <p:pic>
        <p:nvPicPr>
          <p:cNvPr id="6" name="Picture 5">
            <a:extLst>
              <a:ext uri="{FF2B5EF4-FFF2-40B4-BE49-F238E27FC236}">
                <a16:creationId xmlns:a16="http://schemas.microsoft.com/office/drawing/2014/main" id="{694CE55D-6DE5-C9C0-AC2C-B6E83D72170F}"/>
              </a:ext>
            </a:extLst>
          </p:cNvPr>
          <p:cNvPicPr>
            <a:picLocks noChangeAspect="1"/>
          </p:cNvPicPr>
          <p:nvPr/>
        </p:nvPicPr>
        <p:blipFill>
          <a:blip r:embed="rId3"/>
          <a:stretch>
            <a:fillRect/>
          </a:stretch>
        </p:blipFill>
        <p:spPr>
          <a:xfrm>
            <a:off x="1097280" y="1407093"/>
            <a:ext cx="10116845" cy="427181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noProof="0" dirty="0"/>
              <a:t>Multi-jurisdiction tenancy - federation by design</a:t>
            </a:r>
          </a:p>
        </p:txBody>
      </p:sp>
      <p:sp>
        <p:nvSpPr>
          <p:cNvPr id="4" name="TextBox 3"/>
          <p:cNvSpPr txBox="1"/>
          <p:nvPr/>
        </p:nvSpPr>
        <p:spPr>
          <a:xfrm>
            <a:off x="1097280" y="6263640"/>
            <a:ext cx="9966960" cy="411480"/>
          </a:xfrm>
          <a:prstGeom prst="rect">
            <a:avLst/>
          </a:prstGeom>
          <a:noFill/>
        </p:spPr>
        <p:txBody>
          <a:bodyPr wrap="none">
            <a:spAutoFit/>
          </a:bodyPr>
          <a:lstStyle/>
          <a:p>
            <a:r>
              <a:rPr lang="en-AU" sz="1000" i="1" noProof="0" dirty="0">
                <a:solidFill>
                  <a:srgbClr val="555555"/>
                </a:solidFill>
              </a:rPr>
              <a:t>Multi-jurisdiction tenancy · docs/architecture/data/multi-jurisdiction-tenancy.png</a:t>
            </a:r>
          </a:p>
        </p:txBody>
      </p:sp>
      <p:pic>
        <p:nvPicPr>
          <p:cNvPr id="6" name="Picture 5">
            <a:extLst>
              <a:ext uri="{FF2B5EF4-FFF2-40B4-BE49-F238E27FC236}">
                <a16:creationId xmlns:a16="http://schemas.microsoft.com/office/drawing/2014/main" id="{F2B56E83-D116-5193-2014-92836EC0E404}"/>
              </a:ext>
            </a:extLst>
          </p:cNvPr>
          <p:cNvPicPr>
            <a:picLocks noChangeAspect="1"/>
          </p:cNvPicPr>
          <p:nvPr/>
        </p:nvPicPr>
        <p:blipFill>
          <a:blip r:embed="rId3"/>
          <a:stretch>
            <a:fillRect/>
          </a:stretch>
        </p:blipFill>
        <p:spPr>
          <a:xfrm>
            <a:off x="2379420" y="1143627"/>
            <a:ext cx="7433160" cy="495873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8263" y="457200"/>
            <a:ext cx="11018520" cy="984885"/>
          </a:xfrm>
        </p:spPr>
        <p:txBody>
          <a:bodyPr/>
          <a:lstStyle/>
          <a:p>
            <a:r>
              <a:rPr lang="en-AU" noProof="0" dirty="0"/>
              <a:t>AI strategy - dual-deployment LLM gateway, Foundry-native RAG</a:t>
            </a:r>
          </a:p>
        </p:txBody>
      </p:sp>
      <p:sp>
        <p:nvSpPr>
          <p:cNvPr id="4" name="TextBox 3"/>
          <p:cNvSpPr txBox="1"/>
          <p:nvPr/>
        </p:nvSpPr>
        <p:spPr>
          <a:xfrm>
            <a:off x="1097280" y="6263640"/>
            <a:ext cx="9966960" cy="411480"/>
          </a:xfrm>
          <a:prstGeom prst="rect">
            <a:avLst/>
          </a:prstGeom>
          <a:noFill/>
        </p:spPr>
        <p:txBody>
          <a:bodyPr wrap="none">
            <a:spAutoFit/>
          </a:bodyPr>
          <a:lstStyle/>
          <a:p>
            <a:r>
              <a:rPr lang="en-AU" sz="1000" i="1" noProof="0" dirty="0">
                <a:solidFill>
                  <a:srgbClr val="555555"/>
                </a:solidFill>
              </a:rPr>
              <a:t>Agent runtime + LLM gateway · docs/architecture/c4/agent-runtime-llm-gateway.png</a:t>
            </a:r>
          </a:p>
        </p:txBody>
      </p:sp>
      <p:pic>
        <p:nvPicPr>
          <p:cNvPr id="8" name="Picture 7">
            <a:extLst>
              <a:ext uri="{FF2B5EF4-FFF2-40B4-BE49-F238E27FC236}">
                <a16:creationId xmlns:a16="http://schemas.microsoft.com/office/drawing/2014/main" id="{74AA51D7-CB0E-F530-2793-48BE47195C73}"/>
              </a:ext>
            </a:extLst>
          </p:cNvPr>
          <p:cNvPicPr>
            <a:picLocks noChangeAspect="1"/>
          </p:cNvPicPr>
          <p:nvPr/>
        </p:nvPicPr>
        <p:blipFill>
          <a:blip r:embed="rId3"/>
          <a:stretch>
            <a:fillRect/>
          </a:stretch>
        </p:blipFill>
        <p:spPr>
          <a:xfrm>
            <a:off x="1010652" y="1854116"/>
            <a:ext cx="10522835" cy="375741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noProof="0" dirty="0"/>
              <a:t>Agentic patterns - orchestration that survives reality</a:t>
            </a:r>
          </a:p>
        </p:txBody>
      </p:sp>
      <p:sp>
        <p:nvSpPr>
          <p:cNvPr id="3" name="Text Placeholder 2"/>
          <p:cNvSpPr>
            <a:spLocks noGrp="1"/>
          </p:cNvSpPr>
          <p:nvPr>
            <p:ph type="body" sz="quarter" idx="10"/>
          </p:nvPr>
        </p:nvSpPr>
        <p:spPr/>
        <p:txBody>
          <a:bodyPr/>
          <a:lstStyle/>
          <a:p>
            <a:r>
              <a:rPr lang="en-AU" noProof="0" dirty="0"/>
              <a:t>Typed </a:t>
            </a:r>
            <a:r>
              <a:rPr lang="en-AU" noProof="0" dirty="0" err="1"/>
              <a:t>AgentHandoffEvent</a:t>
            </a:r>
            <a:r>
              <a:rPr lang="en-AU" noProof="0" dirty="0"/>
              <a:t>. 3 retries within a 300s window. Failed handoffs land in a dead-letter container with a named operator review SLA. Every handoff carries a correlation ID end-to-end.</a:t>
            </a:r>
          </a:p>
        </p:txBody>
      </p:sp>
      <p:sp>
        <p:nvSpPr>
          <p:cNvPr id="4" name="Text Placeholder 3"/>
          <p:cNvSpPr>
            <a:spLocks noGrp="1"/>
          </p:cNvSpPr>
          <p:nvPr>
            <p:ph type="body" sz="quarter" idx="11"/>
          </p:nvPr>
        </p:nvSpPr>
        <p:spPr>
          <a:xfrm>
            <a:off x="8195227" y="3436166"/>
            <a:ext cx="3147226" cy="2271391"/>
          </a:xfrm>
        </p:spPr>
        <p:txBody>
          <a:bodyPr/>
          <a:lstStyle/>
          <a:p>
            <a:r>
              <a:rPr lang="en-AU" noProof="0" dirty="0"/>
              <a:t>Risk Assessment outputs are reviewed by a content-safety + guardrail policy before Communication ever sees them. Reflection prompts critique recommendations against the ten Warning Principles.</a:t>
            </a:r>
          </a:p>
        </p:txBody>
      </p:sp>
      <p:sp>
        <p:nvSpPr>
          <p:cNvPr id="5" name="Text Placeholder 4"/>
          <p:cNvSpPr>
            <a:spLocks noGrp="1"/>
          </p:cNvSpPr>
          <p:nvPr>
            <p:ph type="body" sz="quarter" idx="26"/>
          </p:nvPr>
        </p:nvSpPr>
        <p:spPr>
          <a:xfrm>
            <a:off x="4522387" y="3436166"/>
            <a:ext cx="3147226" cy="1932837"/>
          </a:xfrm>
        </p:spPr>
        <p:txBody>
          <a:bodyPr/>
          <a:lstStyle/>
          <a:p>
            <a:r>
              <a:rPr lang="en-AU" noProof="0" dirty="0"/>
              <a:t>Every agent has a deterministic fallback. </a:t>
            </a:r>
          </a:p>
          <a:p>
            <a:pPr marL="285750" indent="-285750">
              <a:buFont typeface="Arial" panose="020B0604020202020204" pitchFamily="34" charset="0"/>
              <a:buChar char="•"/>
            </a:pPr>
            <a:r>
              <a:rPr lang="en-AU" sz="1600" noProof="0" dirty="0"/>
              <a:t>Lose the LLM? Templated alerts. </a:t>
            </a:r>
          </a:p>
          <a:p>
            <a:pPr marL="285750" indent="-285750">
              <a:buFont typeface="Arial" panose="020B0604020202020204" pitchFamily="34" charset="0"/>
              <a:buChar char="•"/>
            </a:pPr>
            <a:r>
              <a:rPr lang="en-AU" sz="1600" noProof="0" dirty="0"/>
              <a:t>Lose Cosmos? Read-only mode with banner. </a:t>
            </a:r>
          </a:p>
          <a:p>
            <a:pPr marL="285750" indent="-285750">
              <a:buFont typeface="Arial" panose="020B0604020202020204" pitchFamily="34" charset="0"/>
              <a:buChar char="•"/>
            </a:pPr>
            <a:r>
              <a:rPr lang="en-AU" sz="1600" noProof="0" dirty="0"/>
              <a:t>Lose Service Bus? In-process queue with bounded buffer. </a:t>
            </a:r>
          </a:p>
        </p:txBody>
      </p:sp>
      <p:sp>
        <p:nvSpPr>
          <p:cNvPr id="6" name="Text Placeholder 5"/>
          <p:cNvSpPr>
            <a:spLocks noGrp="1"/>
          </p:cNvSpPr>
          <p:nvPr>
            <p:ph type="body" sz="quarter" idx="27"/>
          </p:nvPr>
        </p:nvSpPr>
        <p:spPr/>
        <p:txBody>
          <a:bodyPr/>
          <a:lstStyle/>
          <a:p>
            <a:r>
              <a:rPr lang="en-AU" noProof="0" dirty="0"/>
              <a:t>Handoff + retry</a:t>
            </a:r>
          </a:p>
        </p:txBody>
      </p:sp>
      <p:sp>
        <p:nvSpPr>
          <p:cNvPr id="7" name="Text Placeholder 6"/>
          <p:cNvSpPr>
            <a:spLocks noGrp="1"/>
          </p:cNvSpPr>
          <p:nvPr>
            <p:ph type="body" sz="quarter" idx="28"/>
          </p:nvPr>
        </p:nvSpPr>
        <p:spPr/>
        <p:txBody>
          <a:bodyPr/>
          <a:lstStyle/>
          <a:p>
            <a:r>
              <a:rPr lang="en-AU" noProof="0" dirty="0"/>
              <a:t>Reflection + guardrail</a:t>
            </a:r>
          </a:p>
        </p:txBody>
      </p:sp>
      <p:sp>
        <p:nvSpPr>
          <p:cNvPr id="8" name="Text Placeholder 7"/>
          <p:cNvSpPr>
            <a:spLocks noGrp="1"/>
          </p:cNvSpPr>
          <p:nvPr>
            <p:ph type="body" sz="quarter" idx="29"/>
          </p:nvPr>
        </p:nvSpPr>
        <p:spPr/>
        <p:txBody>
          <a:bodyPr/>
          <a:lstStyle/>
          <a:p>
            <a:r>
              <a:rPr lang="en-AU" noProof="0" dirty="0"/>
              <a:t>Graceful degradation</a:t>
            </a:r>
          </a:p>
        </p:txBody>
      </p:sp>
      <p:sp>
        <p:nvSpPr>
          <p:cNvPr id="20" name="Icon Arrow Right"/>
          <p:cNvSpPr/>
          <p:nvPr/>
        </p:nvSpPr>
        <p:spPr>
          <a:xfrm>
            <a:off x="984008" y="2299458"/>
            <a:ext cx="240000" cy="80000"/>
          </a:xfrm>
          <a:prstGeom prst="rightArrow">
            <a:avLst>
              <a:gd name="adj1" fmla="val 50000"/>
              <a:gd name="adj2" fmla="val 40000"/>
            </a:avLst>
          </a:prstGeom>
          <a:solidFill>
            <a:schemeClr val="accent1"/>
          </a:solidFill>
          <a:ln>
            <a:noFill/>
          </a:ln>
        </p:spPr>
        <p:txBody>
          <a:bodyPr/>
          <a:lstStyle/>
          <a:p>
            <a:endParaRPr lang="en-US"/>
          </a:p>
        </p:txBody>
      </p:sp>
      <p:sp>
        <p:nvSpPr>
          <p:cNvPr id="21" name="Icon Arrow Left"/>
          <p:cNvSpPr/>
          <p:nvPr/>
        </p:nvSpPr>
        <p:spPr>
          <a:xfrm>
            <a:off x="1084008" y="2419458"/>
            <a:ext cx="240000" cy="80000"/>
          </a:xfrm>
          <a:prstGeom prst="leftArrow">
            <a:avLst>
              <a:gd name="adj1" fmla="val 50000"/>
              <a:gd name="adj2" fmla="val 40000"/>
            </a:avLst>
          </a:prstGeom>
          <a:solidFill>
            <a:schemeClr val="accent1"/>
          </a:solidFill>
          <a:ln>
            <a:noFill/>
          </a:ln>
        </p:spPr>
        <p:txBody>
          <a:bodyPr/>
          <a:lstStyle/>
          <a:p>
            <a:endParaRPr lang="en-US"/>
          </a:p>
        </p:txBody>
      </p:sp>
      <p:sp>
        <p:nvSpPr>
          <p:cNvPr id="22" name="Icon Shield"/>
          <p:cNvSpPr/>
          <p:nvPr/>
        </p:nvSpPr>
        <p:spPr>
          <a:xfrm>
            <a:off x="4706848" y="2229458"/>
            <a:ext cx="240000" cy="340000"/>
          </a:xfrm>
          <a:custGeom>
            <a:avLst/>
            <a:gdLst/>
            <a:ahLst/>
            <a:cxnLst/>
            <a:rect l="0" t="0" r="0" b="0"/>
            <a:pathLst>
              <a:path w="10000" h="12000">
                <a:moveTo>
                  <a:pt x="5000" y="0"/>
                </a:moveTo>
                <a:lnTo>
                  <a:pt x="10000" y="500"/>
                </a:lnTo>
                <a:lnTo>
                  <a:pt x="10000" y="7000"/>
                </a:lnTo>
                <a:lnTo>
                  <a:pt x="5000" y="12000"/>
                </a:lnTo>
                <a:lnTo>
                  <a:pt x="0" y="7000"/>
                </a:lnTo>
                <a:lnTo>
                  <a:pt x="0" y="500"/>
                </a:lnTo>
                <a:close/>
              </a:path>
            </a:pathLst>
          </a:custGeom>
          <a:solidFill>
            <a:schemeClr val="accent1"/>
          </a:solidFill>
          <a:ln>
            <a:noFill/>
          </a:ln>
        </p:spPr>
        <p:txBody>
          <a:bodyPr/>
          <a:lstStyle/>
          <a:p>
            <a:endParaRPr lang="en-US"/>
          </a:p>
        </p:txBody>
      </p:sp>
      <p:sp>
        <p:nvSpPr>
          <p:cNvPr id="23" name="Icon Bar Tall"/>
          <p:cNvSpPr/>
          <p:nvPr/>
        </p:nvSpPr>
        <p:spPr>
          <a:xfrm>
            <a:off x="8374688" y="2259458"/>
            <a:ext cx="65000" cy="280000"/>
          </a:xfrm>
          <a:prstGeom prst="roundRect">
            <a:avLst>
              <a:gd name="adj" fmla="val 10000"/>
            </a:avLst>
          </a:prstGeom>
          <a:solidFill>
            <a:schemeClr val="accent1"/>
          </a:solidFill>
          <a:ln>
            <a:noFill/>
          </a:ln>
        </p:spPr>
        <p:txBody>
          <a:bodyPr/>
          <a:lstStyle/>
          <a:p>
            <a:endParaRPr lang="en-US"/>
          </a:p>
        </p:txBody>
      </p:sp>
      <p:sp>
        <p:nvSpPr>
          <p:cNvPr id="24" name="Icon Bar Medium"/>
          <p:cNvSpPr/>
          <p:nvPr/>
        </p:nvSpPr>
        <p:spPr>
          <a:xfrm>
            <a:off x="8459688" y="2339458"/>
            <a:ext cx="65000" cy="200000"/>
          </a:xfrm>
          <a:prstGeom prst="roundRect">
            <a:avLst>
              <a:gd name="adj" fmla="val 10000"/>
            </a:avLst>
          </a:prstGeom>
          <a:solidFill>
            <a:schemeClr val="accent1"/>
          </a:solidFill>
          <a:ln>
            <a:noFill/>
          </a:ln>
        </p:spPr>
        <p:txBody>
          <a:bodyPr/>
          <a:lstStyle/>
          <a:p>
            <a:endParaRPr lang="en-US"/>
          </a:p>
        </p:txBody>
      </p:sp>
      <p:sp>
        <p:nvSpPr>
          <p:cNvPr id="25" name="Icon Bar Short"/>
          <p:cNvSpPr/>
          <p:nvPr/>
        </p:nvSpPr>
        <p:spPr>
          <a:xfrm>
            <a:off x="8544688" y="2419458"/>
            <a:ext cx="65000" cy="120000"/>
          </a:xfrm>
          <a:prstGeom prst="roundRect">
            <a:avLst>
              <a:gd name="adj" fmla="val 10000"/>
            </a:avLst>
          </a:prstGeom>
          <a:solidFill>
            <a:schemeClr val="accent1"/>
          </a:solidFill>
          <a:ln>
            <a:noFill/>
          </a:ln>
        </p:spPr>
        <p:txBody>
          <a:bodyPr/>
          <a:lstStyle/>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8262" y="2444115"/>
            <a:ext cx="3040461" cy="1969770"/>
          </a:xfrm>
        </p:spPr>
        <p:txBody>
          <a:bodyPr/>
          <a:lstStyle/>
          <a:p>
            <a:r>
              <a:rPr lang="en-AU" noProof="0" dirty="0"/>
              <a:t>Responsible AI</a:t>
            </a:r>
            <a:br>
              <a:rPr lang="en-AU" noProof="0" dirty="0"/>
            </a:br>
            <a:br>
              <a:rPr lang="en-AU" noProof="0" dirty="0"/>
            </a:br>
            <a:r>
              <a:rPr lang="en-AU" noProof="0" dirty="0"/>
              <a:t>Eight languages, </a:t>
            </a:r>
            <a:r>
              <a:rPr lang="en-AU" noProof="0" dirty="0" err="1"/>
              <a:t>Auslan</a:t>
            </a:r>
            <a:r>
              <a:rPr lang="en-AU" noProof="0" dirty="0"/>
              <a:t>, and a named human</a:t>
            </a:r>
          </a:p>
        </p:txBody>
      </p:sp>
      <p:sp>
        <p:nvSpPr>
          <p:cNvPr id="3" name="Text Placeholder 2"/>
          <p:cNvSpPr>
            <a:spLocks noGrp="1"/>
          </p:cNvSpPr>
          <p:nvPr>
            <p:ph type="body" sz="quarter" idx="10"/>
          </p:nvPr>
        </p:nvSpPr>
        <p:spPr>
          <a:xfrm>
            <a:off x="4784542" y="1613118"/>
            <a:ext cx="6959600" cy="2800767"/>
          </a:xfrm>
        </p:spPr>
        <p:txBody>
          <a:bodyPr/>
          <a:lstStyle/>
          <a:p>
            <a:r>
              <a:rPr lang="en-AU" sz="1700" b="1" noProof="0" dirty="0"/>
              <a:t>Languages</a:t>
            </a:r>
            <a:r>
              <a:rPr lang="en-AU" sz="1700" noProof="0" dirty="0"/>
              <a:t>: English (Grade-8 plain language), Mandarin, Arabic, Vietnamese, Cantonese, Punjabi (top-5 ABS Census non-English), </a:t>
            </a:r>
            <a:r>
              <a:rPr lang="en-AU" sz="1700" noProof="0" dirty="0" err="1"/>
              <a:t>Auslan</a:t>
            </a:r>
            <a:r>
              <a:rPr lang="en-AU" sz="1700" noProof="0" dirty="0"/>
              <a:t> video, plus a jurisdiction-appropriate Aboriginal/Torres Strait Islander language. WCAG 2.2 AA on every render.</a:t>
            </a:r>
          </a:p>
          <a:p>
            <a:endParaRPr lang="en-AU" sz="1700" noProof="0" dirty="0"/>
          </a:p>
          <a:p>
            <a:r>
              <a:rPr lang="en-AU" sz="1700" b="1" noProof="0" dirty="0"/>
              <a:t>Content safety</a:t>
            </a:r>
            <a:r>
              <a:rPr lang="en-AU" sz="1700" noProof="0" dirty="0"/>
              <a:t>: Azure AI Content Safety + a domain-specific blocked-keyword list. Every alert is signed by a named human approver before publish - no exceptions, no bypasses.</a:t>
            </a:r>
          </a:p>
          <a:p>
            <a:endParaRPr lang="en-AU" sz="1700" noProof="0" dirty="0"/>
          </a:p>
          <a:p>
            <a:r>
              <a:rPr lang="en-AU" sz="1700" b="1" noProof="0" dirty="0"/>
              <a:t>Provenance</a:t>
            </a:r>
            <a:r>
              <a:rPr lang="en-AU" sz="1700" noProof="0" dirty="0"/>
              <a:t>: every recommendation cites its source signals; every LLM call records input tokens, output tokens, model version, correlation ID. Complete decision-chain traceability for any auditor at any time.</a:t>
            </a:r>
          </a:p>
          <a:p>
            <a:endParaRPr lang="en-AU" sz="1700" noProof="0" dirty="0"/>
          </a:p>
          <a:p>
            <a:r>
              <a:rPr lang="en-AU" sz="1700" b="1" noProof="0" dirty="0"/>
              <a:t>Bias &amp; fairness</a:t>
            </a:r>
            <a:r>
              <a:rPr lang="en-AU" sz="1700" noProof="0" dirty="0"/>
              <a:t>: vulnerable population priority is a pre-processing constraint on evacuation routing - not an afterthought. Indigenous Relations sector agent is consulted for any incident touching declared Country.</a:t>
            </a:r>
          </a:p>
        </p:txBody>
      </p:sp>
      <p:sp>
        <p:nvSpPr>
          <p:cNvPr id="20" name="Icon Shield"/>
          <p:cNvSpPr/>
          <p:nvPr/>
        </p:nvSpPr>
        <p:spPr>
          <a:xfrm>
            <a:off x="4856019" y="1083103"/>
            <a:ext cx="240000" cy="320000"/>
          </a:xfrm>
          <a:custGeom>
            <a:avLst/>
            <a:gdLst/>
            <a:ahLst/>
            <a:cxnLst/>
            <a:rect l="0" t="0" r="0" b="0"/>
            <a:pathLst>
              <a:path w="10000" h="12000">
                <a:moveTo>
                  <a:pt x="5000" y="0"/>
                </a:moveTo>
                <a:lnTo>
                  <a:pt x="10000" y="500"/>
                </a:lnTo>
                <a:lnTo>
                  <a:pt x="10000" y="7000"/>
                </a:lnTo>
                <a:lnTo>
                  <a:pt x="5000" y="12000"/>
                </a:lnTo>
                <a:lnTo>
                  <a:pt x="0" y="7000"/>
                </a:lnTo>
                <a:lnTo>
                  <a:pt x="0" y="500"/>
                </a:lnTo>
                <a:close/>
              </a:path>
            </a:pathLst>
          </a:custGeom>
          <a:solidFill>
            <a:schemeClr val="accent1"/>
          </a:solidFill>
          <a:ln>
            <a:noFill/>
          </a:ln>
        </p:spPr>
        <p:txBody>
          <a:bodyPr/>
          <a:lstStyle/>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noProof="0" dirty="0"/>
              <a:t>AIIMS + AWS alignment - speaking the operator's language</a:t>
            </a:r>
          </a:p>
        </p:txBody>
      </p:sp>
      <p:sp>
        <p:nvSpPr>
          <p:cNvPr id="4" name="TextBox 3"/>
          <p:cNvSpPr txBox="1"/>
          <p:nvPr/>
        </p:nvSpPr>
        <p:spPr>
          <a:xfrm>
            <a:off x="1097280" y="6263640"/>
            <a:ext cx="9966960" cy="411480"/>
          </a:xfrm>
          <a:prstGeom prst="rect">
            <a:avLst/>
          </a:prstGeom>
          <a:noFill/>
        </p:spPr>
        <p:txBody>
          <a:bodyPr wrap="none">
            <a:spAutoFit/>
          </a:bodyPr>
          <a:lstStyle/>
          <a:p>
            <a:r>
              <a:rPr lang="en-AU" sz="1000" i="1" noProof="0" dirty="0">
                <a:solidFill>
                  <a:srgbClr val="555555"/>
                </a:solidFill>
              </a:rPr>
              <a:t>AIIMS system context · docs/architecture/operational/aiims-system-context.png</a:t>
            </a:r>
          </a:p>
        </p:txBody>
      </p:sp>
      <p:pic>
        <p:nvPicPr>
          <p:cNvPr id="6" name="Picture 5">
            <a:extLst>
              <a:ext uri="{FF2B5EF4-FFF2-40B4-BE49-F238E27FC236}">
                <a16:creationId xmlns:a16="http://schemas.microsoft.com/office/drawing/2014/main" id="{167A54D9-BD1B-9162-41D0-489568C60C43}"/>
              </a:ext>
            </a:extLst>
          </p:cNvPr>
          <p:cNvPicPr>
            <a:picLocks noChangeAspect="1"/>
          </p:cNvPicPr>
          <p:nvPr/>
        </p:nvPicPr>
        <p:blipFill>
          <a:blip r:embed="rId3"/>
          <a:stretch>
            <a:fillRect/>
          </a:stretch>
        </p:blipFill>
        <p:spPr>
          <a:xfrm>
            <a:off x="739306" y="1501490"/>
            <a:ext cx="10867477" cy="435067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89292-2DD0-E09B-C2B6-9A8197B253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6AF237-3EAE-50E8-B730-94CF66040FDB}"/>
              </a:ext>
            </a:extLst>
          </p:cNvPr>
          <p:cNvSpPr>
            <a:spLocks noGrp="1"/>
          </p:cNvSpPr>
          <p:nvPr>
            <p:ph type="title"/>
          </p:nvPr>
        </p:nvSpPr>
        <p:spPr/>
        <p:txBody>
          <a:bodyPr/>
          <a:lstStyle/>
          <a:p>
            <a:r>
              <a:rPr lang="en-AU" noProof="0" dirty="0"/>
              <a:t>Well-Architected Framework alignment</a:t>
            </a:r>
          </a:p>
        </p:txBody>
      </p:sp>
      <p:pic>
        <p:nvPicPr>
          <p:cNvPr id="7" name="Picture 6">
            <a:extLst>
              <a:ext uri="{FF2B5EF4-FFF2-40B4-BE49-F238E27FC236}">
                <a16:creationId xmlns:a16="http://schemas.microsoft.com/office/drawing/2014/main" id="{E532C3B4-47E2-B783-EE22-33FB1A142062}"/>
              </a:ext>
            </a:extLst>
          </p:cNvPr>
          <p:cNvPicPr>
            <a:picLocks noChangeAspect="1"/>
          </p:cNvPicPr>
          <p:nvPr/>
        </p:nvPicPr>
        <p:blipFill>
          <a:blip r:embed="rId3"/>
          <a:stretch>
            <a:fillRect/>
          </a:stretch>
        </p:blipFill>
        <p:spPr>
          <a:xfrm>
            <a:off x="1029797" y="1386475"/>
            <a:ext cx="10463851" cy="4218678"/>
          </a:xfrm>
          <a:prstGeom prst="rect">
            <a:avLst/>
          </a:prstGeom>
        </p:spPr>
      </p:pic>
    </p:spTree>
    <p:extLst>
      <p:ext uri="{BB962C8B-B14F-4D97-AF65-F5344CB8AC3E}">
        <p14:creationId xmlns:p14="http://schemas.microsoft.com/office/powerpoint/2010/main" val="1294176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noProof="0" dirty="0"/>
              <a:t>Live demo</a:t>
            </a:r>
            <a:br>
              <a:rPr lang="en-AU" noProof="0" dirty="0"/>
            </a:br>
            <a:br>
              <a:rPr lang="en-AU" noProof="0" dirty="0"/>
            </a:br>
            <a:r>
              <a:rPr lang="en-AU" noProof="0" dirty="0"/>
              <a:t>Blue Mountains bushfire, end-to-end in 8 minutes</a:t>
            </a:r>
          </a:p>
        </p:txBody>
      </p:sp>
      <p:sp>
        <p:nvSpPr>
          <p:cNvPr id="3" name="Text Placeholder 2"/>
          <p:cNvSpPr>
            <a:spLocks noGrp="1"/>
          </p:cNvSpPr>
          <p:nvPr>
            <p:ph type="body" sz="quarter" idx="10"/>
          </p:nvPr>
        </p:nvSpPr>
        <p:spPr>
          <a:xfrm>
            <a:off x="4726790" y="1929633"/>
            <a:ext cx="6959600" cy="2800767"/>
          </a:xfrm>
        </p:spPr>
        <p:txBody>
          <a:bodyPr/>
          <a:lstStyle/>
          <a:p>
            <a:r>
              <a:rPr lang="en-AU" noProof="0" dirty="0"/>
              <a:t>Scenario: a fast-moving bushfire on the western face of the Blue Mountains National Park, ember attack threatening Lithgow within four hours. NSW RFS lead, with police, SES, ambulance, hospitals, transport and Lithgow City Council in the response.</a:t>
            </a:r>
          </a:p>
          <a:p>
            <a:endParaRPr lang="en-AU" noProof="0" dirty="0"/>
          </a:p>
          <a:p>
            <a:r>
              <a:rPr lang="en-AU" noProof="0" dirty="0"/>
              <a:t>We will run the same canonical scenario twice (deterministic seed): once as a baseline (no AMA) and once AMA-assisted. Then we'll watch a live walk-through of the AMA-assisted run with the operator workspace.</a:t>
            </a:r>
          </a:p>
          <a:p>
            <a:endParaRPr lang="en-AU" noProof="0" dirty="0"/>
          </a:p>
          <a:p>
            <a:r>
              <a:rPr lang="en-AU" noProof="0" dirty="0"/>
              <a:t>Watch for: signal ingestion under 10s, recommendation generation in &lt;30s, an Approval request to a named Incident Controller, multilingual alert generation including </a:t>
            </a:r>
            <a:r>
              <a:rPr lang="en-AU" noProof="0" dirty="0" err="1"/>
              <a:t>Auslan</a:t>
            </a:r>
            <a:r>
              <a:rPr lang="en-AU" noProof="0" dirty="0"/>
              <a:t> stub, and the audit chain reachable in two clicks.</a:t>
            </a:r>
          </a:p>
        </p:txBody>
      </p:sp>
      <p:sp>
        <p:nvSpPr>
          <p:cNvPr id="20" name="Icon Play"/>
          <p:cNvSpPr/>
          <p:nvPr/>
        </p:nvSpPr>
        <p:spPr>
          <a:xfrm rot="5400000">
            <a:off x="4846019" y="1103103"/>
            <a:ext cx="260000" cy="280000"/>
          </a:xfrm>
          <a:prstGeom prst="triangle">
            <a:avLst>
              <a:gd name="adj" fmla="val 50000"/>
            </a:avLst>
          </a:prstGeom>
          <a:solidFill>
            <a:schemeClr val="accent1"/>
          </a:solidFill>
          <a:ln>
            <a:noFill/>
          </a:ln>
        </p:spPr>
        <p:txBody>
          <a:bodyPr/>
          <a:lstStyle/>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a:t>
            </a:r>
            <a:r>
              <a:rPr lang="en-AU" noProof="0" dirty="0" err="1"/>
              <a:t>lert</a:t>
            </a:r>
            <a:r>
              <a:rPr lang="en-AU" noProof="0" dirty="0"/>
              <a:t> approval and publication</a:t>
            </a:r>
            <a:r>
              <a:rPr lang="en-AU" dirty="0"/>
              <a:t> sequence</a:t>
            </a:r>
            <a:endParaRPr lang="en-AU" noProof="0" dirty="0"/>
          </a:p>
        </p:txBody>
      </p:sp>
      <p:sp>
        <p:nvSpPr>
          <p:cNvPr id="4" name="TextBox 3"/>
          <p:cNvSpPr txBox="1"/>
          <p:nvPr/>
        </p:nvSpPr>
        <p:spPr>
          <a:xfrm>
            <a:off x="1097280" y="6263640"/>
            <a:ext cx="9966960" cy="411480"/>
          </a:xfrm>
          <a:prstGeom prst="rect">
            <a:avLst/>
          </a:prstGeom>
          <a:noFill/>
        </p:spPr>
        <p:txBody>
          <a:bodyPr wrap="none">
            <a:spAutoFit/>
          </a:bodyPr>
          <a:lstStyle/>
          <a:p>
            <a:r>
              <a:rPr lang="en-AU" sz="1000" i="1" noProof="0" dirty="0">
                <a:solidFill>
                  <a:srgbClr val="555555"/>
                </a:solidFill>
              </a:rPr>
              <a:t>Alert approval &amp; publication sequence · docs/architecture/sequence/alert-approval-publication.png</a:t>
            </a:r>
          </a:p>
        </p:txBody>
      </p:sp>
      <p:pic>
        <p:nvPicPr>
          <p:cNvPr id="6" name="Picture 5">
            <a:extLst>
              <a:ext uri="{FF2B5EF4-FFF2-40B4-BE49-F238E27FC236}">
                <a16:creationId xmlns:a16="http://schemas.microsoft.com/office/drawing/2014/main" id="{E315B037-A9DB-CAD1-23B2-8565F84B0102}"/>
              </a:ext>
            </a:extLst>
          </p:cNvPr>
          <p:cNvPicPr>
            <a:picLocks noChangeAspect="1"/>
          </p:cNvPicPr>
          <p:nvPr/>
        </p:nvPicPr>
        <p:blipFill>
          <a:blip r:embed="rId3"/>
          <a:stretch>
            <a:fillRect/>
          </a:stretch>
        </p:blipFill>
        <p:spPr>
          <a:xfrm>
            <a:off x="933254" y="1952111"/>
            <a:ext cx="10325491" cy="2953778"/>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noProof="0" dirty="0"/>
              <a:t>Demo recap - what you just saw, in numbers</a:t>
            </a:r>
          </a:p>
        </p:txBody>
      </p:sp>
      <p:sp>
        <p:nvSpPr>
          <p:cNvPr id="3" name="Text Placeholder 2"/>
          <p:cNvSpPr>
            <a:spLocks noGrp="1"/>
          </p:cNvSpPr>
          <p:nvPr>
            <p:ph type="body" sz="quarter" idx="10"/>
          </p:nvPr>
        </p:nvSpPr>
        <p:spPr>
          <a:xfrm>
            <a:off x="849547" y="3436166"/>
            <a:ext cx="3147226" cy="1661993"/>
          </a:xfrm>
        </p:spPr>
        <p:txBody>
          <a:bodyPr/>
          <a:lstStyle/>
          <a:p>
            <a:r>
              <a:rPr lang="en-AU" noProof="0" dirty="0"/>
              <a:t>Signal-to-recommendation: ~</a:t>
            </a:r>
            <a:r>
              <a:rPr lang="en-AU" dirty="0"/>
              <a:t>30</a:t>
            </a:r>
            <a:r>
              <a:rPr lang="en-AU" noProof="0" dirty="0"/>
              <a:t>s in this run. Recommendation-to-approval-request: &lt;5s. End-to-end signal-to-alert published: under 90s.</a:t>
            </a:r>
          </a:p>
        </p:txBody>
      </p:sp>
      <p:sp>
        <p:nvSpPr>
          <p:cNvPr id="4" name="Text Placeholder 3"/>
          <p:cNvSpPr>
            <a:spLocks noGrp="1"/>
          </p:cNvSpPr>
          <p:nvPr>
            <p:ph type="body" sz="quarter" idx="11"/>
          </p:nvPr>
        </p:nvSpPr>
        <p:spPr>
          <a:xfrm>
            <a:off x="8195227" y="3436166"/>
            <a:ext cx="3147226" cy="1938992"/>
          </a:xfrm>
        </p:spPr>
        <p:txBody>
          <a:bodyPr/>
          <a:lstStyle/>
          <a:p>
            <a:r>
              <a:rPr lang="en-AU" noProof="0" dirty="0"/>
              <a:t>Eight language channels generated, plus an </a:t>
            </a:r>
            <a:r>
              <a:rPr lang="en-AU" noProof="0" dirty="0" err="1"/>
              <a:t>Auslan</a:t>
            </a:r>
            <a:r>
              <a:rPr lang="en-AU" noProof="0" dirty="0"/>
              <a:t> asset reference. ~</a:t>
            </a:r>
            <a:r>
              <a:rPr lang="en-AU" dirty="0"/>
              <a:t>20</a:t>
            </a:r>
            <a:r>
              <a:rPr lang="en-AU" noProof="0" dirty="0"/>
              <a:t>,000 simulated Lithgow &amp; surrounds residents addressable via Emergency Alert + ABC broadcast feed.</a:t>
            </a:r>
          </a:p>
        </p:txBody>
      </p:sp>
      <p:sp>
        <p:nvSpPr>
          <p:cNvPr id="5" name="Text Placeholder 4"/>
          <p:cNvSpPr>
            <a:spLocks noGrp="1"/>
          </p:cNvSpPr>
          <p:nvPr>
            <p:ph type="body" sz="quarter" idx="26"/>
          </p:nvPr>
        </p:nvSpPr>
        <p:spPr/>
        <p:txBody>
          <a:bodyPr/>
          <a:lstStyle/>
          <a:p>
            <a:r>
              <a:rPr lang="en-AU" noProof="0" dirty="0"/>
              <a:t>Every recommendation cited its source signals. Every alert was signed by a named Incident Controller. Audit row was written and immutable before the HTTP 200 returned. Two-click traceability from any output back to source.</a:t>
            </a:r>
          </a:p>
        </p:txBody>
      </p:sp>
      <p:sp>
        <p:nvSpPr>
          <p:cNvPr id="6" name="Text Placeholder 5"/>
          <p:cNvSpPr>
            <a:spLocks noGrp="1"/>
          </p:cNvSpPr>
          <p:nvPr>
            <p:ph type="body" sz="quarter" idx="27"/>
          </p:nvPr>
        </p:nvSpPr>
        <p:spPr/>
        <p:txBody>
          <a:bodyPr/>
          <a:lstStyle/>
          <a:p>
            <a:r>
              <a:rPr lang="en-AU" noProof="0" dirty="0"/>
              <a:t>Speed</a:t>
            </a:r>
          </a:p>
        </p:txBody>
      </p:sp>
      <p:sp>
        <p:nvSpPr>
          <p:cNvPr id="7" name="Text Placeholder 6"/>
          <p:cNvSpPr>
            <a:spLocks noGrp="1"/>
          </p:cNvSpPr>
          <p:nvPr>
            <p:ph type="body" sz="quarter" idx="28"/>
          </p:nvPr>
        </p:nvSpPr>
        <p:spPr/>
        <p:txBody>
          <a:bodyPr/>
          <a:lstStyle/>
          <a:p>
            <a:r>
              <a:rPr lang="en-AU" noProof="0" dirty="0"/>
              <a:t>Reach</a:t>
            </a:r>
          </a:p>
        </p:txBody>
      </p:sp>
      <p:sp>
        <p:nvSpPr>
          <p:cNvPr id="8" name="Text Placeholder 7"/>
          <p:cNvSpPr>
            <a:spLocks noGrp="1"/>
          </p:cNvSpPr>
          <p:nvPr>
            <p:ph type="body" sz="quarter" idx="29"/>
          </p:nvPr>
        </p:nvSpPr>
        <p:spPr/>
        <p:txBody>
          <a:bodyPr/>
          <a:lstStyle/>
          <a:p>
            <a:r>
              <a:rPr lang="en-AU" noProof="0" dirty="0"/>
              <a:t>Trust</a:t>
            </a:r>
          </a:p>
        </p:txBody>
      </p:sp>
      <p:sp>
        <p:nvSpPr>
          <p:cNvPr id="20" name="Icon Lightning"/>
          <p:cNvSpPr/>
          <p:nvPr/>
        </p:nvSpPr>
        <p:spPr>
          <a:xfrm>
            <a:off x="1064008" y="2209458"/>
            <a:ext cx="180000" cy="300000"/>
          </a:xfrm>
          <a:prstGeom prst="lightningBolt">
            <a:avLst/>
          </a:prstGeom>
          <a:solidFill>
            <a:schemeClr val="accent1"/>
          </a:solidFill>
          <a:ln>
            <a:noFill/>
          </a:ln>
        </p:spPr>
        <p:txBody>
          <a:bodyPr/>
          <a:lstStyle/>
          <a:p>
            <a:endParaRPr lang="en-US"/>
          </a:p>
        </p:txBody>
      </p:sp>
      <p:sp>
        <p:nvSpPr>
          <p:cNvPr id="21" name="Icon Broadcast"/>
          <p:cNvSpPr/>
          <p:nvPr/>
        </p:nvSpPr>
        <p:spPr>
          <a:xfrm>
            <a:off x="4686848" y="2229458"/>
            <a:ext cx="280000" cy="280000"/>
          </a:xfrm>
          <a:custGeom>
            <a:avLst/>
            <a:gdLst/>
            <a:ahLst/>
            <a:cxnLst/>
            <a:rect l="0" t="0" r="0" b="0"/>
            <a:pathLst>
              <a:path w="10000" h="10000">
                <a:moveTo>
                  <a:pt x="4200" y="4200"/>
                </a:moveTo>
                <a:cubicBezTo>
                  <a:pt x="4200" y="3500"/>
                  <a:pt x="4700" y="3000"/>
                  <a:pt x="5000" y="3000"/>
                </a:cubicBezTo>
                <a:cubicBezTo>
                  <a:pt x="5300" y="3000"/>
                  <a:pt x="5800" y="3500"/>
                  <a:pt x="5800" y="4200"/>
                </a:cubicBezTo>
                <a:cubicBezTo>
                  <a:pt x="5800" y="4900"/>
                  <a:pt x="5300" y="5400"/>
                  <a:pt x="5000" y="5400"/>
                </a:cubicBezTo>
                <a:cubicBezTo>
                  <a:pt x="4700" y="5400"/>
                  <a:pt x="4200" y="4900"/>
                  <a:pt x="4200" y="4200"/>
                </a:cubicBezTo>
                <a:close/>
                <a:moveTo>
                  <a:pt x="2800" y="2000"/>
                </a:moveTo>
                <a:cubicBezTo>
                  <a:pt x="3200" y="1600"/>
                  <a:pt x="3200" y="1600"/>
                  <a:pt x="3600" y="2000"/>
                </a:cubicBezTo>
                <a:cubicBezTo>
                  <a:pt x="2800" y="2800"/>
                  <a:pt x="2800" y="5600"/>
                  <a:pt x="3600" y="6400"/>
                </a:cubicBezTo>
                <a:cubicBezTo>
                  <a:pt x="3200" y="6800"/>
                  <a:pt x="3200" y="6800"/>
                  <a:pt x="2800" y="6400"/>
                </a:cubicBezTo>
                <a:cubicBezTo>
                  <a:pt x="1600" y="5200"/>
                  <a:pt x="1600" y="3200"/>
                  <a:pt x="2800" y="2000"/>
                </a:cubicBezTo>
                <a:close/>
                <a:moveTo>
                  <a:pt x="7200" y="2000"/>
                </a:moveTo>
                <a:cubicBezTo>
                  <a:pt x="6800" y="1600"/>
                  <a:pt x="6800" y="1600"/>
                  <a:pt x="6400" y="2000"/>
                </a:cubicBezTo>
                <a:cubicBezTo>
                  <a:pt x="7200" y="2800"/>
                  <a:pt x="7200" y="5600"/>
                  <a:pt x="6400" y="6400"/>
                </a:cubicBezTo>
                <a:cubicBezTo>
                  <a:pt x="6800" y="6800"/>
                  <a:pt x="6800" y="6800"/>
                  <a:pt x="7200" y="6400"/>
                </a:cubicBezTo>
                <a:cubicBezTo>
                  <a:pt x="8400" y="5200"/>
                  <a:pt x="8400" y="3200"/>
                  <a:pt x="7200" y="2000"/>
                </a:cubicBezTo>
                <a:close/>
                <a:moveTo>
                  <a:pt x="4500" y="6200"/>
                </a:moveTo>
                <a:lnTo>
                  <a:pt x="5500" y="6200"/>
                </a:lnTo>
                <a:lnTo>
                  <a:pt x="5500" y="8500"/>
                </a:lnTo>
                <a:lnTo>
                  <a:pt x="4500" y="8500"/>
                </a:lnTo>
                <a:close/>
                <a:moveTo>
                  <a:pt x="4000" y="9000"/>
                </a:moveTo>
                <a:lnTo>
                  <a:pt x="6000" y="9000"/>
                </a:lnTo>
                <a:lnTo>
                  <a:pt x="5500" y="10000"/>
                </a:lnTo>
                <a:lnTo>
                  <a:pt x="4500" y="10000"/>
                </a:lnTo>
                <a:close/>
              </a:path>
            </a:pathLst>
          </a:custGeom>
          <a:solidFill>
            <a:schemeClr val="accent1"/>
          </a:solidFill>
          <a:ln>
            <a:noFill/>
          </a:ln>
        </p:spPr>
        <p:txBody>
          <a:bodyPr/>
          <a:lstStyle/>
          <a:p>
            <a:endParaRPr lang="en-US"/>
          </a:p>
        </p:txBody>
      </p:sp>
      <p:sp>
        <p:nvSpPr>
          <p:cNvPr id="22" name="Icon Shield"/>
          <p:cNvSpPr/>
          <p:nvPr/>
        </p:nvSpPr>
        <p:spPr>
          <a:xfrm>
            <a:off x="8379688" y="2199458"/>
            <a:ext cx="240000" cy="320000"/>
          </a:xfrm>
          <a:custGeom>
            <a:avLst/>
            <a:gdLst/>
            <a:ahLst/>
            <a:cxnLst/>
            <a:rect l="0" t="0" r="0" b="0"/>
            <a:pathLst>
              <a:path w="10000" h="12000">
                <a:moveTo>
                  <a:pt x="5000" y="0"/>
                </a:moveTo>
                <a:lnTo>
                  <a:pt x="10000" y="500"/>
                </a:lnTo>
                <a:lnTo>
                  <a:pt x="10000" y="7000"/>
                </a:lnTo>
                <a:lnTo>
                  <a:pt x="5000" y="12000"/>
                </a:lnTo>
                <a:lnTo>
                  <a:pt x="0" y="7000"/>
                </a:lnTo>
                <a:lnTo>
                  <a:pt x="0" y="500"/>
                </a:lnTo>
                <a:close/>
              </a:path>
            </a:pathLst>
          </a:custGeom>
          <a:solidFill>
            <a:schemeClr val="accent1"/>
          </a:solidFill>
          <a:ln>
            <a:noFill/>
          </a:ln>
        </p:spPr>
        <p:txBody>
          <a:bodyPr/>
          <a:lstStyle/>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8263" y="457200"/>
            <a:ext cx="11018520" cy="492443"/>
          </a:xfrm>
        </p:spPr>
        <p:txBody>
          <a:bodyPr/>
          <a:lstStyle/>
          <a:p>
            <a:r>
              <a:rPr lang="en-AU" noProof="0" dirty="0"/>
              <a:t>Security baseline - Zero Trust</a:t>
            </a:r>
          </a:p>
        </p:txBody>
      </p:sp>
      <p:sp>
        <p:nvSpPr>
          <p:cNvPr id="5" name="TextBox 4"/>
          <p:cNvSpPr txBox="1"/>
          <p:nvPr/>
        </p:nvSpPr>
        <p:spPr>
          <a:xfrm>
            <a:off x="1097280" y="6263640"/>
            <a:ext cx="9966960" cy="411480"/>
          </a:xfrm>
          <a:prstGeom prst="rect">
            <a:avLst/>
          </a:prstGeom>
          <a:noFill/>
        </p:spPr>
        <p:txBody>
          <a:bodyPr wrap="none">
            <a:spAutoFit/>
          </a:bodyPr>
          <a:lstStyle/>
          <a:p>
            <a:r>
              <a:rPr lang="en-AU" sz="1000" i="1" noProof="0" dirty="0">
                <a:solidFill>
                  <a:srgbClr val="555555"/>
                </a:solidFill>
              </a:rPr>
              <a:t>Trust boundary · AU residency &amp; data classification · docs/architecture/security/</a:t>
            </a:r>
          </a:p>
        </p:txBody>
      </p:sp>
      <p:pic>
        <p:nvPicPr>
          <p:cNvPr id="9" name="Picture 8">
            <a:extLst>
              <a:ext uri="{FF2B5EF4-FFF2-40B4-BE49-F238E27FC236}">
                <a16:creationId xmlns:a16="http://schemas.microsoft.com/office/drawing/2014/main" id="{E563ADD5-08D8-18AA-C327-466513C20A30}"/>
              </a:ext>
            </a:extLst>
          </p:cNvPr>
          <p:cNvPicPr>
            <a:picLocks noChangeAspect="1"/>
          </p:cNvPicPr>
          <p:nvPr/>
        </p:nvPicPr>
        <p:blipFill>
          <a:blip r:embed="rId3"/>
          <a:stretch>
            <a:fillRect/>
          </a:stretch>
        </p:blipFill>
        <p:spPr>
          <a:xfrm>
            <a:off x="1097280" y="1730942"/>
            <a:ext cx="10234550" cy="3329539"/>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AB29E-7B36-8D16-D34A-76B9EB82A0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9418D6-CEFC-7C47-2DCC-E9D892264AB7}"/>
              </a:ext>
            </a:extLst>
          </p:cNvPr>
          <p:cNvSpPr>
            <a:spLocks noGrp="1"/>
          </p:cNvSpPr>
          <p:nvPr>
            <p:ph type="title"/>
          </p:nvPr>
        </p:nvSpPr>
        <p:spPr/>
        <p:txBody>
          <a:bodyPr/>
          <a:lstStyle/>
          <a:p>
            <a:r>
              <a:rPr lang="en-AU" noProof="0" dirty="0"/>
              <a:t>AI Governance</a:t>
            </a:r>
          </a:p>
        </p:txBody>
      </p:sp>
      <p:sp>
        <p:nvSpPr>
          <p:cNvPr id="3" name="Text Placeholder 2">
            <a:extLst>
              <a:ext uri="{FF2B5EF4-FFF2-40B4-BE49-F238E27FC236}">
                <a16:creationId xmlns:a16="http://schemas.microsoft.com/office/drawing/2014/main" id="{F30B92AF-344C-3C63-4E3C-0AAAAED95DA4}"/>
              </a:ext>
            </a:extLst>
          </p:cNvPr>
          <p:cNvSpPr>
            <a:spLocks noGrp="1"/>
          </p:cNvSpPr>
          <p:nvPr>
            <p:ph type="body" sz="quarter" idx="10"/>
          </p:nvPr>
        </p:nvSpPr>
        <p:spPr>
          <a:xfrm>
            <a:off x="849547" y="3436166"/>
            <a:ext cx="3147226" cy="1717393"/>
          </a:xfrm>
        </p:spPr>
        <p:txBody>
          <a:bodyPr/>
          <a:lstStyle/>
          <a:p>
            <a:pPr marL="285750" indent="-285750">
              <a:buFont typeface="Arial" panose="020B0604020202020204" pitchFamily="34" charset="0"/>
              <a:buChar char="•"/>
            </a:pPr>
            <a:r>
              <a:rPr lang="en-GB" noProof="0" dirty="0"/>
              <a:t>Six Principles and five non-negotiables in the Constitution</a:t>
            </a:r>
          </a:p>
          <a:p>
            <a:pPr marL="285750" indent="-285750">
              <a:buFont typeface="Arial" panose="020B0604020202020204" pitchFamily="34" charset="0"/>
              <a:buChar char="•"/>
            </a:pPr>
            <a:r>
              <a:rPr lang="en-GB" noProof="0" dirty="0"/>
              <a:t>CI safety-guardrails </a:t>
            </a:r>
            <a:r>
              <a:rPr lang="en-GB" i="1" noProof="0" dirty="0"/>
              <a:t>fail</a:t>
            </a:r>
            <a:r>
              <a:rPr lang="en-GB" noProof="0" dirty="0"/>
              <a:t> any PR that weakens an AI rail before it can merge</a:t>
            </a:r>
            <a:endParaRPr lang="en-AU" noProof="0" dirty="0"/>
          </a:p>
        </p:txBody>
      </p:sp>
      <p:sp>
        <p:nvSpPr>
          <p:cNvPr id="4" name="Text Placeholder 3">
            <a:extLst>
              <a:ext uri="{FF2B5EF4-FFF2-40B4-BE49-F238E27FC236}">
                <a16:creationId xmlns:a16="http://schemas.microsoft.com/office/drawing/2014/main" id="{E168DFBA-A75C-059E-2D92-10EDE10A387A}"/>
              </a:ext>
            </a:extLst>
          </p:cNvPr>
          <p:cNvSpPr>
            <a:spLocks noGrp="1"/>
          </p:cNvSpPr>
          <p:nvPr>
            <p:ph type="body" sz="quarter" idx="11"/>
          </p:nvPr>
        </p:nvSpPr>
        <p:spPr>
          <a:xfrm>
            <a:off x="8195227" y="3436166"/>
            <a:ext cx="3147226" cy="2215991"/>
          </a:xfrm>
        </p:spPr>
        <p:txBody>
          <a:bodyPr/>
          <a:lstStyle/>
          <a:p>
            <a:r>
              <a:rPr lang="en-GB" dirty="0"/>
              <a:t>CI </a:t>
            </a:r>
            <a:r>
              <a:rPr lang="en-GB" noProof="0" dirty="0"/>
              <a:t>Evidence Harness and the append-only Cosmos + 7-year Locked-Blob audit make the platform </a:t>
            </a:r>
            <a:r>
              <a:rPr lang="en-GB" i="1" noProof="0" dirty="0"/>
              <a:t>audit-ready</a:t>
            </a:r>
            <a:r>
              <a:rPr lang="en-GB" noProof="0" dirty="0"/>
              <a:t> on day one against ISO/IEC 42001, Australia's Voluntary AI Safety Standard 2024, and NIST AI RMF</a:t>
            </a:r>
            <a:endParaRPr lang="en-AU" noProof="0" dirty="0"/>
          </a:p>
        </p:txBody>
      </p:sp>
      <p:sp>
        <p:nvSpPr>
          <p:cNvPr id="5" name="Text Placeholder 4">
            <a:extLst>
              <a:ext uri="{FF2B5EF4-FFF2-40B4-BE49-F238E27FC236}">
                <a16:creationId xmlns:a16="http://schemas.microsoft.com/office/drawing/2014/main" id="{3E178B7F-1CA2-F82B-696D-7D1B904F9A3D}"/>
              </a:ext>
            </a:extLst>
          </p:cNvPr>
          <p:cNvSpPr>
            <a:spLocks noGrp="1"/>
          </p:cNvSpPr>
          <p:nvPr>
            <p:ph type="body" sz="quarter" idx="26"/>
          </p:nvPr>
        </p:nvSpPr>
        <p:spPr>
          <a:xfrm>
            <a:off x="4522387" y="3436166"/>
            <a:ext cx="3147226" cy="1932837"/>
          </a:xfrm>
        </p:spPr>
        <p:txBody>
          <a:bodyPr/>
          <a:lstStyle/>
          <a:p>
            <a:r>
              <a:rPr lang="en-GB" noProof="0" dirty="0"/>
              <a:t>Foundry Content Safety + mandatory RAG citations + reflection critique + 7-tier trust banding + named human approval mean </a:t>
            </a:r>
            <a:r>
              <a:rPr lang="en-GB" i="1" noProof="0" dirty="0"/>
              <a:t>no</a:t>
            </a:r>
            <a:r>
              <a:rPr lang="en-GB" noProof="0" dirty="0"/>
              <a:t> AI action publishes </a:t>
            </a:r>
            <a:r>
              <a:rPr lang="en-GB" i="1" noProof="0" dirty="0"/>
              <a:t>without</a:t>
            </a:r>
            <a:r>
              <a:rPr lang="en-GB" noProof="0" dirty="0"/>
              <a:t> provenance and a person</a:t>
            </a:r>
            <a:endParaRPr lang="en-AU" sz="1600" noProof="0" dirty="0"/>
          </a:p>
        </p:txBody>
      </p:sp>
      <p:sp>
        <p:nvSpPr>
          <p:cNvPr id="6" name="Text Placeholder 5">
            <a:extLst>
              <a:ext uri="{FF2B5EF4-FFF2-40B4-BE49-F238E27FC236}">
                <a16:creationId xmlns:a16="http://schemas.microsoft.com/office/drawing/2014/main" id="{0D37EBA6-BB17-B2F3-B942-C9AC7AEE0517}"/>
              </a:ext>
            </a:extLst>
          </p:cNvPr>
          <p:cNvSpPr>
            <a:spLocks noGrp="1"/>
          </p:cNvSpPr>
          <p:nvPr>
            <p:ph type="body" sz="quarter" idx="27"/>
          </p:nvPr>
        </p:nvSpPr>
        <p:spPr/>
        <p:txBody>
          <a:bodyPr/>
          <a:lstStyle/>
          <a:p>
            <a:r>
              <a:rPr lang="en-AU" noProof="0" dirty="0"/>
              <a:t>Encoded Constitution</a:t>
            </a:r>
          </a:p>
        </p:txBody>
      </p:sp>
      <p:sp>
        <p:nvSpPr>
          <p:cNvPr id="7" name="Text Placeholder 6">
            <a:extLst>
              <a:ext uri="{FF2B5EF4-FFF2-40B4-BE49-F238E27FC236}">
                <a16:creationId xmlns:a16="http://schemas.microsoft.com/office/drawing/2014/main" id="{694085DC-ADB8-41CA-698C-93E232EDEDDD}"/>
              </a:ext>
            </a:extLst>
          </p:cNvPr>
          <p:cNvSpPr>
            <a:spLocks noGrp="1"/>
          </p:cNvSpPr>
          <p:nvPr>
            <p:ph type="body" sz="quarter" idx="28"/>
          </p:nvPr>
        </p:nvSpPr>
        <p:spPr/>
        <p:txBody>
          <a:bodyPr/>
          <a:lstStyle/>
          <a:p>
            <a:r>
              <a:rPr lang="en-AU" noProof="0" dirty="0"/>
              <a:t>Layered Guardrails</a:t>
            </a:r>
          </a:p>
        </p:txBody>
      </p:sp>
      <p:sp>
        <p:nvSpPr>
          <p:cNvPr id="8" name="Text Placeholder 7">
            <a:extLst>
              <a:ext uri="{FF2B5EF4-FFF2-40B4-BE49-F238E27FC236}">
                <a16:creationId xmlns:a16="http://schemas.microsoft.com/office/drawing/2014/main" id="{2ED121E2-E52F-3807-4C4A-D08A80DD323F}"/>
              </a:ext>
            </a:extLst>
          </p:cNvPr>
          <p:cNvSpPr>
            <a:spLocks noGrp="1"/>
          </p:cNvSpPr>
          <p:nvPr>
            <p:ph type="body" sz="quarter" idx="29"/>
          </p:nvPr>
        </p:nvSpPr>
        <p:spPr>
          <a:xfrm>
            <a:off x="8195227" y="2864459"/>
            <a:ext cx="3740102" cy="353943"/>
          </a:xfrm>
        </p:spPr>
        <p:txBody>
          <a:bodyPr/>
          <a:lstStyle/>
          <a:p>
            <a:r>
              <a:rPr lang="en-AU" sz="2300" noProof="0" dirty="0"/>
              <a:t>Measured Accountability</a:t>
            </a:r>
          </a:p>
        </p:txBody>
      </p:sp>
      <p:sp>
        <p:nvSpPr>
          <p:cNvPr id="20" name="Icon Arrow Right">
            <a:extLst>
              <a:ext uri="{FF2B5EF4-FFF2-40B4-BE49-F238E27FC236}">
                <a16:creationId xmlns:a16="http://schemas.microsoft.com/office/drawing/2014/main" id="{DDDBD88B-A73D-9CE8-8C07-4F5130055782}"/>
              </a:ext>
            </a:extLst>
          </p:cNvPr>
          <p:cNvSpPr/>
          <p:nvPr/>
        </p:nvSpPr>
        <p:spPr>
          <a:xfrm>
            <a:off x="984008" y="2299458"/>
            <a:ext cx="240000" cy="80000"/>
          </a:xfrm>
          <a:prstGeom prst="rightArrow">
            <a:avLst>
              <a:gd name="adj1" fmla="val 50000"/>
              <a:gd name="adj2" fmla="val 40000"/>
            </a:avLst>
          </a:prstGeom>
          <a:solidFill>
            <a:schemeClr val="accent1"/>
          </a:solidFill>
          <a:ln>
            <a:noFill/>
          </a:ln>
        </p:spPr>
        <p:txBody>
          <a:bodyPr/>
          <a:lstStyle/>
          <a:p>
            <a:endParaRPr lang="en-US"/>
          </a:p>
        </p:txBody>
      </p:sp>
      <p:sp>
        <p:nvSpPr>
          <p:cNvPr id="21" name="Icon Arrow Left">
            <a:extLst>
              <a:ext uri="{FF2B5EF4-FFF2-40B4-BE49-F238E27FC236}">
                <a16:creationId xmlns:a16="http://schemas.microsoft.com/office/drawing/2014/main" id="{ACF6E9B2-2895-B88F-3DD4-C89BACBF5540}"/>
              </a:ext>
            </a:extLst>
          </p:cNvPr>
          <p:cNvSpPr/>
          <p:nvPr/>
        </p:nvSpPr>
        <p:spPr>
          <a:xfrm>
            <a:off x="1084008" y="2419458"/>
            <a:ext cx="240000" cy="80000"/>
          </a:xfrm>
          <a:prstGeom prst="leftArrow">
            <a:avLst>
              <a:gd name="adj1" fmla="val 50000"/>
              <a:gd name="adj2" fmla="val 40000"/>
            </a:avLst>
          </a:prstGeom>
          <a:solidFill>
            <a:schemeClr val="accent1"/>
          </a:solidFill>
          <a:ln>
            <a:noFill/>
          </a:ln>
        </p:spPr>
        <p:txBody>
          <a:bodyPr/>
          <a:lstStyle/>
          <a:p>
            <a:endParaRPr lang="en-US"/>
          </a:p>
        </p:txBody>
      </p:sp>
      <p:sp>
        <p:nvSpPr>
          <p:cNvPr id="22" name="Icon Shield">
            <a:extLst>
              <a:ext uri="{FF2B5EF4-FFF2-40B4-BE49-F238E27FC236}">
                <a16:creationId xmlns:a16="http://schemas.microsoft.com/office/drawing/2014/main" id="{41E701EF-B633-93A3-8FF4-4635BEFCB1BE}"/>
              </a:ext>
            </a:extLst>
          </p:cNvPr>
          <p:cNvSpPr/>
          <p:nvPr/>
        </p:nvSpPr>
        <p:spPr>
          <a:xfrm>
            <a:off x="4706848" y="2229458"/>
            <a:ext cx="240000" cy="340000"/>
          </a:xfrm>
          <a:custGeom>
            <a:avLst/>
            <a:gdLst/>
            <a:ahLst/>
            <a:cxnLst/>
            <a:rect l="0" t="0" r="0" b="0"/>
            <a:pathLst>
              <a:path w="10000" h="12000">
                <a:moveTo>
                  <a:pt x="5000" y="0"/>
                </a:moveTo>
                <a:lnTo>
                  <a:pt x="10000" y="500"/>
                </a:lnTo>
                <a:lnTo>
                  <a:pt x="10000" y="7000"/>
                </a:lnTo>
                <a:lnTo>
                  <a:pt x="5000" y="12000"/>
                </a:lnTo>
                <a:lnTo>
                  <a:pt x="0" y="7000"/>
                </a:lnTo>
                <a:lnTo>
                  <a:pt x="0" y="500"/>
                </a:lnTo>
                <a:close/>
              </a:path>
            </a:pathLst>
          </a:custGeom>
          <a:solidFill>
            <a:schemeClr val="accent1"/>
          </a:solidFill>
          <a:ln>
            <a:noFill/>
          </a:ln>
        </p:spPr>
        <p:txBody>
          <a:bodyPr/>
          <a:lstStyle/>
          <a:p>
            <a:endParaRPr lang="en-US"/>
          </a:p>
        </p:txBody>
      </p:sp>
      <p:sp>
        <p:nvSpPr>
          <p:cNvPr id="23" name="Icon Bar Tall">
            <a:extLst>
              <a:ext uri="{FF2B5EF4-FFF2-40B4-BE49-F238E27FC236}">
                <a16:creationId xmlns:a16="http://schemas.microsoft.com/office/drawing/2014/main" id="{414A8855-6338-F23C-BB1C-086080CFE6E4}"/>
              </a:ext>
            </a:extLst>
          </p:cNvPr>
          <p:cNvSpPr/>
          <p:nvPr/>
        </p:nvSpPr>
        <p:spPr>
          <a:xfrm>
            <a:off x="8374688" y="2259458"/>
            <a:ext cx="65000" cy="280000"/>
          </a:xfrm>
          <a:prstGeom prst="roundRect">
            <a:avLst>
              <a:gd name="adj" fmla="val 10000"/>
            </a:avLst>
          </a:prstGeom>
          <a:solidFill>
            <a:schemeClr val="accent1"/>
          </a:solidFill>
          <a:ln>
            <a:noFill/>
          </a:ln>
        </p:spPr>
        <p:txBody>
          <a:bodyPr/>
          <a:lstStyle/>
          <a:p>
            <a:endParaRPr lang="en-US"/>
          </a:p>
        </p:txBody>
      </p:sp>
      <p:sp>
        <p:nvSpPr>
          <p:cNvPr id="24" name="Icon Bar Medium">
            <a:extLst>
              <a:ext uri="{FF2B5EF4-FFF2-40B4-BE49-F238E27FC236}">
                <a16:creationId xmlns:a16="http://schemas.microsoft.com/office/drawing/2014/main" id="{E021D2F6-CA66-E18A-764F-4E95D0D2EEEB}"/>
              </a:ext>
            </a:extLst>
          </p:cNvPr>
          <p:cNvSpPr/>
          <p:nvPr/>
        </p:nvSpPr>
        <p:spPr>
          <a:xfrm>
            <a:off x="8459688" y="2339458"/>
            <a:ext cx="65000" cy="200000"/>
          </a:xfrm>
          <a:prstGeom prst="roundRect">
            <a:avLst>
              <a:gd name="adj" fmla="val 10000"/>
            </a:avLst>
          </a:prstGeom>
          <a:solidFill>
            <a:schemeClr val="accent1"/>
          </a:solidFill>
          <a:ln>
            <a:noFill/>
          </a:ln>
        </p:spPr>
        <p:txBody>
          <a:bodyPr/>
          <a:lstStyle/>
          <a:p>
            <a:endParaRPr lang="en-US"/>
          </a:p>
        </p:txBody>
      </p:sp>
      <p:sp>
        <p:nvSpPr>
          <p:cNvPr id="25" name="Icon Bar Short">
            <a:extLst>
              <a:ext uri="{FF2B5EF4-FFF2-40B4-BE49-F238E27FC236}">
                <a16:creationId xmlns:a16="http://schemas.microsoft.com/office/drawing/2014/main" id="{72C422A3-C063-631A-03F3-4985365B5EAE}"/>
              </a:ext>
            </a:extLst>
          </p:cNvPr>
          <p:cNvSpPr/>
          <p:nvPr/>
        </p:nvSpPr>
        <p:spPr>
          <a:xfrm>
            <a:off x="8544688" y="2419458"/>
            <a:ext cx="65000" cy="120000"/>
          </a:xfrm>
          <a:prstGeom prst="roundRect">
            <a:avLst>
              <a:gd name="adj" fmla="val 10000"/>
            </a:avLst>
          </a:prstGeom>
          <a:solidFill>
            <a:schemeClr val="accent1"/>
          </a:solidFill>
          <a:ln>
            <a:noFill/>
          </a:ln>
        </p:spPr>
        <p:txBody>
          <a:bodyPr/>
          <a:lstStyle/>
          <a:p>
            <a:endParaRPr lang="en-US"/>
          </a:p>
        </p:txBody>
      </p:sp>
    </p:spTree>
    <p:extLst>
      <p:ext uri="{BB962C8B-B14F-4D97-AF65-F5344CB8AC3E}">
        <p14:creationId xmlns:p14="http://schemas.microsoft.com/office/powerpoint/2010/main" val="9560073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8263" y="457200"/>
            <a:ext cx="11018520" cy="492443"/>
          </a:xfrm>
        </p:spPr>
        <p:txBody>
          <a:bodyPr/>
          <a:lstStyle/>
          <a:p>
            <a:r>
              <a:rPr lang="en-AU" noProof="0" dirty="0"/>
              <a:t>Governance - append-only audit, dashboard for the regulator</a:t>
            </a:r>
          </a:p>
        </p:txBody>
      </p:sp>
      <p:sp>
        <p:nvSpPr>
          <p:cNvPr id="4" name="TextBox 3"/>
          <p:cNvSpPr txBox="1"/>
          <p:nvPr/>
        </p:nvSpPr>
        <p:spPr>
          <a:xfrm>
            <a:off x="1097280" y="6263640"/>
            <a:ext cx="9966960" cy="411480"/>
          </a:xfrm>
          <a:prstGeom prst="rect">
            <a:avLst/>
          </a:prstGeom>
          <a:noFill/>
        </p:spPr>
        <p:txBody>
          <a:bodyPr wrap="none">
            <a:spAutoFit/>
          </a:bodyPr>
          <a:lstStyle/>
          <a:p>
            <a:r>
              <a:rPr lang="en-AU" sz="1000" i="1" noProof="0" dirty="0">
                <a:solidFill>
                  <a:srgbClr val="555555"/>
                </a:solidFill>
              </a:rPr>
              <a:t>RBAC matrix · docs/architecture/security/rbac-matrix.png</a:t>
            </a:r>
          </a:p>
        </p:txBody>
      </p:sp>
      <p:pic>
        <p:nvPicPr>
          <p:cNvPr id="6" name="Picture 5">
            <a:extLst>
              <a:ext uri="{FF2B5EF4-FFF2-40B4-BE49-F238E27FC236}">
                <a16:creationId xmlns:a16="http://schemas.microsoft.com/office/drawing/2014/main" id="{0E3C2E59-F2DF-C337-BC6D-149A8BF195E9}"/>
              </a:ext>
            </a:extLst>
          </p:cNvPr>
          <p:cNvPicPr>
            <a:picLocks noChangeAspect="1"/>
          </p:cNvPicPr>
          <p:nvPr/>
        </p:nvPicPr>
        <p:blipFill>
          <a:blip r:embed="rId3"/>
          <a:stretch>
            <a:fillRect/>
          </a:stretch>
        </p:blipFill>
        <p:spPr>
          <a:xfrm>
            <a:off x="861521" y="1422784"/>
            <a:ext cx="10468957" cy="4602631"/>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noProof="0" dirty="0"/>
              <a:t>Privacy, accessibility &amp; cultural authority</a:t>
            </a:r>
          </a:p>
        </p:txBody>
      </p:sp>
      <p:sp>
        <p:nvSpPr>
          <p:cNvPr id="3" name="Text Placeholder 2"/>
          <p:cNvSpPr>
            <a:spLocks noGrp="1"/>
          </p:cNvSpPr>
          <p:nvPr>
            <p:ph type="body" sz="quarter" idx="10"/>
          </p:nvPr>
        </p:nvSpPr>
        <p:spPr>
          <a:xfrm>
            <a:off x="4644137" y="1613118"/>
            <a:ext cx="6959600" cy="2800767"/>
          </a:xfrm>
        </p:spPr>
        <p:txBody>
          <a:bodyPr/>
          <a:lstStyle/>
          <a:p>
            <a:r>
              <a:rPr lang="en-AU" b="1" noProof="0" dirty="0"/>
              <a:t>Privacy</a:t>
            </a:r>
            <a:r>
              <a:rPr lang="en-AU" noProof="0" dirty="0"/>
              <a:t>: every PII field has a classification tag. The model gateway masks or denies PII transit on prompts that leave AU under the bounded carve-out. Privacy Act 1988 compliance tested at the contract level.</a:t>
            </a:r>
          </a:p>
          <a:p>
            <a:endParaRPr lang="en-AU" noProof="0" dirty="0"/>
          </a:p>
          <a:p>
            <a:r>
              <a:rPr lang="en-AU" b="1" noProof="0" dirty="0"/>
              <a:t>Accessibility</a:t>
            </a:r>
            <a:r>
              <a:rPr lang="en-AU" noProof="0" dirty="0"/>
              <a:t>: WCAG 2.2 AA on every render. </a:t>
            </a:r>
            <a:r>
              <a:rPr lang="en-AU" noProof="0" dirty="0" err="1"/>
              <a:t>Auslan</a:t>
            </a:r>
            <a:r>
              <a:rPr lang="en-AU" noProof="0" dirty="0"/>
              <a:t> video assets are first-class content. Plain English at Grade 8 reading level enforced by the Communication agent.</a:t>
            </a:r>
          </a:p>
          <a:p>
            <a:endParaRPr lang="en-AU" noProof="0" dirty="0"/>
          </a:p>
          <a:p>
            <a:r>
              <a:rPr lang="en-AU" b="1" noProof="0" dirty="0"/>
              <a:t>Cultural authority</a:t>
            </a:r>
            <a:r>
              <a:rPr lang="en-AU" noProof="0" dirty="0"/>
              <a:t>: Indigenous Relations sector agent consulted for any incident touching declared Country. Aboriginal &amp; Torres Strait Islander language coverage per jurisdiction. Culturally-safe content review before publish.</a:t>
            </a:r>
          </a:p>
          <a:p>
            <a:endParaRPr lang="en-AU" noProof="0" dirty="0"/>
          </a:p>
          <a:p>
            <a:r>
              <a:rPr lang="en-AU" b="1" noProof="0" dirty="0"/>
              <a:t>Vulnerable populations</a:t>
            </a:r>
            <a:r>
              <a:rPr lang="en-AU" noProof="0" dirty="0"/>
              <a:t> - disability, CALD, elderly, transient, institutional - are explicit pre-processing constraints, not a checkbox.</a:t>
            </a:r>
          </a:p>
        </p:txBody>
      </p:sp>
      <p:sp>
        <p:nvSpPr>
          <p:cNvPr id="20" name="Icon Lock"/>
          <p:cNvSpPr/>
          <p:nvPr/>
        </p:nvSpPr>
        <p:spPr>
          <a:xfrm>
            <a:off x="4866019" y="1093103"/>
            <a:ext cx="220000" cy="300000"/>
          </a:xfrm>
          <a:custGeom>
            <a:avLst/>
            <a:gdLst/>
            <a:ahLst/>
            <a:cxnLst/>
            <a:rect l="0" t="0" r="0" b="0"/>
            <a:pathLst>
              <a:path w="10000" h="14000">
                <a:moveTo>
                  <a:pt x="2500" y="6000"/>
                </a:moveTo>
                <a:lnTo>
                  <a:pt x="2500" y="4000"/>
                </a:lnTo>
                <a:cubicBezTo>
                  <a:pt x="2500" y="1000"/>
                  <a:pt x="7500" y="1000"/>
                  <a:pt x="7500" y="4000"/>
                </a:cubicBezTo>
                <a:lnTo>
                  <a:pt x="7500" y="6000"/>
                </a:lnTo>
                <a:lnTo>
                  <a:pt x="6000" y="6000"/>
                </a:lnTo>
                <a:lnTo>
                  <a:pt x="6000" y="4200"/>
                </a:lnTo>
                <a:cubicBezTo>
                  <a:pt x="6000" y="2500"/>
                  <a:pt x="4000" y="2500"/>
                  <a:pt x="4000" y="4200"/>
                </a:cubicBezTo>
                <a:lnTo>
                  <a:pt x="4000" y="6000"/>
                </a:lnTo>
                <a:close/>
                <a:moveTo>
                  <a:pt x="1000" y="6000"/>
                </a:moveTo>
                <a:lnTo>
                  <a:pt x="9000" y="6000"/>
                </a:lnTo>
                <a:lnTo>
                  <a:pt x="9000" y="14000"/>
                </a:lnTo>
                <a:lnTo>
                  <a:pt x="1000" y="14000"/>
                </a:lnTo>
                <a:close/>
              </a:path>
            </a:pathLst>
          </a:custGeom>
          <a:solidFill>
            <a:schemeClr val="accent1"/>
          </a:solidFill>
          <a:ln>
            <a:noFill/>
          </a:ln>
        </p:spPr>
        <p:txBody>
          <a:bodyPr/>
          <a:lstStyle/>
          <a:p>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noProof="0" dirty="0"/>
              <a:t>Risks &amp; trade-offs - what could go wrong, what we chose</a:t>
            </a:r>
          </a:p>
        </p:txBody>
      </p:sp>
      <p:sp>
        <p:nvSpPr>
          <p:cNvPr id="3" name="Text Placeholder 2"/>
          <p:cNvSpPr>
            <a:spLocks noGrp="1"/>
          </p:cNvSpPr>
          <p:nvPr>
            <p:ph type="body" sz="quarter" idx="10"/>
          </p:nvPr>
        </p:nvSpPr>
        <p:spPr>
          <a:xfrm>
            <a:off x="849547" y="3226097"/>
            <a:ext cx="3147226" cy="3551742"/>
          </a:xfrm>
        </p:spPr>
        <p:txBody>
          <a:bodyPr/>
          <a:lstStyle/>
          <a:p>
            <a:r>
              <a:rPr lang="en-AU" sz="1700" noProof="0" dirty="0"/>
              <a:t>LLM hallucination in life-safety contexts. </a:t>
            </a:r>
          </a:p>
          <a:p>
            <a:endParaRPr lang="en-AU" sz="1700" noProof="0" dirty="0"/>
          </a:p>
          <a:p>
            <a:r>
              <a:rPr lang="en-AU" sz="1400" b="1" noProof="0" dirty="0"/>
              <a:t>Mitigation:</a:t>
            </a:r>
            <a:r>
              <a:rPr lang="en-AU" sz="1400" noProof="0" dirty="0"/>
              <a:t> </a:t>
            </a:r>
          </a:p>
          <a:p>
            <a:pPr marL="285750" indent="-285750">
              <a:buFont typeface="Arial" panose="020B0604020202020204" pitchFamily="34" charset="0"/>
              <a:buChar char="•"/>
            </a:pPr>
            <a:r>
              <a:rPr lang="en-AU" sz="1400" noProof="0" dirty="0"/>
              <a:t>Foundry-grounded RAG against AIDR corpus</a:t>
            </a:r>
            <a:endParaRPr lang="en-AU" sz="1400" dirty="0"/>
          </a:p>
          <a:p>
            <a:pPr marL="285750" indent="-285750">
              <a:buFont typeface="Arial" panose="020B0604020202020204" pitchFamily="34" charset="0"/>
              <a:buChar char="•"/>
            </a:pPr>
            <a:r>
              <a:rPr lang="en-AU" sz="1400" noProof="0" dirty="0"/>
              <a:t>mandatory citations</a:t>
            </a:r>
            <a:endParaRPr lang="en-AU" sz="1400" dirty="0"/>
          </a:p>
          <a:p>
            <a:pPr marL="285750" indent="-285750">
              <a:buFont typeface="Arial" panose="020B0604020202020204" pitchFamily="34" charset="0"/>
              <a:buChar char="•"/>
            </a:pPr>
            <a:r>
              <a:rPr lang="en-AU" sz="1400" noProof="0" dirty="0"/>
              <a:t>reflection guardrail</a:t>
            </a:r>
            <a:endParaRPr lang="en-AU" sz="1400" dirty="0"/>
          </a:p>
          <a:p>
            <a:pPr marL="285750" indent="-285750">
              <a:buFont typeface="Arial" panose="020B0604020202020204" pitchFamily="34" charset="0"/>
              <a:buChar char="•"/>
            </a:pPr>
            <a:r>
              <a:rPr lang="en-AU" sz="1400" noProof="0" dirty="0"/>
              <a:t>3-tier fallback to template</a:t>
            </a:r>
            <a:endParaRPr lang="en-AU" sz="1400" dirty="0"/>
          </a:p>
          <a:p>
            <a:pPr marL="285750" indent="-285750">
              <a:buFont typeface="Arial" panose="020B0604020202020204" pitchFamily="34" charset="0"/>
              <a:buChar char="•"/>
            </a:pPr>
            <a:r>
              <a:rPr lang="en-AU" sz="1400" noProof="0" dirty="0"/>
              <a:t>named human approval before any public-facing action. </a:t>
            </a:r>
          </a:p>
          <a:p>
            <a:pPr marL="285750" indent="-285750">
              <a:buFont typeface="Arial" panose="020B0604020202020204" pitchFamily="34" charset="0"/>
              <a:buChar char="•"/>
            </a:pPr>
            <a:endParaRPr lang="en-AU" sz="1400" noProof="0" dirty="0"/>
          </a:p>
          <a:p>
            <a:r>
              <a:rPr lang="en-AU" sz="1400" b="1" noProof="0" dirty="0"/>
              <a:t>Trade-off:</a:t>
            </a:r>
            <a:r>
              <a:rPr lang="en-AU" sz="1400" noProof="0" dirty="0"/>
              <a:t> latency vs trust, we chose trust.</a:t>
            </a:r>
            <a:endParaRPr lang="en-AU" sz="1700" noProof="0" dirty="0"/>
          </a:p>
        </p:txBody>
      </p:sp>
      <p:sp>
        <p:nvSpPr>
          <p:cNvPr id="4" name="Text Placeholder 3"/>
          <p:cNvSpPr>
            <a:spLocks noGrp="1"/>
          </p:cNvSpPr>
          <p:nvPr>
            <p:ph type="body" sz="quarter" idx="11"/>
          </p:nvPr>
        </p:nvSpPr>
        <p:spPr>
          <a:xfrm>
            <a:off x="8193537" y="3226097"/>
            <a:ext cx="3147226" cy="3034677"/>
          </a:xfrm>
        </p:spPr>
        <p:txBody>
          <a:bodyPr/>
          <a:lstStyle/>
          <a:p>
            <a:r>
              <a:rPr lang="en-AU" sz="1700" noProof="0" dirty="0"/>
              <a:t>Agencies decline to integrate or share. </a:t>
            </a:r>
          </a:p>
          <a:p>
            <a:endParaRPr lang="en-AU" sz="1700" dirty="0"/>
          </a:p>
          <a:p>
            <a:r>
              <a:rPr lang="en-AU" sz="1400" b="1" noProof="0" dirty="0"/>
              <a:t>Mitigation:</a:t>
            </a:r>
            <a:r>
              <a:rPr lang="en-AU" sz="1400" noProof="0" dirty="0"/>
              <a:t> </a:t>
            </a:r>
          </a:p>
          <a:p>
            <a:pPr marL="285750" indent="-285750">
              <a:buFont typeface="Arial" panose="020B0604020202020204" pitchFamily="34" charset="0"/>
              <a:buChar char="•"/>
            </a:pPr>
            <a:r>
              <a:rPr lang="en-AU" sz="1400" noProof="0" dirty="0"/>
              <a:t>Read-only ingest path requires no agency commitment</a:t>
            </a:r>
            <a:endParaRPr lang="en-AU" sz="1400" dirty="0"/>
          </a:p>
          <a:p>
            <a:pPr marL="285750" indent="-285750">
              <a:buFont typeface="Arial" panose="020B0604020202020204" pitchFamily="34" charset="0"/>
              <a:buChar char="•"/>
            </a:pPr>
            <a:r>
              <a:rPr lang="en-AU" sz="1400" noProof="0" dirty="0"/>
              <a:t>Benefits accrue immediately</a:t>
            </a:r>
            <a:endParaRPr lang="en-AU" sz="1400" dirty="0"/>
          </a:p>
          <a:p>
            <a:pPr marL="285750" indent="-285750">
              <a:buFont typeface="Arial" panose="020B0604020202020204" pitchFamily="34" charset="0"/>
              <a:buChar char="•"/>
            </a:pPr>
            <a:r>
              <a:rPr lang="en-AU" sz="1400" noProof="0" dirty="0"/>
              <a:t>Sector agents wrap existing systems rather than replace them. </a:t>
            </a:r>
          </a:p>
          <a:p>
            <a:endParaRPr lang="en-AU" sz="1400" dirty="0"/>
          </a:p>
          <a:p>
            <a:r>
              <a:rPr lang="en-AU" sz="1400" b="1" noProof="0" dirty="0"/>
              <a:t>Trade-off:</a:t>
            </a:r>
            <a:r>
              <a:rPr lang="en-AU" sz="1400" noProof="0" dirty="0"/>
              <a:t> we are a peer, not a hub-and-spoke owner.</a:t>
            </a:r>
          </a:p>
        </p:txBody>
      </p:sp>
      <p:sp>
        <p:nvSpPr>
          <p:cNvPr id="5" name="Text Placeholder 4"/>
          <p:cNvSpPr>
            <a:spLocks noGrp="1"/>
          </p:cNvSpPr>
          <p:nvPr>
            <p:ph type="body" sz="quarter" idx="26"/>
          </p:nvPr>
        </p:nvSpPr>
        <p:spPr>
          <a:xfrm>
            <a:off x="4522387" y="3226097"/>
            <a:ext cx="3147226" cy="2819233"/>
          </a:xfrm>
        </p:spPr>
        <p:txBody>
          <a:bodyPr/>
          <a:lstStyle/>
          <a:p>
            <a:r>
              <a:rPr lang="en-AU" sz="1700" noProof="0" dirty="0"/>
              <a:t>Foundry model availability gap in AU regions. </a:t>
            </a:r>
          </a:p>
          <a:p>
            <a:endParaRPr lang="en-AU" sz="1700" dirty="0"/>
          </a:p>
          <a:p>
            <a:r>
              <a:rPr lang="en-AU" sz="1400" b="1" noProof="0" dirty="0"/>
              <a:t>Mitigation:</a:t>
            </a:r>
            <a:r>
              <a:rPr lang="en-AU" sz="1400" noProof="0" dirty="0"/>
              <a:t> </a:t>
            </a:r>
          </a:p>
          <a:p>
            <a:pPr marL="285750" indent="-285750">
              <a:buFont typeface="Arial" panose="020B0604020202020204" pitchFamily="34" charset="0"/>
              <a:buChar char="•"/>
            </a:pPr>
            <a:r>
              <a:rPr lang="en-AU" sz="1400" dirty="0"/>
              <a:t>B</a:t>
            </a:r>
            <a:r>
              <a:rPr lang="en-AU" sz="1400" noProof="0" dirty="0" err="1"/>
              <a:t>ounded</a:t>
            </a:r>
            <a:r>
              <a:rPr lang="en-AU" sz="1400" noProof="0" dirty="0"/>
              <a:t> carve-out </a:t>
            </a:r>
          </a:p>
          <a:p>
            <a:pPr marL="285750" indent="-285750">
              <a:buFont typeface="Arial" panose="020B0604020202020204" pitchFamily="34" charset="0"/>
              <a:buChar char="•"/>
            </a:pPr>
            <a:r>
              <a:rPr lang="en-AU" sz="1400" dirty="0"/>
              <a:t>N</a:t>
            </a:r>
            <a:r>
              <a:rPr lang="en-AU" sz="1400" noProof="0" dirty="0"/>
              <a:t>ever for data</a:t>
            </a:r>
          </a:p>
          <a:p>
            <a:pPr marL="285750" indent="-285750">
              <a:buFont typeface="Arial" panose="020B0604020202020204" pitchFamily="34" charset="0"/>
              <a:buChar char="•"/>
            </a:pPr>
            <a:r>
              <a:rPr lang="en-AU" sz="1400" dirty="0"/>
              <a:t>Al</a:t>
            </a:r>
            <a:r>
              <a:rPr lang="en-AU" sz="1400" noProof="0" dirty="0"/>
              <a:t>ways with data-minimisation gateway </a:t>
            </a:r>
          </a:p>
          <a:p>
            <a:endParaRPr lang="en-AU" sz="1400" dirty="0"/>
          </a:p>
          <a:p>
            <a:r>
              <a:rPr lang="en-AU" sz="1400" b="1" noProof="0" dirty="0"/>
              <a:t>Trade-off:</a:t>
            </a:r>
            <a:r>
              <a:rPr lang="en-AU" sz="1400" noProof="0" dirty="0"/>
              <a:t> a narrowly-scoped exception to keep the AI roadmap moving.</a:t>
            </a:r>
          </a:p>
        </p:txBody>
      </p:sp>
      <p:sp>
        <p:nvSpPr>
          <p:cNvPr id="6" name="Text Placeholder 5"/>
          <p:cNvSpPr>
            <a:spLocks noGrp="1"/>
          </p:cNvSpPr>
          <p:nvPr>
            <p:ph type="body" sz="quarter" idx="27"/>
          </p:nvPr>
        </p:nvSpPr>
        <p:spPr/>
        <p:txBody>
          <a:bodyPr/>
          <a:lstStyle/>
          <a:p>
            <a:r>
              <a:rPr lang="en-AU" noProof="0" dirty="0"/>
              <a:t>Model risk</a:t>
            </a:r>
          </a:p>
        </p:txBody>
      </p:sp>
      <p:sp>
        <p:nvSpPr>
          <p:cNvPr id="7" name="Text Placeholder 6"/>
          <p:cNvSpPr>
            <a:spLocks noGrp="1"/>
          </p:cNvSpPr>
          <p:nvPr>
            <p:ph type="body" sz="quarter" idx="28"/>
          </p:nvPr>
        </p:nvSpPr>
        <p:spPr/>
        <p:txBody>
          <a:bodyPr/>
          <a:lstStyle/>
          <a:p>
            <a:r>
              <a:rPr lang="en-AU" noProof="0" dirty="0"/>
              <a:t>Adoption risk</a:t>
            </a:r>
          </a:p>
        </p:txBody>
      </p:sp>
      <p:sp>
        <p:nvSpPr>
          <p:cNvPr id="8" name="Text Placeholder 7"/>
          <p:cNvSpPr>
            <a:spLocks noGrp="1"/>
          </p:cNvSpPr>
          <p:nvPr>
            <p:ph type="body" sz="quarter" idx="29"/>
          </p:nvPr>
        </p:nvSpPr>
        <p:spPr/>
        <p:txBody>
          <a:bodyPr/>
          <a:lstStyle/>
          <a:p>
            <a:r>
              <a:rPr lang="en-AU" noProof="0" dirty="0"/>
              <a:t>Sovereignty risk</a:t>
            </a:r>
          </a:p>
        </p:txBody>
      </p:sp>
      <p:sp>
        <p:nvSpPr>
          <p:cNvPr id="20" name="Icon Gear"/>
          <p:cNvSpPr/>
          <p:nvPr/>
        </p:nvSpPr>
        <p:spPr>
          <a:xfrm>
            <a:off x="1014008" y="2259458"/>
            <a:ext cx="280000" cy="280000"/>
          </a:xfrm>
          <a:prstGeom prst="gear6">
            <a:avLst/>
          </a:prstGeom>
          <a:solidFill>
            <a:schemeClr val="accent1"/>
          </a:solidFill>
          <a:ln>
            <a:noFill/>
          </a:ln>
        </p:spPr>
        <p:txBody>
          <a:bodyPr/>
          <a:lstStyle/>
          <a:p>
            <a:endParaRPr lang="en-US"/>
          </a:p>
        </p:txBody>
      </p:sp>
      <p:sp>
        <p:nvSpPr>
          <p:cNvPr id="21" name="Icon Person1"/>
          <p:cNvSpPr/>
          <p:nvPr/>
        </p:nvSpPr>
        <p:spPr>
          <a:xfrm>
            <a:off x="4786848" y="2259458"/>
            <a:ext cx="160000" cy="280000"/>
          </a:xfrm>
          <a:custGeom>
            <a:avLst/>
            <a:gdLst/>
            <a:ahLst/>
            <a:cxnLst/>
            <a:rect l="0" t="0" r="0" b="0"/>
            <a:pathLst>
              <a:path w="10000" h="10000">
                <a:moveTo>
                  <a:pt x="5000" y="0"/>
                </a:moveTo>
                <a:cubicBezTo>
                  <a:pt x="7500" y="0"/>
                  <a:pt x="8500" y="1200"/>
                  <a:pt x="8500" y="1800"/>
                </a:cubicBezTo>
                <a:cubicBezTo>
                  <a:pt x="8500" y="2400"/>
                  <a:pt x="7500" y="3600"/>
                  <a:pt x="5000" y="3600"/>
                </a:cubicBezTo>
                <a:cubicBezTo>
                  <a:pt x="2500" y="3600"/>
                  <a:pt x="1500" y="2400"/>
                  <a:pt x="1500" y="1800"/>
                </a:cubicBezTo>
                <a:cubicBezTo>
                  <a:pt x="1500" y="1200"/>
                  <a:pt x="2500" y="0"/>
                  <a:pt x="5000" y="0"/>
                </a:cubicBezTo>
                <a:close/>
                <a:moveTo>
                  <a:pt x="5000" y="4200"/>
                </a:moveTo>
                <a:cubicBezTo>
                  <a:pt x="8500" y="4200"/>
                  <a:pt x="10000" y="5500"/>
                  <a:pt x="10000" y="7000"/>
                </a:cubicBezTo>
                <a:lnTo>
                  <a:pt x="10000" y="10000"/>
                </a:lnTo>
                <a:lnTo>
                  <a:pt x="0" y="10000"/>
                </a:lnTo>
                <a:lnTo>
                  <a:pt x="0" y="7000"/>
                </a:lnTo>
                <a:cubicBezTo>
                  <a:pt x="0" y="5500"/>
                  <a:pt x="1500" y="4200"/>
                  <a:pt x="5000" y="4200"/>
                </a:cubicBezTo>
                <a:close/>
              </a:path>
            </a:pathLst>
          </a:custGeom>
          <a:solidFill>
            <a:schemeClr val="accent1"/>
          </a:solidFill>
          <a:ln>
            <a:noFill/>
          </a:ln>
        </p:spPr>
        <p:txBody>
          <a:bodyPr/>
          <a:lstStyle/>
          <a:p>
            <a:endParaRPr lang="en-US"/>
          </a:p>
        </p:txBody>
      </p:sp>
      <p:sp>
        <p:nvSpPr>
          <p:cNvPr id="22" name="Icon Person2"/>
          <p:cNvSpPr/>
          <p:nvPr/>
        </p:nvSpPr>
        <p:spPr>
          <a:xfrm>
            <a:off x="4686848" y="2279458"/>
            <a:ext cx="136000" cy="238000"/>
          </a:xfrm>
          <a:custGeom>
            <a:avLst/>
            <a:gdLst/>
            <a:ahLst/>
            <a:cxnLst/>
            <a:rect l="0" t="0" r="0" b="0"/>
            <a:pathLst>
              <a:path w="10000" h="10000">
                <a:moveTo>
                  <a:pt x="5000" y="0"/>
                </a:moveTo>
                <a:cubicBezTo>
                  <a:pt x="7500" y="0"/>
                  <a:pt x="8500" y="1200"/>
                  <a:pt x="8500" y="1800"/>
                </a:cubicBezTo>
                <a:cubicBezTo>
                  <a:pt x="8500" y="2400"/>
                  <a:pt x="7500" y="3600"/>
                  <a:pt x="5000" y="3600"/>
                </a:cubicBezTo>
                <a:cubicBezTo>
                  <a:pt x="2500" y="3600"/>
                  <a:pt x="1500" y="2400"/>
                  <a:pt x="1500" y="1800"/>
                </a:cubicBezTo>
                <a:cubicBezTo>
                  <a:pt x="1500" y="1200"/>
                  <a:pt x="2500" y="0"/>
                  <a:pt x="5000" y="0"/>
                </a:cubicBezTo>
                <a:close/>
                <a:moveTo>
                  <a:pt x="5000" y="4200"/>
                </a:moveTo>
                <a:cubicBezTo>
                  <a:pt x="8500" y="4200"/>
                  <a:pt x="10000" y="5500"/>
                  <a:pt x="10000" y="7000"/>
                </a:cubicBezTo>
                <a:lnTo>
                  <a:pt x="10000" y="10000"/>
                </a:lnTo>
                <a:lnTo>
                  <a:pt x="0" y="10000"/>
                </a:lnTo>
                <a:lnTo>
                  <a:pt x="0" y="7000"/>
                </a:lnTo>
                <a:cubicBezTo>
                  <a:pt x="0" y="5500"/>
                  <a:pt x="1500" y="4200"/>
                  <a:pt x="5000" y="4200"/>
                </a:cubicBezTo>
                <a:close/>
              </a:path>
            </a:pathLst>
          </a:custGeom>
          <a:solidFill>
            <a:schemeClr val="accent1"/>
          </a:solidFill>
          <a:ln>
            <a:noFill/>
          </a:ln>
        </p:spPr>
        <p:txBody>
          <a:bodyPr/>
          <a:lstStyle/>
          <a:p>
            <a:endParaRPr lang="en-US"/>
          </a:p>
        </p:txBody>
      </p:sp>
      <p:sp>
        <p:nvSpPr>
          <p:cNvPr id="23" name="Icon Flag"/>
          <p:cNvSpPr/>
          <p:nvPr/>
        </p:nvSpPr>
        <p:spPr>
          <a:xfrm>
            <a:off x="8379688" y="2249458"/>
            <a:ext cx="240000" cy="300000"/>
          </a:xfrm>
          <a:custGeom>
            <a:avLst/>
            <a:gdLst/>
            <a:ahLst/>
            <a:cxnLst/>
            <a:rect l="0" t="0" r="0" b="0"/>
            <a:pathLst>
              <a:path w="10000" h="12000">
                <a:moveTo>
                  <a:pt x="500" y="0"/>
                </a:moveTo>
                <a:lnTo>
                  <a:pt x="1500" y="0"/>
                </a:lnTo>
                <a:lnTo>
                  <a:pt x="1500" y="12000"/>
                </a:lnTo>
                <a:lnTo>
                  <a:pt x="500" y="12000"/>
                </a:lnTo>
                <a:close/>
                <a:moveTo>
                  <a:pt x="1500" y="500"/>
                </a:moveTo>
                <a:lnTo>
                  <a:pt x="10000" y="500"/>
                </a:lnTo>
                <a:lnTo>
                  <a:pt x="8500" y="3500"/>
                </a:lnTo>
                <a:lnTo>
                  <a:pt x="10000" y="6500"/>
                </a:lnTo>
                <a:lnTo>
                  <a:pt x="1500" y="6500"/>
                </a:lnTo>
                <a:close/>
              </a:path>
            </a:pathLst>
          </a:custGeom>
          <a:solidFill>
            <a:schemeClr val="accent1"/>
          </a:solidFill>
          <a:ln>
            <a:noFill/>
          </a:ln>
        </p:spPr>
        <p:txBody>
          <a:bodyPr/>
          <a:lstStyle/>
          <a:p>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8263" y="457200"/>
            <a:ext cx="11018520" cy="984885"/>
          </a:xfrm>
        </p:spPr>
        <p:txBody>
          <a:bodyPr/>
          <a:lstStyle/>
          <a:p>
            <a:r>
              <a:rPr lang="en-AU" noProof="0" dirty="0"/>
              <a:t>KPI modelling - the five capstone success criteria, instrumented</a:t>
            </a:r>
          </a:p>
        </p:txBody>
      </p:sp>
      <p:sp>
        <p:nvSpPr>
          <p:cNvPr id="3" name="Text Placeholder 2"/>
          <p:cNvSpPr>
            <a:spLocks noGrp="1"/>
          </p:cNvSpPr>
          <p:nvPr>
            <p:ph type="body" sz="quarter" idx="10"/>
          </p:nvPr>
        </p:nvSpPr>
        <p:spPr/>
        <p:txBody>
          <a:bodyPr/>
          <a:lstStyle/>
          <a:p>
            <a:r>
              <a:rPr lang="en-AU" noProof="0" dirty="0"/>
              <a:t>≥1,000 modelled lives saved/year (Sendai-aligned A-1 mortality counterfactual). ≥24h earlier evacuation lead-time vs prototype baseline. Both reported with bootstrap 95% CI per spec 040.</a:t>
            </a:r>
          </a:p>
        </p:txBody>
      </p:sp>
      <p:sp>
        <p:nvSpPr>
          <p:cNvPr id="4" name="Text Placeholder 3"/>
          <p:cNvSpPr>
            <a:spLocks noGrp="1"/>
          </p:cNvSpPr>
          <p:nvPr>
            <p:ph type="body" sz="quarter" idx="11"/>
          </p:nvPr>
        </p:nvSpPr>
        <p:spPr>
          <a:xfrm>
            <a:off x="8195227" y="3436166"/>
            <a:ext cx="3147226" cy="2271391"/>
          </a:xfrm>
        </p:spPr>
        <p:txBody>
          <a:bodyPr/>
          <a:lstStyle/>
          <a:p>
            <a:r>
              <a:rPr lang="en-AU" noProof="0" dirty="0"/>
              <a:t>≥50% reduction in coordinated response time (call-received → incident-controlled). </a:t>
            </a:r>
          </a:p>
          <a:p>
            <a:r>
              <a:rPr lang="en-AU" noProof="0" dirty="0"/>
              <a:t>30% logistics efficiency uplift (resource utilisation across cross-agency tasks). Per-KPI determinism tolerance ±2% / ±1 absolute.</a:t>
            </a:r>
          </a:p>
        </p:txBody>
      </p:sp>
      <p:sp>
        <p:nvSpPr>
          <p:cNvPr id="5" name="Text Placeholder 4"/>
          <p:cNvSpPr>
            <a:spLocks noGrp="1"/>
          </p:cNvSpPr>
          <p:nvPr>
            <p:ph type="body" sz="quarter" idx="26"/>
          </p:nvPr>
        </p:nvSpPr>
        <p:spPr/>
        <p:txBody>
          <a:bodyPr/>
          <a:lstStyle/>
          <a:p>
            <a:r>
              <a:rPr lang="en-AU" noProof="0" dirty="0"/>
              <a:t>≥30% reduction in modelled economic loss (Sendai indicators C-2 through C-6). Risk-adjusted variant computed via 5×5 likelihood × consequence matrix per AS/NZS ISO 31000. Confidence-banded.</a:t>
            </a:r>
          </a:p>
        </p:txBody>
      </p:sp>
      <p:sp>
        <p:nvSpPr>
          <p:cNvPr id="6" name="Text Placeholder 5"/>
          <p:cNvSpPr>
            <a:spLocks noGrp="1"/>
          </p:cNvSpPr>
          <p:nvPr>
            <p:ph type="body" sz="quarter" idx="27"/>
          </p:nvPr>
        </p:nvSpPr>
        <p:spPr/>
        <p:txBody>
          <a:bodyPr/>
          <a:lstStyle/>
          <a:p>
            <a:r>
              <a:rPr lang="en-AU" noProof="0" dirty="0"/>
              <a:t>Lives &amp; lead time</a:t>
            </a:r>
          </a:p>
        </p:txBody>
      </p:sp>
      <p:sp>
        <p:nvSpPr>
          <p:cNvPr id="7" name="Text Placeholder 6"/>
          <p:cNvSpPr>
            <a:spLocks noGrp="1"/>
          </p:cNvSpPr>
          <p:nvPr>
            <p:ph type="body" sz="quarter" idx="28"/>
          </p:nvPr>
        </p:nvSpPr>
        <p:spPr/>
        <p:txBody>
          <a:bodyPr/>
          <a:lstStyle/>
          <a:p>
            <a:r>
              <a:rPr lang="en-AU" noProof="0" dirty="0"/>
              <a:t>Speed &amp; efficiency</a:t>
            </a:r>
          </a:p>
        </p:txBody>
      </p:sp>
      <p:sp>
        <p:nvSpPr>
          <p:cNvPr id="8" name="Text Placeholder 7"/>
          <p:cNvSpPr>
            <a:spLocks noGrp="1"/>
          </p:cNvSpPr>
          <p:nvPr>
            <p:ph type="body" sz="quarter" idx="29"/>
          </p:nvPr>
        </p:nvSpPr>
        <p:spPr/>
        <p:txBody>
          <a:bodyPr/>
          <a:lstStyle/>
          <a:p>
            <a:r>
              <a:rPr lang="en-AU" noProof="0" dirty="0"/>
              <a:t>Economic impact</a:t>
            </a:r>
          </a:p>
        </p:txBody>
      </p:sp>
      <p:sp>
        <p:nvSpPr>
          <p:cNvPr id="20" name="Icon Heart"/>
          <p:cNvSpPr/>
          <p:nvPr/>
        </p:nvSpPr>
        <p:spPr>
          <a:xfrm>
            <a:off x="1014008" y="2239458"/>
            <a:ext cx="280000" cy="260000"/>
          </a:xfrm>
          <a:prstGeom prst="heart">
            <a:avLst/>
          </a:prstGeom>
          <a:solidFill>
            <a:schemeClr val="accent1"/>
          </a:solidFill>
          <a:ln>
            <a:noFill/>
          </a:ln>
        </p:spPr>
        <p:txBody>
          <a:bodyPr/>
          <a:lstStyle/>
          <a:p>
            <a:endParaRPr lang="en-US"/>
          </a:p>
        </p:txBody>
      </p:sp>
      <p:sp>
        <p:nvSpPr>
          <p:cNvPr id="21" name="Icon Stopwatch"/>
          <p:cNvSpPr/>
          <p:nvPr/>
        </p:nvSpPr>
        <p:spPr>
          <a:xfrm>
            <a:off x="4696848" y="2219458"/>
            <a:ext cx="260000" cy="300000"/>
          </a:xfrm>
          <a:custGeom>
            <a:avLst/>
            <a:gdLst/>
            <a:ahLst/>
            <a:cxnLst/>
            <a:rect l="0" t="0" r="0" b="0"/>
            <a:pathLst>
              <a:path w="10000" h="12000">
                <a:moveTo>
                  <a:pt x="4000" y="0"/>
                </a:moveTo>
                <a:lnTo>
                  <a:pt x="6000" y="0"/>
                </a:lnTo>
                <a:lnTo>
                  <a:pt x="6000" y="1200"/>
                </a:lnTo>
                <a:lnTo>
                  <a:pt x="4000" y="1200"/>
                </a:lnTo>
                <a:close/>
                <a:moveTo>
                  <a:pt x="5000" y="2000"/>
                </a:moveTo>
                <a:cubicBezTo>
                  <a:pt x="8500" y="2000"/>
                  <a:pt x="10000" y="4500"/>
                  <a:pt x="10000" y="7000"/>
                </a:cubicBezTo>
                <a:cubicBezTo>
                  <a:pt x="10000" y="9500"/>
                  <a:pt x="8500" y="12000"/>
                  <a:pt x="5000" y="12000"/>
                </a:cubicBezTo>
                <a:cubicBezTo>
                  <a:pt x="1500" y="12000"/>
                  <a:pt x="0" y="9500"/>
                  <a:pt x="0" y="7000"/>
                </a:cubicBezTo>
                <a:cubicBezTo>
                  <a:pt x="0" y="4500"/>
                  <a:pt x="1500" y="2000"/>
                  <a:pt x="5000" y="2000"/>
                </a:cubicBezTo>
                <a:close/>
                <a:moveTo>
                  <a:pt x="4600" y="4500"/>
                </a:moveTo>
                <a:lnTo>
                  <a:pt x="5400" y="4500"/>
                </a:lnTo>
                <a:lnTo>
                  <a:pt x="5400" y="7200"/>
                </a:lnTo>
                <a:lnTo>
                  <a:pt x="7200" y="7200"/>
                </a:lnTo>
                <a:lnTo>
                  <a:pt x="7200" y="8000"/>
                </a:lnTo>
                <a:lnTo>
                  <a:pt x="4600" y="8000"/>
                </a:lnTo>
                <a:close/>
              </a:path>
            </a:pathLst>
          </a:custGeom>
          <a:solidFill>
            <a:schemeClr val="accent1"/>
          </a:solidFill>
          <a:ln>
            <a:noFill/>
          </a:ln>
        </p:spPr>
        <p:txBody>
          <a:bodyPr/>
          <a:lstStyle/>
          <a:p>
            <a:endParaRPr lang="en-US"/>
          </a:p>
        </p:txBody>
      </p:sp>
      <p:sp>
        <p:nvSpPr>
          <p:cNvPr id="22" name="Icon TrendUp"/>
          <p:cNvSpPr/>
          <p:nvPr/>
        </p:nvSpPr>
        <p:spPr>
          <a:xfrm>
            <a:off x="8359688" y="2239458"/>
            <a:ext cx="280000" cy="260000"/>
          </a:xfrm>
          <a:custGeom>
            <a:avLst/>
            <a:gdLst/>
            <a:ahLst/>
            <a:cxnLst/>
            <a:rect l="0" t="0" r="0" b="0"/>
            <a:pathLst>
              <a:path w="10000" h="10000">
                <a:moveTo>
                  <a:pt x="0" y="8000"/>
                </a:moveTo>
                <a:lnTo>
                  <a:pt x="3000" y="5000"/>
                </a:lnTo>
                <a:lnTo>
                  <a:pt x="5000" y="6500"/>
                </a:lnTo>
                <a:lnTo>
                  <a:pt x="8000" y="2000"/>
                </a:lnTo>
                <a:lnTo>
                  <a:pt x="6500" y="2000"/>
                </a:lnTo>
                <a:lnTo>
                  <a:pt x="10000" y="0"/>
                </a:lnTo>
                <a:lnTo>
                  <a:pt x="10000" y="3500"/>
                </a:lnTo>
                <a:lnTo>
                  <a:pt x="8500" y="3500"/>
                </a:lnTo>
                <a:lnTo>
                  <a:pt x="5000" y="8500"/>
                </a:lnTo>
                <a:lnTo>
                  <a:pt x="3000" y="7000"/>
                </a:lnTo>
                <a:lnTo>
                  <a:pt x="0" y="10000"/>
                </a:lnTo>
                <a:close/>
              </a:path>
            </a:pathLst>
          </a:custGeom>
          <a:solidFill>
            <a:schemeClr val="accent1"/>
          </a:solidFill>
          <a:ln>
            <a:noFill/>
          </a:ln>
        </p:spPr>
        <p:txBody>
          <a:bodyPr/>
          <a:lstStyle/>
          <a:p>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noProof="0" dirty="0"/>
              <a:t>FinOps - a cost ladder you can defend on day one and at scale</a:t>
            </a:r>
          </a:p>
        </p:txBody>
      </p:sp>
      <p:sp>
        <p:nvSpPr>
          <p:cNvPr id="3" name="Text Placeholder 2"/>
          <p:cNvSpPr>
            <a:spLocks noGrp="1"/>
          </p:cNvSpPr>
          <p:nvPr>
            <p:ph type="body" sz="quarter" idx="10"/>
          </p:nvPr>
        </p:nvSpPr>
        <p:spPr>
          <a:xfrm>
            <a:off x="849547" y="3436166"/>
            <a:ext cx="3147226" cy="2492990"/>
          </a:xfrm>
        </p:spPr>
        <p:txBody>
          <a:bodyPr/>
          <a:lstStyle/>
          <a:p>
            <a:r>
              <a:rPr lang="en-AU" noProof="0" dirty="0"/>
              <a:t>Single jurisdiction, one canonical scenario monthly. Estimated AUD ~$8,500/month - Foundry models, Cosmos serverless, Container Apps consumption, ACS pay-per-message. 90-day pilot fits inside a $30k authorisation envelope.</a:t>
            </a:r>
          </a:p>
        </p:txBody>
      </p:sp>
      <p:sp>
        <p:nvSpPr>
          <p:cNvPr id="4" name="Text Placeholder 3"/>
          <p:cNvSpPr>
            <a:spLocks noGrp="1"/>
          </p:cNvSpPr>
          <p:nvPr>
            <p:ph type="body" sz="quarter" idx="11"/>
          </p:nvPr>
        </p:nvSpPr>
        <p:spPr/>
        <p:txBody>
          <a:bodyPr/>
          <a:lstStyle/>
          <a:p>
            <a:r>
              <a:rPr lang="en-AU" noProof="0" dirty="0"/>
              <a:t>Single state, multi-incident concurrent, full agent network. Estimated AUD ~$45,000/month with reserved capacity discounts. Cost-per-incident &lt;$200 dominated by ACS message volume, controllable via warning targeting.</a:t>
            </a:r>
          </a:p>
        </p:txBody>
      </p:sp>
      <p:sp>
        <p:nvSpPr>
          <p:cNvPr id="5" name="Text Placeholder 4"/>
          <p:cNvSpPr>
            <a:spLocks noGrp="1"/>
          </p:cNvSpPr>
          <p:nvPr>
            <p:ph type="body" sz="quarter" idx="26"/>
          </p:nvPr>
        </p:nvSpPr>
        <p:spPr>
          <a:xfrm>
            <a:off x="4522387" y="3436166"/>
            <a:ext cx="3147226" cy="2215991"/>
          </a:xfrm>
        </p:spPr>
        <p:txBody>
          <a:bodyPr/>
          <a:lstStyle/>
          <a:p>
            <a:r>
              <a:rPr lang="en-AU" noProof="0" dirty="0"/>
              <a:t>All states + Commonwealth, all hazards, full audit. Estimated AUD ~$220,000/month. Compare against </a:t>
            </a:r>
            <a:r>
              <a:rPr lang="en-GB" noProof="0" dirty="0"/>
              <a:t>Black Summer cost of A$100 billion</a:t>
            </a:r>
            <a:r>
              <a:rPr lang="en-AU" noProof="0" dirty="0"/>
              <a:t>. A vanishingly small percentage of the loss curve we are bending.</a:t>
            </a:r>
          </a:p>
        </p:txBody>
      </p:sp>
      <p:sp>
        <p:nvSpPr>
          <p:cNvPr id="6" name="Text Placeholder 5"/>
          <p:cNvSpPr>
            <a:spLocks noGrp="1"/>
          </p:cNvSpPr>
          <p:nvPr>
            <p:ph type="body" sz="quarter" idx="27"/>
          </p:nvPr>
        </p:nvSpPr>
        <p:spPr/>
        <p:txBody>
          <a:bodyPr/>
          <a:lstStyle/>
          <a:p>
            <a:r>
              <a:rPr lang="en-AU" noProof="0" dirty="0"/>
              <a:t>MVP / pilot</a:t>
            </a:r>
          </a:p>
        </p:txBody>
      </p:sp>
      <p:sp>
        <p:nvSpPr>
          <p:cNvPr id="7" name="Text Placeholder 6"/>
          <p:cNvSpPr>
            <a:spLocks noGrp="1"/>
          </p:cNvSpPr>
          <p:nvPr>
            <p:ph type="body" sz="quarter" idx="28"/>
          </p:nvPr>
        </p:nvSpPr>
        <p:spPr/>
        <p:txBody>
          <a:bodyPr/>
          <a:lstStyle/>
          <a:p>
            <a:r>
              <a:rPr lang="en-AU" noProof="0" dirty="0"/>
              <a:t>State production</a:t>
            </a:r>
          </a:p>
        </p:txBody>
      </p:sp>
      <p:sp>
        <p:nvSpPr>
          <p:cNvPr id="8" name="Text Placeholder 7"/>
          <p:cNvSpPr>
            <a:spLocks noGrp="1"/>
          </p:cNvSpPr>
          <p:nvPr>
            <p:ph type="body" sz="quarter" idx="29"/>
          </p:nvPr>
        </p:nvSpPr>
        <p:spPr/>
        <p:txBody>
          <a:bodyPr/>
          <a:lstStyle/>
          <a:p>
            <a:r>
              <a:rPr lang="en-AU" noProof="0" dirty="0"/>
              <a:t>National scale</a:t>
            </a:r>
          </a:p>
        </p:txBody>
      </p:sp>
      <p:sp>
        <p:nvSpPr>
          <p:cNvPr id="20" name="Icon Seedling"/>
          <p:cNvSpPr/>
          <p:nvPr/>
        </p:nvSpPr>
        <p:spPr>
          <a:xfrm>
            <a:off x="1064008" y="2259458"/>
            <a:ext cx="180000" cy="280000"/>
          </a:xfrm>
          <a:custGeom>
            <a:avLst/>
            <a:gdLst/>
            <a:ahLst/>
            <a:cxnLst/>
            <a:rect l="0" t="0" r="0" b="0"/>
            <a:pathLst>
              <a:path w="10000" h="14000">
                <a:moveTo>
                  <a:pt x="4500" y="6000"/>
                </a:moveTo>
                <a:lnTo>
                  <a:pt x="5500" y="6000"/>
                </a:lnTo>
                <a:lnTo>
                  <a:pt x="5500" y="14000"/>
                </a:lnTo>
                <a:lnTo>
                  <a:pt x="4500" y="14000"/>
                </a:lnTo>
                <a:close/>
                <a:moveTo>
                  <a:pt x="5000" y="6000"/>
                </a:moveTo>
                <a:cubicBezTo>
                  <a:pt x="1000" y="4000"/>
                  <a:pt x="500" y="1000"/>
                  <a:pt x="2500" y="0"/>
                </a:cubicBezTo>
                <a:cubicBezTo>
                  <a:pt x="4500" y="1500"/>
                  <a:pt x="5000" y="3500"/>
                  <a:pt x="5000" y="6000"/>
                </a:cubicBezTo>
                <a:close/>
                <a:moveTo>
                  <a:pt x="5000" y="6000"/>
                </a:moveTo>
                <a:cubicBezTo>
                  <a:pt x="9000" y="4000"/>
                  <a:pt x="9500" y="1000"/>
                  <a:pt x="7500" y="0"/>
                </a:cubicBezTo>
                <a:cubicBezTo>
                  <a:pt x="5500" y="1500"/>
                  <a:pt x="5000" y="3500"/>
                  <a:pt x="5000" y="6000"/>
                </a:cubicBezTo>
                <a:close/>
              </a:path>
            </a:pathLst>
          </a:custGeom>
          <a:solidFill>
            <a:schemeClr val="accent1"/>
          </a:solidFill>
          <a:ln>
            <a:noFill/>
          </a:ln>
        </p:spPr>
        <p:txBody>
          <a:bodyPr/>
          <a:lstStyle/>
          <a:p>
            <a:endParaRPr lang="en-US"/>
          </a:p>
        </p:txBody>
      </p:sp>
      <p:sp>
        <p:nvSpPr>
          <p:cNvPr id="21" name="Icon Building"/>
          <p:cNvSpPr/>
          <p:nvPr/>
        </p:nvSpPr>
        <p:spPr>
          <a:xfrm>
            <a:off x="4716848" y="2259458"/>
            <a:ext cx="220000" cy="280000"/>
          </a:xfrm>
          <a:custGeom>
            <a:avLst/>
            <a:gdLst/>
            <a:ahLst/>
            <a:cxnLst/>
            <a:rect l="0" t="0" r="0" b="0"/>
            <a:pathLst>
              <a:path w="10000" h="12000">
                <a:moveTo>
                  <a:pt x="1000" y="2000"/>
                </a:moveTo>
                <a:lnTo>
                  <a:pt x="6500" y="2000"/>
                </a:lnTo>
                <a:lnTo>
                  <a:pt x="6500" y="12000"/>
                </a:lnTo>
                <a:lnTo>
                  <a:pt x="1000" y="12000"/>
                </a:lnTo>
                <a:close/>
                <a:moveTo>
                  <a:pt x="6500" y="0"/>
                </a:moveTo>
                <a:lnTo>
                  <a:pt x="9500" y="0"/>
                </a:lnTo>
                <a:lnTo>
                  <a:pt x="9500" y="12000"/>
                </a:lnTo>
                <a:lnTo>
                  <a:pt x="6500" y="12000"/>
                </a:lnTo>
                <a:close/>
                <a:moveTo>
                  <a:pt x="2200" y="3500"/>
                </a:moveTo>
                <a:lnTo>
                  <a:pt x="3500" y="3500"/>
                </a:lnTo>
                <a:lnTo>
                  <a:pt x="3500" y="5000"/>
                </a:lnTo>
                <a:lnTo>
                  <a:pt x="2200" y="5000"/>
                </a:lnTo>
                <a:close/>
                <a:moveTo>
                  <a:pt x="4200" y="3500"/>
                </a:moveTo>
                <a:lnTo>
                  <a:pt x="5500" y="3500"/>
                </a:lnTo>
                <a:lnTo>
                  <a:pt x="5500" y="5000"/>
                </a:lnTo>
                <a:lnTo>
                  <a:pt x="4200" y="5000"/>
                </a:lnTo>
                <a:close/>
                <a:moveTo>
                  <a:pt x="2200" y="6000"/>
                </a:moveTo>
                <a:lnTo>
                  <a:pt x="3500" y="6000"/>
                </a:lnTo>
                <a:lnTo>
                  <a:pt x="3500" y="7500"/>
                </a:lnTo>
                <a:lnTo>
                  <a:pt x="2200" y="7500"/>
                </a:lnTo>
                <a:close/>
                <a:moveTo>
                  <a:pt x="4200" y="6000"/>
                </a:moveTo>
                <a:lnTo>
                  <a:pt x="5500" y="6000"/>
                </a:lnTo>
                <a:lnTo>
                  <a:pt x="5500" y="7500"/>
                </a:lnTo>
                <a:lnTo>
                  <a:pt x="4200" y="7500"/>
                </a:lnTo>
                <a:close/>
              </a:path>
            </a:pathLst>
          </a:custGeom>
          <a:solidFill>
            <a:schemeClr val="accent1"/>
          </a:solidFill>
          <a:ln>
            <a:noFill/>
          </a:ln>
        </p:spPr>
        <p:txBody>
          <a:bodyPr/>
          <a:lstStyle/>
          <a:p>
            <a:endParaRPr lang="en-US"/>
          </a:p>
        </p:txBody>
      </p:sp>
      <p:sp>
        <p:nvSpPr>
          <p:cNvPr id="22" name="Icon Expand"/>
          <p:cNvSpPr/>
          <p:nvPr/>
        </p:nvSpPr>
        <p:spPr>
          <a:xfrm>
            <a:off x="8369688" y="2269458"/>
            <a:ext cx="260000" cy="260000"/>
          </a:xfrm>
          <a:custGeom>
            <a:avLst/>
            <a:gdLst/>
            <a:ahLst/>
            <a:cxnLst/>
            <a:rect l="0" t="0" r="0" b="0"/>
            <a:pathLst>
              <a:path w="10000" h="10000">
                <a:moveTo>
                  <a:pt x="6000" y="0"/>
                </a:moveTo>
                <a:lnTo>
                  <a:pt x="10000" y="0"/>
                </a:lnTo>
                <a:lnTo>
                  <a:pt x="10000" y="4000"/>
                </a:lnTo>
                <a:lnTo>
                  <a:pt x="8500" y="4000"/>
                </a:lnTo>
                <a:lnTo>
                  <a:pt x="8500" y="1500"/>
                </a:lnTo>
                <a:lnTo>
                  <a:pt x="6000" y="1500"/>
                </a:lnTo>
                <a:close/>
                <a:moveTo>
                  <a:pt x="0" y="6000"/>
                </a:moveTo>
                <a:lnTo>
                  <a:pt x="0" y="10000"/>
                </a:lnTo>
                <a:lnTo>
                  <a:pt x="4000" y="10000"/>
                </a:lnTo>
                <a:lnTo>
                  <a:pt x="4000" y="8500"/>
                </a:lnTo>
                <a:lnTo>
                  <a:pt x="1500" y="8500"/>
                </a:lnTo>
                <a:lnTo>
                  <a:pt x="1500" y="6000"/>
                </a:lnTo>
                <a:close/>
                <a:moveTo>
                  <a:pt x="3500" y="5500"/>
                </a:moveTo>
                <a:lnTo>
                  <a:pt x="5500" y="3500"/>
                </a:lnTo>
                <a:lnTo>
                  <a:pt x="6500" y="4500"/>
                </a:lnTo>
                <a:lnTo>
                  <a:pt x="4500" y="6500"/>
                </a:lnTo>
                <a:close/>
              </a:path>
            </a:pathLst>
          </a:custGeom>
          <a:solidFill>
            <a:schemeClr val="accent1"/>
          </a:solidFill>
          <a:ln>
            <a:noFill/>
          </a:ln>
        </p:spPr>
        <p:txBody>
          <a:bodyPr/>
          <a:lstStyle/>
          <a:p>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noProof="0" dirty="0"/>
              <a:t>Adoption roadmap - pilot → state → national</a:t>
            </a:r>
          </a:p>
        </p:txBody>
      </p:sp>
      <p:pic>
        <p:nvPicPr>
          <p:cNvPr id="6" name="Picture 5">
            <a:extLst>
              <a:ext uri="{FF2B5EF4-FFF2-40B4-BE49-F238E27FC236}">
                <a16:creationId xmlns:a16="http://schemas.microsoft.com/office/drawing/2014/main" id="{29281032-0828-BD91-ABD0-E7DE9A2F1C1F}"/>
              </a:ext>
            </a:extLst>
          </p:cNvPr>
          <p:cNvPicPr>
            <a:picLocks noChangeAspect="1"/>
          </p:cNvPicPr>
          <p:nvPr/>
        </p:nvPicPr>
        <p:blipFill>
          <a:blip r:embed="rId3"/>
          <a:stretch>
            <a:fillRect/>
          </a:stretch>
        </p:blipFill>
        <p:spPr>
          <a:xfrm>
            <a:off x="281969" y="2104195"/>
            <a:ext cx="11628061" cy="296310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5F67533-5827-0D0B-7F0D-F7DC9B61BC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7583A3-2209-AC90-02BD-C21B6C074480}"/>
              </a:ext>
            </a:extLst>
          </p:cNvPr>
          <p:cNvSpPr>
            <a:spLocks noGrp="1"/>
          </p:cNvSpPr>
          <p:nvPr>
            <p:ph type="title"/>
          </p:nvPr>
        </p:nvSpPr>
        <p:spPr/>
        <p:txBody>
          <a:bodyPr/>
          <a:lstStyle/>
          <a:p>
            <a:r>
              <a:rPr lang="en-AU" noProof="0" dirty="0"/>
              <a:t>Adoption roadmap - pilot → state → national</a:t>
            </a:r>
          </a:p>
        </p:txBody>
      </p:sp>
      <p:sp>
        <p:nvSpPr>
          <p:cNvPr id="4" name="TextBox 3">
            <a:extLst>
              <a:ext uri="{FF2B5EF4-FFF2-40B4-BE49-F238E27FC236}">
                <a16:creationId xmlns:a16="http://schemas.microsoft.com/office/drawing/2014/main" id="{07D197DC-28E5-9D0A-B637-043B81FEAD72}"/>
              </a:ext>
            </a:extLst>
          </p:cNvPr>
          <p:cNvSpPr txBox="1"/>
          <p:nvPr/>
        </p:nvSpPr>
        <p:spPr>
          <a:xfrm>
            <a:off x="1097280" y="6263640"/>
            <a:ext cx="4110421" cy="246221"/>
          </a:xfrm>
          <a:prstGeom prst="rect">
            <a:avLst/>
          </a:prstGeom>
          <a:noFill/>
        </p:spPr>
        <p:txBody>
          <a:bodyPr wrap="none">
            <a:spAutoFit/>
          </a:bodyPr>
          <a:lstStyle/>
          <a:p>
            <a:r>
              <a:rPr lang="en-AU" sz="1000" i="1" noProof="0" dirty="0">
                <a:solidFill>
                  <a:srgbClr val="555555"/>
                </a:solidFill>
              </a:rPr>
              <a:t>CI/CD pipeline · docs/architecture/governance/adoption-roadmap.png</a:t>
            </a:r>
          </a:p>
        </p:txBody>
      </p:sp>
      <p:pic>
        <p:nvPicPr>
          <p:cNvPr id="8" name="Picture 7">
            <a:extLst>
              <a:ext uri="{FF2B5EF4-FFF2-40B4-BE49-F238E27FC236}">
                <a16:creationId xmlns:a16="http://schemas.microsoft.com/office/drawing/2014/main" id="{F0367B6E-2793-A116-A5B5-DE72F2D842F8}"/>
              </a:ext>
            </a:extLst>
          </p:cNvPr>
          <p:cNvPicPr>
            <a:picLocks noChangeAspect="1"/>
          </p:cNvPicPr>
          <p:nvPr/>
        </p:nvPicPr>
        <p:blipFill>
          <a:blip r:embed="rId3"/>
          <a:stretch>
            <a:fillRect/>
          </a:stretch>
        </p:blipFill>
        <p:spPr>
          <a:xfrm>
            <a:off x="949268" y="1023192"/>
            <a:ext cx="10657515" cy="5486669"/>
          </a:xfrm>
          <a:prstGeom prst="rect">
            <a:avLst/>
          </a:prstGeom>
        </p:spPr>
      </p:pic>
    </p:spTree>
    <p:extLst>
      <p:ext uri="{BB962C8B-B14F-4D97-AF65-F5344CB8AC3E}">
        <p14:creationId xmlns:p14="http://schemas.microsoft.com/office/powerpoint/2010/main" val="26759567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noProof="0" dirty="0"/>
              <a:t>The ask</a:t>
            </a:r>
            <a:br>
              <a:rPr lang="en-AU" noProof="0" dirty="0"/>
            </a:br>
            <a:br>
              <a:rPr lang="en-AU" noProof="0" dirty="0"/>
            </a:br>
            <a:r>
              <a:rPr lang="en-AU" noProof="0" dirty="0"/>
              <a:t>A 90-day pilot, one state, one hazard</a:t>
            </a:r>
          </a:p>
        </p:txBody>
      </p:sp>
      <p:sp>
        <p:nvSpPr>
          <p:cNvPr id="3" name="Text Placeholder 2"/>
          <p:cNvSpPr>
            <a:spLocks noGrp="1"/>
          </p:cNvSpPr>
          <p:nvPr>
            <p:ph type="body" sz="quarter" idx="10"/>
          </p:nvPr>
        </p:nvSpPr>
        <p:spPr>
          <a:xfrm>
            <a:off x="4644137" y="1746753"/>
            <a:ext cx="6959600" cy="2800767"/>
          </a:xfrm>
        </p:spPr>
        <p:txBody>
          <a:bodyPr/>
          <a:lstStyle/>
          <a:p>
            <a:r>
              <a:rPr lang="en-AU" sz="1600" noProof="0" dirty="0"/>
              <a:t>What we are asking for:</a:t>
            </a:r>
          </a:p>
          <a:p>
            <a:r>
              <a:rPr lang="en-AU" sz="1600" noProof="0" dirty="0"/>
              <a:t>  • Sponsorship from one state emergency-services agency for a 90-day shadow-mode pilot</a:t>
            </a:r>
          </a:p>
          <a:p>
            <a:r>
              <a:rPr lang="en-AU" sz="1600" noProof="0" dirty="0"/>
              <a:t>  • A named Incident Controller to participate in a weekly Friday tabletop</a:t>
            </a:r>
          </a:p>
          <a:p>
            <a:r>
              <a:rPr lang="en-AU" sz="1600" noProof="0" dirty="0"/>
              <a:t>  • Read-only access to one authoritative signal stream (BoM gauges or RFS Fires Near Me)</a:t>
            </a:r>
          </a:p>
          <a:p>
            <a:r>
              <a:rPr lang="en-AU" sz="1600" noProof="0" dirty="0"/>
              <a:t>  • An exit-criteria conversation against the capstone KPIs</a:t>
            </a:r>
          </a:p>
          <a:p>
            <a:endParaRPr lang="en-AU" sz="1600" noProof="0" dirty="0"/>
          </a:p>
          <a:p>
            <a:r>
              <a:rPr lang="en-AU" sz="1600" noProof="0" dirty="0"/>
              <a:t>What you get back:</a:t>
            </a:r>
          </a:p>
          <a:p>
            <a:r>
              <a:rPr lang="en-AU" sz="1600" noProof="0" dirty="0"/>
              <a:t>  • A measurable, baseline-vs-AMA-assisted outcome scorecard</a:t>
            </a:r>
          </a:p>
          <a:p>
            <a:r>
              <a:rPr lang="en-AU" sz="1600" noProof="0" dirty="0"/>
              <a:t>  • A documented Australian-sovereign reference architecture you can re-use</a:t>
            </a:r>
          </a:p>
          <a:p>
            <a:r>
              <a:rPr lang="en-AU" sz="1600" noProof="0" dirty="0"/>
              <a:t>  • Zero production-channel risk: shadow mode is observe-only by design</a:t>
            </a:r>
          </a:p>
          <a:p>
            <a:r>
              <a:rPr lang="en-AU" sz="1600" noProof="0" dirty="0"/>
              <a:t>  • A working answer to the hardest question facing emergency management: </a:t>
            </a:r>
            <a:r>
              <a:rPr lang="en-AU" sz="1600" i="1" noProof="0" dirty="0"/>
              <a:t>how do we go faster, together, in the climate we are inheriting?</a:t>
            </a:r>
          </a:p>
          <a:p>
            <a:endParaRPr lang="en-AU" sz="1600" noProof="0" dirty="0"/>
          </a:p>
          <a:p>
            <a:r>
              <a:rPr lang="en-AU" sz="1600" noProof="0" dirty="0"/>
              <a:t>Decision criteria, ROI model, and integration spike-plan are in the appendix and the repo.</a:t>
            </a:r>
          </a:p>
        </p:txBody>
      </p:sp>
      <p:sp>
        <p:nvSpPr>
          <p:cNvPr id="20" name="Icon Check"/>
          <p:cNvSpPr/>
          <p:nvPr/>
        </p:nvSpPr>
        <p:spPr>
          <a:xfrm>
            <a:off x="4826019" y="1113103"/>
            <a:ext cx="300000" cy="260000"/>
          </a:xfrm>
          <a:custGeom>
            <a:avLst/>
            <a:gdLst/>
            <a:ahLst/>
            <a:cxnLst/>
            <a:rect l="0" t="0" r="0" b="0"/>
            <a:pathLst>
              <a:path w="10000" h="8000">
                <a:moveTo>
                  <a:pt x="0" y="4500"/>
                </a:moveTo>
                <a:lnTo>
                  <a:pt x="1500" y="3000"/>
                </a:lnTo>
                <a:lnTo>
                  <a:pt x="3800" y="5500"/>
                </a:lnTo>
                <a:lnTo>
                  <a:pt x="8500" y="1000"/>
                </a:lnTo>
                <a:lnTo>
                  <a:pt x="10000" y="2500"/>
                </a:lnTo>
                <a:lnTo>
                  <a:pt x="3800" y="8000"/>
                </a:lnTo>
                <a:close/>
              </a:path>
            </a:pathLst>
          </a:custGeom>
          <a:solidFill>
            <a:schemeClr val="accent1"/>
          </a:solidFill>
          <a:ln>
            <a:noFill/>
          </a:ln>
        </p:spPr>
        <p:txBody>
          <a:bodyPr/>
          <a:lstStyle/>
          <a:p>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noProof="0" dirty="0"/>
              <a:t>KPIs we will publish on day one</a:t>
            </a:r>
          </a:p>
        </p:txBody>
      </p:sp>
      <p:sp>
        <p:nvSpPr>
          <p:cNvPr id="3" name="Text Placeholder 2"/>
          <p:cNvSpPr>
            <a:spLocks noGrp="1"/>
          </p:cNvSpPr>
          <p:nvPr>
            <p:ph type="body" sz="quarter" idx="10"/>
          </p:nvPr>
        </p:nvSpPr>
        <p:spPr>
          <a:xfrm>
            <a:off x="4644137" y="1689001"/>
            <a:ext cx="6959600" cy="2800767"/>
          </a:xfrm>
        </p:spPr>
        <p:txBody>
          <a:bodyPr/>
          <a:lstStyle/>
          <a:p>
            <a:r>
              <a:rPr lang="en-AU" noProof="0" dirty="0"/>
              <a:t>Operational SLOs </a:t>
            </a:r>
            <a:r>
              <a:rPr lang="en-AU" sz="1200" noProof="0" dirty="0"/>
              <a:t>(rolling 30-day, with burn-rate alerts at 2%/h and 5%/h):</a:t>
            </a:r>
            <a:endParaRPr lang="en-AU" noProof="0" dirty="0"/>
          </a:p>
          <a:p>
            <a:r>
              <a:rPr lang="en-AU" noProof="0" dirty="0"/>
              <a:t>  • Signal-to-recommendation latency P95 &lt; 30s</a:t>
            </a:r>
          </a:p>
          <a:p>
            <a:r>
              <a:rPr lang="en-AU" noProof="0" dirty="0"/>
              <a:t>  • Recommendation-to-approval-request latency P95 &lt; 5s</a:t>
            </a:r>
          </a:p>
          <a:p>
            <a:r>
              <a:rPr lang="en-AU" noProof="0" dirty="0"/>
              <a:t>  • Alert publish latency (after approval) P95 &lt; 60s</a:t>
            </a:r>
          </a:p>
          <a:p>
            <a:r>
              <a:rPr lang="en-AU" noProof="0" dirty="0"/>
              <a:t>  • Audit-write durability: 100% before HTTP refusal</a:t>
            </a:r>
          </a:p>
          <a:p>
            <a:endParaRPr lang="en-AU" noProof="0" dirty="0"/>
          </a:p>
          <a:p>
            <a:r>
              <a:rPr lang="en-AU" noProof="0" dirty="0"/>
              <a:t>Capstone outcome KPIs </a:t>
            </a:r>
            <a:r>
              <a:rPr lang="en-AU" sz="1200" noProof="0" dirty="0"/>
              <a:t>(per Spec #040 evidence harness, with bootstrap 95% CI):</a:t>
            </a:r>
            <a:endParaRPr lang="en-AU" noProof="0" dirty="0"/>
          </a:p>
          <a:p>
            <a:r>
              <a:rPr lang="en-AU" noProof="0" dirty="0"/>
              <a:t>  • Modelled lives saved per year of equivalent operational tempo</a:t>
            </a:r>
          </a:p>
          <a:p>
            <a:r>
              <a:rPr lang="en-AU" noProof="0" dirty="0"/>
              <a:t>  • Coordinated response time reduction vs prototype baseline</a:t>
            </a:r>
          </a:p>
          <a:p>
            <a:r>
              <a:rPr lang="en-AU" noProof="0" dirty="0"/>
              <a:t>  • Evacuation lead-time uplift</a:t>
            </a:r>
          </a:p>
          <a:p>
            <a:r>
              <a:rPr lang="en-AU" noProof="0" dirty="0"/>
              <a:t>  • Logistics efficiency uplift</a:t>
            </a:r>
          </a:p>
          <a:p>
            <a:r>
              <a:rPr lang="en-AU" noProof="0" dirty="0"/>
              <a:t>  • Modelled economic loss reduction</a:t>
            </a:r>
          </a:p>
          <a:p>
            <a:endParaRPr lang="en-AU" noProof="0" dirty="0"/>
          </a:p>
        </p:txBody>
      </p:sp>
      <p:sp>
        <p:nvSpPr>
          <p:cNvPr id="20" name="Icon Bar 1"/>
          <p:cNvSpPr/>
          <p:nvPr/>
        </p:nvSpPr>
        <p:spPr>
          <a:xfrm>
            <a:off x="4858519" y="1263103"/>
            <a:ext cx="65000" cy="120000"/>
          </a:xfrm>
          <a:prstGeom prst="roundRect">
            <a:avLst>
              <a:gd name="adj" fmla="val 10000"/>
            </a:avLst>
          </a:prstGeom>
          <a:solidFill>
            <a:schemeClr val="accent1"/>
          </a:solidFill>
          <a:ln>
            <a:noFill/>
          </a:ln>
        </p:spPr>
        <p:txBody>
          <a:bodyPr/>
          <a:lstStyle/>
          <a:p>
            <a:endParaRPr lang="en-US"/>
          </a:p>
        </p:txBody>
      </p:sp>
      <p:sp>
        <p:nvSpPr>
          <p:cNvPr id="21" name="Icon Bar 2"/>
          <p:cNvSpPr/>
          <p:nvPr/>
        </p:nvSpPr>
        <p:spPr>
          <a:xfrm>
            <a:off x="4943519" y="1183103"/>
            <a:ext cx="65000" cy="200000"/>
          </a:xfrm>
          <a:prstGeom prst="roundRect">
            <a:avLst>
              <a:gd name="adj" fmla="val 10000"/>
            </a:avLst>
          </a:prstGeom>
          <a:solidFill>
            <a:schemeClr val="accent1"/>
          </a:solidFill>
          <a:ln>
            <a:noFill/>
          </a:ln>
        </p:spPr>
        <p:txBody>
          <a:bodyPr/>
          <a:lstStyle/>
          <a:p>
            <a:endParaRPr lang="en-US"/>
          </a:p>
        </p:txBody>
      </p:sp>
      <p:sp>
        <p:nvSpPr>
          <p:cNvPr id="22" name="Icon Bar 3"/>
          <p:cNvSpPr/>
          <p:nvPr/>
        </p:nvSpPr>
        <p:spPr>
          <a:xfrm>
            <a:off x="5028519" y="1103103"/>
            <a:ext cx="65000" cy="280000"/>
          </a:xfrm>
          <a:prstGeom prst="roundRect">
            <a:avLst>
              <a:gd name="adj" fmla="val 10000"/>
            </a:avLst>
          </a:prstGeom>
          <a:solidFill>
            <a:schemeClr val="accent1"/>
          </a:solidFill>
          <a:ln>
            <a:noFill/>
          </a:ln>
        </p:spPr>
        <p:txBody>
          <a:bodyPr/>
          <a:lstStyle/>
          <a:p>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8262" y="2444115"/>
            <a:ext cx="3011585" cy="1969770"/>
          </a:xfrm>
        </p:spPr>
        <p:txBody>
          <a:bodyPr/>
          <a:lstStyle/>
          <a:p>
            <a:r>
              <a:rPr lang="en-AU" noProof="0" dirty="0"/>
              <a:t>Lessons learned</a:t>
            </a:r>
            <a:br>
              <a:rPr lang="en-AU" noProof="0" dirty="0"/>
            </a:br>
            <a:br>
              <a:rPr lang="en-AU" noProof="0" dirty="0"/>
            </a:br>
            <a:r>
              <a:rPr lang="en-AU" noProof="0" dirty="0"/>
              <a:t>What surprised us, what we changed</a:t>
            </a:r>
          </a:p>
        </p:txBody>
      </p:sp>
      <p:sp>
        <p:nvSpPr>
          <p:cNvPr id="3" name="Text Placeholder 2"/>
          <p:cNvSpPr>
            <a:spLocks noGrp="1"/>
          </p:cNvSpPr>
          <p:nvPr>
            <p:ph type="body" sz="quarter" idx="10"/>
          </p:nvPr>
        </p:nvSpPr>
        <p:spPr>
          <a:xfrm>
            <a:off x="4644138" y="1746753"/>
            <a:ext cx="6959600" cy="2800767"/>
          </a:xfrm>
        </p:spPr>
        <p:txBody>
          <a:bodyPr/>
          <a:lstStyle/>
          <a:p>
            <a:r>
              <a:rPr lang="en-AU" sz="1700" noProof="0" dirty="0"/>
              <a:t>Spec-driven beats code-driven. We wrote 40+ specifications before significant code. Every Specification named its assumptions, hypotheses, scope boundaries. The Constitution was the spine. The cost was upfront cycles; the payoff is reviewability, traceability, and changeability.</a:t>
            </a:r>
          </a:p>
          <a:p>
            <a:endParaRPr lang="en-AU" sz="1700" noProof="0" dirty="0"/>
          </a:p>
          <a:p>
            <a:r>
              <a:rPr lang="en-AU" sz="1700" noProof="0" dirty="0"/>
              <a:t>Multi-agent is a discipline, not a vendor choice. Handoff contracts, retry semantics, dead-letter SLAs - these mattered far more than the model choice. Microsoft Agent Framework made the orchestration cheap; the </a:t>
            </a:r>
            <a:r>
              <a:rPr lang="en-AU" sz="1700" i="1" noProof="0" dirty="0"/>
              <a:t>thinking</a:t>
            </a:r>
            <a:r>
              <a:rPr lang="en-AU" sz="1700" noProof="0" dirty="0"/>
              <a:t> was ours.</a:t>
            </a:r>
          </a:p>
          <a:p>
            <a:endParaRPr lang="en-AU" sz="1700" noProof="0" dirty="0"/>
          </a:p>
          <a:p>
            <a:r>
              <a:rPr lang="en-AU" sz="1700" noProof="0" dirty="0"/>
              <a:t>Governance has to ship with the product. The Governance Dashboard, the append-only audit - these are not 'phase 2'. They land in PR #1 because retrofitting them is impossible.</a:t>
            </a:r>
          </a:p>
          <a:p>
            <a:endParaRPr lang="en-AU" sz="1700" noProof="0" dirty="0"/>
          </a:p>
          <a:p>
            <a:r>
              <a:rPr lang="en-AU" sz="1700" noProof="0" dirty="0"/>
              <a:t>Lessons feed forward: every significant scenario triggers an AIDR-style after-action review, captured as a Specification amendment. Continual improvement is Constitutional (Quality Gates).</a:t>
            </a:r>
          </a:p>
        </p:txBody>
      </p:sp>
      <p:sp>
        <p:nvSpPr>
          <p:cNvPr id="20" name="Icon Lightbulb"/>
          <p:cNvSpPr/>
          <p:nvPr/>
        </p:nvSpPr>
        <p:spPr>
          <a:xfrm>
            <a:off x="4866019" y="1083103"/>
            <a:ext cx="220000" cy="320000"/>
          </a:xfrm>
          <a:custGeom>
            <a:avLst/>
            <a:gdLst/>
            <a:ahLst/>
            <a:cxnLst/>
            <a:rect l="0" t="0" r="0" b="0"/>
            <a:pathLst>
              <a:path w="10000" h="14000">
                <a:moveTo>
                  <a:pt x="5000" y="0"/>
                </a:moveTo>
                <a:cubicBezTo>
                  <a:pt x="8500" y="0"/>
                  <a:pt x="10000" y="2500"/>
                  <a:pt x="10000" y="5000"/>
                </a:cubicBezTo>
                <a:cubicBezTo>
                  <a:pt x="10000" y="7500"/>
                  <a:pt x="7500" y="8500"/>
                  <a:pt x="7000" y="9500"/>
                </a:cubicBezTo>
                <a:lnTo>
                  <a:pt x="7000" y="11000"/>
                </a:lnTo>
                <a:lnTo>
                  <a:pt x="3000" y="11000"/>
                </a:lnTo>
                <a:lnTo>
                  <a:pt x="3000" y="9500"/>
                </a:lnTo>
                <a:cubicBezTo>
                  <a:pt x="2500" y="8500"/>
                  <a:pt x="0" y="7500"/>
                  <a:pt x="0" y="5000"/>
                </a:cubicBezTo>
                <a:cubicBezTo>
                  <a:pt x="0" y="2500"/>
                  <a:pt x="1500" y="0"/>
                  <a:pt x="5000" y="0"/>
                </a:cubicBezTo>
                <a:close/>
                <a:moveTo>
                  <a:pt x="3200" y="11800"/>
                </a:moveTo>
                <a:lnTo>
                  <a:pt x="6800" y="11800"/>
                </a:lnTo>
                <a:lnTo>
                  <a:pt x="6800" y="12800"/>
                </a:lnTo>
                <a:lnTo>
                  <a:pt x="3200" y="12800"/>
                </a:lnTo>
                <a:close/>
                <a:moveTo>
                  <a:pt x="3800" y="13400"/>
                </a:moveTo>
                <a:lnTo>
                  <a:pt x="6200" y="13400"/>
                </a:lnTo>
                <a:lnTo>
                  <a:pt x="5000" y="14000"/>
                </a:lnTo>
                <a:close/>
              </a:path>
            </a:pathLst>
          </a:custGeom>
          <a:solidFill>
            <a:schemeClr val="accent1"/>
          </a:solidFill>
          <a:ln>
            <a:noFill/>
          </a:ln>
        </p:spPr>
        <p:txBody>
          <a:bodyPr/>
          <a:lstStyle/>
          <a:p>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noProof="0" dirty="0"/>
              <a:t>Reference architecture</a:t>
            </a:r>
            <a:br>
              <a:rPr lang="en-AU" noProof="0" dirty="0"/>
            </a:br>
            <a:br>
              <a:rPr lang="en-AU" noProof="0" dirty="0"/>
            </a:br>
            <a:r>
              <a:rPr lang="en-AU" noProof="0" dirty="0"/>
              <a:t>Extensible to allied &amp; regional partners</a:t>
            </a:r>
          </a:p>
        </p:txBody>
      </p:sp>
      <p:sp>
        <p:nvSpPr>
          <p:cNvPr id="3" name="Text Placeholder 2"/>
          <p:cNvSpPr>
            <a:spLocks noGrp="1"/>
          </p:cNvSpPr>
          <p:nvPr>
            <p:ph type="body" sz="quarter" idx="10"/>
          </p:nvPr>
        </p:nvSpPr>
        <p:spPr>
          <a:xfrm>
            <a:off x="4644137" y="1785254"/>
            <a:ext cx="6959600" cy="2800767"/>
          </a:xfrm>
        </p:spPr>
        <p:txBody>
          <a:bodyPr/>
          <a:lstStyle/>
          <a:p>
            <a:r>
              <a:rPr lang="en-AU" noProof="0" dirty="0"/>
              <a:t>Australia first, with a deliberately portable architecture. The Constitution names 27 specs as delivery-hygiene and capstone-critical-path; the boundary between AU-only and regionally-portable is explicit at the </a:t>
            </a:r>
            <a:r>
              <a:rPr lang="en-AU" dirty="0"/>
              <a:t>requirements</a:t>
            </a:r>
            <a:r>
              <a:rPr lang="en-AU" noProof="0" dirty="0"/>
              <a:t> level.</a:t>
            </a:r>
          </a:p>
          <a:p>
            <a:endParaRPr lang="en-AU" noProof="0" dirty="0"/>
          </a:p>
          <a:p>
            <a:r>
              <a:rPr lang="en-AU" noProof="0" dirty="0"/>
              <a:t>Partners on the immediate horizon: New Zealand (ANZEMC), Pacific Island Forum members (per AIDR's regional engagement). Each lands as a new jurisdiction tuple, a localised language pack, and a country-specific Constitution amendment - not a fork.</a:t>
            </a:r>
          </a:p>
          <a:p>
            <a:endParaRPr lang="en-AU" noProof="0" dirty="0"/>
          </a:p>
          <a:p>
            <a:r>
              <a:rPr lang="en-AU" noProof="0" dirty="0"/>
              <a:t>Interop is the moat: CAP/EDXL/</a:t>
            </a:r>
            <a:r>
              <a:rPr lang="en-AU" noProof="0" dirty="0" err="1"/>
              <a:t>GeoJSON</a:t>
            </a:r>
            <a:r>
              <a:rPr lang="en-AU" noProof="0" dirty="0"/>
              <a:t> in, </a:t>
            </a:r>
            <a:r>
              <a:rPr lang="en-AU" noProof="0" dirty="0" err="1"/>
              <a:t>OpenAPI</a:t>
            </a:r>
            <a:r>
              <a:rPr lang="en-AU" noProof="0" dirty="0"/>
              <a:t> 3.1 out. Any nation that runs an E</a:t>
            </a:r>
            <a:r>
              <a:rPr lang="en-AU" dirty="0" err="1"/>
              <a:t>mergency</a:t>
            </a:r>
            <a:r>
              <a:rPr lang="en-AU" dirty="0"/>
              <a:t> </a:t>
            </a:r>
            <a:r>
              <a:rPr lang="en-AU" noProof="0" dirty="0"/>
              <a:t>Management stack can integrate without bespoke connectors. The platform is an Australian-built </a:t>
            </a:r>
            <a:r>
              <a:rPr lang="en-AU" i="1" noProof="0" dirty="0"/>
              <a:t>reference architecture</a:t>
            </a:r>
            <a:r>
              <a:rPr lang="en-AU" noProof="0" dirty="0"/>
              <a:t>, not a closed system.</a:t>
            </a:r>
          </a:p>
        </p:txBody>
      </p:sp>
      <p:sp>
        <p:nvSpPr>
          <p:cNvPr id="20" name="Icon Globe Ring"/>
          <p:cNvSpPr/>
          <p:nvPr/>
        </p:nvSpPr>
        <p:spPr>
          <a:xfrm>
            <a:off x="4836019" y="1103103"/>
            <a:ext cx="280000" cy="280000"/>
          </a:xfrm>
          <a:prstGeom prst="donut">
            <a:avLst>
              <a:gd name="adj" fmla="val 12000"/>
            </a:avLst>
          </a:prstGeom>
          <a:solidFill>
            <a:schemeClr val="accent1"/>
          </a:solidFill>
          <a:ln>
            <a:noFill/>
          </a:ln>
        </p:spPr>
        <p:txBody>
          <a:bodyPr/>
          <a:lstStyle/>
          <a:p>
            <a:endParaRPr lang="en-US"/>
          </a:p>
        </p:txBody>
      </p:sp>
      <p:sp>
        <p:nvSpPr>
          <p:cNvPr id="21" name="Icon Globe Meridian"/>
          <p:cNvSpPr/>
          <p:nvPr/>
        </p:nvSpPr>
        <p:spPr>
          <a:xfrm>
            <a:off x="4926019" y="1123103"/>
            <a:ext cx="100000" cy="240000"/>
          </a:xfrm>
          <a:prstGeom prst="donut">
            <a:avLst>
              <a:gd name="adj" fmla="val 15000"/>
            </a:avLst>
          </a:prstGeom>
          <a:solidFill>
            <a:schemeClr val="accent1"/>
          </a:solidFill>
          <a:ln>
            <a:noFill/>
          </a:ln>
        </p:spPr>
        <p:txBody>
          <a:bodyPr/>
          <a:lstStyle/>
          <a:p>
            <a:endParaRPr lang="en-US"/>
          </a:p>
        </p:txBody>
      </p:sp>
      <p:sp>
        <p:nvSpPr>
          <p:cNvPr id="22" name="Icon Globe Equator"/>
          <p:cNvSpPr/>
          <p:nvPr/>
        </p:nvSpPr>
        <p:spPr>
          <a:xfrm>
            <a:off x="4856019" y="1237103"/>
            <a:ext cx="240000" cy="12000"/>
          </a:xfrm>
          <a:prstGeom prst="rect">
            <a:avLst/>
          </a:prstGeom>
          <a:solidFill>
            <a:schemeClr val="accent1"/>
          </a:solidFill>
          <a:ln>
            <a:noFill/>
          </a:ln>
        </p:spPr>
        <p:txBody>
          <a:bodyPr/>
          <a:lstStyle/>
          <a:p>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noProof="0" dirty="0"/>
              <a:t>Cost model - line items &amp; sensitivity</a:t>
            </a:r>
          </a:p>
        </p:txBody>
      </p:sp>
      <p:sp>
        <p:nvSpPr>
          <p:cNvPr id="3" name="Text Placeholder 2"/>
          <p:cNvSpPr>
            <a:spLocks noGrp="1"/>
          </p:cNvSpPr>
          <p:nvPr>
            <p:ph type="body" sz="quarter" idx="10"/>
          </p:nvPr>
        </p:nvSpPr>
        <p:spPr>
          <a:xfrm>
            <a:off x="4717165" y="1708252"/>
            <a:ext cx="6959600" cy="2800767"/>
          </a:xfrm>
        </p:spPr>
        <p:txBody>
          <a:bodyPr/>
          <a:lstStyle/>
          <a:p>
            <a:r>
              <a:rPr lang="en-AU" sz="1700" noProof="0" dirty="0"/>
              <a:t>Pilot (single jurisdiction):</a:t>
            </a:r>
          </a:p>
          <a:p>
            <a:endParaRPr lang="en-AU" sz="1700" noProof="0" dirty="0"/>
          </a:p>
          <a:p>
            <a:endParaRPr lang="en-AU" sz="1700" dirty="0"/>
          </a:p>
          <a:p>
            <a:endParaRPr lang="en-AU" sz="1700" noProof="0" dirty="0"/>
          </a:p>
          <a:p>
            <a:endParaRPr lang="en-AU" sz="1700" dirty="0"/>
          </a:p>
          <a:p>
            <a:endParaRPr lang="en-AU" sz="1700" noProof="0" dirty="0"/>
          </a:p>
          <a:p>
            <a:endParaRPr lang="en-AU" sz="1700" dirty="0"/>
          </a:p>
          <a:p>
            <a:endParaRPr lang="en-AU" sz="1700" noProof="0" dirty="0"/>
          </a:p>
          <a:p>
            <a:endParaRPr lang="en-AU" sz="1700" dirty="0"/>
          </a:p>
          <a:p>
            <a:endParaRPr lang="en-AU" sz="1700" noProof="0" dirty="0"/>
          </a:p>
          <a:p>
            <a:endParaRPr lang="en-AU" sz="1700" dirty="0"/>
          </a:p>
          <a:p>
            <a:r>
              <a:rPr lang="en-AU" sz="1700" noProof="0" dirty="0"/>
              <a:t>.</a:t>
            </a:r>
          </a:p>
          <a:p>
            <a:endParaRPr lang="en-AU" sz="1700" noProof="0" dirty="0"/>
          </a:p>
          <a:p>
            <a:r>
              <a:rPr lang="en-AU" sz="1700" noProof="0" dirty="0"/>
              <a:t>ROI scenario (illustrative): </a:t>
            </a:r>
            <a:r>
              <a:rPr lang="en-GB" sz="1700" noProof="0" dirty="0"/>
              <a:t>Black Summer 2019–20 = ~A$100B in losses. State-scale annualised operating cost is in the low single-digit millions</a:t>
            </a:r>
            <a:r>
              <a:rPr lang="en-AU" sz="1700" noProof="0" dirty="0"/>
              <a:t>.</a:t>
            </a:r>
          </a:p>
        </p:txBody>
      </p:sp>
      <p:graphicFrame>
        <p:nvGraphicFramePr>
          <p:cNvPr id="4" name="Table 3">
            <a:extLst>
              <a:ext uri="{FF2B5EF4-FFF2-40B4-BE49-F238E27FC236}">
                <a16:creationId xmlns:a16="http://schemas.microsoft.com/office/drawing/2014/main" id="{59F7C900-12A7-FD1B-68E3-5FBA547054B5}"/>
              </a:ext>
            </a:extLst>
          </p:cNvPr>
          <p:cNvGraphicFramePr>
            <a:graphicFrameLocks noGrp="1"/>
          </p:cNvGraphicFramePr>
          <p:nvPr>
            <p:extLst>
              <p:ext uri="{D42A27DB-BD31-4B8C-83A1-F6EECF244321}">
                <p14:modId xmlns:p14="http://schemas.microsoft.com/office/powerpoint/2010/main" val="2090661056"/>
              </p:ext>
            </p:extLst>
          </p:nvPr>
        </p:nvGraphicFramePr>
        <p:xfrm>
          <a:off x="4717165" y="2054580"/>
          <a:ext cx="6755866" cy="3566160"/>
        </p:xfrm>
        <a:graphic>
          <a:graphicData uri="http://schemas.openxmlformats.org/drawingml/2006/table">
            <a:tbl>
              <a:tblPr firstRow="1" bandRow="1">
                <a:tableStyleId>{5C22544A-7EE6-4342-B048-85BDC9FD1C3A}</a:tableStyleId>
              </a:tblPr>
              <a:tblGrid>
                <a:gridCol w="5321984">
                  <a:extLst>
                    <a:ext uri="{9D8B030D-6E8A-4147-A177-3AD203B41FA5}">
                      <a16:colId xmlns:a16="http://schemas.microsoft.com/office/drawing/2014/main" val="1537600385"/>
                    </a:ext>
                  </a:extLst>
                </a:gridCol>
                <a:gridCol w="1433882">
                  <a:extLst>
                    <a:ext uri="{9D8B030D-6E8A-4147-A177-3AD203B41FA5}">
                      <a16:colId xmlns:a16="http://schemas.microsoft.com/office/drawing/2014/main" val="341752886"/>
                    </a:ext>
                  </a:extLst>
                </a:gridCol>
              </a:tblGrid>
              <a:tr h="0">
                <a:tc>
                  <a:txBody>
                    <a:bodyPr/>
                    <a:lstStyle/>
                    <a:p>
                      <a:r>
                        <a:rPr lang="en-AU" sz="1400" dirty="0"/>
                        <a:t>Resource</a:t>
                      </a:r>
                    </a:p>
                  </a:txBody>
                  <a:tcPr marL="45720" marR="45720"/>
                </a:tc>
                <a:tc>
                  <a:txBody>
                    <a:bodyPr/>
                    <a:lstStyle/>
                    <a:p>
                      <a:r>
                        <a:rPr lang="en-AU" sz="1400" dirty="0"/>
                        <a:t>Monthly cost (AUD)</a:t>
                      </a:r>
                    </a:p>
                  </a:txBody>
                  <a:tcPr marL="45720" marR="45720"/>
                </a:tc>
                <a:extLst>
                  <a:ext uri="{0D108BD9-81ED-4DB2-BD59-A6C34878D82A}">
                    <a16:rowId xmlns:a16="http://schemas.microsoft.com/office/drawing/2014/main" val="1796579305"/>
                  </a:ext>
                </a:extLst>
              </a:tr>
              <a:tr h="0">
                <a:tc>
                  <a:txBody>
                    <a:bodyPr/>
                    <a:lstStyle/>
                    <a:p>
                      <a:r>
                        <a:rPr lang="en-AU" sz="1400" noProof="0" dirty="0"/>
                        <a:t>Foundry models - reasoning + drafting deployments</a:t>
                      </a:r>
                    </a:p>
                  </a:txBody>
                  <a:tcPr marL="45720" marR="45720"/>
                </a:tc>
                <a:tc>
                  <a:txBody>
                    <a:bodyPr/>
                    <a:lstStyle/>
                    <a:p>
                      <a:r>
                        <a:rPr lang="en-AU" sz="1400" noProof="0" dirty="0"/>
                        <a:t>~$2,800</a:t>
                      </a:r>
                      <a:endParaRPr lang="en-AU" sz="1400" dirty="0"/>
                    </a:p>
                  </a:txBody>
                  <a:tcPr marL="45720" marR="45720"/>
                </a:tc>
                <a:extLst>
                  <a:ext uri="{0D108BD9-81ED-4DB2-BD59-A6C34878D82A}">
                    <a16:rowId xmlns:a16="http://schemas.microsoft.com/office/drawing/2014/main" val="314144586"/>
                  </a:ext>
                </a:extLst>
              </a:tr>
              <a:tr h="0">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AU" sz="1400" noProof="0" dirty="0"/>
                        <a:t>Cosmos DB serverless (multi-container)</a:t>
                      </a:r>
                      <a:endParaRPr lang="en-AU" sz="1400" dirty="0"/>
                    </a:p>
                  </a:txBody>
                  <a:tcPr marL="45720" marR="45720"/>
                </a:tc>
                <a:tc>
                  <a:txBody>
                    <a:bodyPr/>
                    <a:lstStyle/>
                    <a:p>
                      <a:r>
                        <a:rPr lang="en-AU" sz="1400" noProof="0" dirty="0"/>
                        <a:t>~$1,200</a:t>
                      </a:r>
                      <a:endParaRPr lang="en-AU" sz="1400" dirty="0"/>
                    </a:p>
                  </a:txBody>
                  <a:tcPr marL="45720" marR="45720"/>
                </a:tc>
                <a:extLst>
                  <a:ext uri="{0D108BD9-81ED-4DB2-BD59-A6C34878D82A}">
                    <a16:rowId xmlns:a16="http://schemas.microsoft.com/office/drawing/2014/main" val="1348212812"/>
                  </a:ext>
                </a:extLst>
              </a:tr>
              <a:tr h="0">
                <a:tc>
                  <a:txBody>
                    <a:bodyPr/>
                    <a:lstStyle/>
                    <a:p>
                      <a:r>
                        <a:rPr lang="en-AU" sz="1400" noProof="0" dirty="0"/>
                        <a:t>Container Apps consumption (API + agents)</a:t>
                      </a:r>
                      <a:endParaRPr lang="en-AU" sz="1400" dirty="0"/>
                    </a:p>
                  </a:txBody>
                  <a:tcPr marL="45720" marR="45720"/>
                </a:tc>
                <a:tc>
                  <a:txBody>
                    <a:bodyPr/>
                    <a:lstStyle/>
                    <a:p>
                      <a:r>
                        <a:rPr lang="en-AU" sz="1400" noProof="0" dirty="0"/>
                        <a:t>~$1,400</a:t>
                      </a:r>
                      <a:endParaRPr lang="en-AU" sz="1400" dirty="0"/>
                    </a:p>
                  </a:txBody>
                  <a:tcPr marL="45720" marR="45720"/>
                </a:tc>
                <a:extLst>
                  <a:ext uri="{0D108BD9-81ED-4DB2-BD59-A6C34878D82A}">
                    <a16:rowId xmlns:a16="http://schemas.microsoft.com/office/drawing/2014/main" val="3642873086"/>
                  </a:ext>
                </a:extLst>
              </a:tr>
              <a:tr h="0">
                <a:tc>
                  <a:txBody>
                    <a:bodyPr/>
                    <a:lstStyle/>
                    <a:p>
                      <a:r>
                        <a:rPr lang="en-AU" sz="1400" noProof="0" dirty="0"/>
                        <a:t>Azure AI Search (Foundry RAG, AIDR corpus)</a:t>
                      </a:r>
                      <a:endParaRPr lang="en-AU" sz="1400" dirty="0"/>
                    </a:p>
                  </a:txBody>
                  <a:tcPr marL="45720" marR="45720"/>
                </a:tc>
                <a:tc>
                  <a:txBody>
                    <a:bodyPr/>
                    <a:lstStyle/>
                    <a:p>
                      <a:r>
                        <a:rPr lang="en-AU" sz="1400" noProof="0" dirty="0"/>
                        <a:t>~$700</a:t>
                      </a:r>
                      <a:endParaRPr lang="en-AU" sz="1400" dirty="0"/>
                    </a:p>
                  </a:txBody>
                  <a:tcPr marL="45720" marR="45720"/>
                </a:tc>
                <a:extLst>
                  <a:ext uri="{0D108BD9-81ED-4DB2-BD59-A6C34878D82A}">
                    <a16:rowId xmlns:a16="http://schemas.microsoft.com/office/drawing/2014/main" val="3496708230"/>
                  </a:ext>
                </a:extLst>
              </a:tr>
              <a:tr h="0">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AU" sz="1400" noProof="0" dirty="0"/>
                        <a:t>Storage (audit, evidence pack, immutable)</a:t>
                      </a:r>
                    </a:p>
                  </a:txBody>
                  <a:tcPr marL="45720" marR="45720"/>
                </a:tc>
                <a:tc>
                  <a:txBody>
                    <a:bodyPr/>
                    <a:lstStyle/>
                    <a:p>
                      <a:r>
                        <a:rPr lang="en-AU" sz="1400" noProof="0" dirty="0"/>
                        <a:t>~$300</a:t>
                      </a:r>
                      <a:endParaRPr lang="en-AU" sz="1400" dirty="0"/>
                    </a:p>
                  </a:txBody>
                  <a:tcPr marL="45720" marR="45720"/>
                </a:tc>
                <a:extLst>
                  <a:ext uri="{0D108BD9-81ED-4DB2-BD59-A6C34878D82A}">
                    <a16:rowId xmlns:a16="http://schemas.microsoft.com/office/drawing/2014/main" val="2299250417"/>
                  </a:ext>
                </a:extLst>
              </a:tr>
              <a:tr h="0">
                <a:tc>
                  <a:txBody>
                    <a:bodyPr/>
                    <a:lstStyle/>
                    <a:p>
                      <a:r>
                        <a:rPr lang="en-AU" sz="1400" noProof="0" dirty="0"/>
                        <a:t>Service Bus + Event Grid </a:t>
                      </a:r>
                      <a:endParaRPr lang="en-AU" sz="1400" dirty="0"/>
                    </a:p>
                  </a:txBody>
                  <a:tcPr marL="45720" marR="45720"/>
                </a:tc>
                <a:tc>
                  <a:txBody>
                    <a:bodyPr/>
                    <a:lstStyle/>
                    <a:p>
                      <a:r>
                        <a:rPr lang="en-AU" sz="1400" noProof="0" dirty="0"/>
                        <a:t>~$150</a:t>
                      </a:r>
                      <a:endParaRPr lang="en-AU" sz="1400" dirty="0"/>
                    </a:p>
                  </a:txBody>
                  <a:tcPr marL="45720" marR="45720"/>
                </a:tc>
                <a:extLst>
                  <a:ext uri="{0D108BD9-81ED-4DB2-BD59-A6C34878D82A}">
                    <a16:rowId xmlns:a16="http://schemas.microsoft.com/office/drawing/2014/main" val="3463254460"/>
                  </a:ext>
                </a:extLst>
              </a:tr>
              <a:tr h="0">
                <a:tc>
                  <a:txBody>
                    <a:bodyPr/>
                    <a:lstStyle/>
                    <a:p>
                      <a:r>
                        <a:rPr lang="en-AU" sz="1400" dirty="0"/>
                        <a:t>Application Insights + Log Analytics</a:t>
                      </a:r>
                    </a:p>
                  </a:txBody>
                  <a:tcPr marL="45720" marR="45720"/>
                </a:tc>
                <a:tc>
                  <a:txBody>
                    <a:bodyPr/>
                    <a:lstStyle/>
                    <a:p>
                      <a:r>
                        <a:rPr lang="en-AU" sz="1400" noProof="0" dirty="0"/>
                        <a:t>~$600</a:t>
                      </a:r>
                      <a:endParaRPr lang="en-AU" sz="1400" dirty="0"/>
                    </a:p>
                  </a:txBody>
                  <a:tcPr marL="45720" marR="45720"/>
                </a:tc>
                <a:extLst>
                  <a:ext uri="{0D108BD9-81ED-4DB2-BD59-A6C34878D82A}">
                    <a16:rowId xmlns:a16="http://schemas.microsoft.com/office/drawing/2014/main" val="1648511975"/>
                  </a:ext>
                </a:extLst>
              </a:tr>
              <a:tr h="0">
                <a:tc>
                  <a:txBody>
                    <a:bodyPr/>
                    <a:lstStyle/>
                    <a:p>
                      <a:r>
                        <a:rPr lang="en-AU" sz="1400" noProof="0" dirty="0"/>
                        <a:t>Azure Communication Services (pilot volume)</a:t>
                      </a:r>
                      <a:endParaRPr lang="en-AU" sz="1400" dirty="0"/>
                    </a:p>
                  </a:txBody>
                  <a:tcPr marL="45720" marR="45720"/>
                </a:tc>
                <a:tc>
                  <a:txBody>
                    <a:bodyPr/>
                    <a:lstStyle/>
                    <a:p>
                      <a:r>
                        <a:rPr lang="en-AU" sz="1400" noProof="0" dirty="0"/>
                        <a:t>~$1,000</a:t>
                      </a:r>
                      <a:endParaRPr lang="en-AU" sz="1400" dirty="0"/>
                    </a:p>
                  </a:txBody>
                  <a:tcPr marL="45720" marR="45720"/>
                </a:tc>
                <a:extLst>
                  <a:ext uri="{0D108BD9-81ED-4DB2-BD59-A6C34878D82A}">
                    <a16:rowId xmlns:a16="http://schemas.microsoft.com/office/drawing/2014/main" val="48786398"/>
                  </a:ext>
                </a:extLst>
              </a:tr>
              <a:tr h="0">
                <a:tc>
                  <a:txBody>
                    <a:bodyPr/>
                    <a:lstStyle/>
                    <a:p>
                      <a:r>
                        <a:rPr lang="en-AU" sz="1400" noProof="0" dirty="0"/>
                        <a:t>Front Door + Static Web Apps</a:t>
                      </a:r>
                      <a:endParaRPr lang="en-AU" sz="1400" dirty="0"/>
                    </a:p>
                  </a:txBody>
                  <a:tcPr marL="45720" marR="45720"/>
                </a:tc>
                <a:tc>
                  <a:txBody>
                    <a:bodyPr/>
                    <a:lstStyle/>
                    <a:p>
                      <a:r>
                        <a:rPr lang="en-AU" sz="1400" noProof="0" dirty="0"/>
                        <a:t>~$350</a:t>
                      </a:r>
                      <a:endParaRPr lang="en-AU" sz="1400" dirty="0"/>
                    </a:p>
                  </a:txBody>
                  <a:tcPr marL="45720" marR="45720"/>
                </a:tc>
                <a:extLst>
                  <a:ext uri="{0D108BD9-81ED-4DB2-BD59-A6C34878D82A}">
                    <a16:rowId xmlns:a16="http://schemas.microsoft.com/office/drawing/2014/main" val="3099601506"/>
                  </a:ext>
                </a:extLst>
              </a:tr>
              <a:tr h="0">
                <a:tc>
                  <a:txBody>
                    <a:bodyPr/>
                    <a:lstStyle/>
                    <a:p>
                      <a:r>
                        <a:rPr lang="en-AU" sz="1400" b="1" dirty="0"/>
                        <a:t>TOTAL</a:t>
                      </a:r>
                    </a:p>
                  </a:txBody>
                  <a:tcPr marL="45720" marR="45720"/>
                </a:tc>
                <a:tc>
                  <a:txBody>
                    <a:bodyPr/>
                    <a:lstStyle/>
                    <a:p>
                      <a:r>
                        <a:rPr lang="en-AU" sz="1400" noProof="0" dirty="0"/>
                        <a:t>~$8,500</a:t>
                      </a:r>
                      <a:endParaRPr lang="en-AU" sz="1400" dirty="0"/>
                    </a:p>
                  </a:txBody>
                  <a:tcPr marL="45720" marR="45720"/>
                </a:tc>
                <a:extLst>
                  <a:ext uri="{0D108BD9-81ED-4DB2-BD59-A6C34878D82A}">
                    <a16:rowId xmlns:a16="http://schemas.microsoft.com/office/drawing/2014/main" val="4288871565"/>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0"/>
            <a:ext cx="6848478" cy="1231106"/>
          </a:xfrm>
          <a:prstGeom prst="rect">
            <a:avLst/>
          </a:prstGeom>
          <a:noFill/>
        </p:spPr>
        <p:txBody>
          <a:bodyPr wrap="none">
            <a:spAutoFit/>
          </a:bodyPr>
          <a:lstStyle/>
          <a:p>
            <a:r>
              <a:rPr lang="en-AU" sz="5400" b="1" noProof="0" dirty="0"/>
              <a:t>Thank you.</a:t>
            </a:r>
          </a:p>
          <a:p>
            <a:r>
              <a:rPr lang="en-AU" sz="2000" noProof="0" dirty="0"/>
              <a:t>Questions, challenges, healthy disagreement - all welcome.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14930077"/>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noProof="0" dirty="0"/>
              <a:t>Backup slides</a:t>
            </a:r>
          </a:p>
        </p:txBody>
      </p:sp>
      <p:sp>
        <p:nvSpPr>
          <p:cNvPr id="3" name="TextBox 2"/>
          <p:cNvSpPr txBox="1"/>
          <p:nvPr/>
        </p:nvSpPr>
        <p:spPr>
          <a:xfrm>
            <a:off x="457200" y="4572000"/>
            <a:ext cx="7758662" cy="369332"/>
          </a:xfrm>
          <a:prstGeom prst="rect">
            <a:avLst/>
          </a:prstGeom>
          <a:noFill/>
        </p:spPr>
        <p:txBody>
          <a:bodyPr wrap="none">
            <a:spAutoFit/>
          </a:bodyPr>
          <a:lstStyle/>
          <a:p>
            <a:r>
              <a:rPr lang="en-AU" sz="1800" noProof="0" dirty="0"/>
              <a:t>Architecture detail · sequence diagrams · cost &amp; FinOps · governance gates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noProof="0" dirty="0"/>
              <a:t>Sequence - monitoring → risk → communication</a:t>
            </a:r>
          </a:p>
        </p:txBody>
      </p:sp>
      <p:sp>
        <p:nvSpPr>
          <p:cNvPr id="3" name="TextBox 2"/>
          <p:cNvSpPr txBox="1"/>
          <p:nvPr/>
        </p:nvSpPr>
        <p:spPr>
          <a:xfrm>
            <a:off x="1097280" y="1280160"/>
            <a:ext cx="9966960" cy="4937760"/>
          </a:xfrm>
          <a:prstGeom prst="rect">
            <a:avLst/>
          </a:prstGeom>
          <a:noFill/>
        </p:spPr>
        <p:txBody>
          <a:bodyPr wrap="none">
            <a:spAutoFit/>
          </a:bodyPr>
          <a:lstStyle/>
          <a:p>
            <a:r>
              <a:rPr lang="en-AU" noProof="0" dirty="0"/>
              <a:t>[diagram placeholder: monitoring-risk-comms.png not found]</a:t>
            </a:r>
          </a:p>
        </p:txBody>
      </p:sp>
      <p:sp>
        <p:nvSpPr>
          <p:cNvPr id="4" name="TextBox 3"/>
          <p:cNvSpPr txBox="1"/>
          <p:nvPr/>
        </p:nvSpPr>
        <p:spPr>
          <a:xfrm>
            <a:off x="1097280" y="6263640"/>
            <a:ext cx="9966960" cy="411480"/>
          </a:xfrm>
          <a:prstGeom prst="rect">
            <a:avLst/>
          </a:prstGeom>
          <a:noFill/>
        </p:spPr>
        <p:txBody>
          <a:bodyPr wrap="none">
            <a:spAutoFit/>
          </a:bodyPr>
          <a:lstStyle/>
          <a:p>
            <a:r>
              <a:rPr lang="en-AU" sz="1000" i="1" noProof="0" dirty="0">
                <a:solidFill>
                  <a:srgbClr val="555555"/>
                </a:solidFill>
              </a:rPr>
              <a:t>docs/architecture/sequence/monitoring-risk-comms.png</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noProof="0" dirty="0"/>
              <a:t>Sequence - graceful degradation</a:t>
            </a:r>
          </a:p>
        </p:txBody>
      </p:sp>
      <p:pic>
        <p:nvPicPr>
          <p:cNvPr id="3" name="Picture 2" descr="graceful-degradation.png"/>
          <p:cNvPicPr>
            <a:picLocks noChangeAspect="1"/>
          </p:cNvPicPr>
          <p:nvPr/>
        </p:nvPicPr>
        <p:blipFill>
          <a:blip r:embed="rId3"/>
          <a:stretch>
            <a:fillRect/>
          </a:stretch>
        </p:blipFill>
        <p:spPr>
          <a:xfrm>
            <a:off x="1097280" y="1280160"/>
            <a:ext cx="9966960" cy="4937760"/>
          </a:xfrm>
          <a:prstGeom prst="rect">
            <a:avLst/>
          </a:prstGeom>
        </p:spPr>
      </p:pic>
      <p:sp>
        <p:nvSpPr>
          <p:cNvPr id="4" name="TextBox 3"/>
          <p:cNvSpPr txBox="1"/>
          <p:nvPr/>
        </p:nvSpPr>
        <p:spPr>
          <a:xfrm>
            <a:off x="1097280" y="6263640"/>
            <a:ext cx="9966960" cy="411480"/>
          </a:xfrm>
          <a:prstGeom prst="rect">
            <a:avLst/>
          </a:prstGeom>
          <a:noFill/>
        </p:spPr>
        <p:txBody>
          <a:bodyPr wrap="none">
            <a:spAutoFit/>
          </a:bodyPr>
          <a:lstStyle/>
          <a:p>
            <a:r>
              <a:rPr lang="en-AU" sz="1000" i="1" noProof="0" dirty="0">
                <a:solidFill>
                  <a:srgbClr val="555555"/>
                </a:solidFill>
              </a:rPr>
              <a:t>docs/architecture/sequence/graceful-degradation.png</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noProof="0" dirty="0"/>
              <a:t>Sequence - audit &amp; provenance</a:t>
            </a:r>
          </a:p>
        </p:txBody>
      </p:sp>
      <p:pic>
        <p:nvPicPr>
          <p:cNvPr id="3" name="Picture 2" descr="audit-provenance.png"/>
          <p:cNvPicPr>
            <a:picLocks noChangeAspect="1"/>
          </p:cNvPicPr>
          <p:nvPr/>
        </p:nvPicPr>
        <p:blipFill>
          <a:blip r:embed="rId3"/>
          <a:stretch>
            <a:fillRect/>
          </a:stretch>
        </p:blipFill>
        <p:spPr>
          <a:xfrm>
            <a:off x="1097280" y="1280160"/>
            <a:ext cx="9966960" cy="4937760"/>
          </a:xfrm>
          <a:prstGeom prst="rect">
            <a:avLst/>
          </a:prstGeom>
        </p:spPr>
      </p:pic>
      <p:sp>
        <p:nvSpPr>
          <p:cNvPr id="4" name="TextBox 3"/>
          <p:cNvSpPr txBox="1"/>
          <p:nvPr/>
        </p:nvSpPr>
        <p:spPr>
          <a:xfrm>
            <a:off x="1097280" y="6263640"/>
            <a:ext cx="9966960" cy="411480"/>
          </a:xfrm>
          <a:prstGeom prst="rect">
            <a:avLst/>
          </a:prstGeom>
          <a:noFill/>
        </p:spPr>
        <p:txBody>
          <a:bodyPr wrap="none">
            <a:spAutoFit/>
          </a:bodyPr>
          <a:lstStyle/>
          <a:p>
            <a:r>
              <a:rPr lang="en-AU" sz="1000" i="1" noProof="0" dirty="0">
                <a:solidFill>
                  <a:srgbClr val="555555"/>
                </a:solidFill>
              </a:rPr>
              <a:t>docs/architecture/sequence/audit-provenance.png</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noProof="0" dirty="0"/>
              <a:t>CI/CD pipeline &amp; test pyramid</a:t>
            </a:r>
          </a:p>
        </p:txBody>
      </p:sp>
      <p:pic>
        <p:nvPicPr>
          <p:cNvPr id="3" name="Picture 2" descr="cicd-pipeline.png"/>
          <p:cNvPicPr>
            <a:picLocks noChangeAspect="1"/>
          </p:cNvPicPr>
          <p:nvPr/>
        </p:nvPicPr>
        <p:blipFill>
          <a:blip r:embed="rId3"/>
          <a:stretch>
            <a:fillRect/>
          </a:stretch>
        </p:blipFill>
        <p:spPr>
          <a:xfrm>
            <a:off x="365760" y="1280160"/>
            <a:ext cx="5852160" cy="4754880"/>
          </a:xfrm>
          <a:prstGeom prst="rect">
            <a:avLst/>
          </a:prstGeom>
        </p:spPr>
      </p:pic>
      <p:pic>
        <p:nvPicPr>
          <p:cNvPr id="4" name="Picture 3" descr="test-pyramid.png"/>
          <p:cNvPicPr>
            <a:picLocks noChangeAspect="1"/>
          </p:cNvPicPr>
          <p:nvPr/>
        </p:nvPicPr>
        <p:blipFill>
          <a:blip r:embed="rId4"/>
          <a:stretch>
            <a:fillRect/>
          </a:stretch>
        </p:blipFill>
        <p:spPr>
          <a:xfrm>
            <a:off x="6400800" y="1280160"/>
            <a:ext cx="5486400" cy="4754880"/>
          </a:xfrm>
          <a:prstGeom prst="rect">
            <a:avLst/>
          </a:prstGeom>
        </p:spPr>
      </p:pic>
      <p:sp>
        <p:nvSpPr>
          <p:cNvPr id="5" name="TextBox 4"/>
          <p:cNvSpPr txBox="1"/>
          <p:nvPr/>
        </p:nvSpPr>
        <p:spPr>
          <a:xfrm>
            <a:off x="1097280" y="6263640"/>
            <a:ext cx="9966960" cy="411480"/>
          </a:xfrm>
          <a:prstGeom prst="rect">
            <a:avLst/>
          </a:prstGeom>
          <a:noFill/>
        </p:spPr>
        <p:txBody>
          <a:bodyPr wrap="none">
            <a:spAutoFit/>
          </a:bodyPr>
          <a:lstStyle/>
          <a:p>
            <a:r>
              <a:rPr lang="en-AU" sz="1000" i="1" noProof="0" dirty="0">
                <a:solidFill>
                  <a:srgbClr val="555555"/>
                </a:solidFill>
              </a:rPr>
              <a:t>CI/CD · test pyramid · docs/architecture/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noProof="0" dirty="0"/>
              <a:t>PPRR overlay &amp; AIIMS escalation paths</a:t>
            </a:r>
          </a:p>
        </p:txBody>
      </p:sp>
      <p:pic>
        <p:nvPicPr>
          <p:cNvPr id="3" name="Picture 2" descr="pprr-phase-overlay.png"/>
          <p:cNvPicPr>
            <a:picLocks noChangeAspect="1"/>
          </p:cNvPicPr>
          <p:nvPr/>
        </p:nvPicPr>
        <p:blipFill>
          <a:blip r:embed="rId3"/>
          <a:stretch>
            <a:fillRect/>
          </a:stretch>
        </p:blipFill>
        <p:spPr>
          <a:xfrm>
            <a:off x="365760" y="1280160"/>
            <a:ext cx="5852160" cy="4754880"/>
          </a:xfrm>
          <a:prstGeom prst="rect">
            <a:avLst/>
          </a:prstGeom>
        </p:spPr>
      </p:pic>
      <p:pic>
        <p:nvPicPr>
          <p:cNvPr id="4" name="Picture 3" descr="escalation-paths.png"/>
          <p:cNvPicPr>
            <a:picLocks noChangeAspect="1"/>
          </p:cNvPicPr>
          <p:nvPr/>
        </p:nvPicPr>
        <p:blipFill>
          <a:blip r:embed="rId4"/>
          <a:stretch>
            <a:fillRect/>
          </a:stretch>
        </p:blipFill>
        <p:spPr>
          <a:xfrm>
            <a:off x="6400800" y="1280160"/>
            <a:ext cx="5486400" cy="4754880"/>
          </a:xfrm>
          <a:prstGeom prst="rect">
            <a:avLst/>
          </a:prstGeom>
        </p:spPr>
      </p:pic>
      <p:sp>
        <p:nvSpPr>
          <p:cNvPr id="5" name="TextBox 4"/>
          <p:cNvSpPr txBox="1"/>
          <p:nvPr/>
        </p:nvSpPr>
        <p:spPr>
          <a:xfrm>
            <a:off x="1097280" y="6263640"/>
            <a:ext cx="9966960" cy="411480"/>
          </a:xfrm>
          <a:prstGeom prst="rect">
            <a:avLst/>
          </a:prstGeom>
          <a:noFill/>
        </p:spPr>
        <p:txBody>
          <a:bodyPr wrap="none">
            <a:spAutoFit/>
          </a:bodyPr>
          <a:lstStyle/>
          <a:p>
            <a:r>
              <a:rPr lang="en-AU" sz="1000" i="1" noProof="0" dirty="0">
                <a:solidFill>
                  <a:srgbClr val="555555"/>
                </a:solidFill>
              </a:rPr>
              <a:t>PPRR overlay · escalation paths · docs/architecture/operational/</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8263" y="457200"/>
            <a:ext cx="11018520" cy="984885"/>
          </a:xfrm>
        </p:spPr>
        <p:txBody>
          <a:bodyPr/>
          <a:lstStyle/>
          <a:p>
            <a:r>
              <a:rPr lang="en-AU" noProof="0" dirty="0"/>
              <a:t>Simulation logic - baseline vs AMA-assisted, </a:t>
            </a:r>
            <a:r>
              <a:rPr lang="en-AU" noProof="0" dirty="0" err="1"/>
              <a:t>replayable</a:t>
            </a:r>
            <a:r>
              <a:rPr lang="en-AU" noProof="0" dirty="0"/>
              <a:t>, deterministic</a:t>
            </a:r>
          </a:p>
        </p:txBody>
      </p:sp>
      <p:pic>
        <p:nvPicPr>
          <p:cNvPr id="3" name="Picture 2" descr="cross-sector-touchpoints.png"/>
          <p:cNvPicPr>
            <a:picLocks noChangeAspect="1"/>
          </p:cNvPicPr>
          <p:nvPr/>
        </p:nvPicPr>
        <p:blipFill>
          <a:blip r:embed="rId3"/>
          <a:stretch>
            <a:fillRect/>
          </a:stretch>
        </p:blipFill>
        <p:spPr>
          <a:xfrm>
            <a:off x="1097280" y="1280160"/>
            <a:ext cx="9966960" cy="4937760"/>
          </a:xfrm>
          <a:prstGeom prst="rect">
            <a:avLst/>
          </a:prstGeom>
        </p:spPr>
      </p:pic>
      <p:sp>
        <p:nvSpPr>
          <p:cNvPr id="4" name="TextBox 3"/>
          <p:cNvSpPr txBox="1"/>
          <p:nvPr/>
        </p:nvSpPr>
        <p:spPr>
          <a:xfrm>
            <a:off x="1097280" y="6263640"/>
            <a:ext cx="5880136" cy="246221"/>
          </a:xfrm>
          <a:prstGeom prst="rect">
            <a:avLst/>
          </a:prstGeom>
          <a:noFill/>
        </p:spPr>
        <p:txBody>
          <a:bodyPr wrap="none">
            <a:spAutoFit/>
          </a:bodyPr>
          <a:lstStyle/>
          <a:p>
            <a:r>
              <a:rPr lang="en-AU" sz="1000" i="1" noProof="0" dirty="0">
                <a:solidFill>
                  <a:srgbClr val="555555"/>
                </a:solidFill>
              </a:rPr>
              <a:t>Cross-sector touchpoints - the simulation surface · docs/architecture/data/cross-sector-touchpoints.png</a:t>
            </a:r>
          </a:p>
        </p:txBody>
      </p:sp>
    </p:spTree>
  </p:cSld>
  <p:clrMapOvr>
    <a:masterClrMapping/>
  </p:clrMapOvr>
</p:sld>
</file>

<file path=ppt/theme/theme1.xml><?xml version="1.0" encoding="utf-8"?>
<a:theme xmlns:a="http://schemas.openxmlformats.org/drawingml/2006/main" name="Azure Master Architect Program">
  <a:themeElements>
    <a:clrScheme name="Custom 135">
      <a:dk1>
        <a:srgbClr val="091F2C"/>
      </a:dk1>
      <a:lt1>
        <a:srgbClr val="FFFFFF"/>
      </a:lt1>
      <a:dk2>
        <a:srgbClr val="2A446F"/>
      </a:dk2>
      <a:lt2>
        <a:srgbClr val="E8E6DF"/>
      </a:lt2>
      <a:accent1>
        <a:srgbClr val="8DC8E8"/>
      </a:accent1>
      <a:accent2>
        <a:srgbClr val="0078D4"/>
      </a:accent2>
      <a:accent3>
        <a:srgbClr val="C03BC4"/>
      </a:accent3>
      <a:accent4>
        <a:srgbClr val="D7D2CB"/>
      </a:accent4>
      <a:accent5>
        <a:srgbClr val="FFB900"/>
      </a:accent5>
      <a:accent6>
        <a:srgbClr val="D2D2D2"/>
      </a:accent6>
      <a:hlink>
        <a:srgbClr val="D59ED7"/>
      </a:hlink>
      <a:folHlink>
        <a:srgbClr val="D59ED7"/>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MCAPS_Start2023_16-9_Event-template.potx" id="{757FA001-178F-4700-B49C-26A3D5283787}" vid="{96849954-06DF-4C81-84E4-E0323F64AD7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5">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1342CBA-D417-4F32-A515-F1E8D4B1DE1D}">
  <we:reference id="wa200006038" version="1.0.0.3" store="en-US" storeType="OMEX"/>
  <we:alternateReferences>
    <we:reference id="wa200006038" version="1.0.0.3" store="en-US" storeType="OMEX"/>
  </we:alternateReferences>
  <we:properties>
    <we:property name="pptx_export_from_biorender" value="false"/>
  </we:properties>
  <we:bindings/>
  <we:snapshot xmlns:r="http://schemas.openxmlformats.org/officeDocument/2006/relationships"/>
  <we:extLst>
    <a:ext xmlns:a="http://schemas.openxmlformats.org/drawingml/2006/main" uri="{0858819E-0033-43BF-8937-05EC82904868}">
      <we:backgroundApp state="1" runtimeId="Taskpane.Url"/>
    </a:ext>
  </we:extLst>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6F45193E34D384A89850BC1EF76FA97" ma:contentTypeVersion="6" ma:contentTypeDescription="Create a new document." ma:contentTypeScope="" ma:versionID="65ca274df419afb777027320e4eafc76">
  <xsd:schema xmlns:xsd="http://www.w3.org/2001/XMLSchema" xmlns:xs="http://www.w3.org/2001/XMLSchema" xmlns:p="http://schemas.microsoft.com/office/2006/metadata/properties" xmlns:ns1="http://schemas.microsoft.com/sharepoint/v3" xmlns:ns2="9d6f0ed0-05b6-43dc-b46d-28c3450a89ba" targetNamespace="http://schemas.microsoft.com/office/2006/metadata/properties" ma:root="true" ma:fieldsID="34dfc4d09aafc89c026be279321a5cfc" ns1:_="" ns2:_="">
    <xsd:import namespace="http://schemas.microsoft.com/sharepoint/v3"/>
    <xsd:import namespace="9d6f0ed0-05b6-43dc-b46d-28c3450a89b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d6f0ed0-05b6-43dc-b46d-28c3450a89b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6772DD3-90A8-4B0E-B011-70FB70144E03}">
  <ds:schemaRefs>
    <ds:schemaRef ds:uri="http://schemas.microsoft.com/office/2006/documentManagement/types"/>
    <ds:schemaRef ds:uri="http://purl.org/dc/elements/1.1/"/>
    <ds:schemaRef ds:uri="http://www.w3.org/XML/1998/namespace"/>
    <ds:schemaRef ds:uri="http://purl.org/dc/dcmitype/"/>
    <ds:schemaRef ds:uri="http://schemas.microsoft.com/office/2006/metadata/properties"/>
    <ds:schemaRef ds:uri="http://purl.org/dc/terms/"/>
    <ds:schemaRef ds:uri="f817beaf-a682-43b7-842a-d87b1ed721f3"/>
    <ds:schemaRef ds:uri="e37c3542-7e5c-435d-a8cc-ea1724f0736e"/>
    <ds:schemaRef ds:uri="http://schemas.microsoft.com/sharepoint/v3"/>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41F09641-5E8D-431B-A63F-AFFEA873278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d6f0ed0-05b6-43dc-b46d-28c3450a89b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2E6025E-C127-4B7B-AAF2-1F0FD425C31F}">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M&amp;O Brand-M&amp;O PPT Template-full version (2)</Template>
  <TotalTime>3818</TotalTime>
  <Words>9397</Words>
  <Application>Microsoft Office PowerPoint</Application>
  <PresentationFormat>Widescreen</PresentationFormat>
  <Paragraphs>643</Paragraphs>
  <Slides>47</Slides>
  <Notes>46</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47</vt:i4>
      </vt:variant>
    </vt:vector>
  </HeadingPairs>
  <TitlesOfParts>
    <vt:vector size="55" baseType="lpstr">
      <vt:lpstr>Aptos</vt:lpstr>
      <vt:lpstr>Aptos SemiBold</vt:lpstr>
      <vt:lpstr>Arial</vt:lpstr>
      <vt:lpstr>Segoe UI</vt:lpstr>
      <vt:lpstr>Segoe UI Semibold</vt:lpstr>
      <vt:lpstr>Segoe WPC</vt:lpstr>
      <vt:lpstr>Wingdings</vt:lpstr>
      <vt:lpstr>Azure Master Architect Program</vt:lpstr>
      <vt:lpstr>Autonomous Disaster Response Agent Coordination Hub</vt:lpstr>
      <vt:lpstr>AGENDA</vt:lpstr>
      <vt:lpstr>In Australian disasters, minutes are the currency of life</vt:lpstr>
      <vt:lpstr>Industry context  A climate-amplified, federated coordination problem</vt:lpstr>
      <vt:lpstr>Stakeholders &amp; personas - built for the people who run the response</vt:lpstr>
      <vt:lpstr>Current state: where coordination breaks today</vt:lpstr>
      <vt:lpstr>Competitor landscape</vt:lpstr>
      <vt:lpstr>The Coordination tax   Minutes lost is the lives-saved curve</vt:lpstr>
      <vt:lpstr>Vision  A Common Operating Picture that thinks</vt:lpstr>
      <vt:lpstr>Solution at a glance  Five agents, one mission</vt:lpstr>
      <vt:lpstr>Constitution  The rules the platform lives by</vt:lpstr>
      <vt:lpstr>System Context - who interacts with the platform</vt:lpstr>
      <vt:lpstr>Container view - Azure-native, 100% serverless or managed</vt:lpstr>
      <vt:lpstr>Multi-agent component architecture - handoffs as a contract</vt:lpstr>
      <vt:lpstr>Data &amp; integration - 7 trust tiers, normalised at the edge</vt:lpstr>
      <vt:lpstr>Multi-jurisdiction tenancy - federation by design</vt:lpstr>
      <vt:lpstr>AI strategy - dual-deployment LLM gateway, Foundry-native RAG</vt:lpstr>
      <vt:lpstr>Agentic patterns - orchestration that survives reality</vt:lpstr>
      <vt:lpstr>Responsible AI  Eight languages, Auslan, and a named human</vt:lpstr>
      <vt:lpstr>AIIMS + AWS alignment - speaking the operator's language</vt:lpstr>
      <vt:lpstr>Well-Architected Framework alignment</vt:lpstr>
      <vt:lpstr>Live demo  Blue Mountains bushfire, end-to-end in 8 minutes</vt:lpstr>
      <vt:lpstr>Alert approval and publication sequence</vt:lpstr>
      <vt:lpstr>Demo recap - what you just saw, in numbers</vt:lpstr>
      <vt:lpstr>Security baseline - Zero Trust</vt:lpstr>
      <vt:lpstr>AI Governance</vt:lpstr>
      <vt:lpstr>Governance - append-only audit, dashboard for the regulator</vt:lpstr>
      <vt:lpstr>Privacy, accessibility &amp; cultural authority</vt:lpstr>
      <vt:lpstr>Risks &amp; trade-offs - what could go wrong, what we chose</vt:lpstr>
      <vt:lpstr>KPI modelling - the five capstone success criteria, instrumented</vt:lpstr>
      <vt:lpstr>FinOps - a cost ladder you can defend on day one and at scale</vt:lpstr>
      <vt:lpstr>Adoption roadmap - pilot → state → national</vt:lpstr>
      <vt:lpstr>Adoption roadmap - pilot → state → national</vt:lpstr>
      <vt:lpstr>The ask  A 90-day pilot, one state, one hazard</vt:lpstr>
      <vt:lpstr>KPIs we will publish on day one</vt:lpstr>
      <vt:lpstr>Lessons learned  What surprised us, what we changed</vt:lpstr>
      <vt:lpstr>Reference architecture  Extensible to allied &amp; regional partners</vt:lpstr>
      <vt:lpstr>Cost model - line items &amp; sensitivity</vt:lpstr>
      <vt:lpstr>PowerPoint Presentation</vt:lpstr>
      <vt:lpstr>PowerPoint Presentation</vt:lpstr>
      <vt:lpstr>Backup slides</vt:lpstr>
      <vt:lpstr>Sequence - monitoring → risk → communication</vt:lpstr>
      <vt:lpstr>Sequence - graceful degradation</vt:lpstr>
      <vt:lpstr>Sequence - audit &amp; provenance</vt:lpstr>
      <vt:lpstr>CI/CD pipeline &amp; test pyramid</vt:lpstr>
      <vt:lpstr>PPRR overlay &amp; AIIMS escalation paths</vt:lpstr>
      <vt:lpstr>Simulation logic - baseline vs AMA-assisted, replayable, deterministic</vt:lpstr>
    </vt:vector>
  </TitlesOfParts>
  <Manager/>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Event name or presentation title</dc:title>
  <dc:subject/>
  <dc:creator>Jesus Rodriguez</dc:creator>
  <cp:keywords/>
  <dc:description/>
  <cp:lastModifiedBy>John Billiris</cp:lastModifiedBy>
  <cp:revision>26</cp:revision>
  <cp:lastPrinted>2023-06-08T02:44:40Z</cp:lastPrinted>
  <dcterms:created xsi:type="dcterms:W3CDTF">2023-02-17T20:44:47Z</dcterms:created>
  <dcterms:modified xsi:type="dcterms:W3CDTF">2026-05-13T03:17:37Z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b562966-c66d-4b83-aa77-49bdfed04c11_Enabled">
    <vt:lpwstr>true</vt:lpwstr>
  </property>
  <property fmtid="{D5CDD505-2E9C-101B-9397-08002B2CF9AE}" pid="3" name="MSIP_Label_cb562966-c66d-4b83-aa77-49bdfed04c11_SetDate">
    <vt:lpwstr>2022-01-25T00:15:10Z</vt:lpwstr>
  </property>
  <property fmtid="{D5CDD505-2E9C-101B-9397-08002B2CF9AE}" pid="4" name="MSIP_Label_cb562966-c66d-4b83-aa77-49bdfed04c11_Method">
    <vt:lpwstr>Standard</vt:lpwstr>
  </property>
  <property fmtid="{D5CDD505-2E9C-101B-9397-08002B2CF9AE}" pid="5" name="MSIP_Label_cb562966-c66d-4b83-aa77-49bdfed04c11_Name">
    <vt:lpwstr>Non-Confidential</vt:lpwstr>
  </property>
  <property fmtid="{D5CDD505-2E9C-101B-9397-08002B2CF9AE}" pid="6" name="MSIP_Label_cb562966-c66d-4b83-aa77-49bdfed04c11_SiteId">
    <vt:lpwstr>a57507b2-d296-4dca-a9ae-67b1484e02a9</vt:lpwstr>
  </property>
  <property fmtid="{D5CDD505-2E9C-101B-9397-08002B2CF9AE}" pid="7" name="MSIP_Label_cb562966-c66d-4b83-aa77-49bdfed04c11_ActionId">
    <vt:lpwstr>e6f19365-f68f-4bd5-8a89-b119d81b90bd</vt:lpwstr>
  </property>
  <property fmtid="{D5CDD505-2E9C-101B-9397-08002B2CF9AE}" pid="8" name="MSIP_Label_cb562966-c66d-4b83-aa77-49bdfed04c11_ContentBits">
    <vt:lpwstr>0</vt:lpwstr>
  </property>
  <property fmtid="{D5CDD505-2E9C-101B-9397-08002B2CF9AE}" pid="9" name="MediaServiceImageTags">
    <vt:lpwstr/>
  </property>
  <property fmtid="{D5CDD505-2E9C-101B-9397-08002B2CF9AE}" pid="10" name="_dlc_policyId">
    <vt:lpwstr>0x01010098CF26BE9161E94EB79A57119623B6D1|-369733750</vt:lpwstr>
  </property>
  <property fmtid="{D5CDD505-2E9C-101B-9397-08002B2CF9AE}" pid="11" name="ItemRetentionFormula">
    <vt:lpwstr>&lt;formula id="Microsoft.Office.RecordsManagement.PolicyFeatures.Expiration.Formula.BuiltIn"&gt;&lt;number&gt;30&lt;/number&gt;&lt;property&gt;Modified&lt;/property&gt;&lt;propertyId&gt;28cf69c5-fa48-462a-b5cd-27b6f9d2bd5f&lt;/propertyId&gt;&lt;period&gt;days&lt;/period&gt;&lt;/formula&gt;</vt:lpwstr>
  </property>
  <property fmtid="{D5CDD505-2E9C-101B-9397-08002B2CF9AE}" pid="12" name="ContentTypeId">
    <vt:lpwstr>0x010100B6F45193E34D384A89850BC1EF76FA97</vt:lpwstr>
  </property>
  <property fmtid="{D5CDD505-2E9C-101B-9397-08002B2CF9AE}" pid="13" name="xd_ProgID">
    <vt:lpwstr/>
  </property>
  <property fmtid="{D5CDD505-2E9C-101B-9397-08002B2CF9AE}" pid="14" name="ComplianceAssetId">
    <vt:lpwstr/>
  </property>
  <property fmtid="{D5CDD505-2E9C-101B-9397-08002B2CF9AE}" pid="15" name="TemplateUrl">
    <vt:lpwstr/>
  </property>
  <property fmtid="{D5CDD505-2E9C-101B-9397-08002B2CF9AE}" pid="16" name="_ExtendedDescription">
    <vt:lpwstr/>
  </property>
  <property fmtid="{D5CDD505-2E9C-101B-9397-08002B2CF9AE}" pid="17" name="TriggerFlowInfo">
    <vt:lpwstr/>
  </property>
  <property fmtid="{D5CDD505-2E9C-101B-9397-08002B2CF9AE}" pid="18" name="xd_Signature">
    <vt:lpwstr/>
  </property>
  <property fmtid="{D5CDD505-2E9C-101B-9397-08002B2CF9AE}" pid="19" name="Order">
    <vt:r8>4300</vt:r8>
  </property>
  <property fmtid="{D5CDD505-2E9C-101B-9397-08002B2CF9AE}" pid="20" name="_SourceUrl">
    <vt:lpwstr/>
  </property>
  <property fmtid="{D5CDD505-2E9C-101B-9397-08002B2CF9AE}" pid="21" name="_SharedFileIndex">
    <vt:lpwstr/>
  </property>
</Properties>
</file>